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6.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7.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6"/>
  </p:notesMasterIdLst>
  <p:sldIdLst>
    <p:sldId id="2674" r:id="rId2"/>
    <p:sldId id="2593" r:id="rId3"/>
    <p:sldId id="259" r:id="rId4"/>
    <p:sldId id="260" r:id="rId5"/>
    <p:sldId id="263" r:id="rId6"/>
    <p:sldId id="261" r:id="rId7"/>
    <p:sldId id="264" r:id="rId8"/>
    <p:sldId id="2675" r:id="rId9"/>
    <p:sldId id="286" r:id="rId10"/>
    <p:sldId id="285" r:id="rId11"/>
    <p:sldId id="287" r:id="rId12"/>
    <p:sldId id="267" r:id="rId13"/>
    <p:sldId id="2681" r:id="rId14"/>
    <p:sldId id="268" r:id="rId15"/>
    <p:sldId id="2676" r:id="rId16"/>
    <p:sldId id="2685" r:id="rId17"/>
    <p:sldId id="2683" r:id="rId18"/>
    <p:sldId id="271" r:id="rId19"/>
    <p:sldId id="290" r:id="rId20"/>
    <p:sldId id="289" r:id="rId21"/>
    <p:sldId id="2677" r:id="rId22"/>
    <p:sldId id="274" r:id="rId23"/>
    <p:sldId id="275" r:id="rId24"/>
    <p:sldId id="276" r:id="rId25"/>
    <p:sldId id="2678" r:id="rId26"/>
    <p:sldId id="277" r:id="rId27"/>
    <p:sldId id="278" r:id="rId28"/>
    <p:sldId id="279" r:id="rId29"/>
    <p:sldId id="2679" r:id="rId30"/>
    <p:sldId id="280" r:id="rId31"/>
    <p:sldId id="281" r:id="rId32"/>
    <p:sldId id="283" r:id="rId33"/>
    <p:sldId id="2682" r:id="rId34"/>
    <p:sldId id="2680" r:id="rId35"/>
  </p:sldIdLst>
  <p:sldSz cx="16256000" cy="9144000"/>
  <p:notesSz cx="9144000" cy="16256000"/>
  <p:embeddedFontLst>
    <p:embeddedFont>
      <p:font typeface="微软雅黑" panose="020B0503020204020204" pitchFamily="34" charset="-122"/>
      <p:regular r:id="rId37"/>
      <p:bold r:id="rId38"/>
    </p:embeddedFont>
    <p:embeddedFont>
      <p:font typeface="微软雅黑" panose="020B0503020204020204" pitchFamily="34" charset="-122"/>
      <p:regular r:id="rId37"/>
      <p:bold r:id="rId38"/>
    </p:embeddedFont>
    <p:embeddedFont>
      <p:font typeface="Liter" panose="02000503030000020004" pitchFamily="2" charset="0"/>
      <p:regular r:id="rId39"/>
    </p:embeddedFont>
    <p:embeddedFont>
      <p:font typeface="Microsoft JhengHei" panose="020B0604030504040204" pitchFamily="34" charset="-120"/>
      <p:regular r:id="rId40"/>
      <p:bold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27"/>
    <p:restoredTop sz="94610"/>
  </p:normalViewPr>
  <p:slideViewPr>
    <p:cSldViewPr snapToGrid="0" snapToObjects="1">
      <p:cViewPr varScale="1">
        <p:scale>
          <a:sx n="96" d="100"/>
          <a:sy n="96" d="100"/>
        </p:scale>
        <p:origin x="288" y="176"/>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92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59AA0-6CAA-FABA-A4EF-7E1E4093C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B1104D-A559-481F-1D49-CEB8B3436FE7}"/>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616CFFDD-8694-9DB4-2873-117E5D6D393E}"/>
              </a:ext>
            </a:extLst>
          </p:cNvPr>
          <p:cNvSpPr>
            <a:spLocks noGrp="1"/>
          </p:cNvSpPr>
          <p:nvPr>
            <p:ph type="body" idx="1"/>
          </p:nvPr>
        </p:nvSpPr>
        <p:spPr/>
        <p:txBody>
          <a:bodyPr/>
          <a:lstStyle/>
          <a:p>
            <a:endParaRPr kumimoji="1" lang="en-US" altLang="zh-CN" dirty="0"/>
          </a:p>
        </p:txBody>
      </p:sp>
      <p:sp>
        <p:nvSpPr>
          <p:cNvPr id="4" name="Slide Number Placeholder 3">
            <a:extLst>
              <a:ext uri="{FF2B5EF4-FFF2-40B4-BE49-F238E27FC236}">
                <a16:creationId xmlns:a16="http://schemas.microsoft.com/office/drawing/2014/main" id="{CC8C2B31-F648-C3FD-097A-DD39205953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21234-C9DE-F544-8BBF-CAA46295C9C7}" type="slidenum">
              <a:rPr kumimoji="1" lang="zh-CN" altLang="en-US" sz="1200" b="0" i="0" u="none" strike="noStrike" kern="1200" cap="none" spc="0" normalizeH="0" baseline="0" noProof="0" smtClean="0">
                <a:ln>
                  <a:noFill/>
                </a:ln>
                <a:solidFill>
                  <a:prstClr val="black"/>
                </a:solidFill>
                <a:effectLst/>
                <a:uLnTx/>
                <a:uFillTx/>
                <a:latin typeface="Aptos"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zh-CN" altLang="en-US" sz="1200" b="0" i="0" u="none" strike="noStrike" kern="1200" cap="none" spc="0" normalizeH="0" baseline="0" noProof="0">
              <a:ln>
                <a:noFill/>
              </a:ln>
              <a:solidFill>
                <a:prstClr val="black"/>
              </a:solidFill>
              <a:effectLst/>
              <a:uLnTx/>
              <a:uFillTx/>
              <a:latin typeface="Aptos" panose="02110004020202020204"/>
              <a:ea typeface="等线" panose="02010600030101010101" pitchFamily="2" charset="-122"/>
              <a:cs typeface="+mn-cs"/>
            </a:endParaRPr>
          </a:p>
        </p:txBody>
      </p:sp>
    </p:spTree>
    <p:extLst>
      <p:ext uri="{BB962C8B-B14F-4D97-AF65-F5344CB8AC3E}">
        <p14:creationId xmlns:p14="http://schemas.microsoft.com/office/powerpoint/2010/main" val="4281239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0256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3B1D3-1D9F-8DFD-D6E0-7C8DEA975D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EE0BC-4AD7-ADB6-5F0E-ADA7F10D48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2C928-76D6-8350-8904-377A3D714F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B01B83-FA7C-3027-D35B-5F0C715DBA74}"/>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3273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99202-8AD1-FA9C-81D4-84202D576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26399-913E-8252-8518-7559B855F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0D4FC-0384-B1B0-2D9C-490B4F2DC0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A1CA02-C777-9CC2-A37B-26C49A38D78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98553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258F7-A602-9C6D-BE5B-456FF262C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DDC75-098C-3579-792D-F4E517DA1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93A42-E6EA-D3EF-FF68-17C0D63E26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DF00A5-091B-37C4-4244-683F6AC1E9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47064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CFAB0-9B1D-92B7-2369-7334A8482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E6E52-4185-558D-10AF-52DD914254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B72D9F-92C9-B035-3A31-AFA3EDCF22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5B2D16-3839-CBFB-9C3F-48B2DDA4954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88425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4AF5-61C6-496A-9B30-F584B56C5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4DB87-F106-357B-F3AD-B07CC2B391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55B1C-CCE6-0158-FC80-13541FF3A5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41DE4A-A807-5107-AA8E-02116C89E6A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3714871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C3D37-188D-10FD-768E-7F01C5DA6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AB872-4A07-8C33-4C49-63914A155A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AFFAF-729B-C2CE-B892-9F0354C3A0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DA173C-7D50-A860-E9C1-F7C6EC8F11F0}"/>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7314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A6C41-67CC-6E1F-F59E-D6F5B275F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7BA09-FD0E-40BB-E758-7B8165C3AC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A529B-ACAE-C256-3AB8-D68B389763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42BC22-D377-7D70-39CA-4D7E55211D50}"/>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67390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C1DCF-7858-C49C-C040-CAEA71470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00817-6B01-64AB-682A-2DFC46A8A0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89F00-3CFE-4E8E-9F62-4AE0EAEDF7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81FC4E-0F69-D643-01BF-214818F14A63}"/>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4214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CBC4E-1655-27FC-C3AA-DFF5ECF11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31E7B-1BD8-3F98-4162-62A74C996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306303-A3D2-B428-66C5-441302583D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61701B-581C-D724-68F4-97CD774475E7}"/>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59970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E3647-B493-2574-258D-7286D9BED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F5694-F1C7-4D7B-493F-A4165F1F7E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9A3AF-D693-73CE-BBF6-387D9F21CE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DD394A-351C-8B23-BF1B-C83463081977}"/>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41375194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C19D1-E18F-88B7-9356-807EEE732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8B5EB-4132-7F67-CCD2-1C855B3AA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A3FD6-9D9A-3116-695F-7D1386639E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49B5EB-AE2D-B2C5-8175-576FC8780237}"/>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7115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40F0C-4B8C-C9ED-D05F-5E309090A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8FBE8-A740-74D7-28BB-0C6F209B3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5E14F-6FD8-19EC-E41D-AC3DBE85E4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F5A388-3384-2B37-F106-386F53B9FD33}"/>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02491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D78BC-3CA8-A901-BF4C-A648A0F8EA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129A0-DF99-1DD0-E1CC-3672F98BF5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0BD0B-F0FA-86CD-4517-9FFFABB014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B3FF07-1FDA-0685-0F0D-7E693B01717D}"/>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72125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DA8B4-FC73-76F3-DAE6-E2FB7ED04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2412D-8BBD-0BE8-3EC4-3B660F56EF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8DA2C6-4014-C6AD-F727-C7E2DFD362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1BDADB-2A97-60A8-004C-98F1B82BE98C}"/>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20498570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A3EAD-8DAB-8654-7027-9957B2DAB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90B62-05D0-3083-4992-062F42E6E54C}"/>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F11228A7-C591-4A2B-ED4F-C8635EDECD0C}"/>
              </a:ext>
            </a:extLst>
          </p:cNvPr>
          <p:cNvSpPr>
            <a:spLocks noGrp="1"/>
          </p:cNvSpPr>
          <p:nvPr>
            <p:ph type="body" idx="1"/>
          </p:nvPr>
        </p:nvSpPr>
        <p:spPr/>
        <p:txBody>
          <a:bodyPr/>
          <a:lstStyle/>
          <a:p>
            <a:endParaRPr kumimoji="1" lang="en-US" altLang="zh-CN" dirty="0"/>
          </a:p>
        </p:txBody>
      </p:sp>
      <p:sp>
        <p:nvSpPr>
          <p:cNvPr id="4" name="Slide Number Placeholder 3">
            <a:extLst>
              <a:ext uri="{FF2B5EF4-FFF2-40B4-BE49-F238E27FC236}">
                <a16:creationId xmlns:a16="http://schemas.microsoft.com/office/drawing/2014/main" id="{4B277702-785E-157C-CA35-4FEB2479F0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21234-C9DE-F544-8BBF-CAA46295C9C7}" type="slidenum">
              <a:rPr kumimoji="1" lang="zh-CN" altLang="en-US" sz="1200" b="0" i="0" u="none" strike="noStrike" kern="1200" cap="none" spc="0" normalizeH="0" baseline="0" noProof="0" smtClean="0">
                <a:ln>
                  <a:noFill/>
                </a:ln>
                <a:solidFill>
                  <a:prstClr val="black"/>
                </a:solidFill>
                <a:effectLst/>
                <a:uLnTx/>
                <a:uFillTx/>
                <a:latin typeface="Aptos"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1" lang="zh-CN" altLang="en-US" sz="1200" b="0" i="0" u="none" strike="noStrike" kern="1200" cap="none" spc="0" normalizeH="0" baseline="0" noProof="0">
              <a:ln>
                <a:noFill/>
              </a:ln>
              <a:solidFill>
                <a:prstClr val="black"/>
              </a:solidFill>
              <a:effectLst/>
              <a:uLnTx/>
              <a:uFillTx/>
              <a:latin typeface="Aptos" panose="02110004020202020204"/>
              <a:ea typeface="等线" panose="02010600030101010101" pitchFamily="2" charset="-122"/>
              <a:cs typeface="+mn-cs"/>
            </a:endParaRPr>
          </a:p>
        </p:txBody>
      </p:sp>
    </p:spTree>
    <p:extLst>
      <p:ext uri="{BB962C8B-B14F-4D97-AF65-F5344CB8AC3E}">
        <p14:creationId xmlns:p14="http://schemas.microsoft.com/office/powerpoint/2010/main" val="1210895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2032000" y="1496484"/>
            <a:ext cx="12192000" cy="3183467"/>
          </a:xfrm>
        </p:spPr>
        <p:txBody>
          <a:bodyPr anchor="b"/>
          <a:lstStyle>
            <a:lvl1pPr algn="ctr">
              <a:defRPr sz="8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2032000" y="4802717"/>
            <a:ext cx="12192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a:xfrm>
            <a:off x="1117600" y="8533885"/>
            <a:ext cx="3657600" cy="369332"/>
          </a:xfrm>
          <a:prstGeom prst="rect">
            <a:avLst/>
          </a:prstGeom>
        </p:spPr>
        <p:txBody>
          <a:bodyPr/>
          <a:lstStyle/>
          <a:p>
            <a:pPr defTabSz="1219170">
              <a:defRPr/>
            </a:pPr>
            <a:fld id="{6A5D8BF7-B29B-4748-959E-92CCFC2D0879}" type="datetime1">
              <a:rPr lang="en-US" sz="1600" smtClean="0">
                <a:solidFill>
                  <a:srgbClr val="515052">
                    <a:tint val="75000"/>
                  </a:srgbClr>
                </a:solidFill>
                <a:latin typeface="Calibri Light"/>
              </a:rPr>
              <a:pPr defTabSz="1219170">
                <a:defRPr/>
              </a:pPr>
              <a:t>7/22/26</a:t>
            </a:fld>
            <a:endParaRPr lang="en-US" sz="1600">
              <a:solidFill>
                <a:srgbClr val="515052">
                  <a:tint val="75000"/>
                </a:srgbClr>
              </a:solidFill>
              <a:latin typeface="Calibri Light"/>
            </a:endParaRPr>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a:xfrm>
            <a:off x="5384800" y="8533885"/>
            <a:ext cx="5486400" cy="369332"/>
          </a:xfrm>
          <a:prstGeom prst="rect">
            <a:avLst/>
          </a:prstGeom>
        </p:spPr>
        <p:txBody>
          <a:bodyPr/>
          <a:lstStyle/>
          <a:p>
            <a:pPr algn="ctr" defTabSz="1219170">
              <a:defRPr/>
            </a:pPr>
            <a:endParaRPr lang="en-US" sz="1600">
              <a:solidFill>
                <a:srgbClr val="515052">
                  <a:tint val="75000"/>
                </a:srgbClr>
              </a:solidFill>
              <a:latin typeface="Calibri Light"/>
            </a:endParaRPr>
          </a:p>
        </p:txBody>
      </p:sp>
    </p:spTree>
    <p:extLst>
      <p:ext uri="{BB962C8B-B14F-4D97-AF65-F5344CB8AC3E}">
        <p14:creationId xmlns:p14="http://schemas.microsoft.com/office/powerpoint/2010/main" val="2050666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44A87A-4638-49CD-A7C2-871337C23C2D}"/>
              </a:ext>
            </a:extLst>
          </p:cNvPr>
          <p:cNvSpPr/>
          <p:nvPr userDrawn="1"/>
        </p:nvSpPr>
        <p:spPr>
          <a:xfrm>
            <a:off x="0" y="8696961"/>
            <a:ext cx="16256000" cy="44704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591" t="32054" r="4677" b="40437"/>
          <a:stretch/>
        </p:blipFill>
        <p:spPr>
          <a:xfrm>
            <a:off x="0" y="8696961"/>
            <a:ext cx="10449869" cy="44704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723900" y="442022"/>
            <a:ext cx="14861117" cy="714041"/>
          </a:xfrm>
        </p:spPr>
        <p:txBody>
          <a:bodyPr/>
          <a:lstStyle>
            <a:lvl1pPr>
              <a:defRPr sz="4267" b="1">
                <a:solidFill>
                  <a:srgbClr val="306AB2"/>
                </a:solidFill>
              </a:defRPr>
            </a:lvl1pPr>
          </a:lstStyle>
          <a:p>
            <a:r>
              <a:rPr lang="en-US"/>
              <a:t>Click to edit Master title style</a:t>
            </a:r>
          </a:p>
        </p:txBody>
      </p:sp>
    </p:spTree>
    <p:extLst>
      <p:ext uri="{BB962C8B-B14F-4D97-AF65-F5344CB8AC3E}">
        <p14:creationId xmlns:p14="http://schemas.microsoft.com/office/powerpoint/2010/main" val="3364208299"/>
      </p:ext>
    </p:extLst>
  </p:cSld>
  <p:clrMapOvr>
    <a:masterClrMapping/>
  </p:clrMapOvr>
  <p:extLst>
    <p:ext uri="{DCECCB84-F9BA-43D5-87BE-67443E8EF086}">
      <p15:sldGuideLst xmlns:p15="http://schemas.microsoft.com/office/powerpoint/2012/main">
        <p15:guide id="1" orient="horz" pos="663">
          <p15:clr>
            <a:srgbClr val="FBAE40"/>
          </p15:clr>
        </p15:guide>
        <p15:guide id="2" pos="347">
          <p15:clr>
            <a:srgbClr val="FBAE40"/>
          </p15:clr>
        </p15:guide>
        <p15:guide id="3" pos="7333">
          <p15:clr>
            <a:srgbClr val="FBAE40"/>
          </p15:clr>
        </p15:guide>
        <p15:guide id="4" orient="horz" pos="390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4.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6.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B7F21-8416-9D3B-CF40-106E8DD6014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E2E6D69-194E-CE36-E994-43E7EAC2BE6F}"/>
              </a:ext>
            </a:extLst>
          </p:cNvPr>
          <p:cNvSpPr/>
          <p:nvPr/>
        </p:nvSpPr>
        <p:spPr>
          <a:xfrm>
            <a:off x="0" y="0"/>
            <a:ext cx="16256000" cy="9144000"/>
          </a:xfrm>
          <a:prstGeom prst="rect">
            <a:avLst/>
          </a:prstGeom>
          <a:gradFill flip="none" rotWithShape="1">
            <a:gsLst>
              <a:gs pos="39000">
                <a:schemeClr val="accent1">
                  <a:lumMod val="5000"/>
                  <a:lumOff val="95000"/>
                </a:schemeClr>
              </a:gs>
              <a:gs pos="100000">
                <a:schemeClr val="bg1">
                  <a:alpha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10" name="Picture 9" descr="Logo&#10;&#10;Description automatically generated">
            <a:extLst>
              <a:ext uri="{FF2B5EF4-FFF2-40B4-BE49-F238E27FC236}">
                <a16:creationId xmlns:a16="http://schemas.microsoft.com/office/drawing/2014/main" id="{6775A555-7705-7ADF-CE13-EBA90373678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12976" y="1102043"/>
            <a:ext cx="4469264" cy="1097244"/>
          </a:xfrm>
          <a:prstGeom prst="rect">
            <a:avLst/>
          </a:prstGeom>
        </p:spPr>
      </p:pic>
      <p:sp>
        <p:nvSpPr>
          <p:cNvPr id="7" name="Title 1">
            <a:extLst>
              <a:ext uri="{FF2B5EF4-FFF2-40B4-BE49-F238E27FC236}">
                <a16:creationId xmlns:a16="http://schemas.microsoft.com/office/drawing/2014/main" id="{4E122D91-7BD0-4E0A-FB70-54362D7D28BA}"/>
              </a:ext>
            </a:extLst>
          </p:cNvPr>
          <p:cNvSpPr>
            <a:spLocks noGrp="1"/>
          </p:cNvSpPr>
          <p:nvPr>
            <p:ph type="ctrTitle"/>
          </p:nvPr>
        </p:nvSpPr>
        <p:spPr>
          <a:xfrm>
            <a:off x="717201" y="-1541644"/>
            <a:ext cx="13164121" cy="6279264"/>
          </a:xfrm>
        </p:spPr>
        <p:txBody>
          <a:bodyPr wrap="square">
            <a:spAutoFit/>
          </a:bodyPr>
          <a:lstStyle/>
          <a:p>
            <a:pPr lvl="0" algn="l">
              <a:lnSpc>
                <a:spcPct val="100000"/>
              </a:lnSpc>
              <a:defRPr/>
            </a:pPr>
            <a:r>
              <a:rPr lang="en-HK" altLang="zh-TW" sz="4267" b="1" dirty="0">
                <a:solidFill>
                  <a:srgbClr val="2660AD"/>
                </a:solidFill>
                <a:ea typeface="Microsoft YaHei" panose="020B0503020204020204" pitchFamily="34" charset="-122"/>
                <a:cs typeface="Times New Roman" panose="02020603050405020304" pitchFamily="18" charset="0"/>
              </a:rPr>
              <a:t>Korea Market Outlook 2H26</a:t>
            </a:r>
            <a:br>
              <a:rPr lang="en-HK" altLang="zh-TW" sz="4267" b="1" dirty="0">
                <a:solidFill>
                  <a:srgbClr val="2660AD"/>
                </a:solidFill>
                <a:ea typeface="Microsoft YaHei" panose="020B0503020204020204" pitchFamily="34" charset="-122"/>
                <a:cs typeface="Times New Roman" panose="02020603050405020304" pitchFamily="18" charset="0"/>
              </a:rPr>
            </a:br>
            <a:r>
              <a:rPr lang="en-HK" altLang="zh-TW" sz="2000" b="1" dirty="0">
                <a:solidFill>
                  <a:schemeClr val="tx1">
                    <a:lumMod val="50000"/>
                    <a:lumOff val="50000"/>
                  </a:schemeClr>
                </a:solidFill>
                <a:ea typeface="Microsoft YaHei" panose="020B0503020204020204" pitchFamily="34" charset="-122"/>
                <a:cs typeface="Times New Roman" panose="02020603050405020304" pitchFamily="18" charset="0"/>
              </a:rPr>
              <a:t>Bumpy but Higher — Earnings-Driven Rally with Manageable Leverage</a:t>
            </a:r>
            <a:endParaRPr lang="zh-CN" altLang="en-US" sz="2000" b="1" dirty="0">
              <a:solidFill>
                <a:schemeClr val="tx1">
                  <a:lumMod val="50000"/>
                  <a:lumOff val="50000"/>
                </a:schemeClr>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Subtitle 2">
            <a:extLst>
              <a:ext uri="{FF2B5EF4-FFF2-40B4-BE49-F238E27FC236}">
                <a16:creationId xmlns:a16="http://schemas.microsoft.com/office/drawing/2014/main" id="{E8C7BAC8-2109-B434-AAEA-E3F63EF2E6E0}"/>
              </a:ext>
            </a:extLst>
          </p:cNvPr>
          <p:cNvSpPr>
            <a:spLocks noGrp="1"/>
          </p:cNvSpPr>
          <p:nvPr>
            <p:ph type="subTitle" idx="1"/>
          </p:nvPr>
        </p:nvSpPr>
        <p:spPr>
          <a:xfrm>
            <a:off x="717201" y="4943114"/>
            <a:ext cx="6303891" cy="2987424"/>
          </a:xfrm>
        </p:spPr>
        <p:txBody>
          <a:bodyPr wrap="square">
            <a:spAutoFit/>
          </a:bodyPr>
          <a:lstStyle/>
          <a:p>
            <a:pPr algn="l"/>
            <a:r>
              <a:rPr lang="en-US" altLang="zh-CN" sz="2667" dirty="0">
                <a:solidFill>
                  <a:schemeClr val="tx1">
                    <a:lumMod val="50000"/>
                    <a:lumOff val="50000"/>
                  </a:schemeClr>
                </a:solidFill>
                <a:latin typeface="Microsoft YaHei" panose="020B0503020204020204" pitchFamily="34" charset="-122"/>
                <a:ea typeface="Microsoft YaHei" panose="020B0503020204020204" pitchFamily="34" charset="-122"/>
                <a:sym typeface="Microsoft YaHei" panose="020B0503020204020204" pitchFamily="34" charset="-122"/>
              </a:rPr>
              <a:t>July</a:t>
            </a:r>
            <a:r>
              <a:rPr lang="zh-CN" altLang="en-US" sz="2667" dirty="0">
                <a:solidFill>
                  <a:schemeClr val="tx1">
                    <a:lumMod val="50000"/>
                    <a:lumOff val="50000"/>
                  </a:schemeClr>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67" dirty="0">
                <a:solidFill>
                  <a:schemeClr val="tx1">
                    <a:lumMod val="50000"/>
                    <a:lumOff val="50000"/>
                  </a:schemeClr>
                </a:solidFill>
                <a:latin typeface="Microsoft YaHei" panose="020B0503020204020204" pitchFamily="34" charset="-122"/>
                <a:ea typeface="Microsoft YaHei" panose="020B0503020204020204" pitchFamily="34" charset="-122"/>
                <a:sym typeface="Microsoft YaHei" panose="020B0503020204020204" pitchFamily="34" charset="-122"/>
              </a:rPr>
              <a:t>2026</a:t>
            </a:r>
            <a:endParaRPr lang="zh-CN" altLang="en-US" sz="2667" dirty="0">
              <a:solidFill>
                <a:schemeClr val="tx1">
                  <a:lumMod val="50000"/>
                  <a:lumOff val="50000"/>
                </a:schemeClr>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Text Placeholder 4">
            <a:extLst>
              <a:ext uri="{FF2B5EF4-FFF2-40B4-BE49-F238E27FC236}">
                <a16:creationId xmlns:a16="http://schemas.microsoft.com/office/drawing/2014/main" id="{9DA2F458-9A00-75B6-754A-B19511EB8A95}"/>
              </a:ext>
            </a:extLst>
          </p:cNvPr>
          <p:cNvSpPr txBox="1">
            <a:spLocks/>
          </p:cNvSpPr>
          <p:nvPr/>
        </p:nvSpPr>
        <p:spPr>
          <a:xfrm>
            <a:off x="717201" y="6332106"/>
            <a:ext cx="12192000" cy="765337"/>
          </a:xfrm>
          <a:prstGeom prst="rect">
            <a:avLst/>
          </a:prstGeom>
        </p:spPr>
        <p:txBody>
          <a:bodyPr/>
          <a:lstStyle>
            <a:lvl1pPr marL="228600" indent="-228600" algn="l" defTabSz="914400" rtl="0" eaLnBrk="1" latinLnBrk="0" hangingPunct="1">
              <a:lnSpc>
                <a:spcPct val="90000"/>
              </a:lnSpc>
              <a:spcBef>
                <a:spcPts val="0"/>
              </a:spcBef>
              <a:spcAft>
                <a:spcPts val="1200"/>
              </a:spcAft>
              <a:buSzPct val="90000"/>
              <a:buFont typeface="Arial" panose="020B0604020202020204" pitchFamily="34" charset="0"/>
              <a:buChar char="•"/>
              <a:defRPr sz="24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51435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857250" indent="-228600" algn="l" defTabSz="914400" rtl="0" eaLnBrk="1" latinLnBrk="0" hangingPunct="1">
              <a:lnSpc>
                <a:spcPct val="90000"/>
              </a:lnSpc>
              <a:spcBef>
                <a:spcPts val="0"/>
              </a:spcBef>
              <a:spcAft>
                <a:spcPts val="1200"/>
              </a:spcAft>
              <a:buFont typeface="Amazon Ember" panose="020B0603020204020204" pitchFamily="34" charset="0"/>
              <a:buChar char="–"/>
              <a:defRPr sz="18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0858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3144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ts val="0"/>
              </a:spcAft>
              <a:buNone/>
            </a:pPr>
            <a:r>
              <a:rPr lang="en-US" sz="2133" b="1" dirty="0">
                <a:solidFill>
                  <a:srgbClr val="2660AD"/>
                </a:solidFill>
                <a:latin typeface="Microsoft JhengHei" panose="020B0604030504040204" pitchFamily="34" charset="-120"/>
                <a:ea typeface="Microsoft JhengHei" panose="020B0604030504040204" pitchFamily="34" charset="-120"/>
                <a:cs typeface="+mj-cs"/>
              </a:rPr>
              <a:t>Summer Intern, PCS</a:t>
            </a:r>
          </a:p>
          <a:p>
            <a:pPr marL="0" indent="0">
              <a:lnSpc>
                <a:spcPct val="100000"/>
              </a:lnSpc>
              <a:spcBef>
                <a:spcPct val="0"/>
              </a:spcBef>
              <a:spcAft>
                <a:spcPts val="0"/>
              </a:spcAft>
              <a:buNone/>
            </a:pPr>
            <a:r>
              <a:rPr lang="en-US" sz="2133" b="1" dirty="0">
                <a:solidFill>
                  <a:srgbClr val="2660AD"/>
                </a:solidFill>
                <a:latin typeface="Microsoft JhengHei" panose="020B0604030504040204" pitchFamily="34" charset="-120"/>
                <a:ea typeface="Microsoft JhengHei" panose="020B0604030504040204" pitchFamily="34" charset="-120"/>
                <a:cs typeface="+mj-cs"/>
              </a:rPr>
              <a:t>CSOP Asset Management Limited</a:t>
            </a:r>
          </a:p>
        </p:txBody>
      </p:sp>
      <p:sp>
        <p:nvSpPr>
          <p:cNvPr id="8" name="Text Placeholder 3">
            <a:extLst>
              <a:ext uri="{FF2B5EF4-FFF2-40B4-BE49-F238E27FC236}">
                <a16:creationId xmlns:a16="http://schemas.microsoft.com/office/drawing/2014/main" id="{0198A8F6-843C-9EFF-D3BB-A7FDF290E40F}"/>
              </a:ext>
            </a:extLst>
          </p:cNvPr>
          <p:cNvSpPr txBox="1">
            <a:spLocks/>
          </p:cNvSpPr>
          <p:nvPr/>
        </p:nvSpPr>
        <p:spPr>
          <a:xfrm>
            <a:off x="717201" y="5839663"/>
            <a:ext cx="12192000" cy="492443"/>
          </a:xfrm>
          <a:prstGeom prst="rect">
            <a:avLst/>
          </a:prstGeom>
        </p:spPr>
        <p:txBody>
          <a:bodyPr/>
          <a:lstStyle>
            <a:lvl1pPr marL="228600" indent="-228600" algn="l" defTabSz="914400" rtl="0" eaLnBrk="1" latinLnBrk="0" hangingPunct="1">
              <a:lnSpc>
                <a:spcPct val="90000"/>
              </a:lnSpc>
              <a:spcBef>
                <a:spcPts val="0"/>
              </a:spcBef>
              <a:spcAft>
                <a:spcPts val="1200"/>
              </a:spcAft>
              <a:buSzPct val="90000"/>
              <a:buFont typeface="Arial" panose="020B0604020202020204" pitchFamily="34" charset="0"/>
              <a:buChar char="•"/>
              <a:defRPr sz="24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51435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857250" indent="-228600" algn="l" defTabSz="914400" rtl="0" eaLnBrk="1" latinLnBrk="0" hangingPunct="1">
              <a:lnSpc>
                <a:spcPct val="90000"/>
              </a:lnSpc>
              <a:spcBef>
                <a:spcPts val="0"/>
              </a:spcBef>
              <a:spcAft>
                <a:spcPts val="1200"/>
              </a:spcAft>
              <a:buFont typeface="Amazon Ember" panose="020B0603020204020204" pitchFamily="34" charset="0"/>
              <a:buChar char="–"/>
              <a:defRPr sz="18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0858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3144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ts val="0"/>
              </a:spcAft>
              <a:buNone/>
            </a:pPr>
            <a:r>
              <a:rPr lang="en-US" sz="2133" b="1" dirty="0">
                <a:solidFill>
                  <a:srgbClr val="2660AD"/>
                </a:solidFill>
                <a:latin typeface="Microsoft JhengHei" panose="020B0604030504040204" pitchFamily="34" charset="-120"/>
                <a:ea typeface="Microsoft JhengHei" panose="020B0604030504040204" pitchFamily="34" charset="-120"/>
                <a:cs typeface="+mj-cs"/>
              </a:rPr>
              <a:t>Caleb Wong</a:t>
            </a:r>
          </a:p>
        </p:txBody>
      </p:sp>
    </p:spTree>
    <p:extLst>
      <p:ext uri="{BB962C8B-B14F-4D97-AF65-F5344CB8AC3E}">
        <p14:creationId xmlns:p14="http://schemas.microsoft.com/office/powerpoint/2010/main" val="2874062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0" name="Graphic 659">
            <a:extLst>
              <a:ext uri="{FF2B5EF4-FFF2-40B4-BE49-F238E27FC236}">
                <a16:creationId xmlns:a16="http://schemas.microsoft.com/office/drawing/2014/main" id="{EE657D8C-4460-497C-A223-AE1A3A34BBD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42823" y="847800"/>
            <a:ext cx="4986888" cy="5018053"/>
          </a:xfrm>
          <a:prstGeom prst="rect">
            <a:avLst/>
          </a:prstGeom>
        </p:spPr>
      </p:pic>
      <p:grpSp>
        <p:nvGrpSpPr>
          <p:cNvPr id="7" name="Group 6">
            <a:extLst>
              <a:ext uri="{FF2B5EF4-FFF2-40B4-BE49-F238E27FC236}">
                <a16:creationId xmlns:a16="http://schemas.microsoft.com/office/drawing/2014/main" id="{579A11CC-45A3-4A95-BE3E-64796267C5F6}"/>
              </a:ext>
            </a:extLst>
          </p:cNvPr>
          <p:cNvGrpSpPr/>
          <p:nvPr/>
        </p:nvGrpSpPr>
        <p:grpSpPr>
          <a:xfrm>
            <a:off x="12214120" y="8750105"/>
            <a:ext cx="3400141" cy="340771"/>
            <a:chOff x="9160590" y="6563831"/>
            <a:chExt cx="2550106" cy="255578"/>
          </a:xfrm>
        </p:grpSpPr>
        <p:pic>
          <p:nvPicPr>
            <p:cNvPr id="46" name="Picture 45" descr="Logo&#10;&#10;Description automatically generated">
              <a:extLst>
                <a:ext uri="{FF2B5EF4-FFF2-40B4-BE49-F238E27FC236}">
                  <a16:creationId xmlns:a16="http://schemas.microsoft.com/office/drawing/2014/main" id="{FE29CF1E-DA87-499A-B208-F976CFF5D2E1}"/>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47" name="Rectangle 19">
              <a:extLst>
                <a:ext uri="{FF2B5EF4-FFF2-40B4-BE49-F238E27FC236}">
                  <a16:creationId xmlns:a16="http://schemas.microsoft.com/office/drawing/2014/main" id="{E18FE20C-1056-4190-AFC8-6AA77876BF31}"/>
                </a:ext>
              </a:extLst>
            </p:cNvPr>
            <p:cNvSpPr/>
            <p:nvPr/>
          </p:nvSpPr>
          <p:spPr>
            <a:xfrm>
              <a:off x="9160590" y="6614676"/>
              <a:ext cx="2265443" cy="153841"/>
            </a:xfrm>
            <a:prstGeom prst="rect">
              <a:avLst/>
            </a:prstGeom>
          </p:spPr>
          <p:txBody>
            <a:bodyPr wrap="square" lIns="0" tIns="0" rIns="0" bIns="0">
              <a:spAutoFit/>
            </a:bodyPr>
            <a:lstStyle/>
            <a:p>
              <a:pPr algn="r" defTabSz="1219170">
                <a:defRPr/>
              </a:pPr>
              <a:r>
                <a:rPr lang="en-US" altLang="zh-CN" sz="1333" spc="-40" dirty="0">
                  <a:solidFill>
                    <a:prstClr val="white"/>
                  </a:solidFill>
                  <a:latin typeface="Calibri Light"/>
                  <a:ea typeface="Microsoft JhengHei"/>
                </a:rPr>
                <a:t>CSOP Asset Management</a:t>
              </a:r>
              <a:endParaRPr lang="zh-CN" altLang="en-US" sz="1333" dirty="0">
                <a:solidFill>
                  <a:prstClr val="white"/>
                </a:solidFill>
                <a:latin typeface="Calibri Light"/>
                <a:ea typeface="Microsoft JhengHei"/>
              </a:endParaRPr>
            </a:p>
          </p:txBody>
        </p:sp>
      </p:grpSp>
      <p:sp>
        <p:nvSpPr>
          <p:cNvPr id="32" name="圆角矩形 3"/>
          <p:cNvSpPr/>
          <p:nvPr/>
        </p:nvSpPr>
        <p:spPr>
          <a:xfrm rot="2700000">
            <a:off x="6689530" y="2745145"/>
            <a:ext cx="3899372" cy="3899372"/>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3" name="椭圆 4"/>
          <p:cNvSpPr/>
          <p:nvPr/>
        </p:nvSpPr>
        <p:spPr>
          <a:xfrm>
            <a:off x="6000646" y="2056259"/>
            <a:ext cx="5277140" cy="5277140"/>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nvGrpSpPr>
          <p:cNvPr id="34" name="组合 6"/>
          <p:cNvGrpSpPr/>
          <p:nvPr/>
        </p:nvGrpSpPr>
        <p:grpSpPr>
          <a:xfrm>
            <a:off x="6600753" y="2855029"/>
            <a:ext cx="4126435" cy="3698616"/>
            <a:chOff x="4950565" y="2141272"/>
            <a:chExt cx="3094826" cy="2773962"/>
          </a:xfrm>
        </p:grpSpPr>
        <p:sp>
          <p:nvSpPr>
            <p:cNvPr id="35" name="椭圆 43"/>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6" name="椭圆 44"/>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grpSp>
        <p:nvGrpSpPr>
          <p:cNvPr id="37" name="组合 5"/>
          <p:cNvGrpSpPr/>
          <p:nvPr/>
        </p:nvGrpSpPr>
        <p:grpSpPr>
          <a:xfrm>
            <a:off x="6604306" y="2855030"/>
            <a:ext cx="4112293" cy="3731037"/>
            <a:chOff x="4953229" y="2141272"/>
            <a:chExt cx="3084220" cy="2798278"/>
          </a:xfrm>
        </p:grpSpPr>
        <p:sp>
          <p:nvSpPr>
            <p:cNvPr id="38" name="椭圆 45"/>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9" name="椭圆 46"/>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sp>
        <p:nvSpPr>
          <p:cNvPr id="40" name="矩形 19"/>
          <p:cNvSpPr/>
          <p:nvPr/>
        </p:nvSpPr>
        <p:spPr>
          <a:xfrm>
            <a:off x="6348606" y="4084476"/>
            <a:ext cx="4476329" cy="1241237"/>
          </a:xfrm>
          <a:prstGeom prst="rect">
            <a:avLst/>
          </a:prstGeom>
          <a:ln>
            <a:noFill/>
          </a:ln>
        </p:spPr>
        <p:txBody>
          <a:bodyPr wrap="square">
            <a:spAutoFit/>
          </a:bodyPr>
          <a:lstStyle/>
          <a:p>
            <a:pPr lvl="0" algn="ctr">
              <a:defRPr/>
            </a:pPr>
            <a:r>
              <a:rPr lang="en-US" altLang="zh-CN" sz="3733" b="1" dirty="0">
                <a:solidFill>
                  <a:srgbClr val="2660AD"/>
                </a:solidFill>
                <a:ea typeface="微软雅黑" panose="020B0503020204020204" pitchFamily="34" charset="-122"/>
                <a:sym typeface="+mn-lt"/>
              </a:rPr>
              <a:t>1H26 Korea Market Recap</a:t>
            </a:r>
          </a:p>
        </p:txBody>
      </p:sp>
      <p:sp>
        <p:nvSpPr>
          <p:cNvPr id="42" name="矩形 21"/>
          <p:cNvSpPr/>
          <p:nvPr/>
        </p:nvSpPr>
        <p:spPr>
          <a:xfrm rot="13500000">
            <a:off x="4263885" y="3800097"/>
            <a:ext cx="1789457" cy="1789460"/>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43" name="矩形 22"/>
          <p:cNvSpPr/>
          <p:nvPr/>
        </p:nvSpPr>
        <p:spPr>
          <a:xfrm>
            <a:off x="4488709" y="4044381"/>
            <a:ext cx="1146468" cy="1077218"/>
          </a:xfrm>
          <a:prstGeom prst="rect">
            <a:avLst/>
          </a:prstGeom>
        </p:spPr>
        <p:txBody>
          <a:bodyPr wrap="none">
            <a:spAutoFit/>
          </a:bodyPr>
          <a:lstStyle/>
          <a:p>
            <a:pPr defTabSz="1219170">
              <a:defRPr/>
            </a:pPr>
            <a:r>
              <a:rPr lang="en-US" altLang="zh-CN" sz="6400" dirty="0">
                <a:solidFill>
                  <a:prstClr val="white"/>
                </a:solidFill>
                <a:latin typeface="微软雅黑" panose="020B0503020204020204" pitchFamily="34" charset="-122"/>
                <a:ea typeface="微软雅黑" panose="020B0503020204020204" pitchFamily="34" charset="-122"/>
                <a:sym typeface="+mn-lt"/>
              </a:rPr>
              <a:t>01</a:t>
            </a:r>
            <a:endParaRPr lang="zh-CN" altLang="en-US" sz="6400" dirty="0">
              <a:solidFill>
                <a:prstClr val="white"/>
              </a:solidFill>
              <a:latin typeface="微软雅黑" panose="020B0503020204020204" pitchFamily="34" charset="-122"/>
              <a:ea typeface="微软雅黑" panose="020B0503020204020204" pitchFamily="34" charset="-122"/>
              <a:sym typeface="+mn-lt"/>
            </a:endParaRPr>
          </a:p>
        </p:txBody>
      </p:sp>
      <p:sp>
        <p:nvSpPr>
          <p:cNvPr id="3" name="Slide Number Placeholder 2"/>
          <p:cNvSpPr>
            <a:spLocks noGrp="1"/>
          </p:cNvSpPr>
          <p:nvPr>
            <p:ph type="sldNum" sz="quarter" idx="4"/>
          </p:nvPr>
        </p:nvSpPr>
        <p:spPr>
          <a:xfrm>
            <a:off x="15614261" y="8743433"/>
            <a:ext cx="439212" cy="369332"/>
          </a:xfrm>
          <a:prstGeom prst="rect">
            <a:avLst/>
          </a:prstGeom>
        </p:spPr>
        <p:txBody>
          <a:bodyPr/>
          <a:lstStyle>
            <a:defPPr>
              <a:defRPr lang="en-US"/>
            </a:defPPr>
            <a:lvl1pPr marL="0" algn="r" defTabSz="1219170" rtl="0" eaLnBrk="1" latinLnBrk="0" hangingPunct="1">
              <a:defRPr sz="2400" kern="1200">
                <a:solidFill>
                  <a:schemeClr val="bg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defRPr/>
            </a:pPr>
            <a:fld id="{CC7D48C0-AA79-46F3-BF6F-F82B468F2D98}" type="slidenum">
              <a:rPr lang="en-US" sz="1333">
                <a:solidFill>
                  <a:prstClr val="white"/>
                </a:solidFill>
                <a:latin typeface="Calibri"/>
                <a:ea typeface="Microsoft JhengHei"/>
              </a:rPr>
              <a:pPr>
                <a:defRPr/>
              </a:pPr>
              <a:t>2</a:t>
            </a:fld>
            <a:endParaRPr lang="en-US" sz="1333" dirty="0">
              <a:solidFill>
                <a:prstClr val="white"/>
              </a:solidFill>
              <a:latin typeface="Calibri Light"/>
              <a:ea typeface="Microsoft JhengHei"/>
            </a:endParaRPr>
          </a:p>
        </p:txBody>
      </p:sp>
    </p:spTree>
    <p:custDataLst>
      <p:tags r:id="rId1"/>
    </p:custDataLst>
    <p:extLst>
      <p:ext uri="{BB962C8B-B14F-4D97-AF65-F5344CB8AC3E}">
        <p14:creationId xmlns:p14="http://schemas.microsoft.com/office/powerpoint/2010/main" val="81103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en-US" sz="2400" b="1" dirty="0">
                <a:solidFill>
                  <a:srgbClr val="1B2F4A"/>
                </a:solidFill>
                <a:latin typeface="Liter" pitchFamily="34" charset="0"/>
                <a:ea typeface="Liter" pitchFamily="34" charset="-122"/>
                <a:cs typeface="Liter" pitchFamily="34" charset="-120"/>
              </a:rPr>
              <a:t>Korea's 1H26 Rally Was Exceptional, but Highly Concentrated in Tech/Memory</a:t>
            </a:r>
            <a:endParaRPr lang="en-US" sz="24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6858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1.1 — Korea Performance Attribution 2026 YTD</a:t>
            </a:r>
            <a:endParaRPr lang="en-US" sz="1300" dirty="0"/>
          </a:p>
        </p:txBody>
      </p:sp>
      <p:sp>
        <p:nvSpPr>
          <p:cNvPr id="7" name="Shape 5"/>
          <p:cNvSpPr/>
          <p:nvPr/>
        </p:nvSpPr>
        <p:spPr>
          <a:xfrm>
            <a:off x="762000" y="1371600"/>
            <a:ext cx="6858000" cy="3302000"/>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71600"/>
            <a:ext cx="6858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MSCI Korea Performance Attribution 2026 YTD]</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Tech HW (40%) + Semis (33%) = 73% of market weight</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87-92% of YTD gains from tech hardware/semiconductors</a:t>
            </a:r>
            <a:endParaRPr lang="en-US" sz="1400" dirty="0"/>
          </a:p>
        </p:txBody>
      </p:sp>
      <p:sp>
        <p:nvSpPr>
          <p:cNvPr id="9" name="Shape 7"/>
          <p:cNvSpPr/>
          <p:nvPr/>
        </p:nvSpPr>
        <p:spPr>
          <a:xfrm>
            <a:off x="8128000" y="1041400"/>
            <a:ext cx="50800" cy="254000"/>
          </a:xfrm>
          <a:prstGeom prst="rect">
            <a:avLst/>
          </a:prstGeom>
          <a:solidFill>
            <a:srgbClr val="C4963A"/>
          </a:solidFill>
          <a:ln/>
        </p:spPr>
        <p:txBody>
          <a:bodyPr/>
          <a:lstStyle/>
          <a:p>
            <a:endParaRPr lang="en-US"/>
          </a:p>
        </p:txBody>
      </p:sp>
      <p:sp>
        <p:nvSpPr>
          <p:cNvPr id="10" name="Text 8"/>
          <p:cNvSpPr/>
          <p:nvPr/>
        </p:nvSpPr>
        <p:spPr>
          <a:xfrm>
            <a:off x="8280400" y="1016000"/>
            <a:ext cx="7112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1.2 — Korea’s 2026 1H Return Breakdown by Sector</a:t>
            </a:r>
            <a:endParaRPr lang="en-US" sz="1300" dirty="0"/>
          </a:p>
        </p:txBody>
      </p:sp>
      <p:sp>
        <p:nvSpPr>
          <p:cNvPr id="11" name="Shape 9"/>
          <p:cNvSpPr/>
          <p:nvPr/>
        </p:nvSpPr>
        <p:spPr>
          <a:xfrm>
            <a:off x="8128000" y="1371600"/>
            <a:ext cx="7366000" cy="3302000"/>
          </a:xfrm>
          <a:prstGeom prst="rect">
            <a:avLst/>
          </a:prstGeom>
          <a:solidFill>
            <a:srgbClr val="F7F8FA"/>
          </a:solidFill>
          <a:ln w="12700">
            <a:solidFill>
              <a:srgbClr val="E2E8F0"/>
            </a:solidFill>
            <a:prstDash val="solid"/>
          </a:ln>
        </p:spPr>
        <p:txBody>
          <a:bodyPr/>
          <a:lstStyle/>
          <a:p>
            <a:endParaRPr lang="en-US"/>
          </a:p>
        </p:txBody>
      </p:sp>
      <p:sp>
        <p:nvSpPr>
          <p:cNvPr id="12" name="Text 10"/>
          <p:cNvSpPr/>
          <p:nvPr/>
        </p:nvSpPr>
        <p:spPr>
          <a:xfrm>
            <a:off x="8128000" y="1371600"/>
            <a:ext cx="7366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Performance Breakdown by Market, MSCI Asia (2026 1H)]</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Korea leads with ~125% price return (USD)</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Driven by Forward EPS changes, not PE expansion</a:t>
            </a:r>
            <a:endParaRPr lang="en-US" sz="1400" dirty="0"/>
          </a:p>
        </p:txBody>
      </p:sp>
      <p:sp>
        <p:nvSpPr>
          <p:cNvPr id="13" name="Shape 11"/>
          <p:cNvSpPr/>
          <p:nvPr/>
        </p:nvSpPr>
        <p:spPr>
          <a:xfrm>
            <a:off x="762000" y="4953000"/>
            <a:ext cx="14732000" cy="2222326"/>
          </a:xfrm>
          <a:prstGeom prst="rect">
            <a:avLst/>
          </a:prstGeom>
          <a:solidFill>
            <a:srgbClr val="F7F8FA"/>
          </a:solidFill>
          <a:ln/>
        </p:spPr>
        <p:txBody>
          <a:bodyPr/>
          <a:lstStyle/>
          <a:p>
            <a:endParaRPr lang="en-US"/>
          </a:p>
        </p:txBody>
      </p:sp>
      <p:sp>
        <p:nvSpPr>
          <p:cNvPr id="14" name="Shape 12"/>
          <p:cNvSpPr/>
          <p:nvPr/>
        </p:nvSpPr>
        <p:spPr>
          <a:xfrm>
            <a:off x="762000" y="4953000"/>
            <a:ext cx="14732000" cy="50800"/>
          </a:xfrm>
          <a:prstGeom prst="rect">
            <a:avLst/>
          </a:prstGeom>
          <a:solidFill>
            <a:srgbClr val="C4963A"/>
          </a:solidFill>
          <a:ln/>
        </p:spPr>
        <p:txBody>
          <a:bodyPr/>
          <a:lstStyle/>
          <a:p>
            <a:endParaRPr lang="en-US"/>
          </a:p>
        </p:txBody>
      </p:sp>
      <p:sp>
        <p:nvSpPr>
          <p:cNvPr id="15" name="Text 13"/>
          <p:cNvSpPr/>
          <p:nvPr/>
        </p:nvSpPr>
        <p:spPr>
          <a:xfrm>
            <a:off x="1016000" y="5130800"/>
            <a:ext cx="254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Key Insight:</a:t>
            </a:r>
            <a:endParaRPr lang="en-US" sz="1600" dirty="0"/>
          </a:p>
        </p:txBody>
      </p:sp>
      <p:sp>
        <p:nvSpPr>
          <p:cNvPr id="16" name="Text 14"/>
          <p:cNvSpPr/>
          <p:nvPr/>
        </p:nvSpPr>
        <p:spPr>
          <a:xfrm>
            <a:off x="1016000" y="5486400"/>
            <a:ext cx="14224000" cy="1688926"/>
          </a:xfrm>
          <a:prstGeom prst="rect">
            <a:avLst/>
          </a:prstGeom>
          <a:noFill/>
          <a:ln/>
        </p:spPr>
        <p:txBody>
          <a:bodyPr wrap="square" lIns="0" tIns="0" rIns="0" bIns="0" rtlCol="0" anchor="t"/>
          <a:lstStyle/>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Strongest equity market in Asia in 1H26:</a:t>
            </a:r>
            <a:r>
              <a:rPr lang="en-US" sz="1600" dirty="0">
                <a:solidFill>
                  <a:srgbClr val="2D3748"/>
                </a:solidFill>
                <a:latin typeface="Liter" pitchFamily="34" charset="0"/>
                <a:ea typeface="Liter" pitchFamily="34" charset="-122"/>
                <a:cs typeface="Liter" pitchFamily="34" charset="-120"/>
              </a:rPr>
              <a:t> KOSPI up </a:t>
            </a:r>
            <a:r>
              <a:rPr lang="en-US" sz="1600" dirty="0">
                <a:solidFill>
                  <a:srgbClr val="2D3748"/>
                </a:solidFill>
                <a:highlight>
                  <a:srgbClr val="FFFF00"/>
                </a:highlight>
                <a:latin typeface="Liter" pitchFamily="34" charset="0"/>
                <a:ea typeface="Liter" pitchFamily="34" charset="-122"/>
                <a:cs typeface="Liter" pitchFamily="34" charset="-120"/>
              </a:rPr>
              <a:t>~90% </a:t>
            </a:r>
            <a:r>
              <a:rPr lang="en-US" sz="1600" dirty="0">
                <a:solidFill>
                  <a:srgbClr val="2D3748"/>
                </a:solidFill>
                <a:latin typeface="Liter" pitchFamily="34" charset="0"/>
                <a:ea typeface="Liter" pitchFamily="34" charset="-122"/>
                <a:cs typeface="Liter" pitchFamily="34" charset="-120"/>
              </a:rPr>
              <a:t>YTD</a:t>
            </a:r>
            <a:endParaRPr lang="en-US" sz="1600" dirty="0"/>
          </a:p>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Highly concentrated:</a:t>
            </a:r>
            <a:r>
              <a:rPr lang="en-US" sz="1600" dirty="0">
                <a:solidFill>
                  <a:srgbClr val="2D3748"/>
                </a:solidFill>
                <a:latin typeface="Liter" pitchFamily="34" charset="0"/>
                <a:ea typeface="Liter" pitchFamily="34" charset="-122"/>
                <a:cs typeface="Liter" pitchFamily="34" charset="-120"/>
              </a:rPr>
              <a:t> Leadership concentrated in a handful of AI "bottleneck" and memory beneficiaries </a:t>
            </a:r>
          </a:p>
          <a:p>
            <a:pPr marL="711200" lvl="1"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Tech Hardware and  Semiconductors account for &gt;73% of index weight</a:t>
            </a:r>
            <a:r>
              <a:rPr lang="en-US" sz="1600" dirty="0">
                <a:solidFill>
                  <a:srgbClr val="2D3748"/>
                </a:solidFill>
                <a:latin typeface="Liter" pitchFamily="34" charset="0"/>
                <a:ea typeface="Liter" pitchFamily="34" charset="-122"/>
                <a:cs typeface="Liter" pitchFamily="34" charset="-120"/>
              </a:rPr>
              <a:t>; </a:t>
            </a:r>
          </a:p>
          <a:p>
            <a:pPr marL="711200" lvl="1"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87%-92% of Korea's YTD gains </a:t>
            </a:r>
            <a:r>
              <a:rPr lang="en-US" sz="1600" dirty="0">
                <a:solidFill>
                  <a:srgbClr val="2D3748"/>
                </a:solidFill>
                <a:latin typeface="Liter" pitchFamily="34" charset="0"/>
                <a:ea typeface="Liter" pitchFamily="34" charset="-122"/>
                <a:cs typeface="Liter" pitchFamily="34" charset="-120"/>
              </a:rPr>
              <a:t>are from tech hardware/semiconductors as well</a:t>
            </a:r>
            <a:endParaRPr lang="en-US" sz="1600" dirty="0"/>
          </a:p>
        </p:txBody>
      </p:sp>
      <p:sp>
        <p:nvSpPr>
          <p:cNvPr id="17" name="Text 15"/>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Goldman Sachs, FactSet, MSCI, Quantiwise</a:t>
            </a:r>
            <a:endParaRPr lang="en-US" sz="1200" dirty="0"/>
          </a:p>
        </p:txBody>
      </p:sp>
      <p:sp>
        <p:nvSpPr>
          <p:cNvPr id="18" name="Text 16"/>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03</a:t>
            </a:r>
            <a:endParaRPr lang="en-US" sz="1200" dirty="0"/>
          </a:p>
        </p:txBody>
      </p:sp>
      <p:pic>
        <p:nvPicPr>
          <p:cNvPr id="19" name="Picture 18">
            <a:extLst>
              <a:ext uri="{FF2B5EF4-FFF2-40B4-BE49-F238E27FC236}">
                <a16:creationId xmlns:a16="http://schemas.microsoft.com/office/drawing/2014/main" id="{118BA28C-39E7-699B-B914-3CF4955F01DA}"/>
              </a:ext>
            </a:extLst>
          </p:cNvPr>
          <p:cNvPicPr>
            <a:picLocks noChangeAspect="1"/>
          </p:cNvPicPr>
          <p:nvPr/>
        </p:nvPicPr>
        <p:blipFill rotWithShape="1">
          <a:blip r:embed="rId3"/>
          <a:srcRect t="23609" b="10020"/>
          <a:stretch>
            <a:fillRect/>
          </a:stretch>
        </p:blipFill>
        <p:spPr bwMode="auto">
          <a:xfrm>
            <a:off x="762000" y="1369172"/>
            <a:ext cx="6858000" cy="3302000"/>
          </a:xfrm>
          <a:prstGeom prst="rect">
            <a:avLst/>
          </a:prstGeom>
          <a:ln>
            <a:noFill/>
          </a:ln>
          <a:extLst>
            <a:ext uri="{53640926-AAD7-44D8-BBD7-CCE9431645EC}">
              <a14:shadowObscured xmlns:a14="http://schemas.microsoft.com/office/drawing/2010/main"/>
            </a:ext>
          </a:extLst>
        </p:spPr>
      </p:pic>
      <p:pic>
        <p:nvPicPr>
          <p:cNvPr id="21" name="Picture 20">
            <a:extLst>
              <a:ext uri="{FF2B5EF4-FFF2-40B4-BE49-F238E27FC236}">
                <a16:creationId xmlns:a16="http://schemas.microsoft.com/office/drawing/2014/main" id="{A0480381-A0ED-B612-EFDF-46ED165CC70F}"/>
              </a:ext>
            </a:extLst>
          </p:cNvPr>
          <p:cNvPicPr>
            <a:picLocks noChangeAspect="1"/>
          </p:cNvPicPr>
          <p:nvPr/>
        </p:nvPicPr>
        <p:blipFill rotWithShape="1">
          <a:blip r:embed="rId4"/>
          <a:srcRect t="27319" b="11535"/>
          <a:stretch>
            <a:fillRect/>
          </a:stretch>
        </p:blipFill>
        <p:spPr bwMode="auto">
          <a:xfrm>
            <a:off x="8128000" y="1368094"/>
            <a:ext cx="7366000" cy="3302000"/>
          </a:xfrm>
          <a:prstGeom prst="rect">
            <a:avLst/>
          </a:prstGeom>
          <a:ln>
            <a:noFill/>
          </a:ln>
          <a:extLst>
            <a:ext uri="{53640926-AAD7-44D8-BBD7-CCE9431645EC}">
              <a14:shadowObscured xmlns:a14="http://schemas.microsoft.com/office/drawing/2010/main"/>
            </a:ext>
          </a:extLst>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en-US" sz="2400" b="1" dirty="0">
                <a:solidFill>
                  <a:srgbClr val="1B2F4A"/>
                </a:solidFill>
                <a:latin typeface="Liter" pitchFamily="34" charset="0"/>
                <a:ea typeface="Liter" pitchFamily="34" charset="-122"/>
                <a:cs typeface="Liter" pitchFamily="34" charset="-120"/>
              </a:rPr>
              <a:t>How Concentrated? Market Breadth Narrowed to COVID-Era Lows Despite Successive All-Time Highs</a:t>
            </a:r>
            <a:endParaRPr lang="en-US" sz="24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7620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1.3 — KOSPI vs. Advance/Decline Ratio</a:t>
            </a:r>
            <a:endParaRPr lang="en-US" sz="1300" dirty="0"/>
          </a:p>
        </p:txBody>
      </p:sp>
      <p:sp>
        <p:nvSpPr>
          <p:cNvPr id="7" name="Shape 5"/>
          <p:cNvSpPr/>
          <p:nvPr/>
        </p:nvSpPr>
        <p:spPr>
          <a:xfrm>
            <a:off x="762000" y="1397000"/>
            <a:ext cx="8890000" cy="4318000"/>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97000"/>
            <a:ext cx="8890000" cy="4318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KOSPI Index vs. Advance/Decline Ratio]</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Ratio at weakest since COVID despite KOSPI at all-time highs</a:t>
            </a:r>
            <a:endParaRPr lang="en-US" sz="1400" dirty="0"/>
          </a:p>
        </p:txBody>
      </p:sp>
      <p:sp>
        <p:nvSpPr>
          <p:cNvPr id="9" name="Shape 7"/>
          <p:cNvSpPr/>
          <p:nvPr/>
        </p:nvSpPr>
        <p:spPr>
          <a:xfrm>
            <a:off x="10033000" y="1397000"/>
            <a:ext cx="5461000" cy="4582202"/>
          </a:xfrm>
          <a:prstGeom prst="rect">
            <a:avLst/>
          </a:prstGeom>
          <a:solidFill>
            <a:srgbClr val="F7F8FA"/>
          </a:solidFill>
          <a:ln/>
        </p:spPr>
        <p:txBody>
          <a:bodyPr/>
          <a:lstStyle/>
          <a:p>
            <a:endParaRPr lang="en-US"/>
          </a:p>
        </p:txBody>
      </p:sp>
      <p:sp>
        <p:nvSpPr>
          <p:cNvPr id="10" name="Shape 8"/>
          <p:cNvSpPr/>
          <p:nvPr/>
        </p:nvSpPr>
        <p:spPr>
          <a:xfrm>
            <a:off x="10033000" y="1397000"/>
            <a:ext cx="5461000" cy="50800"/>
          </a:xfrm>
          <a:prstGeom prst="rect">
            <a:avLst/>
          </a:prstGeom>
          <a:solidFill>
            <a:srgbClr val="C4963A"/>
          </a:solidFill>
          <a:ln/>
        </p:spPr>
        <p:txBody>
          <a:bodyPr/>
          <a:lstStyle/>
          <a:p>
            <a:endParaRPr lang="en-US"/>
          </a:p>
        </p:txBody>
      </p:sp>
      <p:sp>
        <p:nvSpPr>
          <p:cNvPr id="11" name="Text 9"/>
          <p:cNvSpPr/>
          <p:nvPr/>
        </p:nvSpPr>
        <p:spPr>
          <a:xfrm>
            <a:off x="10287000" y="1574800"/>
            <a:ext cx="254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Key Insight:</a:t>
            </a:r>
            <a:endParaRPr lang="en-US" sz="1600" dirty="0"/>
          </a:p>
        </p:txBody>
      </p:sp>
      <p:sp>
        <p:nvSpPr>
          <p:cNvPr id="12" name="Text 10"/>
          <p:cNvSpPr/>
          <p:nvPr/>
        </p:nvSpPr>
        <p:spPr>
          <a:xfrm>
            <a:off x="10287000" y="1955800"/>
            <a:ext cx="4953000" cy="4582202"/>
          </a:xfrm>
          <a:prstGeom prst="rect">
            <a:avLst/>
          </a:prstGeom>
          <a:noFill/>
          <a:ln/>
        </p:spPr>
        <p:txBody>
          <a:bodyPr wrap="square" lIns="0" tIns="0" rIns="0" bIns="0" rtlCol="0" anchor="t"/>
          <a:lstStyle/>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Advance/Decline Ratio</a:t>
            </a:r>
            <a:r>
              <a:rPr lang="en-US" sz="1600" dirty="0">
                <a:solidFill>
                  <a:srgbClr val="2D3748"/>
                </a:solidFill>
                <a:latin typeface="Liter" pitchFamily="34" charset="0"/>
                <a:ea typeface="Liter" pitchFamily="34" charset="-122"/>
                <a:cs typeface="Liter" pitchFamily="34" charset="-120"/>
              </a:rPr>
              <a:t> tracks market "breadth”</a:t>
            </a:r>
          </a:p>
          <a:p>
            <a:pPr marL="254000" indent="-254000">
              <a:lnSpc>
                <a:spcPct val="160000"/>
              </a:lnSpc>
              <a:spcBef>
                <a:spcPts val="10"/>
              </a:spcBef>
              <a:buSzPct val="100000"/>
              <a:buChar char="•"/>
            </a:pPr>
            <a:r>
              <a:rPr lang="en-US" sz="1600" dirty="0">
                <a:solidFill>
                  <a:srgbClr val="2D3748"/>
                </a:solidFill>
                <a:latin typeface="Liter" pitchFamily="34" charset="0"/>
              </a:rPr>
              <a:t>Dropped to </a:t>
            </a:r>
            <a:r>
              <a:rPr lang="en-US" sz="1600" b="1" dirty="0">
                <a:solidFill>
                  <a:srgbClr val="2D3748"/>
                </a:solidFill>
                <a:latin typeface="Liter" pitchFamily="34" charset="0"/>
              </a:rPr>
              <a:t>&lt;70%,</a:t>
            </a:r>
            <a:r>
              <a:rPr lang="zh-CN" altLang="en-US" sz="1600" b="1" dirty="0">
                <a:solidFill>
                  <a:srgbClr val="2D3748"/>
                </a:solidFill>
                <a:latin typeface="Liter" pitchFamily="34" charset="0"/>
              </a:rPr>
              <a:t> </a:t>
            </a:r>
            <a:r>
              <a:rPr lang="en-US" altLang="zh-CN" sz="1600" b="1" dirty="0">
                <a:solidFill>
                  <a:srgbClr val="2D3748"/>
                </a:solidFill>
                <a:latin typeface="Liter" pitchFamily="34" charset="0"/>
              </a:rPr>
              <a:t>weakest since COVID </a:t>
            </a:r>
            <a:r>
              <a:rPr lang="en-US" sz="1600" dirty="0">
                <a:solidFill>
                  <a:srgbClr val="2D3748"/>
                </a:solidFill>
                <a:latin typeface="Liter" pitchFamily="34" charset="0"/>
                <a:ea typeface="Liter" pitchFamily="34" charset="-122"/>
                <a:cs typeface="Liter" pitchFamily="34" charset="-120"/>
              </a:rPr>
              <a:t>despite successive all-time highs</a:t>
            </a:r>
            <a:endParaRPr lang="en-US" sz="1600" b="1" dirty="0"/>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A </a:t>
            </a:r>
            <a:r>
              <a:rPr lang="en-US" sz="1600" b="1" dirty="0">
                <a:solidFill>
                  <a:srgbClr val="2D3748"/>
                </a:solidFill>
                <a:latin typeface="Liter" pitchFamily="34" charset="0"/>
                <a:ea typeface="Liter" pitchFamily="34" charset="-122"/>
                <a:cs typeface="Liter" pitchFamily="34" charset="-120"/>
              </a:rPr>
              <a:t>low ratio</a:t>
            </a:r>
            <a:r>
              <a:rPr lang="en-US" sz="1600" dirty="0">
                <a:solidFill>
                  <a:srgbClr val="2D3748"/>
                </a:solidFill>
                <a:latin typeface="Liter" pitchFamily="34" charset="0"/>
                <a:ea typeface="Liter" pitchFamily="34" charset="-122"/>
                <a:cs typeface="Liter" pitchFamily="34" charset="-120"/>
              </a:rPr>
              <a:t> indicates the rally was driven by a tiny handful of massive heavyweight stocks</a:t>
            </a:r>
            <a:endParaRPr lang="en-US" sz="1600" dirty="0"/>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Leadership concentrated in AI "bottleneck" and memory beneficiaries</a:t>
            </a:r>
            <a:endParaRPr lang="en-US" sz="1600" dirty="0"/>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Within the AI “bottleneck”, current cycle extends </a:t>
            </a:r>
            <a:r>
              <a:rPr lang="en-US" sz="1600" b="1" dirty="0">
                <a:solidFill>
                  <a:srgbClr val="2D3748"/>
                </a:solidFill>
                <a:latin typeface="Liter" pitchFamily="34" charset="0"/>
                <a:ea typeface="Liter" pitchFamily="34" charset="-122"/>
                <a:cs typeface="Liter" pitchFamily="34" charset="-120"/>
              </a:rPr>
              <a:t>beyond the top two names</a:t>
            </a:r>
            <a:r>
              <a:rPr lang="en-US" sz="1600" dirty="0">
                <a:solidFill>
                  <a:srgbClr val="2D3748"/>
                </a:solidFill>
                <a:latin typeface="Liter" pitchFamily="34" charset="0"/>
                <a:ea typeface="Liter" pitchFamily="34" charset="-122"/>
                <a:cs typeface="Liter" pitchFamily="34" charset="-120"/>
              </a:rPr>
              <a:t> into robotics, industrial automation, and energy infrastructure</a:t>
            </a:r>
          </a:p>
        </p:txBody>
      </p:sp>
      <p:sp>
        <p:nvSpPr>
          <p:cNvPr id="13" name="Text 11"/>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Goldman Sachs Global Investment Research, FactSet, MSCI, Quantiwise</a:t>
            </a:r>
            <a:endParaRPr lang="en-US" sz="1200" dirty="0"/>
          </a:p>
        </p:txBody>
      </p:sp>
      <p:sp>
        <p:nvSpPr>
          <p:cNvPr id="14" name="Text 12"/>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04</a:t>
            </a:r>
            <a:endParaRPr lang="en-US" sz="1200" dirty="0"/>
          </a:p>
        </p:txBody>
      </p:sp>
      <p:pic>
        <p:nvPicPr>
          <p:cNvPr id="15" name="Picture 14">
            <a:extLst>
              <a:ext uri="{FF2B5EF4-FFF2-40B4-BE49-F238E27FC236}">
                <a16:creationId xmlns:a16="http://schemas.microsoft.com/office/drawing/2014/main" id="{56683F74-7FC4-A6F9-1794-D0FE7586090D}"/>
              </a:ext>
            </a:extLst>
          </p:cNvPr>
          <p:cNvPicPr>
            <a:picLocks noChangeAspect="1"/>
          </p:cNvPicPr>
          <p:nvPr/>
        </p:nvPicPr>
        <p:blipFill rotWithShape="1">
          <a:blip r:embed="rId3"/>
          <a:srcRect t="22829" b="10672"/>
          <a:stretch>
            <a:fillRect/>
          </a:stretch>
        </p:blipFill>
        <p:spPr bwMode="auto">
          <a:xfrm>
            <a:off x="762000" y="1371600"/>
            <a:ext cx="8890000" cy="4607602"/>
          </a:xfrm>
          <a:prstGeom prst="rect">
            <a:avLst/>
          </a:prstGeom>
          <a:ln>
            <a:noFill/>
          </a:ln>
          <a:extLst>
            <a:ext uri="{53640926-AAD7-44D8-BBD7-CCE9431645EC}">
              <a14:shadowObscured xmlns:a14="http://schemas.microsoft.com/office/drawing/2010/main"/>
            </a:ext>
          </a:extLst>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en-US" sz="2400" b="1" dirty="0">
                <a:solidFill>
                  <a:srgbClr val="1B2F4A"/>
                </a:solidFill>
                <a:latin typeface="Liter" pitchFamily="34" charset="0"/>
                <a:ea typeface="Liter" pitchFamily="34" charset="-122"/>
                <a:cs typeface="Liter" pitchFamily="34" charset="-120"/>
              </a:rPr>
              <a:t>1H Fund Flow Dynamics: Foreign Investors Sold Heavily While Domestic Retail Absorbed Flows</a:t>
            </a:r>
            <a:endParaRPr lang="en-US" sz="24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6858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1.6 — 2026 YTD Net Buying/Selling by Investor Type (KRW billions)</a:t>
            </a:r>
            <a:endParaRPr lang="en-US" sz="1300" dirty="0"/>
          </a:p>
        </p:txBody>
      </p:sp>
      <p:sp>
        <p:nvSpPr>
          <p:cNvPr id="7" name="Shape 5"/>
          <p:cNvSpPr/>
          <p:nvPr/>
        </p:nvSpPr>
        <p:spPr>
          <a:xfrm>
            <a:off x="762000" y="1371600"/>
            <a:ext cx="6858000" cy="3048000"/>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71600"/>
            <a:ext cx="6858000" cy="3048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Cumulative Foreign Flows vs. MSCI Korea]</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Foreign sold US$27.9bn in June 2026</a:t>
            </a:r>
            <a:endParaRPr lang="en-US" sz="1400" dirty="0"/>
          </a:p>
        </p:txBody>
      </p:sp>
      <p:sp>
        <p:nvSpPr>
          <p:cNvPr id="9" name="Shape 7"/>
          <p:cNvSpPr/>
          <p:nvPr/>
        </p:nvSpPr>
        <p:spPr>
          <a:xfrm>
            <a:off x="8128000" y="1041400"/>
            <a:ext cx="50800" cy="254000"/>
          </a:xfrm>
          <a:prstGeom prst="rect">
            <a:avLst/>
          </a:prstGeom>
          <a:solidFill>
            <a:srgbClr val="C4963A"/>
          </a:solidFill>
          <a:ln/>
        </p:spPr>
        <p:txBody>
          <a:bodyPr/>
          <a:lstStyle/>
          <a:p>
            <a:endParaRPr lang="en-US"/>
          </a:p>
        </p:txBody>
      </p:sp>
      <p:sp>
        <p:nvSpPr>
          <p:cNvPr id="10" name="Text 8"/>
          <p:cNvSpPr/>
          <p:nvPr/>
        </p:nvSpPr>
        <p:spPr>
          <a:xfrm>
            <a:off x="8280400" y="1016000"/>
            <a:ext cx="7112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1.7 — Cumulative Equity Fund Flows in Korea (Since 2020, USD billions)</a:t>
            </a:r>
            <a:endParaRPr lang="en-US" sz="1300" dirty="0"/>
          </a:p>
        </p:txBody>
      </p:sp>
      <p:sp>
        <p:nvSpPr>
          <p:cNvPr id="11" name="Shape 9"/>
          <p:cNvSpPr/>
          <p:nvPr/>
        </p:nvSpPr>
        <p:spPr>
          <a:xfrm>
            <a:off x="8128000" y="1371600"/>
            <a:ext cx="7366000" cy="3048000"/>
          </a:xfrm>
          <a:prstGeom prst="rect">
            <a:avLst/>
          </a:prstGeom>
          <a:solidFill>
            <a:srgbClr val="F7F8FA"/>
          </a:solidFill>
          <a:ln w="12700">
            <a:solidFill>
              <a:srgbClr val="E2E8F0"/>
            </a:solidFill>
            <a:prstDash val="solid"/>
          </a:ln>
        </p:spPr>
        <p:txBody>
          <a:bodyPr/>
          <a:lstStyle/>
          <a:p>
            <a:endParaRPr lang="en-US"/>
          </a:p>
        </p:txBody>
      </p:sp>
      <p:sp>
        <p:nvSpPr>
          <p:cNvPr id="12" name="Text 10"/>
          <p:cNvSpPr/>
          <p:nvPr/>
        </p:nvSpPr>
        <p:spPr>
          <a:xfrm>
            <a:off x="8128000" y="1371600"/>
            <a:ext cx="7366000" cy="3048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Cumulative Domestic Retail &amp; Institutional Flows]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Domestic bought US$27.5bn, offsetting foreign outflows</a:t>
            </a:r>
            <a:endParaRPr lang="en-US" sz="1400" dirty="0"/>
          </a:p>
        </p:txBody>
      </p:sp>
      <p:sp>
        <p:nvSpPr>
          <p:cNvPr id="13" name="Shape 11"/>
          <p:cNvSpPr/>
          <p:nvPr/>
        </p:nvSpPr>
        <p:spPr>
          <a:xfrm>
            <a:off x="762000" y="4622800"/>
            <a:ext cx="50800" cy="254000"/>
          </a:xfrm>
          <a:prstGeom prst="rect">
            <a:avLst/>
          </a:prstGeom>
          <a:solidFill>
            <a:srgbClr val="C4963A"/>
          </a:solidFill>
          <a:ln/>
        </p:spPr>
        <p:txBody>
          <a:bodyPr/>
          <a:lstStyle/>
          <a:p>
            <a:endParaRPr lang="en-US"/>
          </a:p>
        </p:txBody>
      </p:sp>
      <p:sp>
        <p:nvSpPr>
          <p:cNvPr id="14" name="Text 12"/>
          <p:cNvSpPr/>
          <p:nvPr/>
        </p:nvSpPr>
        <p:spPr>
          <a:xfrm>
            <a:off x="914400" y="4597400"/>
            <a:ext cx="7620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1.8 — Cumulative Foreign Flows by Sector</a:t>
            </a:r>
            <a:endParaRPr lang="en-US" sz="1300" dirty="0"/>
          </a:p>
        </p:txBody>
      </p:sp>
      <p:sp>
        <p:nvSpPr>
          <p:cNvPr id="15" name="Shape 13"/>
          <p:cNvSpPr/>
          <p:nvPr/>
        </p:nvSpPr>
        <p:spPr>
          <a:xfrm>
            <a:off x="762000" y="4953000"/>
            <a:ext cx="6858000" cy="3302000"/>
          </a:xfrm>
          <a:prstGeom prst="rect">
            <a:avLst/>
          </a:prstGeom>
          <a:solidFill>
            <a:srgbClr val="F7F8FA"/>
          </a:solidFill>
          <a:ln w="12700">
            <a:solidFill>
              <a:srgbClr val="E2E8F0"/>
            </a:solidFill>
            <a:prstDash val="solid"/>
          </a:ln>
        </p:spPr>
        <p:txBody>
          <a:bodyPr/>
          <a:lstStyle/>
          <a:p>
            <a:endParaRPr lang="en-US"/>
          </a:p>
        </p:txBody>
      </p:sp>
      <p:sp>
        <p:nvSpPr>
          <p:cNvPr id="16" name="Text 14"/>
          <p:cNvSpPr/>
          <p:nvPr/>
        </p:nvSpPr>
        <p:spPr>
          <a:xfrm>
            <a:off x="762000" y="4953000"/>
            <a:ext cx="6858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2026 YTD Cumulative Foreign Flows By Sector]</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Rotated out of semiconductors/autos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Rotated into Nuclear, Machinery, Health Care, Energy, Materials</a:t>
            </a:r>
            <a:endParaRPr lang="en-US" sz="1400" dirty="0"/>
          </a:p>
        </p:txBody>
      </p:sp>
      <p:sp>
        <p:nvSpPr>
          <p:cNvPr id="17" name="Shape 15"/>
          <p:cNvSpPr/>
          <p:nvPr/>
        </p:nvSpPr>
        <p:spPr>
          <a:xfrm>
            <a:off x="8128000" y="4622800"/>
            <a:ext cx="7366000" cy="3632200"/>
          </a:xfrm>
          <a:prstGeom prst="rect">
            <a:avLst/>
          </a:prstGeom>
          <a:solidFill>
            <a:srgbClr val="F7F8FA"/>
          </a:solidFill>
          <a:ln/>
        </p:spPr>
        <p:txBody>
          <a:bodyPr/>
          <a:lstStyle/>
          <a:p>
            <a:endParaRPr lang="en-US"/>
          </a:p>
        </p:txBody>
      </p:sp>
      <p:sp>
        <p:nvSpPr>
          <p:cNvPr id="18" name="Shape 16"/>
          <p:cNvSpPr/>
          <p:nvPr/>
        </p:nvSpPr>
        <p:spPr>
          <a:xfrm>
            <a:off x="8128000" y="4622800"/>
            <a:ext cx="7366000" cy="50800"/>
          </a:xfrm>
          <a:prstGeom prst="rect">
            <a:avLst/>
          </a:prstGeom>
          <a:solidFill>
            <a:srgbClr val="C4963A"/>
          </a:solidFill>
          <a:ln/>
        </p:spPr>
        <p:txBody>
          <a:bodyPr/>
          <a:lstStyle/>
          <a:p>
            <a:endParaRPr lang="en-US"/>
          </a:p>
        </p:txBody>
      </p:sp>
      <p:sp>
        <p:nvSpPr>
          <p:cNvPr id="19" name="Text 17"/>
          <p:cNvSpPr/>
          <p:nvPr/>
        </p:nvSpPr>
        <p:spPr>
          <a:xfrm>
            <a:off x="8178800" y="4800600"/>
            <a:ext cx="254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Flow Dynamics:</a:t>
            </a:r>
            <a:endParaRPr lang="en-US" sz="1600" dirty="0"/>
          </a:p>
        </p:txBody>
      </p:sp>
      <p:sp>
        <p:nvSpPr>
          <p:cNvPr id="20" name="Text 18"/>
          <p:cNvSpPr/>
          <p:nvPr/>
        </p:nvSpPr>
        <p:spPr>
          <a:xfrm>
            <a:off x="8178800" y="5156200"/>
            <a:ext cx="7309370" cy="3098800"/>
          </a:xfrm>
          <a:prstGeom prst="rect">
            <a:avLst/>
          </a:prstGeom>
          <a:noFill/>
          <a:ln/>
        </p:spPr>
        <p:txBody>
          <a:bodyPr wrap="square" lIns="0" tIns="0" rIns="0" bIns="0" rtlCol="0" anchor="t"/>
          <a:lstStyle/>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Foreign:</a:t>
            </a:r>
            <a:r>
              <a:rPr lang="en-US" sz="1600" dirty="0">
                <a:solidFill>
                  <a:srgbClr val="2D3748"/>
                </a:solidFill>
                <a:latin typeface="Liter" pitchFamily="34" charset="0"/>
                <a:ea typeface="Liter" pitchFamily="34" charset="-122"/>
                <a:cs typeface="Liter" pitchFamily="34" charset="-120"/>
              </a:rPr>
              <a:t> Sold US$27.9bn of Korean equities in June 2026, US$84.8bn YTD</a:t>
            </a:r>
            <a:endParaRPr lang="en-US" sz="1600" dirty="0"/>
          </a:p>
          <a:p>
            <a:pPr marL="254000" indent="-254000">
              <a:lnSpc>
                <a:spcPct val="160000"/>
              </a:lnSpc>
              <a:spcBef>
                <a:spcPts val="10"/>
              </a:spcBef>
              <a:buSzPct val="100000"/>
              <a:buFontTx/>
              <a:buChar char="•"/>
            </a:pPr>
            <a:r>
              <a:rPr lang="en-US" sz="1600" b="1" dirty="0">
                <a:solidFill>
                  <a:srgbClr val="2D3748"/>
                </a:solidFill>
                <a:latin typeface="Liter" pitchFamily="34" charset="0"/>
                <a:ea typeface="Liter" pitchFamily="34" charset="-122"/>
                <a:cs typeface="Liter" pitchFamily="34" charset="-120"/>
              </a:rPr>
              <a:t>Domestic:</a:t>
            </a:r>
            <a:r>
              <a:rPr lang="en-US" sz="1600" dirty="0">
                <a:solidFill>
                  <a:srgbClr val="2D3748"/>
                </a:solidFill>
                <a:latin typeface="Liter" pitchFamily="34" charset="0"/>
                <a:ea typeface="Liter" pitchFamily="34" charset="-122"/>
                <a:cs typeface="Liter" pitchFamily="34" charset="-120"/>
              </a:rPr>
              <a:t> Bought US$27.5bn in June , US$98.8bn YTD; offset foreign outflows</a:t>
            </a:r>
          </a:p>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Market flow dominated by retail:</a:t>
            </a:r>
            <a:r>
              <a:rPr lang="en-US" sz="1600" dirty="0">
                <a:solidFill>
                  <a:srgbClr val="2D3748"/>
                </a:solidFill>
                <a:latin typeface="Liter" pitchFamily="34" charset="0"/>
                <a:ea typeface="Liter" pitchFamily="34" charset="-122"/>
                <a:cs typeface="Liter" pitchFamily="34" charset="-120"/>
              </a:rPr>
              <a:t> 46% of KOSPI turnover value &amp; 71% of transaction volume</a:t>
            </a:r>
            <a:endParaRPr lang="en-US" sz="1600" dirty="0"/>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Foreign: 34% value, 24% volume; Domestic institutions: 20% value, 5% volume</a:t>
            </a:r>
          </a:p>
          <a:p>
            <a:pPr marL="254000" indent="-254000">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Foreign flows </a:t>
            </a:r>
            <a:r>
              <a:rPr lang="en-US" sz="1600" b="1" dirty="0">
                <a:solidFill>
                  <a:srgbClr val="2D3748"/>
                </a:solidFill>
                <a:latin typeface="Liter" pitchFamily="34" charset="0"/>
                <a:ea typeface="Liter" pitchFamily="34" charset="-122"/>
                <a:cs typeface="Liter" pitchFamily="34" charset="-120"/>
              </a:rPr>
              <a:t>rotated out of semis/auto sectors while rotating into broader industrial themes</a:t>
            </a:r>
            <a:r>
              <a:rPr lang="en-US" sz="1600" dirty="0">
                <a:solidFill>
                  <a:srgbClr val="2D3748"/>
                </a:solidFill>
                <a:latin typeface="Liter" pitchFamily="34" charset="0"/>
                <a:ea typeface="Liter" pitchFamily="34" charset="-122"/>
                <a:cs typeface="Liter" pitchFamily="34" charset="-120"/>
              </a:rPr>
              <a:t>, i.e. Nuclear,  Machinery, Health Care, Energy,  Materials</a:t>
            </a:r>
          </a:p>
          <a:p>
            <a:pPr marL="254000" indent="-254000" algn="l">
              <a:lnSpc>
                <a:spcPct val="160000"/>
              </a:lnSpc>
              <a:spcBef>
                <a:spcPts val="10"/>
              </a:spcBef>
              <a:buSzPct val="100000"/>
              <a:buChar char="•"/>
            </a:pPr>
            <a:endParaRPr lang="en-US" sz="1600" dirty="0"/>
          </a:p>
        </p:txBody>
      </p:sp>
      <p:sp>
        <p:nvSpPr>
          <p:cNvPr id="21" name="Text 19"/>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Morgan Stanley, Goldman Sachs, CICC</a:t>
            </a:r>
            <a:endParaRPr lang="en-US" sz="1200" dirty="0"/>
          </a:p>
        </p:txBody>
      </p:sp>
      <p:sp>
        <p:nvSpPr>
          <p:cNvPr id="22" name="Text 20"/>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05</a:t>
            </a:r>
            <a:endParaRPr lang="en-US" sz="1200" dirty="0"/>
          </a:p>
        </p:txBody>
      </p:sp>
      <p:pic>
        <p:nvPicPr>
          <p:cNvPr id="25" name="Picture 24">
            <a:extLst>
              <a:ext uri="{FF2B5EF4-FFF2-40B4-BE49-F238E27FC236}">
                <a16:creationId xmlns:a16="http://schemas.microsoft.com/office/drawing/2014/main" id="{72E62B17-A485-2AC0-5ED8-80C6F63BE5FF}"/>
              </a:ext>
            </a:extLst>
          </p:cNvPr>
          <p:cNvPicPr>
            <a:picLocks noChangeAspect="1"/>
          </p:cNvPicPr>
          <p:nvPr/>
        </p:nvPicPr>
        <p:blipFill>
          <a:blip r:embed="rId3"/>
          <a:stretch>
            <a:fillRect/>
          </a:stretch>
        </p:blipFill>
        <p:spPr>
          <a:xfrm>
            <a:off x="762000" y="4940300"/>
            <a:ext cx="6858000" cy="3314700"/>
          </a:xfrm>
          <a:prstGeom prst="rect">
            <a:avLst/>
          </a:prstGeom>
        </p:spPr>
      </p:pic>
      <p:pic>
        <p:nvPicPr>
          <p:cNvPr id="26" name="Picture 25">
            <a:extLst>
              <a:ext uri="{FF2B5EF4-FFF2-40B4-BE49-F238E27FC236}">
                <a16:creationId xmlns:a16="http://schemas.microsoft.com/office/drawing/2014/main" id="{5F850DF8-1CC6-25B4-5189-246E2C1D1D91}"/>
              </a:ext>
            </a:extLst>
          </p:cNvPr>
          <p:cNvPicPr>
            <a:picLocks noChangeAspect="1"/>
          </p:cNvPicPr>
          <p:nvPr/>
        </p:nvPicPr>
        <p:blipFill>
          <a:blip r:embed="rId4"/>
          <a:srcRect t="9646"/>
          <a:stretch>
            <a:fillRect/>
          </a:stretch>
        </p:blipFill>
        <p:spPr>
          <a:xfrm>
            <a:off x="762000" y="1371600"/>
            <a:ext cx="6858000" cy="3048000"/>
          </a:xfrm>
          <a:prstGeom prst="rect">
            <a:avLst/>
          </a:prstGeom>
        </p:spPr>
      </p:pic>
      <p:pic>
        <p:nvPicPr>
          <p:cNvPr id="27" name="Picture 26">
            <a:extLst>
              <a:ext uri="{FF2B5EF4-FFF2-40B4-BE49-F238E27FC236}">
                <a16:creationId xmlns:a16="http://schemas.microsoft.com/office/drawing/2014/main" id="{EF8B3CA8-9020-0FEC-008F-2F33F1FBE906}"/>
              </a:ext>
            </a:extLst>
          </p:cNvPr>
          <p:cNvPicPr>
            <a:picLocks noChangeAspect="1"/>
          </p:cNvPicPr>
          <p:nvPr/>
        </p:nvPicPr>
        <p:blipFill>
          <a:blip r:embed="rId5"/>
          <a:srcRect t="7851"/>
          <a:stretch>
            <a:fillRect/>
          </a:stretch>
        </p:blipFill>
        <p:spPr>
          <a:xfrm>
            <a:off x="8122170" y="1371600"/>
            <a:ext cx="7366000" cy="3048000"/>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400" b="1" dirty="0">
                <a:solidFill>
                  <a:srgbClr val="1B2F4A"/>
                </a:solidFill>
                <a:latin typeface="Liter" pitchFamily="34" charset="0"/>
                <a:ea typeface="Liter" pitchFamily="34" charset="-122"/>
                <a:cs typeface="Liter" pitchFamily="34" charset="-120"/>
              </a:rPr>
              <a:t>Earnings, Not Multiple Expansion, Drove the Rally — the ”Korea Discount” Persists</a:t>
            </a:r>
            <a:endParaRPr lang="en-US" sz="24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6858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1.4 — KOSPI Forward 12m P/E</a:t>
            </a:r>
            <a:endParaRPr lang="en-US" sz="1300" dirty="0"/>
          </a:p>
        </p:txBody>
      </p:sp>
      <p:sp>
        <p:nvSpPr>
          <p:cNvPr id="7" name="Shape 5"/>
          <p:cNvSpPr/>
          <p:nvPr/>
        </p:nvSpPr>
        <p:spPr>
          <a:xfrm>
            <a:off x="762000" y="1371600"/>
            <a:ext cx="6344170" cy="3175000"/>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71600"/>
            <a:ext cx="6858000" cy="3175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KOSPI Forward 12m P/E History]</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Forward P/E compressed from ~10x to ~6.65x</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despite &gt;200% EPS growth</a:t>
            </a:r>
            <a:endParaRPr lang="en-US" sz="1400" dirty="0"/>
          </a:p>
        </p:txBody>
      </p:sp>
      <p:sp>
        <p:nvSpPr>
          <p:cNvPr id="9" name="Shape 7"/>
          <p:cNvSpPr/>
          <p:nvPr/>
        </p:nvSpPr>
        <p:spPr>
          <a:xfrm>
            <a:off x="8128000" y="1041400"/>
            <a:ext cx="50800" cy="254000"/>
          </a:xfrm>
          <a:prstGeom prst="rect">
            <a:avLst/>
          </a:prstGeom>
          <a:solidFill>
            <a:srgbClr val="C4963A"/>
          </a:solidFill>
          <a:ln/>
        </p:spPr>
        <p:txBody>
          <a:bodyPr/>
          <a:lstStyle/>
          <a:p>
            <a:endParaRPr lang="en-US"/>
          </a:p>
        </p:txBody>
      </p:sp>
      <p:sp>
        <p:nvSpPr>
          <p:cNvPr id="10" name="Text 8"/>
          <p:cNvSpPr/>
          <p:nvPr/>
        </p:nvSpPr>
        <p:spPr>
          <a:xfrm>
            <a:off x="8280400" y="1016000"/>
            <a:ext cx="7112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1.5 — MSCI Korea Valuation Comps</a:t>
            </a:r>
            <a:endParaRPr lang="en-US" sz="1300" dirty="0"/>
          </a:p>
        </p:txBody>
      </p:sp>
      <p:sp>
        <p:nvSpPr>
          <p:cNvPr id="11" name="Shape 9"/>
          <p:cNvSpPr/>
          <p:nvPr/>
        </p:nvSpPr>
        <p:spPr>
          <a:xfrm>
            <a:off x="8128000" y="1371600"/>
            <a:ext cx="7366000" cy="3175000"/>
          </a:xfrm>
          <a:prstGeom prst="rect">
            <a:avLst/>
          </a:prstGeom>
          <a:solidFill>
            <a:srgbClr val="F7F8FA"/>
          </a:solidFill>
          <a:ln w="12700">
            <a:solidFill>
              <a:srgbClr val="E2E8F0"/>
            </a:solidFill>
            <a:prstDash val="solid"/>
          </a:ln>
        </p:spPr>
        <p:txBody>
          <a:bodyPr/>
          <a:lstStyle/>
          <a:p>
            <a:endParaRPr lang="en-US"/>
          </a:p>
        </p:txBody>
      </p:sp>
      <p:sp>
        <p:nvSpPr>
          <p:cNvPr id="12" name="Text 10"/>
          <p:cNvSpPr/>
          <p:nvPr/>
        </p:nvSpPr>
        <p:spPr>
          <a:xfrm>
            <a:off x="8128000" y="1371600"/>
            <a:ext cx="7366000" cy="3175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PBR Comparison Across Markets]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&gt;70% of KOSPI companies trade below book value</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Korea has highest % of companies with &lt;1x P/B</a:t>
            </a:r>
            <a:endParaRPr lang="en-US" sz="1400" dirty="0"/>
          </a:p>
        </p:txBody>
      </p:sp>
      <p:sp>
        <p:nvSpPr>
          <p:cNvPr id="13" name="Shape 11"/>
          <p:cNvSpPr/>
          <p:nvPr/>
        </p:nvSpPr>
        <p:spPr>
          <a:xfrm>
            <a:off x="762000" y="4826000"/>
            <a:ext cx="7010400" cy="3429000"/>
          </a:xfrm>
          <a:prstGeom prst="rect">
            <a:avLst/>
          </a:prstGeom>
          <a:solidFill>
            <a:srgbClr val="F7F8FA"/>
          </a:solidFill>
          <a:ln/>
        </p:spPr>
        <p:txBody>
          <a:bodyPr/>
          <a:lstStyle/>
          <a:p>
            <a:endParaRPr lang="en-US"/>
          </a:p>
        </p:txBody>
      </p:sp>
      <p:sp>
        <p:nvSpPr>
          <p:cNvPr id="14" name="Shape 12"/>
          <p:cNvSpPr/>
          <p:nvPr/>
        </p:nvSpPr>
        <p:spPr>
          <a:xfrm>
            <a:off x="762000" y="4826000"/>
            <a:ext cx="7010400" cy="50800"/>
          </a:xfrm>
          <a:prstGeom prst="rect">
            <a:avLst/>
          </a:prstGeom>
          <a:solidFill>
            <a:srgbClr val="C4963A"/>
          </a:solidFill>
          <a:ln/>
        </p:spPr>
        <p:txBody>
          <a:bodyPr/>
          <a:lstStyle/>
          <a:p>
            <a:endParaRPr lang="en-US"/>
          </a:p>
        </p:txBody>
      </p:sp>
      <p:sp>
        <p:nvSpPr>
          <p:cNvPr id="15" name="Text 13"/>
          <p:cNvSpPr/>
          <p:nvPr/>
        </p:nvSpPr>
        <p:spPr>
          <a:xfrm>
            <a:off x="791150" y="5003800"/>
            <a:ext cx="120869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Key Insight:</a:t>
            </a:r>
            <a:endParaRPr lang="en-US" sz="1600" dirty="0"/>
          </a:p>
        </p:txBody>
      </p:sp>
      <p:sp>
        <p:nvSpPr>
          <p:cNvPr id="16" name="Text 14"/>
          <p:cNvSpPr/>
          <p:nvPr/>
        </p:nvSpPr>
        <p:spPr>
          <a:xfrm>
            <a:off x="791150" y="5359400"/>
            <a:ext cx="6977086" cy="2743200"/>
          </a:xfrm>
          <a:prstGeom prst="rect">
            <a:avLst/>
          </a:prstGeom>
          <a:noFill/>
          <a:ln/>
        </p:spPr>
        <p:txBody>
          <a:bodyPr wrap="square" lIns="0" tIns="0" rIns="0" bIns="0" rtlCol="0" anchor="t"/>
          <a:lstStyle/>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Forward 12m P/E </a:t>
            </a:r>
            <a:r>
              <a:rPr lang="en-US" sz="1600" b="1" dirty="0">
                <a:solidFill>
                  <a:srgbClr val="2D3748"/>
                </a:solidFill>
                <a:latin typeface="Liter" pitchFamily="34" charset="0"/>
                <a:ea typeface="Liter" pitchFamily="34" charset="-122"/>
                <a:cs typeface="Liter" pitchFamily="34" charset="-120"/>
              </a:rPr>
              <a:t>compressed from ~10x to ~6.65x, lowest level since  2008</a:t>
            </a:r>
            <a:endParaRPr lang="en-US" sz="1600" dirty="0"/>
          </a:p>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Korea's PEG ratio is now the lowest </a:t>
            </a:r>
            <a:r>
              <a:rPr lang="en-US" sz="1600" dirty="0">
                <a:solidFill>
                  <a:srgbClr val="2D3748"/>
                </a:solidFill>
                <a:latin typeface="Liter" pitchFamily="34" charset="0"/>
                <a:ea typeface="Liter" pitchFamily="34" charset="-122"/>
                <a:cs typeface="Liter" pitchFamily="34" charset="-120"/>
              </a:rPr>
              <a:t>in the region at ~0.03</a:t>
            </a:r>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The rally is </a:t>
            </a:r>
            <a:r>
              <a:rPr lang="en-US" sz="1600" b="1" dirty="0">
                <a:solidFill>
                  <a:srgbClr val="2D3748"/>
                </a:solidFill>
                <a:latin typeface="Liter" pitchFamily="34" charset="0"/>
                <a:ea typeface="Liter" pitchFamily="34" charset="-122"/>
                <a:cs typeface="Liter" pitchFamily="34" charset="-120"/>
              </a:rPr>
              <a:t>fundamentally justified by earnings (258% EPS growth)</a:t>
            </a:r>
            <a:r>
              <a:rPr lang="en-US" sz="1600" dirty="0">
                <a:solidFill>
                  <a:srgbClr val="2D3748"/>
                </a:solidFill>
                <a:latin typeface="Liter" pitchFamily="34" charset="0"/>
                <a:ea typeface="Liter" pitchFamily="34" charset="-122"/>
                <a:cs typeface="Liter" pitchFamily="34" charset="-120"/>
              </a:rPr>
              <a:t> rather than speculative multiple expansion</a:t>
            </a:r>
            <a:endParaRPr lang="en-US" sz="1600" dirty="0"/>
          </a:p>
          <a:p>
            <a:pPr marL="254000" indent="-254000">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“Korean Discount” Factors: high cyclicality &amp; </a:t>
            </a:r>
            <a:r>
              <a:rPr lang="en-US" sz="1600" b="1" dirty="0">
                <a:solidFill>
                  <a:srgbClr val="2D3748"/>
                </a:solidFill>
                <a:latin typeface="Liter" pitchFamily="34" charset="0"/>
                <a:ea typeface="Liter" pitchFamily="34" charset="-122"/>
                <a:cs typeface="Liter" pitchFamily="34" charset="-120"/>
              </a:rPr>
              <a:t>Concentration Risk</a:t>
            </a:r>
            <a:r>
              <a:rPr lang="en-US" sz="1600" dirty="0">
                <a:solidFill>
                  <a:srgbClr val="2D3748"/>
                </a:solidFill>
                <a:latin typeface="Liter" pitchFamily="34" charset="0"/>
                <a:ea typeface="Liter" pitchFamily="34" charset="-122"/>
                <a:cs typeface="Liter" pitchFamily="34" charset="-120"/>
              </a:rPr>
              <a:t>, </a:t>
            </a:r>
            <a:r>
              <a:rPr lang="en-US" sz="1600" b="1" dirty="0">
                <a:solidFill>
                  <a:srgbClr val="2D3748"/>
                </a:solidFill>
                <a:latin typeface="Liter" pitchFamily="34" charset="0"/>
                <a:ea typeface="Liter" pitchFamily="34" charset="-122"/>
                <a:cs typeface="Liter" pitchFamily="34" charset="-120"/>
              </a:rPr>
              <a:t>Foreign-Flow</a:t>
            </a:r>
            <a:r>
              <a:rPr lang="en-US" sz="1600" dirty="0">
                <a:solidFill>
                  <a:srgbClr val="2D3748"/>
                </a:solidFill>
                <a:latin typeface="Liter" pitchFamily="34" charset="0"/>
                <a:ea typeface="Liter" pitchFamily="34" charset="-122"/>
                <a:cs typeface="Liter" pitchFamily="34" charset="-120"/>
              </a:rPr>
              <a:t> &amp; FX sensitivity, governance &amp; minority-shareholder risk, conglomerate holding-company structures, geopolitics…</a:t>
            </a:r>
            <a:endParaRPr lang="en-US" sz="1600" dirty="0"/>
          </a:p>
        </p:txBody>
      </p:sp>
      <p:sp>
        <p:nvSpPr>
          <p:cNvPr id="17" name="Text 15"/>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Goldman Sachs, UBS, Bloomberg</a:t>
            </a:r>
            <a:endParaRPr lang="en-US" sz="1200" dirty="0"/>
          </a:p>
        </p:txBody>
      </p:sp>
      <p:sp>
        <p:nvSpPr>
          <p:cNvPr id="18" name="Text 16"/>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06</a:t>
            </a:r>
            <a:endParaRPr lang="en-US" sz="1200" dirty="0"/>
          </a:p>
        </p:txBody>
      </p:sp>
      <p:pic>
        <p:nvPicPr>
          <p:cNvPr id="19" name="Picture 18">
            <a:extLst>
              <a:ext uri="{FF2B5EF4-FFF2-40B4-BE49-F238E27FC236}">
                <a16:creationId xmlns:a16="http://schemas.microsoft.com/office/drawing/2014/main" id="{F6EC5809-4AAA-08C9-EFFF-8716803E765F}"/>
              </a:ext>
            </a:extLst>
          </p:cNvPr>
          <p:cNvPicPr>
            <a:picLocks noChangeAspect="1"/>
          </p:cNvPicPr>
          <p:nvPr/>
        </p:nvPicPr>
        <p:blipFill>
          <a:blip r:embed="rId3"/>
          <a:srcRect t="8173"/>
          <a:stretch>
            <a:fillRect/>
          </a:stretch>
        </p:blipFill>
        <p:spPr>
          <a:xfrm>
            <a:off x="757836" y="1346200"/>
            <a:ext cx="7010400" cy="3196588"/>
          </a:xfrm>
          <a:prstGeom prst="rect">
            <a:avLst/>
          </a:prstGeom>
        </p:spPr>
      </p:pic>
      <p:pic>
        <p:nvPicPr>
          <p:cNvPr id="21" name="Picture 20">
            <a:extLst>
              <a:ext uri="{FF2B5EF4-FFF2-40B4-BE49-F238E27FC236}">
                <a16:creationId xmlns:a16="http://schemas.microsoft.com/office/drawing/2014/main" id="{AF704FA7-AF8B-F9F2-BE49-3CFFCAD95954}"/>
              </a:ext>
            </a:extLst>
          </p:cNvPr>
          <p:cNvPicPr>
            <a:picLocks noChangeAspect="1"/>
          </p:cNvPicPr>
          <p:nvPr/>
        </p:nvPicPr>
        <p:blipFill>
          <a:blip r:embed="rId4"/>
          <a:srcRect r="27788"/>
          <a:stretch>
            <a:fillRect/>
          </a:stretch>
        </p:blipFill>
        <p:spPr>
          <a:xfrm>
            <a:off x="8128000" y="1346200"/>
            <a:ext cx="7366000" cy="6959600"/>
          </a:xfrm>
          <a:prstGeom prst="rect">
            <a:avLst/>
          </a:prstGeom>
        </p:spPr>
      </p:pic>
      <p:sp>
        <p:nvSpPr>
          <p:cNvPr id="22" name="Rectangle 21">
            <a:extLst>
              <a:ext uri="{FF2B5EF4-FFF2-40B4-BE49-F238E27FC236}">
                <a16:creationId xmlns:a16="http://schemas.microsoft.com/office/drawing/2014/main" id="{5506F305-7124-A263-F3D2-AA04FDA9C96F}"/>
              </a:ext>
            </a:extLst>
          </p:cNvPr>
          <p:cNvSpPr/>
          <p:nvPr/>
        </p:nvSpPr>
        <p:spPr>
          <a:xfrm>
            <a:off x="8123836" y="3486763"/>
            <a:ext cx="7370163" cy="27940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F26BE5B-5D9D-FD25-FE2A-E3B66674239F}"/>
              </a:ext>
            </a:extLst>
          </p:cNvPr>
          <p:cNvSpPr/>
          <p:nvPr/>
        </p:nvSpPr>
        <p:spPr>
          <a:xfrm>
            <a:off x="8094687" y="6591300"/>
            <a:ext cx="7370163" cy="279400"/>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5AD4E2F-CA27-532A-F0C0-A29E3595A69C}"/>
              </a:ext>
            </a:extLst>
          </p:cNvPr>
          <p:cNvSpPr/>
          <p:nvPr/>
        </p:nvSpPr>
        <p:spPr>
          <a:xfrm>
            <a:off x="8123836" y="7962900"/>
            <a:ext cx="7370163" cy="279400"/>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en-US" sz="2200" b="1" dirty="0">
                <a:solidFill>
                  <a:srgbClr val="1B2F4A"/>
                </a:solidFill>
                <a:latin typeface="Liter" pitchFamily="34" charset="0"/>
                <a:ea typeface="Liter" pitchFamily="34" charset="-122"/>
                <a:cs typeface="Liter" pitchFamily="34" charset="-120"/>
              </a:rPr>
              <a:t>GEM Portfolio Overweight Surged — Korea Now Among the Most Over-Owned EM Markets with Strong Momentum</a:t>
            </a:r>
            <a:endParaRPr lang="en-US" sz="22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4104806" y="1003300"/>
            <a:ext cx="50800" cy="254000"/>
          </a:xfrm>
          <a:prstGeom prst="rect">
            <a:avLst/>
          </a:prstGeom>
          <a:solidFill>
            <a:srgbClr val="C4963A"/>
          </a:solidFill>
          <a:ln/>
        </p:spPr>
        <p:txBody>
          <a:bodyPr/>
          <a:lstStyle/>
          <a:p>
            <a:endParaRPr lang="en-US"/>
          </a:p>
        </p:txBody>
      </p:sp>
      <p:sp>
        <p:nvSpPr>
          <p:cNvPr id="6" name="Text 4"/>
          <p:cNvSpPr/>
          <p:nvPr/>
        </p:nvSpPr>
        <p:spPr>
          <a:xfrm>
            <a:off x="4257206" y="977900"/>
            <a:ext cx="7620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1.9 — GEM Portfolio Weight in Korea vs. MSCI Weight in Korea</a:t>
            </a:r>
            <a:endParaRPr lang="en-US" sz="1300" dirty="0"/>
          </a:p>
        </p:txBody>
      </p:sp>
      <p:sp>
        <p:nvSpPr>
          <p:cNvPr id="7" name="Shape 5"/>
          <p:cNvSpPr/>
          <p:nvPr/>
        </p:nvSpPr>
        <p:spPr>
          <a:xfrm>
            <a:off x="4104806" y="1333500"/>
            <a:ext cx="7366000" cy="3556000"/>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4104806" y="1333500"/>
            <a:ext cx="7366000" cy="3556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GEM Fund Manager Portfolio Weight in South Korea vs. MSCI Weight]</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Korea + Taiwan = ~50.4% of GEM portfolios (May 2026)</a:t>
            </a:r>
            <a:endParaRPr lang="en-US" sz="1400" dirty="0"/>
          </a:p>
        </p:txBody>
      </p:sp>
      <p:sp>
        <p:nvSpPr>
          <p:cNvPr id="13" name="Shape 11"/>
          <p:cNvSpPr/>
          <p:nvPr/>
        </p:nvSpPr>
        <p:spPr>
          <a:xfrm>
            <a:off x="762000" y="5207000"/>
            <a:ext cx="14732000" cy="3048000"/>
          </a:xfrm>
          <a:prstGeom prst="rect">
            <a:avLst/>
          </a:prstGeom>
          <a:solidFill>
            <a:srgbClr val="F7F8FA"/>
          </a:solidFill>
          <a:ln/>
        </p:spPr>
        <p:txBody>
          <a:bodyPr/>
          <a:lstStyle/>
          <a:p>
            <a:endParaRPr lang="en-US"/>
          </a:p>
        </p:txBody>
      </p:sp>
      <p:sp>
        <p:nvSpPr>
          <p:cNvPr id="14" name="Shape 12"/>
          <p:cNvSpPr/>
          <p:nvPr/>
        </p:nvSpPr>
        <p:spPr>
          <a:xfrm>
            <a:off x="762000" y="5207000"/>
            <a:ext cx="14732000" cy="50800"/>
          </a:xfrm>
          <a:prstGeom prst="rect">
            <a:avLst/>
          </a:prstGeom>
          <a:solidFill>
            <a:srgbClr val="C4963A"/>
          </a:solidFill>
          <a:ln/>
        </p:spPr>
        <p:txBody>
          <a:bodyPr/>
          <a:lstStyle/>
          <a:p>
            <a:endParaRPr lang="en-US"/>
          </a:p>
        </p:txBody>
      </p:sp>
      <p:sp>
        <p:nvSpPr>
          <p:cNvPr id="15" name="Text 13"/>
          <p:cNvSpPr/>
          <p:nvPr/>
        </p:nvSpPr>
        <p:spPr>
          <a:xfrm>
            <a:off x="1016000" y="5384800"/>
            <a:ext cx="381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Positioning Context:</a:t>
            </a:r>
            <a:endParaRPr lang="en-US" sz="1600" dirty="0"/>
          </a:p>
        </p:txBody>
      </p:sp>
      <p:sp>
        <p:nvSpPr>
          <p:cNvPr id="16" name="Text 14"/>
          <p:cNvSpPr/>
          <p:nvPr/>
        </p:nvSpPr>
        <p:spPr>
          <a:xfrm>
            <a:off x="1016000" y="5740400"/>
            <a:ext cx="14224000" cy="2362200"/>
          </a:xfrm>
          <a:prstGeom prst="rect">
            <a:avLst/>
          </a:prstGeom>
          <a:noFill/>
          <a:ln/>
        </p:spPr>
        <p:txBody>
          <a:bodyPr wrap="square" lIns="0" tIns="0" rIns="0" bIns="0" rtlCol="0" anchor="t"/>
          <a:lstStyle/>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Korea's weight in global EM portfolios has </a:t>
            </a:r>
            <a:r>
              <a:rPr lang="en-US" sz="1600" b="1" dirty="0">
                <a:solidFill>
                  <a:srgbClr val="2D3748"/>
                </a:solidFill>
                <a:latin typeface="Liter" pitchFamily="34" charset="0"/>
                <a:ea typeface="Liter" pitchFamily="34" charset="-122"/>
                <a:cs typeface="Liter" pitchFamily="34" charset="-120"/>
              </a:rPr>
              <a:t>risen sharply to ~24%</a:t>
            </a:r>
            <a:endParaRPr lang="en-US" sz="1600" dirty="0">
              <a:solidFill>
                <a:srgbClr val="2D3748"/>
              </a:solidFill>
              <a:latin typeface="Liter" pitchFamily="34" charset="0"/>
              <a:ea typeface="Liter" pitchFamily="34" charset="-122"/>
              <a:cs typeface="Liter" pitchFamily="34" charset="-120"/>
            </a:endParaRPr>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Korea + Taiwan combined weight reaching about </a:t>
            </a:r>
            <a:r>
              <a:rPr lang="en-US" sz="1600" b="1" dirty="0">
                <a:solidFill>
                  <a:srgbClr val="2D3748"/>
                </a:solidFill>
                <a:latin typeface="Liter" pitchFamily="34" charset="0"/>
                <a:ea typeface="Liter" pitchFamily="34" charset="-122"/>
                <a:cs typeface="Liter" pitchFamily="34" charset="-120"/>
              </a:rPr>
              <a:t>50.4% of GEM portfolios</a:t>
            </a:r>
            <a:r>
              <a:rPr lang="en-US" sz="1600" dirty="0">
                <a:solidFill>
                  <a:srgbClr val="2D3748"/>
                </a:solidFill>
                <a:latin typeface="Liter" pitchFamily="34" charset="0"/>
                <a:ea typeface="Liter" pitchFamily="34" charset="-122"/>
                <a:cs typeface="Liter" pitchFamily="34" charset="-120"/>
              </a:rPr>
              <a:t> as of May 2026</a:t>
            </a:r>
          </a:p>
          <a:p>
            <a:pPr marL="254000" indent="-254000">
              <a:lnSpc>
                <a:spcPct val="160000"/>
              </a:lnSpc>
              <a:spcBef>
                <a:spcPts val="10"/>
              </a:spcBef>
              <a:buSzPct val="100000"/>
              <a:buFontTx/>
              <a:buChar char="•"/>
            </a:pPr>
            <a:r>
              <a:rPr lang="en-US" sz="1600" dirty="0">
                <a:solidFill>
                  <a:srgbClr val="2D3748"/>
                </a:solidFill>
                <a:latin typeface="Liter" pitchFamily="34" charset="0"/>
                <a:ea typeface="Liter" pitchFamily="34" charset="-122"/>
                <a:cs typeface="Liter" pitchFamily="34" charset="-120"/>
              </a:rPr>
              <a:t>Korea is now among the most </a:t>
            </a:r>
            <a:r>
              <a:rPr lang="en-US" sz="1600" b="1" dirty="0">
                <a:solidFill>
                  <a:srgbClr val="2D3748"/>
                </a:solidFill>
                <a:latin typeface="Liter" pitchFamily="34" charset="0"/>
                <a:ea typeface="Liter" pitchFamily="34" charset="-122"/>
                <a:cs typeface="Liter" pitchFamily="34" charset="-120"/>
              </a:rPr>
              <a:t>over-owned EM markets, overweighted (over-owned) by ~1%</a:t>
            </a:r>
            <a:endParaRPr lang="en-US" sz="1600" dirty="0">
              <a:solidFill>
                <a:srgbClr val="2D3748"/>
              </a:solidFill>
              <a:latin typeface="Liter" pitchFamily="34" charset="0"/>
              <a:ea typeface="Liter" pitchFamily="34" charset="-122"/>
              <a:cs typeface="Liter" pitchFamily="34" charset="-120"/>
            </a:endParaRPr>
          </a:p>
          <a:p>
            <a:pPr marL="254000" indent="-254000">
              <a:lnSpc>
                <a:spcPct val="160000"/>
              </a:lnSpc>
              <a:spcBef>
                <a:spcPts val="10"/>
              </a:spcBef>
              <a:buSzPct val="100000"/>
              <a:buFontTx/>
              <a:buChar char="•"/>
            </a:pPr>
            <a:r>
              <a:rPr lang="en-US" sz="1600" dirty="0">
                <a:solidFill>
                  <a:srgbClr val="2D3748"/>
                </a:solidFill>
                <a:latin typeface="Liter" pitchFamily="34" charset="0"/>
                <a:ea typeface="Liter" pitchFamily="34" charset="-122"/>
                <a:cs typeface="Liter" pitchFamily="34" charset="-120"/>
              </a:rPr>
              <a:t>"Over-owned" = managers' allocation to Korean equities is above Korea's weight in the MSCI EM benchmark</a:t>
            </a:r>
            <a:endParaRPr lang="en-US" sz="1600" dirty="0"/>
          </a:p>
          <a:p>
            <a:pPr marL="254000" indent="-254000" algn="l">
              <a:lnSpc>
                <a:spcPct val="160000"/>
              </a:lnSpc>
              <a:spcBef>
                <a:spcPts val="10"/>
              </a:spcBef>
              <a:buSzPct val="100000"/>
              <a:buChar char="•"/>
            </a:pPr>
            <a:r>
              <a:rPr lang="en-US" sz="1600" i="1" dirty="0">
                <a:solidFill>
                  <a:schemeClr val="bg1">
                    <a:lumMod val="50000"/>
                  </a:schemeClr>
                </a:solidFill>
                <a:latin typeface="Liter" pitchFamily="34" charset="0"/>
                <a:ea typeface="Liter" pitchFamily="34" charset="-122"/>
                <a:cs typeface="Liter" pitchFamily="34" charset="-120"/>
              </a:rPr>
              <a:t>GEM portfolios refer to the composite of the 40 largest active US Emerging Markets Equity funds and 40 largest active international/SICAV Emerging Markets Equity funds, covering approximately US$260bn in AUM, on a MV-weighted basis</a:t>
            </a:r>
            <a:endParaRPr lang="en-US" sz="1600" i="1" dirty="0">
              <a:solidFill>
                <a:schemeClr val="bg1">
                  <a:lumMod val="50000"/>
                </a:schemeClr>
              </a:solidFill>
            </a:endParaRPr>
          </a:p>
        </p:txBody>
      </p:sp>
      <p:sp>
        <p:nvSpPr>
          <p:cNvPr id="17" name="Text 15"/>
          <p:cNvSpPr/>
          <p:nvPr/>
        </p:nvSpPr>
        <p:spPr>
          <a:xfrm>
            <a:off x="762000" y="8509000"/>
            <a:ext cx="1016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Morgan Stanley.</a:t>
            </a:r>
            <a:endParaRPr lang="en-US" sz="1200" dirty="0"/>
          </a:p>
        </p:txBody>
      </p:sp>
      <p:sp>
        <p:nvSpPr>
          <p:cNvPr id="18" name="Text 16"/>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07</a:t>
            </a:r>
            <a:endParaRPr lang="en-US" sz="1200" dirty="0"/>
          </a:p>
        </p:txBody>
      </p:sp>
      <p:pic>
        <p:nvPicPr>
          <p:cNvPr id="19" name="Picture 18">
            <a:extLst>
              <a:ext uri="{FF2B5EF4-FFF2-40B4-BE49-F238E27FC236}">
                <a16:creationId xmlns:a16="http://schemas.microsoft.com/office/drawing/2014/main" id="{2FB9BF66-50A9-A890-508A-62721B07623D}"/>
              </a:ext>
            </a:extLst>
          </p:cNvPr>
          <p:cNvPicPr>
            <a:picLocks noChangeAspect="1"/>
          </p:cNvPicPr>
          <p:nvPr/>
        </p:nvPicPr>
        <p:blipFill>
          <a:blip r:embed="rId3"/>
          <a:srcRect t="6428"/>
          <a:stretch>
            <a:fillRect/>
          </a:stretch>
        </p:blipFill>
        <p:spPr>
          <a:xfrm>
            <a:off x="4104806" y="1333500"/>
            <a:ext cx="7366000" cy="3556000"/>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E6700-A559-2C9F-8289-C4FA0CA04ED7}"/>
            </a:ext>
          </a:extLst>
        </p:cNvPr>
        <p:cNvGrpSpPr/>
        <p:nvPr/>
      </p:nvGrpSpPr>
      <p:grpSpPr>
        <a:xfrm>
          <a:off x="0" y="0"/>
          <a:ext cx="0" cy="0"/>
          <a:chOff x="0" y="0"/>
          <a:chExt cx="0" cy="0"/>
        </a:xfrm>
      </p:grpSpPr>
      <p:pic>
        <p:nvPicPr>
          <p:cNvPr id="660" name="Graphic 659">
            <a:extLst>
              <a:ext uri="{FF2B5EF4-FFF2-40B4-BE49-F238E27FC236}">
                <a16:creationId xmlns:a16="http://schemas.microsoft.com/office/drawing/2014/main" id="{20A42F24-1BA3-3938-47B2-D82B8D2A4A5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42823" y="847800"/>
            <a:ext cx="4986888" cy="5018053"/>
          </a:xfrm>
          <a:prstGeom prst="rect">
            <a:avLst/>
          </a:prstGeom>
        </p:spPr>
      </p:pic>
      <p:grpSp>
        <p:nvGrpSpPr>
          <p:cNvPr id="7" name="Group 6">
            <a:extLst>
              <a:ext uri="{FF2B5EF4-FFF2-40B4-BE49-F238E27FC236}">
                <a16:creationId xmlns:a16="http://schemas.microsoft.com/office/drawing/2014/main" id="{ADA69166-8705-E156-9C1B-BA766369A4AC}"/>
              </a:ext>
            </a:extLst>
          </p:cNvPr>
          <p:cNvGrpSpPr/>
          <p:nvPr/>
        </p:nvGrpSpPr>
        <p:grpSpPr>
          <a:xfrm>
            <a:off x="12214120" y="8750105"/>
            <a:ext cx="3400141" cy="340771"/>
            <a:chOff x="9160590" y="6563831"/>
            <a:chExt cx="2550106" cy="255578"/>
          </a:xfrm>
        </p:grpSpPr>
        <p:pic>
          <p:nvPicPr>
            <p:cNvPr id="46" name="Picture 45" descr="Logo&#10;&#10;Description automatically generated">
              <a:extLst>
                <a:ext uri="{FF2B5EF4-FFF2-40B4-BE49-F238E27FC236}">
                  <a16:creationId xmlns:a16="http://schemas.microsoft.com/office/drawing/2014/main" id="{DC82A9BA-F9BF-A484-4904-48A28AF0CCBA}"/>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47" name="Rectangle 19">
              <a:extLst>
                <a:ext uri="{FF2B5EF4-FFF2-40B4-BE49-F238E27FC236}">
                  <a16:creationId xmlns:a16="http://schemas.microsoft.com/office/drawing/2014/main" id="{CCE1116D-81BC-3334-AC71-099F371ACE5A}"/>
                </a:ext>
              </a:extLst>
            </p:cNvPr>
            <p:cNvSpPr/>
            <p:nvPr/>
          </p:nvSpPr>
          <p:spPr>
            <a:xfrm>
              <a:off x="9160590" y="6614676"/>
              <a:ext cx="2265443" cy="153841"/>
            </a:xfrm>
            <a:prstGeom prst="rect">
              <a:avLst/>
            </a:prstGeom>
          </p:spPr>
          <p:txBody>
            <a:bodyPr wrap="square" lIns="0" tIns="0" rIns="0" bIns="0">
              <a:spAutoFit/>
            </a:bodyPr>
            <a:lstStyle/>
            <a:p>
              <a:pPr algn="r" defTabSz="1219170">
                <a:defRPr/>
              </a:pPr>
              <a:r>
                <a:rPr lang="en-US" altLang="zh-CN" sz="1333" spc="-40" dirty="0">
                  <a:solidFill>
                    <a:prstClr val="white"/>
                  </a:solidFill>
                  <a:latin typeface="Calibri Light"/>
                  <a:ea typeface="Microsoft JhengHei"/>
                </a:rPr>
                <a:t>CSOP Asset Management</a:t>
              </a:r>
              <a:endParaRPr lang="zh-CN" altLang="en-US" sz="1333" dirty="0">
                <a:solidFill>
                  <a:prstClr val="white"/>
                </a:solidFill>
                <a:latin typeface="Calibri Light"/>
                <a:ea typeface="Microsoft JhengHei"/>
              </a:endParaRPr>
            </a:p>
          </p:txBody>
        </p:sp>
      </p:grpSp>
      <p:sp>
        <p:nvSpPr>
          <p:cNvPr id="32" name="圆角矩形 3">
            <a:extLst>
              <a:ext uri="{FF2B5EF4-FFF2-40B4-BE49-F238E27FC236}">
                <a16:creationId xmlns:a16="http://schemas.microsoft.com/office/drawing/2014/main" id="{F69E22AD-C9D9-BA8C-4659-9E987D98C476}"/>
              </a:ext>
            </a:extLst>
          </p:cNvPr>
          <p:cNvSpPr/>
          <p:nvPr/>
        </p:nvSpPr>
        <p:spPr>
          <a:xfrm rot="2700000">
            <a:off x="6689530" y="2745145"/>
            <a:ext cx="3899372" cy="3899372"/>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3" name="椭圆 4">
            <a:extLst>
              <a:ext uri="{FF2B5EF4-FFF2-40B4-BE49-F238E27FC236}">
                <a16:creationId xmlns:a16="http://schemas.microsoft.com/office/drawing/2014/main" id="{2169A8DD-3F42-2D12-177A-2B4CE36EEEFB}"/>
              </a:ext>
            </a:extLst>
          </p:cNvPr>
          <p:cNvSpPr/>
          <p:nvPr/>
        </p:nvSpPr>
        <p:spPr>
          <a:xfrm>
            <a:off x="6000646" y="2056259"/>
            <a:ext cx="5277140" cy="5277140"/>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nvGrpSpPr>
          <p:cNvPr id="34" name="组合 6">
            <a:extLst>
              <a:ext uri="{FF2B5EF4-FFF2-40B4-BE49-F238E27FC236}">
                <a16:creationId xmlns:a16="http://schemas.microsoft.com/office/drawing/2014/main" id="{7BF6438B-F598-69AD-3A8B-1D1B45DFAF64}"/>
              </a:ext>
            </a:extLst>
          </p:cNvPr>
          <p:cNvGrpSpPr/>
          <p:nvPr/>
        </p:nvGrpSpPr>
        <p:grpSpPr>
          <a:xfrm>
            <a:off x="6600753" y="2855029"/>
            <a:ext cx="4126435" cy="3698616"/>
            <a:chOff x="4950565" y="2141272"/>
            <a:chExt cx="3094826" cy="2773962"/>
          </a:xfrm>
        </p:grpSpPr>
        <p:sp>
          <p:nvSpPr>
            <p:cNvPr id="35" name="椭圆 43">
              <a:extLst>
                <a:ext uri="{FF2B5EF4-FFF2-40B4-BE49-F238E27FC236}">
                  <a16:creationId xmlns:a16="http://schemas.microsoft.com/office/drawing/2014/main" id="{D7FC218C-8FA5-E343-0137-E162D5CF02A7}"/>
                </a:ext>
              </a:extLst>
            </p:cNvPr>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6" name="椭圆 44">
              <a:extLst>
                <a:ext uri="{FF2B5EF4-FFF2-40B4-BE49-F238E27FC236}">
                  <a16:creationId xmlns:a16="http://schemas.microsoft.com/office/drawing/2014/main" id="{630B9993-5F77-0354-34DB-83209F3B5217}"/>
                </a:ext>
              </a:extLst>
            </p:cNvPr>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grpSp>
        <p:nvGrpSpPr>
          <p:cNvPr id="37" name="组合 5">
            <a:extLst>
              <a:ext uri="{FF2B5EF4-FFF2-40B4-BE49-F238E27FC236}">
                <a16:creationId xmlns:a16="http://schemas.microsoft.com/office/drawing/2014/main" id="{68A93B2F-E8E4-E685-5BA0-146AF456D0DD}"/>
              </a:ext>
            </a:extLst>
          </p:cNvPr>
          <p:cNvGrpSpPr/>
          <p:nvPr/>
        </p:nvGrpSpPr>
        <p:grpSpPr>
          <a:xfrm>
            <a:off x="6604306" y="2855030"/>
            <a:ext cx="4112293" cy="3731037"/>
            <a:chOff x="4953229" y="2141272"/>
            <a:chExt cx="3084220" cy="2798278"/>
          </a:xfrm>
        </p:grpSpPr>
        <p:sp>
          <p:nvSpPr>
            <p:cNvPr id="38" name="椭圆 45">
              <a:extLst>
                <a:ext uri="{FF2B5EF4-FFF2-40B4-BE49-F238E27FC236}">
                  <a16:creationId xmlns:a16="http://schemas.microsoft.com/office/drawing/2014/main" id="{9E1D6A61-AB79-454B-EB08-CD61B2DCFE10}"/>
                </a:ext>
              </a:extLst>
            </p:cNvPr>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9" name="椭圆 46">
              <a:extLst>
                <a:ext uri="{FF2B5EF4-FFF2-40B4-BE49-F238E27FC236}">
                  <a16:creationId xmlns:a16="http://schemas.microsoft.com/office/drawing/2014/main" id="{42205EC4-D547-58D2-EBB2-0D10AD44C7A5}"/>
                </a:ext>
              </a:extLst>
            </p:cNvPr>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sp>
        <p:nvSpPr>
          <p:cNvPr id="40" name="矩形 19">
            <a:extLst>
              <a:ext uri="{FF2B5EF4-FFF2-40B4-BE49-F238E27FC236}">
                <a16:creationId xmlns:a16="http://schemas.microsoft.com/office/drawing/2014/main" id="{A393EA8B-C10B-8095-BC30-42083ACF5C12}"/>
              </a:ext>
            </a:extLst>
          </p:cNvPr>
          <p:cNvSpPr/>
          <p:nvPr/>
        </p:nvSpPr>
        <p:spPr>
          <a:xfrm>
            <a:off x="6348606" y="4084476"/>
            <a:ext cx="4476329" cy="1241237"/>
          </a:xfrm>
          <a:prstGeom prst="rect">
            <a:avLst/>
          </a:prstGeom>
          <a:ln>
            <a:noFill/>
          </a:ln>
        </p:spPr>
        <p:txBody>
          <a:bodyPr wrap="square">
            <a:spAutoFit/>
          </a:bodyPr>
          <a:lstStyle/>
          <a:p>
            <a:pPr lvl="0" algn="ctr">
              <a:defRPr/>
            </a:pPr>
            <a:r>
              <a:rPr lang="en-US" altLang="zh-CN" sz="3733" b="1" dirty="0">
                <a:solidFill>
                  <a:srgbClr val="2660AD"/>
                </a:solidFill>
                <a:ea typeface="微软雅黑" panose="020B0503020204020204" pitchFamily="34" charset="-122"/>
                <a:sym typeface="+mn-lt"/>
              </a:rPr>
              <a:t>Korea Market Leverage</a:t>
            </a:r>
          </a:p>
        </p:txBody>
      </p:sp>
      <p:sp>
        <p:nvSpPr>
          <p:cNvPr id="42" name="矩形 21">
            <a:extLst>
              <a:ext uri="{FF2B5EF4-FFF2-40B4-BE49-F238E27FC236}">
                <a16:creationId xmlns:a16="http://schemas.microsoft.com/office/drawing/2014/main" id="{1E329C9A-B3C9-5BEB-1F34-9CF72C050C60}"/>
              </a:ext>
            </a:extLst>
          </p:cNvPr>
          <p:cNvSpPr/>
          <p:nvPr/>
        </p:nvSpPr>
        <p:spPr>
          <a:xfrm rot="13500000">
            <a:off x="4263885" y="3800097"/>
            <a:ext cx="1789457" cy="1789460"/>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43" name="矩形 22">
            <a:extLst>
              <a:ext uri="{FF2B5EF4-FFF2-40B4-BE49-F238E27FC236}">
                <a16:creationId xmlns:a16="http://schemas.microsoft.com/office/drawing/2014/main" id="{662553CA-7D35-142B-1757-F2F5705E2A56}"/>
              </a:ext>
            </a:extLst>
          </p:cNvPr>
          <p:cNvSpPr/>
          <p:nvPr/>
        </p:nvSpPr>
        <p:spPr>
          <a:xfrm>
            <a:off x="4488709" y="4044381"/>
            <a:ext cx="1146468" cy="1077218"/>
          </a:xfrm>
          <a:prstGeom prst="rect">
            <a:avLst/>
          </a:prstGeom>
        </p:spPr>
        <p:txBody>
          <a:bodyPr wrap="none">
            <a:spAutoFit/>
          </a:bodyPr>
          <a:lstStyle/>
          <a:p>
            <a:pPr defTabSz="1219170">
              <a:defRPr/>
            </a:pPr>
            <a:r>
              <a:rPr lang="en-US" altLang="zh-CN" sz="6400" dirty="0">
                <a:solidFill>
                  <a:prstClr val="white"/>
                </a:solidFill>
                <a:latin typeface="微软雅黑" panose="020B0503020204020204" pitchFamily="34" charset="-122"/>
                <a:ea typeface="微软雅黑" panose="020B0503020204020204" pitchFamily="34" charset="-122"/>
                <a:sym typeface="+mn-lt"/>
              </a:rPr>
              <a:t>02</a:t>
            </a:r>
            <a:endParaRPr lang="zh-CN" altLang="en-US" sz="6400" dirty="0">
              <a:solidFill>
                <a:prstClr val="white"/>
              </a:solidFill>
              <a:latin typeface="微软雅黑" panose="020B0503020204020204" pitchFamily="34" charset="-122"/>
              <a:ea typeface="微软雅黑" panose="020B0503020204020204" pitchFamily="34" charset="-122"/>
              <a:sym typeface="+mn-lt"/>
            </a:endParaRPr>
          </a:p>
        </p:txBody>
      </p:sp>
      <p:sp>
        <p:nvSpPr>
          <p:cNvPr id="3" name="Slide Number Placeholder 2">
            <a:extLst>
              <a:ext uri="{FF2B5EF4-FFF2-40B4-BE49-F238E27FC236}">
                <a16:creationId xmlns:a16="http://schemas.microsoft.com/office/drawing/2014/main" id="{0DE3D4BC-FC0C-81CB-D4AE-98AE4311EDD8}"/>
              </a:ext>
            </a:extLst>
          </p:cNvPr>
          <p:cNvSpPr>
            <a:spLocks noGrp="1"/>
          </p:cNvSpPr>
          <p:nvPr>
            <p:ph type="sldNum" sz="quarter" idx="4"/>
          </p:nvPr>
        </p:nvSpPr>
        <p:spPr>
          <a:xfrm>
            <a:off x="15614261" y="8743433"/>
            <a:ext cx="439212" cy="369332"/>
          </a:xfrm>
          <a:prstGeom prst="rect">
            <a:avLst/>
          </a:prstGeom>
        </p:spPr>
        <p:txBody>
          <a:bodyPr/>
          <a:lstStyle>
            <a:defPPr>
              <a:defRPr lang="en-US"/>
            </a:defPPr>
            <a:lvl1pPr marL="0" algn="r" defTabSz="1219170" rtl="0" eaLnBrk="1" latinLnBrk="0" hangingPunct="1">
              <a:defRPr sz="2400" kern="1200">
                <a:solidFill>
                  <a:schemeClr val="bg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defRPr/>
            </a:pPr>
            <a:fld id="{CC7D48C0-AA79-46F3-BF6F-F82B468F2D98}" type="slidenum">
              <a:rPr lang="en-US" sz="1333">
                <a:solidFill>
                  <a:prstClr val="white"/>
                </a:solidFill>
                <a:latin typeface="Calibri"/>
                <a:ea typeface="Microsoft JhengHei"/>
              </a:rPr>
              <a:pPr>
                <a:defRPr/>
              </a:pPr>
              <a:t>8</a:t>
            </a:fld>
            <a:endParaRPr lang="en-US" sz="1333" dirty="0">
              <a:solidFill>
                <a:prstClr val="white"/>
              </a:solidFill>
              <a:latin typeface="Calibri Light"/>
              <a:ea typeface="Microsoft JhengHei"/>
            </a:endParaRPr>
          </a:p>
        </p:txBody>
      </p:sp>
    </p:spTree>
    <p:custDataLst>
      <p:tags r:id="rId1"/>
    </p:custDataLst>
    <p:extLst>
      <p:ext uri="{BB962C8B-B14F-4D97-AF65-F5344CB8AC3E}">
        <p14:creationId xmlns:p14="http://schemas.microsoft.com/office/powerpoint/2010/main" val="2814568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6BC6B8C-3B50-8144-E729-DD412A6455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40EE259-2CC4-838B-BB5C-1A7FA88CCFE6}"/>
              </a:ext>
            </a:extLst>
          </p:cNvPr>
          <p:cNvSpPr/>
          <p:nvPr/>
        </p:nvSpPr>
        <p:spPr>
          <a:xfrm>
            <a:off x="762000" y="279400"/>
            <a:ext cx="50800" cy="508000"/>
          </a:xfrm>
          <a:prstGeom prst="rect">
            <a:avLst/>
          </a:prstGeom>
          <a:solidFill>
            <a:srgbClr val="C4963A"/>
          </a:solidFill>
          <a:ln/>
        </p:spPr>
        <p:txBody>
          <a:bodyPr/>
          <a:lstStyle/>
          <a:p>
            <a:endParaRPr lang="en-US"/>
          </a:p>
        </p:txBody>
      </p:sp>
      <p:sp>
        <p:nvSpPr>
          <p:cNvPr id="3" name="Text 1">
            <a:extLst>
              <a:ext uri="{FF2B5EF4-FFF2-40B4-BE49-F238E27FC236}">
                <a16:creationId xmlns:a16="http://schemas.microsoft.com/office/drawing/2014/main" id="{470AC717-F8BD-F966-EE2F-64615DE91A79}"/>
              </a:ext>
            </a:extLst>
          </p:cNvPr>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200" b="1" dirty="0">
                <a:solidFill>
                  <a:srgbClr val="1B2F4A"/>
                </a:solidFill>
                <a:latin typeface="Liter" pitchFamily="34" charset="0"/>
                <a:ea typeface="Liter" pitchFamily="34" charset="-122"/>
                <a:cs typeface="Liter" pitchFamily="34" charset="-120"/>
              </a:rPr>
              <a:t>Korea Has Exhibited Significantly Higher Volatility Compared to Other Major Global Market Indices </a:t>
            </a:r>
            <a:endParaRPr lang="en-US" sz="2200" dirty="0"/>
          </a:p>
        </p:txBody>
      </p:sp>
      <p:sp>
        <p:nvSpPr>
          <p:cNvPr id="4" name="Shape 2">
            <a:extLst>
              <a:ext uri="{FF2B5EF4-FFF2-40B4-BE49-F238E27FC236}">
                <a16:creationId xmlns:a16="http://schemas.microsoft.com/office/drawing/2014/main" id="{C9CCD7B6-BCE9-3450-49E8-265F3C855C81}"/>
              </a:ext>
            </a:extLst>
          </p:cNvPr>
          <p:cNvSpPr/>
          <p:nvPr/>
        </p:nvSpPr>
        <p:spPr>
          <a:xfrm>
            <a:off x="762000" y="838200"/>
            <a:ext cx="14732000" cy="12700"/>
          </a:xfrm>
          <a:prstGeom prst="rect">
            <a:avLst/>
          </a:prstGeom>
          <a:solidFill>
            <a:srgbClr val="E2E8F0"/>
          </a:solidFill>
          <a:ln/>
        </p:spPr>
        <p:txBody>
          <a:bodyPr/>
          <a:lstStyle/>
          <a:p>
            <a:endParaRPr lang="en-US"/>
          </a:p>
        </p:txBody>
      </p:sp>
      <p:sp>
        <p:nvSpPr>
          <p:cNvPr id="5" name="Shape 3">
            <a:extLst>
              <a:ext uri="{FF2B5EF4-FFF2-40B4-BE49-F238E27FC236}">
                <a16:creationId xmlns:a16="http://schemas.microsoft.com/office/drawing/2014/main" id="{B7C0C95F-EB1E-B6D2-8F9D-590ED4748B9B}"/>
              </a:ext>
            </a:extLst>
          </p:cNvPr>
          <p:cNvSpPr/>
          <p:nvPr/>
        </p:nvSpPr>
        <p:spPr>
          <a:xfrm>
            <a:off x="4104806" y="1003300"/>
            <a:ext cx="50800" cy="254000"/>
          </a:xfrm>
          <a:prstGeom prst="rect">
            <a:avLst/>
          </a:prstGeom>
          <a:solidFill>
            <a:srgbClr val="C4963A"/>
          </a:solidFill>
          <a:ln/>
        </p:spPr>
        <p:txBody>
          <a:bodyPr/>
          <a:lstStyle/>
          <a:p>
            <a:endParaRPr lang="en-US"/>
          </a:p>
        </p:txBody>
      </p:sp>
      <p:sp>
        <p:nvSpPr>
          <p:cNvPr id="6" name="Text 4">
            <a:extLst>
              <a:ext uri="{FF2B5EF4-FFF2-40B4-BE49-F238E27FC236}">
                <a16:creationId xmlns:a16="http://schemas.microsoft.com/office/drawing/2014/main" id="{B4423EA1-228E-F92F-AF52-31A376A46F9F}"/>
              </a:ext>
            </a:extLst>
          </p:cNvPr>
          <p:cNvSpPr/>
          <p:nvPr/>
        </p:nvSpPr>
        <p:spPr>
          <a:xfrm>
            <a:off x="4257206" y="977900"/>
            <a:ext cx="7620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2.1 — Volatility of Major Global Indices</a:t>
            </a:r>
            <a:endParaRPr lang="en-US" sz="1300" dirty="0"/>
          </a:p>
        </p:txBody>
      </p:sp>
      <p:sp>
        <p:nvSpPr>
          <p:cNvPr id="7" name="Shape 5">
            <a:extLst>
              <a:ext uri="{FF2B5EF4-FFF2-40B4-BE49-F238E27FC236}">
                <a16:creationId xmlns:a16="http://schemas.microsoft.com/office/drawing/2014/main" id="{8AE6BEEA-51C8-447C-0683-DA4EF86DFBDD}"/>
              </a:ext>
            </a:extLst>
          </p:cNvPr>
          <p:cNvSpPr/>
          <p:nvPr/>
        </p:nvSpPr>
        <p:spPr>
          <a:xfrm>
            <a:off x="4104806" y="1333500"/>
            <a:ext cx="7366000" cy="3556000"/>
          </a:xfrm>
          <a:prstGeom prst="rect">
            <a:avLst/>
          </a:prstGeom>
          <a:solidFill>
            <a:srgbClr val="F7F8FA"/>
          </a:solidFill>
          <a:ln w="12700">
            <a:solidFill>
              <a:srgbClr val="E2E8F0"/>
            </a:solidFill>
            <a:prstDash val="solid"/>
          </a:ln>
        </p:spPr>
        <p:txBody>
          <a:bodyPr/>
          <a:lstStyle/>
          <a:p>
            <a:endParaRPr lang="en-US"/>
          </a:p>
        </p:txBody>
      </p:sp>
      <p:sp>
        <p:nvSpPr>
          <p:cNvPr id="8" name="Text 6">
            <a:extLst>
              <a:ext uri="{FF2B5EF4-FFF2-40B4-BE49-F238E27FC236}">
                <a16:creationId xmlns:a16="http://schemas.microsoft.com/office/drawing/2014/main" id="{2BD4A3E7-96B8-E974-7EC7-F51574005BAC}"/>
              </a:ext>
            </a:extLst>
          </p:cNvPr>
          <p:cNvSpPr/>
          <p:nvPr/>
        </p:nvSpPr>
        <p:spPr>
          <a:xfrm>
            <a:off x="4104806" y="1333500"/>
            <a:ext cx="7366000" cy="3556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GEM Fund Manager Portfolio Weight in South Korea vs. MSCI Weight]</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Korea + Taiwan = ~50.4% of GEM portfolios (May 2026)</a:t>
            </a:r>
            <a:endParaRPr lang="en-US" sz="1400" dirty="0"/>
          </a:p>
        </p:txBody>
      </p:sp>
      <p:sp>
        <p:nvSpPr>
          <p:cNvPr id="13" name="Shape 11">
            <a:extLst>
              <a:ext uri="{FF2B5EF4-FFF2-40B4-BE49-F238E27FC236}">
                <a16:creationId xmlns:a16="http://schemas.microsoft.com/office/drawing/2014/main" id="{6058D743-62BB-032C-5C43-D550AAED2D57}"/>
              </a:ext>
            </a:extLst>
          </p:cNvPr>
          <p:cNvSpPr/>
          <p:nvPr/>
        </p:nvSpPr>
        <p:spPr>
          <a:xfrm>
            <a:off x="762000" y="5207000"/>
            <a:ext cx="14732000" cy="3048000"/>
          </a:xfrm>
          <a:prstGeom prst="rect">
            <a:avLst/>
          </a:prstGeom>
          <a:solidFill>
            <a:srgbClr val="F7F8FA"/>
          </a:solidFill>
          <a:ln/>
        </p:spPr>
        <p:txBody>
          <a:bodyPr/>
          <a:lstStyle/>
          <a:p>
            <a:endParaRPr lang="en-US"/>
          </a:p>
        </p:txBody>
      </p:sp>
      <p:sp>
        <p:nvSpPr>
          <p:cNvPr id="14" name="Shape 12">
            <a:extLst>
              <a:ext uri="{FF2B5EF4-FFF2-40B4-BE49-F238E27FC236}">
                <a16:creationId xmlns:a16="http://schemas.microsoft.com/office/drawing/2014/main" id="{6A7E2315-45F3-C1B0-7A28-0064B02CEB3F}"/>
              </a:ext>
            </a:extLst>
          </p:cNvPr>
          <p:cNvSpPr/>
          <p:nvPr/>
        </p:nvSpPr>
        <p:spPr>
          <a:xfrm>
            <a:off x="762000" y="5207000"/>
            <a:ext cx="14732000" cy="50800"/>
          </a:xfrm>
          <a:prstGeom prst="rect">
            <a:avLst/>
          </a:prstGeom>
          <a:solidFill>
            <a:srgbClr val="C4963A"/>
          </a:solidFill>
          <a:ln/>
        </p:spPr>
        <p:txBody>
          <a:bodyPr/>
          <a:lstStyle/>
          <a:p>
            <a:endParaRPr lang="en-US"/>
          </a:p>
        </p:txBody>
      </p:sp>
      <p:sp>
        <p:nvSpPr>
          <p:cNvPr id="15" name="Text 13">
            <a:extLst>
              <a:ext uri="{FF2B5EF4-FFF2-40B4-BE49-F238E27FC236}">
                <a16:creationId xmlns:a16="http://schemas.microsoft.com/office/drawing/2014/main" id="{5618ECA7-3EC8-0627-8AC3-1B7E82852B2B}"/>
              </a:ext>
            </a:extLst>
          </p:cNvPr>
          <p:cNvSpPr/>
          <p:nvPr/>
        </p:nvSpPr>
        <p:spPr>
          <a:xfrm>
            <a:off x="1016000" y="5384800"/>
            <a:ext cx="381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Positioning Context:</a:t>
            </a:r>
            <a:endParaRPr lang="en-US" sz="1600" dirty="0"/>
          </a:p>
        </p:txBody>
      </p:sp>
      <p:sp>
        <p:nvSpPr>
          <p:cNvPr id="16" name="Text 14">
            <a:extLst>
              <a:ext uri="{FF2B5EF4-FFF2-40B4-BE49-F238E27FC236}">
                <a16:creationId xmlns:a16="http://schemas.microsoft.com/office/drawing/2014/main" id="{EC9D6438-B284-7929-6DF4-2266B333BBB7}"/>
              </a:ext>
            </a:extLst>
          </p:cNvPr>
          <p:cNvSpPr/>
          <p:nvPr/>
        </p:nvSpPr>
        <p:spPr>
          <a:xfrm>
            <a:off x="1016000" y="5740400"/>
            <a:ext cx="14224000" cy="2362200"/>
          </a:xfrm>
          <a:prstGeom prst="rect">
            <a:avLst/>
          </a:prstGeom>
          <a:noFill/>
          <a:ln/>
        </p:spPr>
        <p:txBody>
          <a:bodyPr wrap="square" lIns="0" tIns="0" rIns="0" bIns="0" rtlCol="0" anchor="t"/>
          <a:lstStyle/>
          <a:p>
            <a:pPr marL="254000" indent="-254000">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KOSPI exhibits </a:t>
            </a:r>
            <a:r>
              <a:rPr lang="en-US" sz="1600" b="1" dirty="0">
                <a:solidFill>
                  <a:srgbClr val="2D3748"/>
                </a:solidFill>
                <a:latin typeface="Liter" pitchFamily="34" charset="0"/>
                <a:ea typeface="Liter" pitchFamily="34" charset="-122"/>
                <a:cs typeface="Liter" pitchFamily="34" charset="-120"/>
              </a:rPr>
              <a:t>significantly higher volatility</a:t>
            </a:r>
            <a:r>
              <a:rPr lang="en-US" sz="1600" dirty="0">
                <a:solidFill>
                  <a:srgbClr val="2D3748"/>
                </a:solidFill>
                <a:latin typeface="Liter" pitchFamily="34" charset="0"/>
                <a:ea typeface="Liter" pitchFamily="34" charset="-122"/>
                <a:cs typeface="Liter" pitchFamily="34" charset="-120"/>
              </a:rPr>
              <a:t> compared to other major global market indices</a:t>
            </a:r>
          </a:p>
          <a:p>
            <a:pPr marL="254000" indent="-254000">
              <a:lnSpc>
                <a:spcPct val="160000"/>
              </a:lnSpc>
              <a:spcBef>
                <a:spcPts val="10"/>
              </a:spcBef>
              <a:buSzPct val="100000"/>
              <a:buFontTx/>
              <a:buChar char="•"/>
            </a:pPr>
            <a:r>
              <a:rPr lang="en-US" sz="1600" dirty="0">
                <a:solidFill>
                  <a:srgbClr val="2D3748"/>
                </a:solidFill>
                <a:latin typeface="Liter" pitchFamily="34" charset="0"/>
                <a:ea typeface="Liter" pitchFamily="34" charset="-122"/>
                <a:cs typeface="Liter" pitchFamily="34" charset="-120"/>
              </a:rPr>
              <a:t>This divergence has been increasingly evident </a:t>
            </a:r>
            <a:r>
              <a:rPr lang="en-US" sz="1600" b="1" dirty="0">
                <a:solidFill>
                  <a:srgbClr val="2D3748"/>
                </a:solidFill>
                <a:latin typeface="Liter" pitchFamily="34" charset="0"/>
                <a:ea typeface="Liter" pitchFamily="34" charset="-122"/>
                <a:cs typeface="Liter" pitchFamily="34" charset="-120"/>
              </a:rPr>
              <a:t>since the start of 2026</a:t>
            </a:r>
          </a:p>
          <a:p>
            <a:pPr marL="254000" indent="-254000">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Some of the factors… </a:t>
            </a:r>
          </a:p>
          <a:p>
            <a:pPr marL="254000" indent="-254000">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Concentration in Tech Hardware/Semis/AI Bottlenecks, High Beta &amp; Cyclical, Foreign-flow Sensitivity, Retail-led Turnover, </a:t>
            </a:r>
            <a:r>
              <a:rPr lang="en-US" sz="2000" b="1" dirty="0">
                <a:solidFill>
                  <a:srgbClr val="2D3748"/>
                </a:solidFill>
                <a:latin typeface="Liter" pitchFamily="34" charset="0"/>
                <a:ea typeface="Liter" pitchFamily="34" charset="-122"/>
                <a:cs typeface="Liter" pitchFamily="34" charset="-120"/>
              </a:rPr>
              <a:t>Leverage </a:t>
            </a:r>
          </a:p>
          <a:p>
            <a:pPr marL="254000" indent="-254000">
              <a:lnSpc>
                <a:spcPct val="160000"/>
              </a:lnSpc>
              <a:spcBef>
                <a:spcPts val="10"/>
              </a:spcBef>
              <a:buSzPct val="100000"/>
              <a:buChar char="•"/>
            </a:pPr>
            <a:r>
              <a:rPr lang="en-US" b="1" dirty="0">
                <a:solidFill>
                  <a:schemeClr val="accent1">
                    <a:lumMod val="50000"/>
                  </a:schemeClr>
                </a:solidFill>
                <a:latin typeface="Liter" pitchFamily="34" charset="0"/>
                <a:ea typeface="Liter" pitchFamily="34" charset="-122"/>
                <a:cs typeface="Liter" pitchFamily="34" charset="-120"/>
              </a:rPr>
              <a:t>How elevated is Korea’s market leverage, and is it really that extreme?</a:t>
            </a:r>
            <a:endParaRPr lang="en-US" b="1" i="1" dirty="0">
              <a:solidFill>
                <a:schemeClr val="accent1">
                  <a:lumMod val="50000"/>
                </a:schemeClr>
              </a:solidFill>
            </a:endParaRPr>
          </a:p>
        </p:txBody>
      </p:sp>
      <p:sp>
        <p:nvSpPr>
          <p:cNvPr id="17" name="Text 15">
            <a:extLst>
              <a:ext uri="{FF2B5EF4-FFF2-40B4-BE49-F238E27FC236}">
                <a16:creationId xmlns:a16="http://schemas.microsoft.com/office/drawing/2014/main" id="{70A30776-6BA7-30A3-11D2-BA7F2C251A61}"/>
              </a:ext>
            </a:extLst>
          </p:cNvPr>
          <p:cNvSpPr/>
          <p:nvPr/>
        </p:nvSpPr>
        <p:spPr>
          <a:xfrm>
            <a:off x="762000" y="8509000"/>
            <a:ext cx="1016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Morgan Stanley.</a:t>
            </a:r>
            <a:endParaRPr lang="en-US" sz="1200" dirty="0"/>
          </a:p>
        </p:txBody>
      </p:sp>
      <p:sp>
        <p:nvSpPr>
          <p:cNvPr id="18" name="Text 16">
            <a:extLst>
              <a:ext uri="{FF2B5EF4-FFF2-40B4-BE49-F238E27FC236}">
                <a16:creationId xmlns:a16="http://schemas.microsoft.com/office/drawing/2014/main" id="{FAF0B18E-6720-4836-7028-DD4BFCDA9FFF}"/>
              </a:ext>
            </a:extLst>
          </p:cNvPr>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09</a:t>
            </a:r>
            <a:endParaRPr lang="en-US" sz="1200" dirty="0"/>
          </a:p>
        </p:txBody>
      </p:sp>
      <p:pic>
        <p:nvPicPr>
          <p:cNvPr id="9" name="Picture 8">
            <a:extLst>
              <a:ext uri="{FF2B5EF4-FFF2-40B4-BE49-F238E27FC236}">
                <a16:creationId xmlns:a16="http://schemas.microsoft.com/office/drawing/2014/main" id="{23587140-74E1-3801-B33A-7447751BFF51}"/>
              </a:ext>
            </a:extLst>
          </p:cNvPr>
          <p:cNvPicPr>
            <a:picLocks noChangeAspect="1"/>
          </p:cNvPicPr>
          <p:nvPr/>
        </p:nvPicPr>
        <p:blipFill>
          <a:blip r:embed="rId3"/>
          <a:stretch>
            <a:fillRect/>
          </a:stretch>
        </p:blipFill>
        <p:spPr>
          <a:xfrm>
            <a:off x="4104806" y="1333500"/>
            <a:ext cx="7366000" cy="3556476"/>
          </a:xfrm>
          <a:prstGeom prst="rect">
            <a:avLst/>
          </a:prstGeom>
        </p:spPr>
      </p:pic>
      <p:cxnSp>
        <p:nvCxnSpPr>
          <p:cNvPr id="11" name="Straight Connector 10">
            <a:extLst>
              <a:ext uri="{FF2B5EF4-FFF2-40B4-BE49-F238E27FC236}">
                <a16:creationId xmlns:a16="http://schemas.microsoft.com/office/drawing/2014/main" id="{D668710B-7383-737F-02E7-4EFB65D8FAE3}"/>
              </a:ext>
            </a:extLst>
          </p:cNvPr>
          <p:cNvCxnSpPr/>
          <p:nvPr/>
        </p:nvCxnSpPr>
        <p:spPr>
          <a:xfrm>
            <a:off x="9009089" y="2053652"/>
            <a:ext cx="0" cy="2263515"/>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9706616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EF16CA-6BDD-2C5A-8B37-20BF4148B24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B81F837-DB7D-D531-DB35-FF086911C86C}"/>
              </a:ext>
            </a:extLst>
          </p:cNvPr>
          <p:cNvSpPr/>
          <p:nvPr/>
        </p:nvSpPr>
        <p:spPr>
          <a:xfrm>
            <a:off x="762000" y="279400"/>
            <a:ext cx="50800" cy="508000"/>
          </a:xfrm>
          <a:prstGeom prst="rect">
            <a:avLst/>
          </a:prstGeom>
          <a:solidFill>
            <a:srgbClr val="C4963A"/>
          </a:solidFill>
          <a:ln/>
        </p:spPr>
        <p:txBody>
          <a:bodyPr/>
          <a:lstStyle/>
          <a:p>
            <a:endParaRPr lang="en-US"/>
          </a:p>
        </p:txBody>
      </p:sp>
      <p:sp>
        <p:nvSpPr>
          <p:cNvPr id="3" name="Text 1">
            <a:extLst>
              <a:ext uri="{FF2B5EF4-FFF2-40B4-BE49-F238E27FC236}">
                <a16:creationId xmlns:a16="http://schemas.microsoft.com/office/drawing/2014/main" id="{DBE3DCDB-9529-3705-1921-6629F0960CB5}"/>
              </a:ext>
            </a:extLst>
          </p:cNvPr>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en-US" sz="2200" b="1" dirty="0">
                <a:solidFill>
                  <a:srgbClr val="1B2F4A"/>
                </a:solidFill>
                <a:latin typeface="Liter" pitchFamily="34" charset="0"/>
                <a:ea typeface="Liter" pitchFamily="34" charset="-122"/>
                <a:cs typeface="Liter" pitchFamily="34" charset="-120"/>
              </a:rPr>
              <a:t>Absolute Leverage Reached Historic Highs…</a:t>
            </a:r>
            <a:endParaRPr lang="en-US" sz="2200" dirty="0"/>
          </a:p>
        </p:txBody>
      </p:sp>
      <p:sp>
        <p:nvSpPr>
          <p:cNvPr id="4" name="Shape 2">
            <a:extLst>
              <a:ext uri="{FF2B5EF4-FFF2-40B4-BE49-F238E27FC236}">
                <a16:creationId xmlns:a16="http://schemas.microsoft.com/office/drawing/2014/main" id="{9CDEED82-F320-2214-CE28-D6BB73A08724}"/>
              </a:ext>
            </a:extLst>
          </p:cNvPr>
          <p:cNvSpPr/>
          <p:nvPr/>
        </p:nvSpPr>
        <p:spPr>
          <a:xfrm>
            <a:off x="762000" y="838200"/>
            <a:ext cx="14732000" cy="12700"/>
          </a:xfrm>
          <a:prstGeom prst="rect">
            <a:avLst/>
          </a:prstGeom>
          <a:solidFill>
            <a:srgbClr val="E2E8F0"/>
          </a:solidFill>
          <a:ln/>
        </p:spPr>
        <p:txBody>
          <a:bodyPr/>
          <a:lstStyle/>
          <a:p>
            <a:endParaRPr lang="en-US"/>
          </a:p>
        </p:txBody>
      </p:sp>
      <p:sp>
        <p:nvSpPr>
          <p:cNvPr id="5" name="Shape 3">
            <a:extLst>
              <a:ext uri="{FF2B5EF4-FFF2-40B4-BE49-F238E27FC236}">
                <a16:creationId xmlns:a16="http://schemas.microsoft.com/office/drawing/2014/main" id="{A942CEE7-3673-8DEC-BF46-99A03A27C2EE}"/>
              </a:ext>
            </a:extLst>
          </p:cNvPr>
          <p:cNvSpPr/>
          <p:nvPr/>
        </p:nvSpPr>
        <p:spPr>
          <a:xfrm>
            <a:off x="762000" y="1041400"/>
            <a:ext cx="50800" cy="254000"/>
          </a:xfrm>
          <a:prstGeom prst="rect">
            <a:avLst/>
          </a:prstGeom>
          <a:solidFill>
            <a:srgbClr val="C4963A"/>
          </a:solidFill>
          <a:ln/>
        </p:spPr>
        <p:txBody>
          <a:bodyPr/>
          <a:lstStyle/>
          <a:p>
            <a:endParaRPr lang="en-US"/>
          </a:p>
        </p:txBody>
      </p:sp>
      <p:sp>
        <p:nvSpPr>
          <p:cNvPr id="6" name="Text 4">
            <a:extLst>
              <a:ext uri="{FF2B5EF4-FFF2-40B4-BE49-F238E27FC236}">
                <a16:creationId xmlns:a16="http://schemas.microsoft.com/office/drawing/2014/main" id="{110FFBB6-31FE-EEA0-6799-2AFCD5C1BC19}"/>
              </a:ext>
            </a:extLst>
          </p:cNvPr>
          <p:cNvSpPr/>
          <p:nvPr/>
        </p:nvSpPr>
        <p:spPr>
          <a:xfrm>
            <a:off x="914400" y="1016000"/>
            <a:ext cx="6858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2.2 — Time Series of Broker Margin Loan Levels</a:t>
            </a:r>
            <a:endParaRPr lang="en-US" sz="1300" dirty="0"/>
          </a:p>
        </p:txBody>
      </p:sp>
      <p:sp>
        <p:nvSpPr>
          <p:cNvPr id="7" name="Shape 5">
            <a:extLst>
              <a:ext uri="{FF2B5EF4-FFF2-40B4-BE49-F238E27FC236}">
                <a16:creationId xmlns:a16="http://schemas.microsoft.com/office/drawing/2014/main" id="{AEE434C5-2252-15FB-61F9-E02396DAA632}"/>
              </a:ext>
            </a:extLst>
          </p:cNvPr>
          <p:cNvSpPr/>
          <p:nvPr/>
        </p:nvSpPr>
        <p:spPr>
          <a:xfrm>
            <a:off x="762000" y="1371600"/>
            <a:ext cx="6858000" cy="2921000"/>
          </a:xfrm>
          <a:prstGeom prst="rect">
            <a:avLst/>
          </a:prstGeom>
          <a:solidFill>
            <a:srgbClr val="F7F8FA"/>
          </a:solidFill>
          <a:ln w="12700">
            <a:solidFill>
              <a:srgbClr val="E2E8F0"/>
            </a:solidFill>
            <a:prstDash val="solid"/>
          </a:ln>
        </p:spPr>
        <p:txBody>
          <a:bodyPr/>
          <a:lstStyle/>
          <a:p>
            <a:endParaRPr lang="en-US"/>
          </a:p>
        </p:txBody>
      </p:sp>
      <p:sp>
        <p:nvSpPr>
          <p:cNvPr id="8" name="Text 6">
            <a:extLst>
              <a:ext uri="{FF2B5EF4-FFF2-40B4-BE49-F238E27FC236}">
                <a16:creationId xmlns:a16="http://schemas.microsoft.com/office/drawing/2014/main" id="{1B3BE2A6-84C0-1B69-90DC-715B6225D255}"/>
              </a:ext>
            </a:extLst>
          </p:cNvPr>
          <p:cNvSpPr/>
          <p:nvPr/>
        </p:nvSpPr>
        <p:spPr>
          <a:xfrm>
            <a:off x="762000" y="1371600"/>
            <a:ext cx="6858000" cy="2921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Volatility of Major Global Indices]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KOSPI exhibits significantly higher volatility</a:t>
            </a:r>
            <a:endParaRPr lang="en-US" sz="1400" dirty="0"/>
          </a:p>
        </p:txBody>
      </p:sp>
      <p:sp>
        <p:nvSpPr>
          <p:cNvPr id="9" name="Shape 7">
            <a:extLst>
              <a:ext uri="{FF2B5EF4-FFF2-40B4-BE49-F238E27FC236}">
                <a16:creationId xmlns:a16="http://schemas.microsoft.com/office/drawing/2014/main" id="{891F753F-2005-447D-2E9C-CDA52E52F857}"/>
              </a:ext>
            </a:extLst>
          </p:cNvPr>
          <p:cNvSpPr/>
          <p:nvPr/>
        </p:nvSpPr>
        <p:spPr>
          <a:xfrm>
            <a:off x="8128000" y="1041400"/>
            <a:ext cx="50800" cy="254000"/>
          </a:xfrm>
          <a:prstGeom prst="rect">
            <a:avLst/>
          </a:prstGeom>
          <a:solidFill>
            <a:srgbClr val="C4963A"/>
          </a:solidFill>
          <a:ln/>
        </p:spPr>
        <p:txBody>
          <a:bodyPr/>
          <a:lstStyle/>
          <a:p>
            <a:endParaRPr lang="en-US"/>
          </a:p>
        </p:txBody>
      </p:sp>
      <p:sp>
        <p:nvSpPr>
          <p:cNvPr id="10" name="Text 8">
            <a:extLst>
              <a:ext uri="{FF2B5EF4-FFF2-40B4-BE49-F238E27FC236}">
                <a16:creationId xmlns:a16="http://schemas.microsoft.com/office/drawing/2014/main" id="{15B4C051-264B-2442-7D35-73997BAB61D2}"/>
              </a:ext>
            </a:extLst>
          </p:cNvPr>
          <p:cNvSpPr/>
          <p:nvPr/>
        </p:nvSpPr>
        <p:spPr>
          <a:xfrm>
            <a:off x="8280400" y="1016000"/>
            <a:ext cx="7112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2.3 — Time Series of Securities-Backed Loan Levels </a:t>
            </a:r>
            <a:endParaRPr lang="en-US" sz="1300" dirty="0"/>
          </a:p>
        </p:txBody>
      </p:sp>
      <p:sp>
        <p:nvSpPr>
          <p:cNvPr id="11" name="Shape 9">
            <a:extLst>
              <a:ext uri="{FF2B5EF4-FFF2-40B4-BE49-F238E27FC236}">
                <a16:creationId xmlns:a16="http://schemas.microsoft.com/office/drawing/2014/main" id="{E777FB8A-2D58-1F24-A413-C6BDEEEA7912}"/>
              </a:ext>
            </a:extLst>
          </p:cNvPr>
          <p:cNvSpPr/>
          <p:nvPr/>
        </p:nvSpPr>
        <p:spPr>
          <a:xfrm>
            <a:off x="8128000" y="1371600"/>
            <a:ext cx="7366000" cy="2921000"/>
          </a:xfrm>
          <a:prstGeom prst="rect">
            <a:avLst/>
          </a:prstGeom>
          <a:solidFill>
            <a:srgbClr val="F7F8FA"/>
          </a:solidFill>
          <a:ln w="12700">
            <a:solidFill>
              <a:srgbClr val="E2E8F0"/>
            </a:solidFill>
            <a:prstDash val="solid"/>
          </a:ln>
        </p:spPr>
        <p:txBody>
          <a:bodyPr/>
          <a:lstStyle/>
          <a:p>
            <a:endParaRPr lang="en-US"/>
          </a:p>
        </p:txBody>
      </p:sp>
      <p:sp>
        <p:nvSpPr>
          <p:cNvPr id="12" name="Text 10">
            <a:extLst>
              <a:ext uri="{FF2B5EF4-FFF2-40B4-BE49-F238E27FC236}">
                <a16:creationId xmlns:a16="http://schemas.microsoft.com/office/drawing/2014/main" id="{F4CC669D-852C-FB68-7E4E-3B24071B4F75}"/>
              </a:ext>
            </a:extLst>
          </p:cNvPr>
          <p:cNvSpPr/>
          <p:nvPr/>
        </p:nvSpPr>
        <p:spPr>
          <a:xfrm>
            <a:off x="8128000" y="1371600"/>
            <a:ext cx="7366000" cy="2921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Time Series of Broker Margin Loan Levels]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KRW 38tn in margin loans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0.90% of free-float mkt cap (vs US 2.0%, China 5.3%)</a:t>
            </a:r>
            <a:endParaRPr lang="en-US" sz="1400" dirty="0"/>
          </a:p>
        </p:txBody>
      </p:sp>
      <p:sp>
        <p:nvSpPr>
          <p:cNvPr id="13" name="Shape 11">
            <a:extLst>
              <a:ext uri="{FF2B5EF4-FFF2-40B4-BE49-F238E27FC236}">
                <a16:creationId xmlns:a16="http://schemas.microsoft.com/office/drawing/2014/main" id="{46104BF5-BF3F-5352-6485-72196826F3AE}"/>
              </a:ext>
            </a:extLst>
          </p:cNvPr>
          <p:cNvSpPr/>
          <p:nvPr/>
        </p:nvSpPr>
        <p:spPr>
          <a:xfrm>
            <a:off x="762000" y="4495800"/>
            <a:ext cx="50800" cy="254000"/>
          </a:xfrm>
          <a:prstGeom prst="rect">
            <a:avLst/>
          </a:prstGeom>
          <a:solidFill>
            <a:srgbClr val="C4963A"/>
          </a:solidFill>
          <a:ln/>
        </p:spPr>
        <p:txBody>
          <a:bodyPr/>
          <a:lstStyle/>
          <a:p>
            <a:endParaRPr lang="en-US"/>
          </a:p>
        </p:txBody>
      </p:sp>
      <p:sp>
        <p:nvSpPr>
          <p:cNvPr id="14" name="Text 12">
            <a:extLst>
              <a:ext uri="{FF2B5EF4-FFF2-40B4-BE49-F238E27FC236}">
                <a16:creationId xmlns:a16="http://schemas.microsoft.com/office/drawing/2014/main" id="{2F5B9E59-668E-8D03-5A0D-3B48C8540B67}"/>
              </a:ext>
            </a:extLst>
          </p:cNvPr>
          <p:cNvSpPr/>
          <p:nvPr/>
        </p:nvSpPr>
        <p:spPr>
          <a:xfrm>
            <a:off x="914400" y="4470400"/>
            <a:ext cx="6379980" cy="2794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2.4 — Time Series of Leveraged ETF Levels</a:t>
            </a:r>
            <a:endParaRPr lang="en-US" sz="1300" dirty="0"/>
          </a:p>
        </p:txBody>
      </p:sp>
      <p:sp>
        <p:nvSpPr>
          <p:cNvPr id="15" name="Shape 13">
            <a:extLst>
              <a:ext uri="{FF2B5EF4-FFF2-40B4-BE49-F238E27FC236}">
                <a16:creationId xmlns:a16="http://schemas.microsoft.com/office/drawing/2014/main" id="{9BF7C3FB-B782-CAE6-CF07-533E208CD56A}"/>
              </a:ext>
            </a:extLst>
          </p:cNvPr>
          <p:cNvSpPr/>
          <p:nvPr/>
        </p:nvSpPr>
        <p:spPr>
          <a:xfrm>
            <a:off x="762000" y="4826000"/>
            <a:ext cx="6858000" cy="3429000"/>
          </a:xfrm>
          <a:prstGeom prst="rect">
            <a:avLst/>
          </a:prstGeom>
          <a:solidFill>
            <a:srgbClr val="F7F8FA"/>
          </a:solidFill>
          <a:ln w="12700">
            <a:solidFill>
              <a:srgbClr val="E2E8F0"/>
            </a:solidFill>
            <a:prstDash val="solid"/>
          </a:ln>
        </p:spPr>
        <p:txBody>
          <a:bodyPr/>
          <a:lstStyle/>
          <a:p>
            <a:endParaRPr lang="en-US"/>
          </a:p>
        </p:txBody>
      </p:sp>
      <p:sp>
        <p:nvSpPr>
          <p:cNvPr id="16" name="Text 14">
            <a:extLst>
              <a:ext uri="{FF2B5EF4-FFF2-40B4-BE49-F238E27FC236}">
                <a16:creationId xmlns:a16="http://schemas.microsoft.com/office/drawing/2014/main" id="{3C986F57-6625-F1F4-40ED-C3EFEA18DAAE}"/>
              </a:ext>
            </a:extLst>
          </p:cNvPr>
          <p:cNvSpPr/>
          <p:nvPr/>
        </p:nvSpPr>
        <p:spPr>
          <a:xfrm>
            <a:off x="762000" y="4826000"/>
            <a:ext cx="6858000" cy="3429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Time Series of Leveraged ETF Levels]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KRW 65tn in leveraged ETFs (1.5% of free-float)</a:t>
            </a:r>
            <a:endParaRPr lang="en-US" sz="1400" dirty="0"/>
          </a:p>
        </p:txBody>
      </p:sp>
      <p:sp>
        <p:nvSpPr>
          <p:cNvPr id="17" name="Shape 15">
            <a:extLst>
              <a:ext uri="{FF2B5EF4-FFF2-40B4-BE49-F238E27FC236}">
                <a16:creationId xmlns:a16="http://schemas.microsoft.com/office/drawing/2014/main" id="{CDDE6BBC-B95A-88F9-5090-2C1E4F703718}"/>
              </a:ext>
            </a:extLst>
          </p:cNvPr>
          <p:cNvSpPr/>
          <p:nvPr/>
        </p:nvSpPr>
        <p:spPr>
          <a:xfrm>
            <a:off x="8128000" y="4826000"/>
            <a:ext cx="7366000" cy="3429000"/>
          </a:xfrm>
          <a:prstGeom prst="rect">
            <a:avLst/>
          </a:prstGeom>
          <a:solidFill>
            <a:srgbClr val="F7F8FA"/>
          </a:solidFill>
          <a:ln/>
        </p:spPr>
        <p:txBody>
          <a:bodyPr/>
          <a:lstStyle/>
          <a:p>
            <a:endParaRPr lang="en-US"/>
          </a:p>
        </p:txBody>
      </p:sp>
      <p:sp>
        <p:nvSpPr>
          <p:cNvPr id="18" name="Shape 16">
            <a:extLst>
              <a:ext uri="{FF2B5EF4-FFF2-40B4-BE49-F238E27FC236}">
                <a16:creationId xmlns:a16="http://schemas.microsoft.com/office/drawing/2014/main" id="{93BF4E4F-777C-FA99-651B-6789D51167B6}"/>
              </a:ext>
            </a:extLst>
          </p:cNvPr>
          <p:cNvSpPr/>
          <p:nvPr/>
        </p:nvSpPr>
        <p:spPr>
          <a:xfrm>
            <a:off x="8128000" y="4826000"/>
            <a:ext cx="7366000" cy="50800"/>
          </a:xfrm>
          <a:prstGeom prst="rect">
            <a:avLst/>
          </a:prstGeom>
          <a:solidFill>
            <a:srgbClr val="C4963A"/>
          </a:solidFill>
          <a:ln/>
        </p:spPr>
        <p:txBody>
          <a:bodyPr/>
          <a:lstStyle/>
          <a:p>
            <a:endParaRPr lang="en-US"/>
          </a:p>
        </p:txBody>
      </p:sp>
      <p:sp>
        <p:nvSpPr>
          <p:cNvPr id="19" name="Text 17">
            <a:extLst>
              <a:ext uri="{FF2B5EF4-FFF2-40B4-BE49-F238E27FC236}">
                <a16:creationId xmlns:a16="http://schemas.microsoft.com/office/drawing/2014/main" id="{5CBAE4FC-33DB-C47F-0870-E432DCF59FC4}"/>
              </a:ext>
            </a:extLst>
          </p:cNvPr>
          <p:cNvSpPr/>
          <p:nvPr/>
        </p:nvSpPr>
        <p:spPr>
          <a:xfrm>
            <a:off x="8382000" y="4913860"/>
            <a:ext cx="381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Leverage Breakdown:</a:t>
            </a:r>
            <a:endParaRPr lang="en-US" sz="1600" dirty="0"/>
          </a:p>
        </p:txBody>
      </p:sp>
      <p:sp>
        <p:nvSpPr>
          <p:cNvPr id="20" name="Text 18">
            <a:extLst>
              <a:ext uri="{FF2B5EF4-FFF2-40B4-BE49-F238E27FC236}">
                <a16:creationId xmlns:a16="http://schemas.microsoft.com/office/drawing/2014/main" id="{4273AC91-9B1C-6529-2BBE-48430ECED052}"/>
              </a:ext>
            </a:extLst>
          </p:cNvPr>
          <p:cNvSpPr/>
          <p:nvPr/>
        </p:nvSpPr>
        <p:spPr>
          <a:xfrm>
            <a:off x="8382000" y="5224490"/>
            <a:ext cx="6858000" cy="3073200"/>
          </a:xfrm>
          <a:prstGeom prst="rect">
            <a:avLst/>
          </a:prstGeom>
          <a:noFill/>
          <a:ln/>
        </p:spPr>
        <p:txBody>
          <a:bodyPr wrap="square" lIns="0" tIns="0" rIns="0" bIns="0" rtlCol="0" anchor="t"/>
          <a:lstStyle/>
          <a:p>
            <a:pPr algn="l">
              <a:lnSpc>
                <a:spcPct val="140000"/>
              </a:lnSpc>
            </a:pPr>
            <a:r>
              <a:rPr lang="en-US" sz="1450" b="1" dirty="0">
                <a:solidFill>
                  <a:srgbClr val="2D3748"/>
                </a:solidFill>
                <a:latin typeface="Liter" pitchFamily="34" charset="0"/>
                <a:ea typeface="Liter" pitchFamily="34" charset="-122"/>
                <a:cs typeface="Liter" pitchFamily="34" charset="-120"/>
              </a:rPr>
              <a:t>Absolute basis:</a:t>
            </a:r>
            <a:r>
              <a:rPr lang="en-US" sz="1450" dirty="0">
                <a:solidFill>
                  <a:srgbClr val="2D3748"/>
                </a:solidFill>
                <a:latin typeface="Liter" pitchFamily="34" charset="0"/>
                <a:ea typeface="Liter" pitchFamily="34" charset="-122"/>
                <a:cs typeface="Liter" pitchFamily="34" charset="-120"/>
              </a:rPr>
              <a:t> Total broad leverage KRW </a:t>
            </a:r>
            <a:r>
              <a:rPr lang="en-US" sz="1450" b="1" dirty="0">
                <a:solidFill>
                  <a:srgbClr val="2D3748"/>
                </a:solidFill>
                <a:latin typeface="Liter" pitchFamily="34" charset="0"/>
                <a:ea typeface="Liter" pitchFamily="34" charset="-122"/>
                <a:cs typeface="Liter" pitchFamily="34" charset="-120"/>
              </a:rPr>
              <a:t>270.6tn</a:t>
            </a:r>
            <a:r>
              <a:rPr lang="en-US" sz="1450" dirty="0">
                <a:solidFill>
                  <a:srgbClr val="2D3748"/>
                </a:solidFill>
                <a:latin typeface="Liter" pitchFamily="34" charset="0"/>
                <a:ea typeface="Liter" pitchFamily="34" charset="-122"/>
                <a:cs typeface="Liter" pitchFamily="34" charset="-120"/>
              </a:rPr>
              <a:t> (historic high)</a:t>
            </a:r>
            <a:endParaRPr lang="en-US" sz="1450" dirty="0"/>
          </a:p>
          <a:p>
            <a:pPr algn="l">
              <a:lnSpc>
                <a:spcPct val="140000"/>
              </a:lnSpc>
              <a:spcBef>
                <a:spcPts val="600"/>
              </a:spcBef>
            </a:pPr>
            <a:r>
              <a:rPr lang="en-US" sz="1450" b="1" dirty="0">
                <a:solidFill>
                  <a:srgbClr val="2D3748"/>
                </a:solidFill>
                <a:latin typeface="Liter" pitchFamily="34" charset="0"/>
                <a:ea typeface="Liter" pitchFamily="34" charset="-122"/>
                <a:cs typeface="Liter" pitchFamily="34" charset="-120"/>
              </a:rPr>
              <a:t>Exchange-traded:</a:t>
            </a:r>
            <a:endParaRPr lang="en-US" sz="1450" dirty="0"/>
          </a:p>
          <a:p>
            <a:pPr marL="206375" indent="-206375" algn="l">
              <a:lnSpc>
                <a:spcPct val="140000"/>
              </a:lnSpc>
              <a:spcBef>
                <a:spcPts val="10"/>
              </a:spcBef>
              <a:buSzPct val="100000"/>
              <a:buChar char="•"/>
            </a:pPr>
            <a:r>
              <a:rPr lang="en-US" sz="1450" dirty="0">
                <a:solidFill>
                  <a:srgbClr val="2D3748"/>
                </a:solidFill>
                <a:latin typeface="Liter" pitchFamily="34" charset="0"/>
                <a:ea typeface="Liter" pitchFamily="34" charset="-122"/>
                <a:cs typeface="Liter" pitchFamily="34" charset="-120"/>
              </a:rPr>
              <a:t>Broker margin loans: KRW 38tn </a:t>
            </a:r>
          </a:p>
          <a:p>
            <a:pPr marL="206375" indent="-206375" algn="l">
              <a:lnSpc>
                <a:spcPct val="140000"/>
              </a:lnSpc>
              <a:spcBef>
                <a:spcPts val="10"/>
              </a:spcBef>
              <a:buSzPct val="100000"/>
              <a:buChar char="•"/>
            </a:pPr>
            <a:r>
              <a:rPr lang="en-US" sz="1450" dirty="0">
                <a:solidFill>
                  <a:srgbClr val="2D3748"/>
                </a:solidFill>
                <a:latin typeface="Liter" pitchFamily="34" charset="0"/>
                <a:ea typeface="Liter" pitchFamily="34" charset="-122"/>
                <a:cs typeface="Liter" pitchFamily="34" charset="-120"/>
              </a:rPr>
              <a:t>Leveraged ETFs: KRW 65tn (24%)</a:t>
            </a:r>
            <a:endParaRPr lang="en-US" sz="1450" dirty="0"/>
          </a:p>
          <a:p>
            <a:pPr marL="206375" indent="-206375" algn="l">
              <a:lnSpc>
                <a:spcPct val="140000"/>
              </a:lnSpc>
              <a:spcBef>
                <a:spcPts val="10"/>
              </a:spcBef>
              <a:buSzPct val="100000"/>
              <a:buChar char="•"/>
            </a:pPr>
            <a:r>
              <a:rPr lang="en-US" sz="1450" dirty="0">
                <a:solidFill>
                  <a:srgbClr val="2D3748"/>
                </a:solidFill>
                <a:latin typeface="Liter" pitchFamily="34" charset="0"/>
                <a:ea typeface="Liter" pitchFamily="34" charset="-122"/>
                <a:cs typeface="Liter" pitchFamily="34" charset="-120"/>
              </a:rPr>
              <a:t>Onshore futures: KRW 126tn (47%)</a:t>
            </a:r>
            <a:endParaRPr lang="en-US" sz="1450" dirty="0"/>
          </a:p>
          <a:p>
            <a:pPr algn="l">
              <a:lnSpc>
                <a:spcPct val="140000"/>
              </a:lnSpc>
              <a:spcBef>
                <a:spcPts val="600"/>
              </a:spcBef>
            </a:pPr>
            <a:r>
              <a:rPr lang="en-US" sz="1450" b="1" dirty="0">
                <a:solidFill>
                  <a:srgbClr val="2D3748"/>
                </a:solidFill>
                <a:latin typeface="Liter" pitchFamily="34" charset="0"/>
                <a:ea typeface="Liter" pitchFamily="34" charset="-122"/>
                <a:cs typeface="Liter" pitchFamily="34" charset="-120"/>
              </a:rPr>
              <a:t>OTC:</a:t>
            </a:r>
            <a:endParaRPr lang="en-US" sz="1450" dirty="0"/>
          </a:p>
          <a:p>
            <a:pPr marL="206375" indent="-206375" algn="l">
              <a:lnSpc>
                <a:spcPct val="140000"/>
              </a:lnSpc>
              <a:spcBef>
                <a:spcPts val="10"/>
              </a:spcBef>
              <a:buSzPct val="100000"/>
              <a:buChar char="•"/>
            </a:pPr>
            <a:r>
              <a:rPr lang="en-US" sz="1450" dirty="0">
                <a:solidFill>
                  <a:srgbClr val="2D3748"/>
                </a:solidFill>
                <a:latin typeface="Liter" pitchFamily="34" charset="0"/>
                <a:ea typeface="Liter" pitchFamily="34" charset="-122"/>
                <a:cs typeface="Liter" pitchFamily="34" charset="-120"/>
              </a:rPr>
              <a:t>Contract for Differences (CFDs): KRW 3.6tn</a:t>
            </a:r>
            <a:endParaRPr lang="en-US" sz="1450" dirty="0"/>
          </a:p>
          <a:p>
            <a:pPr marL="206375" indent="-206375" algn="l">
              <a:lnSpc>
                <a:spcPct val="140000"/>
              </a:lnSpc>
              <a:spcBef>
                <a:spcPts val="10"/>
              </a:spcBef>
              <a:buSzPct val="100000"/>
              <a:buChar char="•"/>
            </a:pPr>
            <a:r>
              <a:rPr lang="en-US" sz="1450" dirty="0">
                <a:solidFill>
                  <a:srgbClr val="2D3748"/>
                </a:solidFill>
                <a:latin typeface="Liter" pitchFamily="34" charset="0"/>
                <a:ea typeface="Liter" pitchFamily="34" charset="-122"/>
                <a:cs typeface="Liter" pitchFamily="34" charset="-120"/>
              </a:rPr>
              <a:t>Securities-backed loans: KRW 26tn</a:t>
            </a:r>
            <a:endParaRPr lang="en-US" sz="1450" dirty="0"/>
          </a:p>
          <a:p>
            <a:pPr marL="206375" indent="-206375" algn="l">
              <a:lnSpc>
                <a:spcPct val="140000"/>
              </a:lnSpc>
              <a:spcBef>
                <a:spcPts val="10"/>
              </a:spcBef>
              <a:buSzPct val="100000"/>
              <a:buChar char="•"/>
            </a:pPr>
            <a:r>
              <a:rPr lang="en-US" sz="1450" dirty="0">
                <a:solidFill>
                  <a:srgbClr val="2D3748"/>
                </a:solidFill>
                <a:latin typeface="Liter" pitchFamily="34" charset="0"/>
                <a:ea typeface="Liter" pitchFamily="34" charset="-122"/>
                <a:cs typeface="Liter" pitchFamily="34" charset="-120"/>
              </a:rPr>
              <a:t>Equity-Linked Securities: KRW 12tn</a:t>
            </a:r>
            <a:endParaRPr lang="en-US" sz="1450" dirty="0"/>
          </a:p>
        </p:txBody>
      </p:sp>
      <p:sp>
        <p:nvSpPr>
          <p:cNvPr id="21" name="Text 19">
            <a:extLst>
              <a:ext uri="{FF2B5EF4-FFF2-40B4-BE49-F238E27FC236}">
                <a16:creationId xmlns:a16="http://schemas.microsoft.com/office/drawing/2014/main" id="{40F34FA4-DE8E-358A-8250-AE1375C54F73}"/>
              </a:ext>
            </a:extLst>
          </p:cNvPr>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CICC Research</a:t>
            </a:r>
            <a:endParaRPr lang="en-US" sz="1200" dirty="0"/>
          </a:p>
        </p:txBody>
      </p:sp>
      <p:sp>
        <p:nvSpPr>
          <p:cNvPr id="22" name="Text 20">
            <a:extLst>
              <a:ext uri="{FF2B5EF4-FFF2-40B4-BE49-F238E27FC236}">
                <a16:creationId xmlns:a16="http://schemas.microsoft.com/office/drawing/2014/main" id="{95950E0D-9336-B7E6-9DD4-78C4B4ECCC52}"/>
              </a:ext>
            </a:extLst>
          </p:cNvPr>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10</a:t>
            </a:r>
            <a:endParaRPr lang="en-US" sz="1200" dirty="0"/>
          </a:p>
        </p:txBody>
      </p:sp>
      <p:pic>
        <p:nvPicPr>
          <p:cNvPr id="23" name="Picture 22">
            <a:extLst>
              <a:ext uri="{FF2B5EF4-FFF2-40B4-BE49-F238E27FC236}">
                <a16:creationId xmlns:a16="http://schemas.microsoft.com/office/drawing/2014/main" id="{5671BEC5-1D2E-903B-88B7-1615CCCE152F}"/>
              </a:ext>
            </a:extLst>
          </p:cNvPr>
          <p:cNvPicPr>
            <a:picLocks noChangeAspect="1"/>
          </p:cNvPicPr>
          <p:nvPr/>
        </p:nvPicPr>
        <p:blipFill>
          <a:blip r:embed="rId3"/>
          <a:stretch>
            <a:fillRect/>
          </a:stretch>
        </p:blipFill>
        <p:spPr>
          <a:xfrm>
            <a:off x="761999" y="4826000"/>
            <a:ext cx="6857999" cy="3426720"/>
          </a:xfrm>
          <a:prstGeom prst="rect">
            <a:avLst/>
          </a:prstGeom>
        </p:spPr>
      </p:pic>
      <p:pic>
        <p:nvPicPr>
          <p:cNvPr id="24" name="Picture 23">
            <a:extLst>
              <a:ext uri="{FF2B5EF4-FFF2-40B4-BE49-F238E27FC236}">
                <a16:creationId xmlns:a16="http://schemas.microsoft.com/office/drawing/2014/main" id="{68A4764E-AF2E-1BFF-414F-D7028899B311}"/>
              </a:ext>
            </a:extLst>
          </p:cNvPr>
          <p:cNvPicPr>
            <a:picLocks noChangeAspect="1"/>
          </p:cNvPicPr>
          <p:nvPr/>
        </p:nvPicPr>
        <p:blipFill>
          <a:blip r:embed="rId4"/>
          <a:stretch>
            <a:fillRect/>
          </a:stretch>
        </p:blipFill>
        <p:spPr>
          <a:xfrm>
            <a:off x="762000" y="1369320"/>
            <a:ext cx="6857999" cy="2933094"/>
          </a:xfrm>
          <a:prstGeom prst="rect">
            <a:avLst/>
          </a:prstGeom>
        </p:spPr>
      </p:pic>
      <p:pic>
        <p:nvPicPr>
          <p:cNvPr id="27" name="Picture 26">
            <a:extLst>
              <a:ext uri="{FF2B5EF4-FFF2-40B4-BE49-F238E27FC236}">
                <a16:creationId xmlns:a16="http://schemas.microsoft.com/office/drawing/2014/main" id="{FCF8BCD1-4AB9-8919-1D1E-78F5AAF1FF3B}"/>
              </a:ext>
            </a:extLst>
          </p:cNvPr>
          <p:cNvPicPr>
            <a:picLocks noChangeAspect="1"/>
          </p:cNvPicPr>
          <p:nvPr/>
        </p:nvPicPr>
        <p:blipFill>
          <a:blip r:embed="rId5"/>
          <a:stretch>
            <a:fillRect/>
          </a:stretch>
        </p:blipFill>
        <p:spPr>
          <a:xfrm>
            <a:off x="8128000" y="1369320"/>
            <a:ext cx="7366000" cy="2895600"/>
          </a:xfrm>
          <a:prstGeom prst="rect">
            <a:avLst/>
          </a:prstGeom>
        </p:spPr>
      </p:pic>
    </p:spTree>
    <p:extLst>
      <p:ext uri="{BB962C8B-B14F-4D97-AF65-F5344CB8AC3E}">
        <p14:creationId xmlns:p14="http://schemas.microsoft.com/office/powerpoint/2010/main" val="301456176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5E4B51A-4D01-E60F-3F31-6AA385CDA6F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536E21-1601-33D1-9008-F2F31AA95B2D}"/>
              </a:ext>
            </a:extLst>
          </p:cNvPr>
          <p:cNvSpPr/>
          <p:nvPr/>
        </p:nvSpPr>
        <p:spPr>
          <a:xfrm>
            <a:off x="762000" y="279400"/>
            <a:ext cx="50800" cy="508000"/>
          </a:xfrm>
          <a:prstGeom prst="rect">
            <a:avLst/>
          </a:prstGeom>
          <a:solidFill>
            <a:srgbClr val="C4963A"/>
          </a:solidFill>
          <a:ln/>
        </p:spPr>
        <p:txBody>
          <a:bodyPr/>
          <a:lstStyle/>
          <a:p>
            <a:endParaRPr lang="en-US"/>
          </a:p>
        </p:txBody>
      </p:sp>
      <p:sp>
        <p:nvSpPr>
          <p:cNvPr id="3" name="Text 1">
            <a:extLst>
              <a:ext uri="{FF2B5EF4-FFF2-40B4-BE49-F238E27FC236}">
                <a16:creationId xmlns:a16="http://schemas.microsoft.com/office/drawing/2014/main" id="{49950FD3-FDF0-7341-566D-27EA19B889A9}"/>
              </a:ext>
            </a:extLst>
          </p:cNvPr>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200" b="1" dirty="0">
                <a:solidFill>
                  <a:srgbClr val="1B2F4A"/>
                </a:solidFill>
                <a:latin typeface="Liter" pitchFamily="34" charset="0"/>
                <a:ea typeface="Liter" pitchFamily="34" charset="-122"/>
                <a:cs typeface="Liter" pitchFamily="34" charset="-120"/>
              </a:rPr>
              <a:t>A More Balanced Picture: Relative Leverage Metrics Do Not Indicate Extreme Systemic Risk</a:t>
            </a:r>
            <a:endParaRPr lang="en-US" sz="2200" dirty="0"/>
          </a:p>
        </p:txBody>
      </p:sp>
      <p:sp>
        <p:nvSpPr>
          <p:cNvPr id="4" name="Shape 2">
            <a:extLst>
              <a:ext uri="{FF2B5EF4-FFF2-40B4-BE49-F238E27FC236}">
                <a16:creationId xmlns:a16="http://schemas.microsoft.com/office/drawing/2014/main" id="{C2B53F15-085C-EA59-875A-1FE29417A938}"/>
              </a:ext>
            </a:extLst>
          </p:cNvPr>
          <p:cNvSpPr/>
          <p:nvPr/>
        </p:nvSpPr>
        <p:spPr>
          <a:xfrm>
            <a:off x="762000" y="838200"/>
            <a:ext cx="14732000" cy="12700"/>
          </a:xfrm>
          <a:prstGeom prst="rect">
            <a:avLst/>
          </a:prstGeom>
          <a:solidFill>
            <a:srgbClr val="E2E8F0"/>
          </a:solidFill>
          <a:ln/>
        </p:spPr>
        <p:txBody>
          <a:bodyPr/>
          <a:lstStyle/>
          <a:p>
            <a:endParaRPr lang="en-US"/>
          </a:p>
        </p:txBody>
      </p:sp>
      <p:sp>
        <p:nvSpPr>
          <p:cNvPr id="5" name="Shape 3">
            <a:extLst>
              <a:ext uri="{FF2B5EF4-FFF2-40B4-BE49-F238E27FC236}">
                <a16:creationId xmlns:a16="http://schemas.microsoft.com/office/drawing/2014/main" id="{D6328B47-7B4D-363A-0F2D-87F392A17740}"/>
              </a:ext>
            </a:extLst>
          </p:cNvPr>
          <p:cNvSpPr/>
          <p:nvPr/>
        </p:nvSpPr>
        <p:spPr>
          <a:xfrm>
            <a:off x="762000" y="1041400"/>
            <a:ext cx="50800" cy="254000"/>
          </a:xfrm>
          <a:prstGeom prst="rect">
            <a:avLst/>
          </a:prstGeom>
          <a:solidFill>
            <a:srgbClr val="C4963A"/>
          </a:solidFill>
          <a:ln/>
        </p:spPr>
        <p:txBody>
          <a:bodyPr/>
          <a:lstStyle/>
          <a:p>
            <a:endParaRPr lang="en-US"/>
          </a:p>
        </p:txBody>
      </p:sp>
      <p:sp>
        <p:nvSpPr>
          <p:cNvPr id="6" name="Text 4">
            <a:extLst>
              <a:ext uri="{FF2B5EF4-FFF2-40B4-BE49-F238E27FC236}">
                <a16:creationId xmlns:a16="http://schemas.microsoft.com/office/drawing/2014/main" id="{F84B8BB8-C472-1AE0-7251-356AFFFA20FC}"/>
              </a:ext>
            </a:extLst>
          </p:cNvPr>
          <p:cNvSpPr/>
          <p:nvPr/>
        </p:nvSpPr>
        <p:spPr>
          <a:xfrm>
            <a:off x="914400" y="1016000"/>
            <a:ext cx="6858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2.5 — Time Series of Broker Margin Loan Levels</a:t>
            </a:r>
            <a:endParaRPr lang="en-US" sz="1300" dirty="0"/>
          </a:p>
        </p:txBody>
      </p:sp>
      <p:sp>
        <p:nvSpPr>
          <p:cNvPr id="7" name="Shape 5">
            <a:extLst>
              <a:ext uri="{FF2B5EF4-FFF2-40B4-BE49-F238E27FC236}">
                <a16:creationId xmlns:a16="http://schemas.microsoft.com/office/drawing/2014/main" id="{F23C4FC5-682A-0D3A-B437-BC67452E4E51}"/>
              </a:ext>
            </a:extLst>
          </p:cNvPr>
          <p:cNvSpPr/>
          <p:nvPr/>
        </p:nvSpPr>
        <p:spPr>
          <a:xfrm>
            <a:off x="762000" y="1371600"/>
            <a:ext cx="6858000" cy="2921000"/>
          </a:xfrm>
          <a:prstGeom prst="rect">
            <a:avLst/>
          </a:prstGeom>
          <a:solidFill>
            <a:srgbClr val="F7F8FA"/>
          </a:solidFill>
          <a:ln w="12700">
            <a:solidFill>
              <a:srgbClr val="E2E8F0"/>
            </a:solidFill>
            <a:prstDash val="solid"/>
          </a:ln>
        </p:spPr>
        <p:txBody>
          <a:bodyPr/>
          <a:lstStyle/>
          <a:p>
            <a:endParaRPr lang="en-US"/>
          </a:p>
        </p:txBody>
      </p:sp>
      <p:sp>
        <p:nvSpPr>
          <p:cNvPr id="8" name="Text 6">
            <a:extLst>
              <a:ext uri="{FF2B5EF4-FFF2-40B4-BE49-F238E27FC236}">
                <a16:creationId xmlns:a16="http://schemas.microsoft.com/office/drawing/2014/main" id="{95981162-AFA1-2671-E8B4-29B30FC16D83}"/>
              </a:ext>
            </a:extLst>
          </p:cNvPr>
          <p:cNvSpPr/>
          <p:nvPr/>
        </p:nvSpPr>
        <p:spPr>
          <a:xfrm>
            <a:off x="762000" y="1371600"/>
            <a:ext cx="6858000" cy="2921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Volatility of Major Global Indices]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KOSPI exhibits significantly higher volatility</a:t>
            </a:r>
            <a:endParaRPr lang="en-US" sz="1400" dirty="0"/>
          </a:p>
        </p:txBody>
      </p:sp>
      <p:sp>
        <p:nvSpPr>
          <p:cNvPr id="9" name="Shape 7">
            <a:extLst>
              <a:ext uri="{FF2B5EF4-FFF2-40B4-BE49-F238E27FC236}">
                <a16:creationId xmlns:a16="http://schemas.microsoft.com/office/drawing/2014/main" id="{B50E019C-76EF-B3C5-5E5F-08CBDF21E988}"/>
              </a:ext>
            </a:extLst>
          </p:cNvPr>
          <p:cNvSpPr/>
          <p:nvPr/>
        </p:nvSpPr>
        <p:spPr>
          <a:xfrm>
            <a:off x="8128000" y="1041400"/>
            <a:ext cx="50800" cy="254000"/>
          </a:xfrm>
          <a:prstGeom prst="rect">
            <a:avLst/>
          </a:prstGeom>
          <a:solidFill>
            <a:srgbClr val="C4963A"/>
          </a:solidFill>
          <a:ln/>
        </p:spPr>
        <p:txBody>
          <a:bodyPr/>
          <a:lstStyle/>
          <a:p>
            <a:endParaRPr lang="en-US"/>
          </a:p>
        </p:txBody>
      </p:sp>
      <p:sp>
        <p:nvSpPr>
          <p:cNvPr id="10" name="Text 8">
            <a:extLst>
              <a:ext uri="{FF2B5EF4-FFF2-40B4-BE49-F238E27FC236}">
                <a16:creationId xmlns:a16="http://schemas.microsoft.com/office/drawing/2014/main" id="{047217F2-05D9-A8A3-66E0-0AA74D91DE5C}"/>
              </a:ext>
            </a:extLst>
          </p:cNvPr>
          <p:cNvSpPr/>
          <p:nvPr/>
        </p:nvSpPr>
        <p:spPr>
          <a:xfrm>
            <a:off x="8280400" y="1016000"/>
            <a:ext cx="7112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2.6 — Time Series of Leveraged ETF Levels</a:t>
            </a:r>
            <a:endParaRPr lang="en-US" sz="1300" dirty="0"/>
          </a:p>
        </p:txBody>
      </p:sp>
      <p:sp>
        <p:nvSpPr>
          <p:cNvPr id="11" name="Shape 9">
            <a:extLst>
              <a:ext uri="{FF2B5EF4-FFF2-40B4-BE49-F238E27FC236}">
                <a16:creationId xmlns:a16="http://schemas.microsoft.com/office/drawing/2014/main" id="{01F6CF11-83AD-B900-86A5-D3541345016C}"/>
              </a:ext>
            </a:extLst>
          </p:cNvPr>
          <p:cNvSpPr/>
          <p:nvPr/>
        </p:nvSpPr>
        <p:spPr>
          <a:xfrm>
            <a:off x="8128000" y="1371600"/>
            <a:ext cx="7366000" cy="2921000"/>
          </a:xfrm>
          <a:prstGeom prst="rect">
            <a:avLst/>
          </a:prstGeom>
          <a:solidFill>
            <a:srgbClr val="F7F8FA"/>
          </a:solidFill>
          <a:ln w="12700">
            <a:solidFill>
              <a:srgbClr val="E2E8F0"/>
            </a:solidFill>
            <a:prstDash val="solid"/>
          </a:ln>
        </p:spPr>
        <p:txBody>
          <a:bodyPr/>
          <a:lstStyle/>
          <a:p>
            <a:endParaRPr lang="en-US"/>
          </a:p>
        </p:txBody>
      </p:sp>
      <p:sp>
        <p:nvSpPr>
          <p:cNvPr id="12" name="Text 10">
            <a:extLst>
              <a:ext uri="{FF2B5EF4-FFF2-40B4-BE49-F238E27FC236}">
                <a16:creationId xmlns:a16="http://schemas.microsoft.com/office/drawing/2014/main" id="{D7C19F09-D89A-7FFF-B64D-5FCE1DDE7E5D}"/>
              </a:ext>
            </a:extLst>
          </p:cNvPr>
          <p:cNvSpPr/>
          <p:nvPr/>
        </p:nvSpPr>
        <p:spPr>
          <a:xfrm>
            <a:off x="8128000" y="1371600"/>
            <a:ext cx="7366000" cy="2921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Time Series of Broker Margin Loan Levels]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KRW 38tn in margin loans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0.90% of free-float mkt cap (vs US 2.0%, China 5.3%)</a:t>
            </a:r>
            <a:endParaRPr lang="en-US" sz="1400" dirty="0"/>
          </a:p>
        </p:txBody>
      </p:sp>
      <p:sp>
        <p:nvSpPr>
          <p:cNvPr id="17" name="Shape 15">
            <a:extLst>
              <a:ext uri="{FF2B5EF4-FFF2-40B4-BE49-F238E27FC236}">
                <a16:creationId xmlns:a16="http://schemas.microsoft.com/office/drawing/2014/main" id="{2A15460D-B17D-0F77-EF6C-4FD62823C304}"/>
              </a:ext>
            </a:extLst>
          </p:cNvPr>
          <p:cNvSpPr/>
          <p:nvPr/>
        </p:nvSpPr>
        <p:spPr>
          <a:xfrm>
            <a:off x="762000" y="4826000"/>
            <a:ext cx="14732000" cy="3429000"/>
          </a:xfrm>
          <a:prstGeom prst="rect">
            <a:avLst/>
          </a:prstGeom>
          <a:solidFill>
            <a:srgbClr val="F7F8FA"/>
          </a:solidFill>
          <a:ln/>
        </p:spPr>
        <p:txBody>
          <a:bodyPr/>
          <a:lstStyle/>
          <a:p>
            <a:endParaRPr lang="en-US"/>
          </a:p>
        </p:txBody>
      </p:sp>
      <p:sp>
        <p:nvSpPr>
          <p:cNvPr id="18" name="Shape 16">
            <a:extLst>
              <a:ext uri="{FF2B5EF4-FFF2-40B4-BE49-F238E27FC236}">
                <a16:creationId xmlns:a16="http://schemas.microsoft.com/office/drawing/2014/main" id="{534C1B1C-E16E-DA62-D838-4A41848D8116}"/>
              </a:ext>
            </a:extLst>
          </p:cNvPr>
          <p:cNvSpPr/>
          <p:nvPr/>
        </p:nvSpPr>
        <p:spPr>
          <a:xfrm>
            <a:off x="762000" y="4831080"/>
            <a:ext cx="14732000" cy="45719"/>
          </a:xfrm>
          <a:prstGeom prst="rect">
            <a:avLst/>
          </a:prstGeom>
          <a:solidFill>
            <a:srgbClr val="C4963A"/>
          </a:solidFill>
          <a:ln/>
        </p:spPr>
        <p:txBody>
          <a:bodyPr/>
          <a:lstStyle/>
          <a:p>
            <a:endParaRPr lang="en-US"/>
          </a:p>
        </p:txBody>
      </p:sp>
      <p:sp>
        <p:nvSpPr>
          <p:cNvPr id="19" name="Text 17">
            <a:extLst>
              <a:ext uri="{FF2B5EF4-FFF2-40B4-BE49-F238E27FC236}">
                <a16:creationId xmlns:a16="http://schemas.microsoft.com/office/drawing/2014/main" id="{6E577385-B10D-98EF-6E2D-29028C81D098}"/>
              </a:ext>
            </a:extLst>
          </p:cNvPr>
          <p:cNvSpPr/>
          <p:nvPr/>
        </p:nvSpPr>
        <p:spPr>
          <a:xfrm>
            <a:off x="965200" y="5054600"/>
            <a:ext cx="381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Leverage Breakdown:</a:t>
            </a:r>
            <a:endParaRPr lang="en-US" sz="1600" dirty="0"/>
          </a:p>
        </p:txBody>
      </p:sp>
      <p:sp>
        <p:nvSpPr>
          <p:cNvPr id="20" name="Text 18">
            <a:extLst>
              <a:ext uri="{FF2B5EF4-FFF2-40B4-BE49-F238E27FC236}">
                <a16:creationId xmlns:a16="http://schemas.microsoft.com/office/drawing/2014/main" id="{35F6050D-FC60-7589-F849-382A3D816552}"/>
              </a:ext>
            </a:extLst>
          </p:cNvPr>
          <p:cNvSpPr/>
          <p:nvPr/>
        </p:nvSpPr>
        <p:spPr>
          <a:xfrm>
            <a:off x="965200" y="5359400"/>
            <a:ext cx="14274800" cy="2895600"/>
          </a:xfrm>
          <a:prstGeom prst="rect">
            <a:avLst/>
          </a:prstGeom>
          <a:noFill/>
          <a:ln/>
        </p:spPr>
        <p:txBody>
          <a:bodyPr wrap="square" lIns="0" tIns="0" rIns="0" bIns="0" rtlCol="0" anchor="t"/>
          <a:lstStyle/>
          <a:p>
            <a:pPr>
              <a:lnSpc>
                <a:spcPct val="140000"/>
              </a:lnSpc>
            </a:pPr>
            <a:r>
              <a:rPr lang="en-US" sz="1400" b="1" dirty="0">
                <a:solidFill>
                  <a:srgbClr val="2D3748"/>
                </a:solidFill>
                <a:latin typeface="Liter" pitchFamily="34" charset="0"/>
                <a:ea typeface="Liter" pitchFamily="34" charset="-122"/>
                <a:cs typeface="Liter" pitchFamily="34" charset="-120"/>
              </a:rPr>
              <a:t>Relative basis:</a:t>
            </a:r>
            <a:r>
              <a:rPr lang="en-US" sz="1400" dirty="0">
                <a:solidFill>
                  <a:srgbClr val="2D3748"/>
                </a:solidFill>
                <a:latin typeface="Liter" pitchFamily="34" charset="0"/>
                <a:ea typeface="Liter" pitchFamily="34" charset="-122"/>
                <a:cs typeface="Liter" pitchFamily="34" charset="-120"/>
              </a:rPr>
              <a:t> Total broad leverage sits at a </a:t>
            </a:r>
            <a:r>
              <a:rPr lang="en-US" sz="1400" b="1" dirty="0">
                <a:solidFill>
                  <a:srgbClr val="2D3748"/>
                </a:solidFill>
                <a:latin typeface="Liter" pitchFamily="34" charset="0"/>
                <a:ea typeface="Liter" pitchFamily="34" charset="-122"/>
                <a:cs typeface="Liter" pitchFamily="34" charset="-120"/>
              </a:rPr>
              <a:t>manageable 6.24% of the free-float market cap</a:t>
            </a:r>
            <a:r>
              <a:rPr lang="en-US" sz="1400" dirty="0">
                <a:solidFill>
                  <a:srgbClr val="2D3748"/>
                </a:solidFill>
                <a:latin typeface="Liter" pitchFamily="34" charset="0"/>
                <a:ea typeface="Liter" pitchFamily="34" charset="-122"/>
                <a:cs typeface="Liter" pitchFamily="34" charset="-120"/>
              </a:rPr>
              <a:t>  (KOSPI + KOSDAQ)</a:t>
            </a:r>
          </a:p>
          <a:p>
            <a:pPr algn="l">
              <a:lnSpc>
                <a:spcPct val="140000"/>
              </a:lnSpc>
              <a:spcBef>
                <a:spcPts val="600"/>
              </a:spcBef>
            </a:pPr>
            <a:r>
              <a:rPr lang="en-US" sz="1400" b="1" dirty="0">
                <a:solidFill>
                  <a:srgbClr val="2D3748"/>
                </a:solidFill>
                <a:latin typeface="Liter" pitchFamily="34" charset="0"/>
                <a:ea typeface="Liter" pitchFamily="34" charset="-122"/>
                <a:cs typeface="Liter" pitchFamily="34" charset="-120"/>
              </a:rPr>
              <a:t>Exchange-traded:</a:t>
            </a:r>
            <a:endParaRPr lang="en-US" sz="1400" dirty="0"/>
          </a:p>
          <a:p>
            <a:pPr marL="206375" indent="-206375">
              <a:lnSpc>
                <a:spcPct val="140000"/>
              </a:lnSpc>
              <a:spcBef>
                <a:spcPts val="10"/>
              </a:spcBef>
              <a:buSzPct val="100000"/>
              <a:buChar char="•"/>
            </a:pPr>
            <a:r>
              <a:rPr lang="en-US" sz="1400" dirty="0">
                <a:solidFill>
                  <a:srgbClr val="2D3748"/>
                </a:solidFill>
                <a:latin typeface="Liter" pitchFamily="34" charset="0"/>
                <a:ea typeface="Liter" pitchFamily="34" charset="-122"/>
                <a:cs typeface="Liter" pitchFamily="34" charset="-120"/>
              </a:rPr>
              <a:t>Broker margin loans: 0.90%, a </a:t>
            </a:r>
            <a:r>
              <a:rPr lang="en-US" sz="1400" b="1" dirty="0">
                <a:solidFill>
                  <a:srgbClr val="2D3748"/>
                </a:solidFill>
                <a:latin typeface="Liter" pitchFamily="34" charset="0"/>
                <a:ea typeface="Liter" pitchFamily="34" charset="-122"/>
                <a:cs typeface="Liter" pitchFamily="34" charset="-120"/>
              </a:rPr>
              <a:t>sharp decline</a:t>
            </a:r>
            <a:r>
              <a:rPr lang="en-US" sz="1400" dirty="0">
                <a:solidFill>
                  <a:srgbClr val="2D3748"/>
                </a:solidFill>
                <a:latin typeface="Liter" pitchFamily="34" charset="0"/>
                <a:ea typeface="Liter" pitchFamily="34" charset="-122"/>
                <a:cs typeface="Liter" pitchFamily="34" charset="-120"/>
              </a:rPr>
              <a:t> from the 1.8% peak seen in 2021, and significantly </a:t>
            </a:r>
            <a:r>
              <a:rPr lang="en-US" sz="1400" b="1" dirty="0">
                <a:solidFill>
                  <a:srgbClr val="2D3748"/>
                </a:solidFill>
                <a:latin typeface="Liter" pitchFamily="34" charset="0"/>
                <a:ea typeface="Liter" pitchFamily="34" charset="-122"/>
                <a:cs typeface="Liter" pitchFamily="34" charset="-120"/>
              </a:rPr>
              <a:t>lower than current margin levels in the US (2.0%) and China (5.3%)</a:t>
            </a:r>
          </a:p>
          <a:p>
            <a:pPr marL="206375" indent="-206375">
              <a:lnSpc>
                <a:spcPct val="140000"/>
              </a:lnSpc>
              <a:spcBef>
                <a:spcPts val="10"/>
              </a:spcBef>
              <a:buSzPct val="100000"/>
              <a:buChar char="•"/>
            </a:pPr>
            <a:r>
              <a:rPr lang="en-US" sz="1400" dirty="0">
                <a:solidFill>
                  <a:srgbClr val="2D3748"/>
                </a:solidFill>
                <a:latin typeface="Liter" pitchFamily="34" charset="0"/>
                <a:ea typeface="Liter" pitchFamily="34" charset="-122"/>
                <a:cs typeface="Liter" pitchFamily="34" charset="-120"/>
              </a:rPr>
              <a:t>Leveraged ETFs: 1.5%, surged from ~0.30% at year-end 2025</a:t>
            </a:r>
          </a:p>
          <a:p>
            <a:pPr marL="663575" lvl="1" indent="-206375">
              <a:lnSpc>
                <a:spcPct val="140000"/>
              </a:lnSpc>
              <a:spcBef>
                <a:spcPts val="10"/>
              </a:spcBef>
              <a:buSzPct val="100000"/>
              <a:buChar char="•"/>
            </a:pPr>
            <a:r>
              <a:rPr lang="en-US" sz="1400" dirty="0">
                <a:solidFill>
                  <a:srgbClr val="2D3748"/>
                </a:solidFill>
                <a:latin typeface="Liter" pitchFamily="34" charset="0"/>
                <a:ea typeface="Liter" pitchFamily="34" charset="-122"/>
                <a:cs typeface="Liter" pitchFamily="34" charset="-120"/>
              </a:rPr>
              <a:t>The </a:t>
            </a:r>
            <a:r>
              <a:rPr lang="en-US" sz="1400" b="1" dirty="0">
                <a:solidFill>
                  <a:srgbClr val="2D3748"/>
                </a:solidFill>
                <a:latin typeface="Liter" pitchFamily="34" charset="0"/>
                <a:ea typeface="Liter" pitchFamily="34" charset="-122"/>
                <a:cs typeface="Liter" pitchFamily="34" charset="-120"/>
              </a:rPr>
              <a:t>only leverage instrument to record an increase relative to the free-float market cap</a:t>
            </a:r>
            <a:r>
              <a:rPr lang="en-US" sz="1400" dirty="0">
                <a:solidFill>
                  <a:srgbClr val="2D3748"/>
                </a:solidFill>
                <a:latin typeface="Liter" pitchFamily="34" charset="0"/>
                <a:ea typeface="Liter" pitchFamily="34" charset="-122"/>
                <a:cs typeface="Liter" pitchFamily="34" charset="-120"/>
              </a:rPr>
              <a:t>. Turnover breakdown: Foreigners (43%), Retail (32%), Domestic Institutions (25%)</a:t>
            </a:r>
            <a:endParaRPr lang="en-US" sz="1400" dirty="0"/>
          </a:p>
          <a:p>
            <a:pPr marL="206375" indent="-206375" algn="l">
              <a:lnSpc>
                <a:spcPct val="140000"/>
              </a:lnSpc>
              <a:spcBef>
                <a:spcPts val="10"/>
              </a:spcBef>
              <a:buSzPct val="100000"/>
              <a:buChar char="•"/>
            </a:pPr>
            <a:r>
              <a:rPr lang="en-US" sz="1400" dirty="0">
                <a:solidFill>
                  <a:srgbClr val="2D3748"/>
                </a:solidFill>
                <a:latin typeface="Liter" pitchFamily="34" charset="0"/>
                <a:ea typeface="Liter" pitchFamily="34" charset="-122"/>
                <a:cs typeface="Liter" pitchFamily="34" charset="-120"/>
              </a:rPr>
              <a:t>Onshore futures: 2.9%</a:t>
            </a:r>
            <a:endParaRPr lang="en-US" sz="1400" dirty="0"/>
          </a:p>
          <a:p>
            <a:pPr algn="l">
              <a:lnSpc>
                <a:spcPct val="140000"/>
              </a:lnSpc>
              <a:spcBef>
                <a:spcPts val="600"/>
              </a:spcBef>
            </a:pPr>
            <a:r>
              <a:rPr lang="en-US" sz="1400" b="1" dirty="0">
                <a:solidFill>
                  <a:srgbClr val="2D3748"/>
                </a:solidFill>
                <a:latin typeface="Liter" pitchFamily="34" charset="0"/>
                <a:ea typeface="Liter" pitchFamily="34" charset="-122"/>
                <a:cs typeface="Liter" pitchFamily="34" charset="-120"/>
              </a:rPr>
              <a:t>OTC:</a:t>
            </a:r>
            <a:endParaRPr lang="en-US" sz="1400" dirty="0"/>
          </a:p>
          <a:p>
            <a:pPr marL="206375" indent="-206375" algn="l">
              <a:lnSpc>
                <a:spcPct val="140000"/>
              </a:lnSpc>
              <a:spcBef>
                <a:spcPts val="10"/>
              </a:spcBef>
              <a:buSzPct val="100000"/>
              <a:buChar char="•"/>
            </a:pPr>
            <a:r>
              <a:rPr lang="en-US" sz="1400" dirty="0">
                <a:solidFill>
                  <a:srgbClr val="2D3748"/>
                </a:solidFill>
                <a:latin typeface="Liter" pitchFamily="34" charset="0"/>
                <a:ea typeface="Liter" pitchFamily="34" charset="-122"/>
                <a:cs typeface="Liter" pitchFamily="34" charset="-120"/>
              </a:rPr>
              <a:t>CFDs: 0.08%</a:t>
            </a:r>
            <a:r>
              <a:rPr lang="en-US" sz="1400" dirty="0"/>
              <a:t>, </a:t>
            </a:r>
            <a:r>
              <a:rPr lang="en-US" sz="1400" dirty="0">
                <a:solidFill>
                  <a:srgbClr val="2D3748"/>
                </a:solidFill>
                <a:latin typeface="Liter" pitchFamily="34" charset="0"/>
                <a:ea typeface="Liter" pitchFamily="34" charset="-122"/>
                <a:cs typeface="Liter" pitchFamily="34" charset="-120"/>
              </a:rPr>
              <a:t>Securities-backed loans: 0.06%</a:t>
            </a:r>
            <a:r>
              <a:rPr lang="en-US" sz="1400" dirty="0"/>
              <a:t>, </a:t>
            </a:r>
            <a:r>
              <a:rPr lang="en-US" sz="1400" dirty="0">
                <a:solidFill>
                  <a:srgbClr val="2D3748"/>
                </a:solidFill>
                <a:latin typeface="Liter" pitchFamily="34" charset="0"/>
                <a:ea typeface="Liter" pitchFamily="34" charset="-122"/>
                <a:cs typeface="Liter" pitchFamily="34" charset="-120"/>
              </a:rPr>
              <a:t>Equity-Linked Securities: 0.26%</a:t>
            </a:r>
          </a:p>
          <a:p>
            <a:pPr>
              <a:lnSpc>
                <a:spcPct val="140000"/>
              </a:lnSpc>
              <a:spcBef>
                <a:spcPts val="10"/>
              </a:spcBef>
              <a:buSzPct val="100000"/>
            </a:pPr>
            <a:r>
              <a:rPr lang="en-US" sz="1400" b="1" dirty="0">
                <a:solidFill>
                  <a:srgbClr val="2D3748"/>
                </a:solidFill>
                <a:latin typeface="Liter" pitchFamily="34" charset="0"/>
              </a:rPr>
              <a:t>All leverage metrics have declined on a relative basis, except for leveraged ETFs</a:t>
            </a:r>
            <a:endParaRPr lang="en-US" sz="1400" b="1" dirty="0"/>
          </a:p>
        </p:txBody>
      </p:sp>
      <p:sp>
        <p:nvSpPr>
          <p:cNvPr id="21" name="Text 19">
            <a:extLst>
              <a:ext uri="{FF2B5EF4-FFF2-40B4-BE49-F238E27FC236}">
                <a16:creationId xmlns:a16="http://schemas.microsoft.com/office/drawing/2014/main" id="{8186F008-3300-0B7B-ACE5-5E00A0326812}"/>
              </a:ext>
            </a:extLst>
          </p:cNvPr>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CICC Research</a:t>
            </a:r>
            <a:endParaRPr lang="en-US" sz="1200" dirty="0"/>
          </a:p>
        </p:txBody>
      </p:sp>
      <p:sp>
        <p:nvSpPr>
          <p:cNvPr id="22" name="Text 20">
            <a:extLst>
              <a:ext uri="{FF2B5EF4-FFF2-40B4-BE49-F238E27FC236}">
                <a16:creationId xmlns:a16="http://schemas.microsoft.com/office/drawing/2014/main" id="{F3EC9597-C164-5221-BA5E-A991F14EACFE}"/>
              </a:ext>
            </a:extLst>
          </p:cNvPr>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11</a:t>
            </a:r>
            <a:endParaRPr lang="en-US" sz="1200" dirty="0"/>
          </a:p>
        </p:txBody>
      </p:sp>
      <p:pic>
        <p:nvPicPr>
          <p:cNvPr id="27" name="Picture 26">
            <a:extLst>
              <a:ext uri="{FF2B5EF4-FFF2-40B4-BE49-F238E27FC236}">
                <a16:creationId xmlns:a16="http://schemas.microsoft.com/office/drawing/2014/main" id="{3D632B69-84C9-B6A2-2B01-4E6E6BA7F2A2}"/>
              </a:ext>
            </a:extLst>
          </p:cNvPr>
          <p:cNvPicPr>
            <a:picLocks noChangeAspect="1"/>
          </p:cNvPicPr>
          <p:nvPr/>
        </p:nvPicPr>
        <p:blipFill>
          <a:blip r:embed="rId3"/>
          <a:stretch>
            <a:fillRect/>
          </a:stretch>
        </p:blipFill>
        <p:spPr>
          <a:xfrm>
            <a:off x="8127999" y="1369320"/>
            <a:ext cx="7366000" cy="2921000"/>
          </a:xfrm>
          <a:prstGeom prst="rect">
            <a:avLst/>
          </a:prstGeom>
        </p:spPr>
      </p:pic>
      <p:pic>
        <p:nvPicPr>
          <p:cNvPr id="28" name="Picture 27">
            <a:extLst>
              <a:ext uri="{FF2B5EF4-FFF2-40B4-BE49-F238E27FC236}">
                <a16:creationId xmlns:a16="http://schemas.microsoft.com/office/drawing/2014/main" id="{8F378A8F-9C59-72EB-BEAA-64C62D2F01B7}"/>
              </a:ext>
            </a:extLst>
          </p:cNvPr>
          <p:cNvPicPr>
            <a:picLocks noChangeAspect="1"/>
          </p:cNvPicPr>
          <p:nvPr/>
        </p:nvPicPr>
        <p:blipFill>
          <a:blip r:embed="rId4"/>
          <a:stretch>
            <a:fillRect/>
          </a:stretch>
        </p:blipFill>
        <p:spPr>
          <a:xfrm>
            <a:off x="762000" y="1369320"/>
            <a:ext cx="6857999" cy="2933094"/>
          </a:xfrm>
          <a:prstGeom prst="rect">
            <a:avLst/>
          </a:prstGeom>
        </p:spPr>
      </p:pic>
    </p:spTree>
    <p:extLst>
      <p:ext uri="{BB962C8B-B14F-4D97-AF65-F5344CB8AC3E}">
        <p14:creationId xmlns:p14="http://schemas.microsoft.com/office/powerpoint/2010/main" val="177814166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200" b="1" dirty="0">
                <a:solidFill>
                  <a:srgbClr val="1B2F4A"/>
                </a:solidFill>
                <a:latin typeface="Liter" pitchFamily="34" charset="0"/>
                <a:ea typeface="Liter" pitchFamily="34" charset="-122"/>
                <a:cs typeface="Liter" pitchFamily="34" charset="-120"/>
              </a:rPr>
              <a:t>Contained Systemic Risk – Margin-to-Deposit Ratio Declining, RSI Below Overbought Threshold</a:t>
            </a:r>
            <a:endParaRPr lang="en-US" sz="22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6858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2.7 — Time Series of Korea Retail Deposit vs. Margin Loan Balance</a:t>
            </a:r>
            <a:endParaRPr lang="en-US" sz="1300" dirty="0"/>
          </a:p>
        </p:txBody>
      </p:sp>
      <p:sp>
        <p:nvSpPr>
          <p:cNvPr id="7" name="Shape 5"/>
          <p:cNvSpPr/>
          <p:nvPr/>
        </p:nvSpPr>
        <p:spPr>
          <a:xfrm>
            <a:off x="762000" y="1371600"/>
            <a:ext cx="6858000" cy="3302000"/>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71600"/>
            <a:ext cx="6858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Retail Investors' Deposit Balance vs. Margin Loan Balance]</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Deposit growth outpacing margin loan growth</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Margin loan-to-deposit ratio declining</a:t>
            </a:r>
            <a:endParaRPr lang="en-US" sz="1400" dirty="0"/>
          </a:p>
        </p:txBody>
      </p:sp>
      <p:sp>
        <p:nvSpPr>
          <p:cNvPr id="9" name="Shape 7"/>
          <p:cNvSpPr/>
          <p:nvPr/>
        </p:nvSpPr>
        <p:spPr>
          <a:xfrm>
            <a:off x="8128000" y="1041400"/>
            <a:ext cx="50800" cy="254000"/>
          </a:xfrm>
          <a:prstGeom prst="rect">
            <a:avLst/>
          </a:prstGeom>
          <a:solidFill>
            <a:srgbClr val="C4963A"/>
          </a:solidFill>
          <a:ln/>
        </p:spPr>
        <p:txBody>
          <a:bodyPr/>
          <a:lstStyle/>
          <a:p>
            <a:endParaRPr lang="en-US"/>
          </a:p>
        </p:txBody>
      </p:sp>
      <p:sp>
        <p:nvSpPr>
          <p:cNvPr id="10" name="Text 8"/>
          <p:cNvSpPr/>
          <p:nvPr/>
        </p:nvSpPr>
        <p:spPr>
          <a:xfrm>
            <a:off x="8280400" y="1016000"/>
            <a:ext cx="7112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2.8 — Time Series of KOSPI RSI</a:t>
            </a:r>
            <a:endParaRPr lang="en-US" sz="1300" dirty="0"/>
          </a:p>
        </p:txBody>
      </p:sp>
      <p:sp>
        <p:nvSpPr>
          <p:cNvPr id="11" name="Shape 9"/>
          <p:cNvSpPr/>
          <p:nvPr/>
        </p:nvSpPr>
        <p:spPr>
          <a:xfrm>
            <a:off x="8128000" y="1371600"/>
            <a:ext cx="7366000" cy="3302000"/>
          </a:xfrm>
          <a:prstGeom prst="rect">
            <a:avLst/>
          </a:prstGeom>
          <a:solidFill>
            <a:srgbClr val="F7F8FA"/>
          </a:solidFill>
          <a:ln w="12700">
            <a:solidFill>
              <a:srgbClr val="E2E8F0"/>
            </a:solidFill>
            <a:prstDash val="solid"/>
          </a:ln>
        </p:spPr>
        <p:txBody>
          <a:bodyPr/>
          <a:lstStyle/>
          <a:p>
            <a:endParaRPr lang="en-US"/>
          </a:p>
        </p:txBody>
      </p:sp>
      <p:sp>
        <p:nvSpPr>
          <p:cNvPr id="12" name="Text 10"/>
          <p:cNvSpPr/>
          <p:nvPr/>
        </p:nvSpPr>
        <p:spPr>
          <a:xfrm>
            <a:off x="8128000" y="1371600"/>
            <a:ext cx="7366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KOSPI RSI Time Series]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RSI fell back to &lt;60</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Below past stress peaks and overbought threshold</a:t>
            </a:r>
            <a:endParaRPr lang="en-US" sz="1400" dirty="0"/>
          </a:p>
        </p:txBody>
      </p:sp>
      <p:sp>
        <p:nvSpPr>
          <p:cNvPr id="13" name="Shape 11"/>
          <p:cNvSpPr/>
          <p:nvPr/>
        </p:nvSpPr>
        <p:spPr>
          <a:xfrm>
            <a:off x="762000" y="4953000"/>
            <a:ext cx="14732000" cy="1840875"/>
          </a:xfrm>
          <a:prstGeom prst="rect">
            <a:avLst/>
          </a:prstGeom>
          <a:solidFill>
            <a:srgbClr val="F7F8FA"/>
          </a:solidFill>
          <a:ln/>
        </p:spPr>
        <p:txBody>
          <a:bodyPr/>
          <a:lstStyle/>
          <a:p>
            <a:endParaRPr lang="en-US"/>
          </a:p>
        </p:txBody>
      </p:sp>
      <p:sp>
        <p:nvSpPr>
          <p:cNvPr id="14" name="Shape 12"/>
          <p:cNvSpPr/>
          <p:nvPr/>
        </p:nvSpPr>
        <p:spPr>
          <a:xfrm>
            <a:off x="762000" y="4953000"/>
            <a:ext cx="14732000" cy="50800"/>
          </a:xfrm>
          <a:prstGeom prst="rect">
            <a:avLst/>
          </a:prstGeom>
          <a:solidFill>
            <a:srgbClr val="C4963A"/>
          </a:solidFill>
          <a:ln/>
        </p:spPr>
        <p:txBody>
          <a:bodyPr/>
          <a:lstStyle/>
          <a:p>
            <a:endParaRPr lang="en-US"/>
          </a:p>
        </p:txBody>
      </p:sp>
      <p:sp>
        <p:nvSpPr>
          <p:cNvPr id="15" name="Text 13"/>
          <p:cNvSpPr/>
          <p:nvPr/>
        </p:nvSpPr>
        <p:spPr>
          <a:xfrm>
            <a:off x="1016000" y="5130800"/>
            <a:ext cx="508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Risk Mitigation Indicators:</a:t>
            </a:r>
            <a:endParaRPr lang="en-US" sz="1600" dirty="0"/>
          </a:p>
        </p:txBody>
      </p:sp>
      <p:sp>
        <p:nvSpPr>
          <p:cNvPr id="16" name="Text 14"/>
          <p:cNvSpPr/>
          <p:nvPr/>
        </p:nvSpPr>
        <p:spPr>
          <a:xfrm>
            <a:off x="1016000" y="5486400"/>
            <a:ext cx="14224000" cy="2616200"/>
          </a:xfrm>
          <a:prstGeom prst="rect">
            <a:avLst/>
          </a:prstGeom>
          <a:noFill/>
          <a:ln/>
        </p:spPr>
        <p:txBody>
          <a:bodyPr wrap="square" lIns="0" tIns="0" rIns="0" bIns="0" rtlCol="0" anchor="t"/>
          <a:lstStyle/>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Domestic deposit balances</a:t>
            </a:r>
            <a:r>
              <a:rPr lang="en-US" sz="1600" dirty="0">
                <a:solidFill>
                  <a:srgbClr val="2D3748"/>
                </a:solidFill>
                <a:latin typeface="Liter" pitchFamily="34" charset="0"/>
                <a:ea typeface="Liter" pitchFamily="34" charset="-122"/>
                <a:cs typeface="Liter" pitchFamily="34" charset="-120"/>
              </a:rPr>
              <a:t> have expanded at a much faster pace than retail margin loans — the </a:t>
            </a:r>
            <a:r>
              <a:rPr lang="en-US" sz="1600" b="1" dirty="0">
                <a:solidFill>
                  <a:srgbClr val="2D3748"/>
                </a:solidFill>
                <a:latin typeface="Liter" pitchFamily="34" charset="0"/>
                <a:ea typeface="Liter" pitchFamily="34" charset="-122"/>
                <a:cs typeface="Liter" pitchFamily="34" charset="-120"/>
              </a:rPr>
              <a:t>margin loan-to-deposit ratio has been declining</a:t>
            </a:r>
            <a:endParaRPr lang="en-US" sz="1600" dirty="0"/>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Korea's </a:t>
            </a:r>
            <a:r>
              <a:rPr lang="en-US" sz="1600" b="1" dirty="0">
                <a:solidFill>
                  <a:srgbClr val="2D3748"/>
                </a:solidFill>
                <a:latin typeface="Liter" pitchFamily="34" charset="0"/>
                <a:ea typeface="Liter" pitchFamily="34" charset="-122"/>
                <a:cs typeface="Liter" pitchFamily="34" charset="-120"/>
              </a:rPr>
              <a:t>RSI fell back to &lt;60</a:t>
            </a:r>
            <a:r>
              <a:rPr lang="en-US" sz="1600" dirty="0">
                <a:solidFill>
                  <a:srgbClr val="2D3748"/>
                </a:solidFill>
                <a:latin typeface="Liter" pitchFamily="34" charset="0"/>
                <a:ea typeface="Liter" pitchFamily="34" charset="-122"/>
                <a:cs typeface="Liter" pitchFamily="34" charset="-120"/>
              </a:rPr>
              <a:t>, remaining below past stress peaks and the overbought threshold</a:t>
            </a:r>
            <a:endParaRPr lang="en-US" sz="1600" dirty="0"/>
          </a:p>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Low Valuations + High EPS Growth</a:t>
            </a:r>
            <a:r>
              <a:rPr lang="en-US" sz="1600" dirty="0">
                <a:solidFill>
                  <a:srgbClr val="2D3748"/>
                </a:solidFill>
                <a:latin typeface="Liter" pitchFamily="34" charset="0"/>
                <a:ea typeface="Liter" pitchFamily="34" charset="-122"/>
                <a:cs typeface="Liter" pitchFamily="34" charset="-120"/>
              </a:rPr>
              <a:t> act as a powerful fundamental shock absorber against any potential margin/leverage-induced volatility</a:t>
            </a:r>
            <a:endParaRPr lang="en-US" sz="1600" dirty="0"/>
          </a:p>
        </p:txBody>
      </p:sp>
      <p:sp>
        <p:nvSpPr>
          <p:cNvPr id="17" name="Text 15"/>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CICC Research, Goldman Sachs.</a:t>
            </a:r>
            <a:endParaRPr lang="en-US" sz="1200" dirty="0"/>
          </a:p>
        </p:txBody>
      </p:sp>
      <p:sp>
        <p:nvSpPr>
          <p:cNvPr id="18" name="Text 16"/>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12</a:t>
            </a:r>
            <a:endParaRPr lang="en-US" sz="1200" dirty="0"/>
          </a:p>
        </p:txBody>
      </p:sp>
      <p:pic>
        <p:nvPicPr>
          <p:cNvPr id="20" name="Picture 19">
            <a:extLst>
              <a:ext uri="{FF2B5EF4-FFF2-40B4-BE49-F238E27FC236}">
                <a16:creationId xmlns:a16="http://schemas.microsoft.com/office/drawing/2014/main" id="{A5D3D613-55BD-68BB-0BEA-13F9424A996C}"/>
              </a:ext>
            </a:extLst>
          </p:cNvPr>
          <p:cNvPicPr>
            <a:picLocks noChangeAspect="1"/>
          </p:cNvPicPr>
          <p:nvPr/>
        </p:nvPicPr>
        <p:blipFill>
          <a:blip r:embed="rId3"/>
          <a:stretch>
            <a:fillRect/>
          </a:stretch>
        </p:blipFill>
        <p:spPr>
          <a:xfrm>
            <a:off x="762000" y="1371600"/>
            <a:ext cx="6858000" cy="3300238"/>
          </a:xfrm>
          <a:prstGeom prst="rect">
            <a:avLst/>
          </a:prstGeom>
        </p:spPr>
      </p:pic>
      <p:pic>
        <p:nvPicPr>
          <p:cNvPr id="21" name="Picture 20">
            <a:extLst>
              <a:ext uri="{FF2B5EF4-FFF2-40B4-BE49-F238E27FC236}">
                <a16:creationId xmlns:a16="http://schemas.microsoft.com/office/drawing/2014/main" id="{1BE3C1A1-6E31-A9EF-3AC9-D25A2896C437}"/>
              </a:ext>
            </a:extLst>
          </p:cNvPr>
          <p:cNvPicPr>
            <a:picLocks noChangeAspect="1"/>
          </p:cNvPicPr>
          <p:nvPr/>
        </p:nvPicPr>
        <p:blipFill>
          <a:blip r:embed="rId4"/>
          <a:stretch>
            <a:fillRect/>
          </a:stretch>
        </p:blipFill>
        <p:spPr>
          <a:xfrm>
            <a:off x="8128000" y="1346200"/>
            <a:ext cx="7366000" cy="3352800"/>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1D58B00-2988-99B6-9C15-1FC522BEEAE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90160B-2C27-C777-8393-6EA41D5F9698}"/>
              </a:ext>
            </a:extLst>
          </p:cNvPr>
          <p:cNvSpPr/>
          <p:nvPr/>
        </p:nvSpPr>
        <p:spPr>
          <a:xfrm>
            <a:off x="762000" y="279400"/>
            <a:ext cx="50800" cy="508000"/>
          </a:xfrm>
          <a:prstGeom prst="rect">
            <a:avLst/>
          </a:prstGeom>
          <a:solidFill>
            <a:srgbClr val="C4963A"/>
          </a:solidFill>
          <a:ln/>
        </p:spPr>
        <p:txBody>
          <a:bodyPr/>
          <a:lstStyle/>
          <a:p>
            <a:endParaRPr lang="en-US"/>
          </a:p>
        </p:txBody>
      </p:sp>
      <p:sp>
        <p:nvSpPr>
          <p:cNvPr id="3" name="Text 1">
            <a:extLst>
              <a:ext uri="{FF2B5EF4-FFF2-40B4-BE49-F238E27FC236}">
                <a16:creationId xmlns:a16="http://schemas.microsoft.com/office/drawing/2014/main" id="{EC5979A1-1073-CC4E-CD51-410CC910D461}"/>
              </a:ext>
            </a:extLst>
          </p:cNvPr>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200" b="1" dirty="0">
                <a:solidFill>
                  <a:srgbClr val="1B2F4A"/>
                </a:solidFill>
                <a:latin typeface="Liter" pitchFamily="34" charset="0"/>
                <a:ea typeface="Liter" pitchFamily="34" charset="-122"/>
                <a:cs typeface="Liter" pitchFamily="34" charset="-120"/>
              </a:rPr>
              <a:t>From Leverage to Volatility: Retail Margin Liquidations Meet the July 2026 FSC Crackdown</a:t>
            </a:r>
            <a:endParaRPr lang="en-US" sz="2200" dirty="0"/>
          </a:p>
        </p:txBody>
      </p:sp>
      <p:sp>
        <p:nvSpPr>
          <p:cNvPr id="4" name="Shape 2">
            <a:extLst>
              <a:ext uri="{FF2B5EF4-FFF2-40B4-BE49-F238E27FC236}">
                <a16:creationId xmlns:a16="http://schemas.microsoft.com/office/drawing/2014/main" id="{EFA703D6-43BE-8924-CF30-521557DD4FE7}"/>
              </a:ext>
            </a:extLst>
          </p:cNvPr>
          <p:cNvSpPr/>
          <p:nvPr/>
        </p:nvSpPr>
        <p:spPr>
          <a:xfrm>
            <a:off x="762000" y="838200"/>
            <a:ext cx="14732000" cy="12700"/>
          </a:xfrm>
          <a:prstGeom prst="rect">
            <a:avLst/>
          </a:prstGeom>
          <a:solidFill>
            <a:srgbClr val="E2E8F0"/>
          </a:solidFill>
          <a:ln/>
        </p:spPr>
        <p:txBody>
          <a:bodyPr/>
          <a:lstStyle/>
          <a:p>
            <a:endParaRPr lang="en-US"/>
          </a:p>
        </p:txBody>
      </p:sp>
      <p:sp>
        <p:nvSpPr>
          <p:cNvPr id="17" name="Text 15">
            <a:extLst>
              <a:ext uri="{FF2B5EF4-FFF2-40B4-BE49-F238E27FC236}">
                <a16:creationId xmlns:a16="http://schemas.microsoft.com/office/drawing/2014/main" id="{ECDF85E7-5CFE-84BB-7405-BAA02F0EA5CF}"/>
              </a:ext>
            </a:extLst>
          </p:cNvPr>
          <p:cNvSpPr/>
          <p:nvPr/>
        </p:nvSpPr>
        <p:spPr>
          <a:xfrm>
            <a:off x="762000" y="8258480"/>
            <a:ext cx="8294318" cy="547318"/>
          </a:xfrm>
          <a:prstGeom prst="rect">
            <a:avLst/>
          </a:prstGeom>
          <a:noFill/>
          <a:ln/>
        </p:spPr>
        <p:txBody>
          <a:bodyPr wrap="square" lIns="0" tIns="0" rIns="0" bIns="0" rtlCol="0" anchor="t"/>
          <a:lstStyle/>
          <a:p>
            <a:pPr>
              <a:lnSpc>
                <a:spcPct val="140000"/>
              </a:lnSpc>
            </a:pPr>
            <a:r>
              <a:rPr lang="en-US" sz="1200" dirty="0">
                <a:solidFill>
                  <a:srgbClr val="718096"/>
                </a:solidFill>
                <a:latin typeface="Liter" pitchFamily="34" charset="0"/>
                <a:ea typeface="Liter" pitchFamily="34" charset="-122"/>
                <a:cs typeface="Liter" pitchFamily="34" charset="-120"/>
              </a:rPr>
              <a:t>Source: </a:t>
            </a:r>
            <a:r>
              <a:rPr lang="en-US" sz="1200" dirty="0" err="1">
                <a:solidFill>
                  <a:srgbClr val="718096"/>
                </a:solidFill>
                <a:latin typeface="Liter" pitchFamily="34" charset="0"/>
                <a:ea typeface="Liter" pitchFamily="34" charset="-122"/>
                <a:cs typeface="Liter" pitchFamily="34" charset="-120"/>
              </a:rPr>
              <a:t>Reuters;,WSJ</a:t>
            </a:r>
            <a:r>
              <a:rPr lang="en-US" sz="1200" dirty="0">
                <a:solidFill>
                  <a:srgbClr val="718096"/>
                </a:solidFill>
                <a:latin typeface="Liter" pitchFamily="34" charset="0"/>
                <a:ea typeface="Liter" pitchFamily="34" charset="-122"/>
                <a:cs typeface="Liter" pitchFamily="34" charset="-120"/>
              </a:rPr>
              <a:t>, Goldman Sachs, CICC Research.</a:t>
            </a:r>
            <a:br>
              <a:rPr lang="en-US" sz="1200" dirty="0">
                <a:solidFill>
                  <a:srgbClr val="718096"/>
                </a:solidFill>
                <a:latin typeface="Liter" pitchFamily="34" charset="0"/>
                <a:ea typeface="Liter" pitchFamily="34" charset="-122"/>
                <a:cs typeface="Liter" pitchFamily="34" charset="-120"/>
              </a:rPr>
            </a:br>
            <a:r>
              <a:rPr lang="en-US" sz="1200" dirty="0">
                <a:solidFill>
                  <a:srgbClr val="718096"/>
                </a:solidFill>
                <a:latin typeface="Liter" pitchFamily="34" charset="0"/>
                <a:ea typeface="Liter" pitchFamily="34" charset="-122"/>
                <a:cs typeface="Liter" pitchFamily="34" charset="-120"/>
              </a:rPr>
              <a:t>Listing and marketing restrictions take effect immediately; the KRW 30M deposit requirement begins August 5, cash-only recognition begins August 19, and the 20-unit trading lot is scheduled for November 2026</a:t>
            </a:r>
            <a:endParaRPr lang="en-US" sz="1200" dirty="0"/>
          </a:p>
        </p:txBody>
      </p:sp>
      <p:sp>
        <p:nvSpPr>
          <p:cNvPr id="18" name="Text 16">
            <a:extLst>
              <a:ext uri="{FF2B5EF4-FFF2-40B4-BE49-F238E27FC236}">
                <a16:creationId xmlns:a16="http://schemas.microsoft.com/office/drawing/2014/main" id="{CD2F14A2-860B-5EE0-3C61-35822034A5C5}"/>
              </a:ext>
            </a:extLst>
          </p:cNvPr>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13</a:t>
            </a:r>
            <a:endParaRPr lang="en-US" sz="1200" dirty="0"/>
          </a:p>
        </p:txBody>
      </p:sp>
      <p:sp>
        <p:nvSpPr>
          <p:cNvPr id="19" name="Shape 3">
            <a:extLst>
              <a:ext uri="{FF2B5EF4-FFF2-40B4-BE49-F238E27FC236}">
                <a16:creationId xmlns:a16="http://schemas.microsoft.com/office/drawing/2014/main" id="{8D606B5E-F684-129F-21D6-75A92A85C7CF}"/>
              </a:ext>
            </a:extLst>
          </p:cNvPr>
          <p:cNvSpPr/>
          <p:nvPr/>
        </p:nvSpPr>
        <p:spPr>
          <a:xfrm>
            <a:off x="762000" y="1143000"/>
            <a:ext cx="6858000" cy="5400000"/>
          </a:xfrm>
          <a:prstGeom prst="rect">
            <a:avLst/>
          </a:prstGeom>
          <a:solidFill>
            <a:srgbClr val="F7F8FA"/>
          </a:solidFill>
          <a:ln/>
        </p:spPr>
        <p:txBody>
          <a:bodyPr/>
          <a:lstStyle/>
          <a:p>
            <a:endParaRPr lang="en-US"/>
          </a:p>
        </p:txBody>
      </p:sp>
      <p:sp>
        <p:nvSpPr>
          <p:cNvPr id="20" name="Shape 4">
            <a:extLst>
              <a:ext uri="{FF2B5EF4-FFF2-40B4-BE49-F238E27FC236}">
                <a16:creationId xmlns:a16="http://schemas.microsoft.com/office/drawing/2014/main" id="{B031CADA-E90C-6DDF-CCAE-E1FB0CE7EE3B}"/>
              </a:ext>
            </a:extLst>
          </p:cNvPr>
          <p:cNvSpPr/>
          <p:nvPr/>
        </p:nvSpPr>
        <p:spPr>
          <a:xfrm>
            <a:off x="762000" y="1143000"/>
            <a:ext cx="6858000" cy="50800"/>
          </a:xfrm>
          <a:prstGeom prst="rect">
            <a:avLst/>
          </a:prstGeom>
          <a:solidFill>
            <a:srgbClr val="C4963A"/>
          </a:solidFill>
          <a:ln/>
        </p:spPr>
        <p:txBody>
          <a:bodyPr/>
          <a:lstStyle/>
          <a:p>
            <a:endParaRPr lang="en-US"/>
          </a:p>
        </p:txBody>
      </p:sp>
      <p:sp>
        <p:nvSpPr>
          <p:cNvPr id="21" name="Text 5">
            <a:extLst>
              <a:ext uri="{FF2B5EF4-FFF2-40B4-BE49-F238E27FC236}">
                <a16:creationId xmlns:a16="http://schemas.microsoft.com/office/drawing/2014/main" id="{2CDE1395-EC0D-1AD4-16EE-ADD04EC0F30E}"/>
              </a:ext>
            </a:extLst>
          </p:cNvPr>
          <p:cNvSpPr/>
          <p:nvPr/>
        </p:nvSpPr>
        <p:spPr>
          <a:xfrm>
            <a:off x="1016000" y="1320800"/>
            <a:ext cx="762000" cy="457200"/>
          </a:xfrm>
          <a:prstGeom prst="rect">
            <a:avLst/>
          </a:prstGeom>
          <a:noFill/>
          <a:ln/>
        </p:spPr>
        <p:txBody>
          <a:bodyPr wrap="none" lIns="0" tIns="0" rIns="0" bIns="0" rtlCol="0" anchor="t"/>
          <a:lstStyle/>
          <a:p>
            <a:pPr algn="l">
              <a:lnSpc>
                <a:spcPct val="120000"/>
              </a:lnSpc>
            </a:pPr>
            <a:r>
              <a:rPr lang="en-US" sz="2800" b="1" dirty="0">
                <a:solidFill>
                  <a:srgbClr val="C4963A"/>
                </a:solidFill>
                <a:latin typeface="Liter" pitchFamily="34" charset="0"/>
                <a:ea typeface="Liter" pitchFamily="34" charset="-122"/>
                <a:cs typeface="Liter" pitchFamily="34" charset="-120"/>
              </a:rPr>
              <a:t>01</a:t>
            </a:r>
            <a:endParaRPr lang="en-US" sz="2800" dirty="0"/>
          </a:p>
        </p:txBody>
      </p:sp>
      <p:sp>
        <p:nvSpPr>
          <p:cNvPr id="22" name="Text 6">
            <a:extLst>
              <a:ext uri="{FF2B5EF4-FFF2-40B4-BE49-F238E27FC236}">
                <a16:creationId xmlns:a16="http://schemas.microsoft.com/office/drawing/2014/main" id="{08275C32-C3B3-9012-53ED-CE99361EA26C}"/>
              </a:ext>
            </a:extLst>
          </p:cNvPr>
          <p:cNvSpPr/>
          <p:nvPr/>
        </p:nvSpPr>
        <p:spPr>
          <a:xfrm>
            <a:off x="1778000" y="1371600"/>
            <a:ext cx="5588000" cy="355600"/>
          </a:xfrm>
          <a:prstGeom prst="rect">
            <a:avLst/>
          </a:prstGeom>
          <a:noFill/>
          <a:ln/>
        </p:spPr>
        <p:txBody>
          <a:bodyPr wrap="none" lIns="0" tIns="0" rIns="0" bIns="0" rtlCol="0" anchor="t"/>
          <a:lstStyle/>
          <a:p>
            <a:pPr algn="l">
              <a:lnSpc>
                <a:spcPct val="120000"/>
              </a:lnSpc>
            </a:pPr>
            <a:r>
              <a:rPr lang="en-US" sz="1800" b="1">
                <a:solidFill>
                  <a:srgbClr val="1B2F4A"/>
                </a:solidFill>
                <a:latin typeface="Liter" pitchFamily="34" charset="0"/>
                <a:ea typeface="Liter" pitchFamily="34" charset="-122"/>
                <a:cs typeface="Liter" pitchFamily="34" charset="-120"/>
              </a:rPr>
              <a:t>The </a:t>
            </a:r>
            <a:r>
              <a:rPr lang="en-US" sz="1800" b="1" dirty="0">
                <a:solidFill>
                  <a:srgbClr val="1B2F4A"/>
                </a:solidFill>
                <a:latin typeface="Liter" pitchFamily="34" charset="0"/>
                <a:ea typeface="Liter" pitchFamily="34" charset="-122"/>
                <a:cs typeface="Liter" pitchFamily="34" charset="-120"/>
              </a:rPr>
              <a:t>Margin </a:t>
            </a:r>
            <a:r>
              <a:rPr lang="en-US" sz="1800" b="1">
                <a:solidFill>
                  <a:srgbClr val="1B2F4A"/>
                </a:solidFill>
                <a:latin typeface="Liter" pitchFamily="34" charset="0"/>
                <a:ea typeface="Liter" pitchFamily="34" charset="-122"/>
                <a:cs typeface="Liter" pitchFamily="34" charset="-120"/>
              </a:rPr>
              <a:t>Mechanics &amp; Liquidation Spiral</a:t>
            </a:r>
            <a:endParaRPr lang="en-US" sz="1800" dirty="0"/>
          </a:p>
        </p:txBody>
      </p:sp>
      <p:sp>
        <p:nvSpPr>
          <p:cNvPr id="23" name="Text 7">
            <a:extLst>
              <a:ext uri="{FF2B5EF4-FFF2-40B4-BE49-F238E27FC236}">
                <a16:creationId xmlns:a16="http://schemas.microsoft.com/office/drawing/2014/main" id="{B45F3BBF-2508-F1DD-5E7C-C48C6630EE4E}"/>
              </a:ext>
            </a:extLst>
          </p:cNvPr>
          <p:cNvSpPr/>
          <p:nvPr/>
        </p:nvSpPr>
        <p:spPr>
          <a:xfrm>
            <a:off x="1016000" y="1879600"/>
            <a:ext cx="6350000" cy="5000000"/>
          </a:xfrm>
          <a:prstGeom prst="rect">
            <a:avLst/>
          </a:prstGeom>
          <a:noFill/>
          <a:ln/>
        </p:spPr>
        <p:txBody>
          <a:bodyPr wrap="square" lIns="0" tIns="0" rIns="0" bIns="0" rtlCol="0" anchor="t"/>
          <a:lstStyle/>
          <a:p>
            <a:pPr algn="l">
              <a:lnSpc>
                <a:spcPct val="150000"/>
              </a:lnSpc>
              <a:spcBef>
                <a:spcPts val="800"/>
              </a:spcBef>
            </a:pPr>
            <a:r>
              <a:rPr lang="en-US" sz="1600" dirty="0">
                <a:solidFill>
                  <a:srgbClr val="2D3748"/>
                </a:solidFill>
                <a:latin typeface="Liter" pitchFamily="34" charset="0"/>
                <a:ea typeface="Liter" pitchFamily="34" charset="-122"/>
                <a:cs typeface="Liter" pitchFamily="34" charset="-120"/>
              </a:rPr>
              <a:t>Korea's retail margin rules </a:t>
            </a:r>
            <a:r>
              <a:rPr lang="en-US" sz="1600">
                <a:solidFill>
                  <a:srgbClr val="2D3748"/>
                </a:solidFill>
                <a:latin typeface="Liter" pitchFamily="34" charset="0"/>
                <a:ea typeface="Liter" pitchFamily="34" charset="-122"/>
                <a:cs typeface="Liter" pitchFamily="34" charset="-120"/>
              </a:rPr>
              <a:t>set the trip-wire for forced selling</a:t>
            </a:r>
            <a:r>
              <a:rPr lang="en-US" sz="1600" dirty="0">
                <a:solidFill>
                  <a:srgbClr val="2D3748"/>
                </a:solidFill>
                <a:latin typeface="Liter" pitchFamily="34" charset="0"/>
                <a:ea typeface="Liter" pitchFamily="34" charset="-122"/>
                <a:cs typeface="Liter" pitchFamily="34" charset="-120"/>
              </a:rPr>
              <a:t>:</a:t>
            </a:r>
            <a:endParaRPr lang="en-US" sz="1600"/>
          </a:p>
          <a:p>
            <a:pPr marL="254000" indent="-254000" algn="l">
              <a:lnSpc>
                <a:spcPct val="15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Minimum </a:t>
            </a:r>
            <a:r>
              <a:rPr lang="en-US" sz="1600" b="1" dirty="0">
                <a:solidFill>
                  <a:srgbClr val="2D3748"/>
                </a:solidFill>
                <a:latin typeface="Liter" pitchFamily="34" charset="0"/>
                <a:ea typeface="Liter" pitchFamily="34" charset="-122"/>
                <a:cs typeface="Liter" pitchFamily="34" charset="-120"/>
              </a:rPr>
              <a:t>40% initial margin</a:t>
            </a:r>
            <a:r>
              <a:rPr lang="en-US" sz="1600">
                <a:solidFill>
                  <a:srgbClr val="2D3748"/>
                </a:solidFill>
                <a:latin typeface="Liter" pitchFamily="34" charset="0"/>
                <a:ea typeface="Liter" pitchFamily="34" charset="-122"/>
                <a:cs typeface="Liter" pitchFamily="34" charset="-120"/>
              </a:rPr>
              <a:t> and a </a:t>
            </a:r>
            <a:r>
              <a:rPr lang="en-US" sz="1600" b="1" dirty="0">
                <a:solidFill>
                  <a:srgbClr val="2D3748"/>
                </a:solidFill>
                <a:latin typeface="Liter" pitchFamily="34" charset="0"/>
                <a:ea typeface="Liter" pitchFamily="34" charset="-122"/>
                <a:cs typeface="Liter" pitchFamily="34" charset="-120"/>
              </a:rPr>
              <a:t>140% collateral maintenance</a:t>
            </a:r>
            <a:r>
              <a:rPr lang="en-US" sz="1600" b="1">
                <a:solidFill>
                  <a:srgbClr val="2D3748"/>
                </a:solidFill>
                <a:latin typeface="Liter" pitchFamily="34" charset="0"/>
                <a:ea typeface="Liter" pitchFamily="34" charset="-122"/>
                <a:cs typeface="Liter" pitchFamily="34" charset="-120"/>
              </a:rPr>
              <a:t> ratio</a:t>
            </a:r>
            <a:endParaRPr lang="en-US" sz="1600"/>
          </a:p>
          <a:p>
            <a:pPr marL="254000" indent="-254000" algn="l">
              <a:lnSpc>
                <a:spcPct val="15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Brokers can </a:t>
            </a:r>
            <a:r>
              <a:rPr lang="en-US" sz="1600">
                <a:solidFill>
                  <a:srgbClr val="2D3748"/>
                </a:solidFill>
                <a:latin typeface="Liter" pitchFamily="34" charset="0"/>
                <a:ea typeface="Liter" pitchFamily="34" charset="-122"/>
                <a:cs typeface="Liter" pitchFamily="34" charset="-120"/>
              </a:rPr>
              <a:t>tighten </a:t>
            </a:r>
            <a:r>
              <a:rPr lang="en-US" sz="1600" dirty="0">
                <a:solidFill>
                  <a:srgbClr val="2D3748"/>
                </a:solidFill>
                <a:latin typeface="Liter" pitchFamily="34" charset="0"/>
                <a:ea typeface="Liter" pitchFamily="34" charset="-122"/>
                <a:cs typeface="Liter" pitchFamily="34" charset="-120"/>
              </a:rPr>
              <a:t>to </a:t>
            </a:r>
            <a:r>
              <a:rPr lang="en-US" sz="1600" b="1" dirty="0">
                <a:solidFill>
                  <a:srgbClr val="2D3748"/>
                </a:solidFill>
                <a:latin typeface="Liter" pitchFamily="34" charset="0"/>
                <a:ea typeface="Liter" pitchFamily="34" charset="-122"/>
                <a:cs typeface="Liter" pitchFamily="34" charset="-120"/>
              </a:rPr>
              <a:t>60</a:t>
            </a:r>
            <a:r>
              <a:rPr lang="en-US" sz="1600" b="1">
                <a:solidFill>
                  <a:srgbClr val="2D3748"/>
                </a:solidFill>
                <a:latin typeface="Liter" pitchFamily="34" charset="0"/>
                <a:ea typeface="Liter" pitchFamily="34" charset="-122"/>
                <a:cs typeface="Liter" pitchFamily="34" charset="-120"/>
              </a:rPr>
              <a:t>% / </a:t>
            </a:r>
            <a:r>
              <a:rPr lang="en-US" sz="1600" b="1" dirty="0">
                <a:solidFill>
                  <a:srgbClr val="2D3748"/>
                </a:solidFill>
                <a:latin typeface="Liter" pitchFamily="34" charset="0"/>
                <a:ea typeface="Liter" pitchFamily="34" charset="-122"/>
                <a:cs typeface="Liter" pitchFamily="34" charset="-120"/>
              </a:rPr>
              <a:t>160%</a:t>
            </a:r>
            <a:r>
              <a:rPr lang="en-US" sz="1600" dirty="0">
                <a:solidFill>
                  <a:srgbClr val="2D3748"/>
                </a:solidFill>
                <a:latin typeface="Liter" pitchFamily="34" charset="0"/>
                <a:ea typeface="Liter" pitchFamily="34" charset="-122"/>
                <a:cs typeface="Liter" pitchFamily="34" charset="-120"/>
              </a:rPr>
              <a:t> for volatile stocks</a:t>
            </a:r>
            <a:endParaRPr lang="en-US" sz="1600"/>
          </a:p>
          <a:p>
            <a:pPr marL="254000" indent="-254000" algn="l">
              <a:lnSpc>
                <a:spcPct val="15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A </a:t>
            </a:r>
            <a:r>
              <a:rPr lang="en-US" sz="1600" b="1" dirty="0">
                <a:solidFill>
                  <a:schemeClr val="accent5">
                    <a:lumMod val="50000"/>
                  </a:schemeClr>
                </a:solidFill>
                <a:latin typeface="Liter" pitchFamily="34" charset="0"/>
                <a:ea typeface="Liter" pitchFamily="34" charset="-122"/>
                <a:cs typeface="Liter" pitchFamily="34" charset="-120"/>
              </a:rPr>
              <a:t>16–36% price drop</a:t>
            </a:r>
            <a:r>
              <a:rPr lang="en-US" sz="1600">
                <a:solidFill>
                  <a:srgbClr val="2D3748"/>
                </a:solidFill>
                <a:latin typeface="Liter" pitchFamily="34" charset="0"/>
                <a:ea typeface="Liter" pitchFamily="34" charset="-122"/>
                <a:cs typeface="Liter" pitchFamily="34" charset="-120"/>
              </a:rPr>
              <a:t> can breach maintenance and </a:t>
            </a:r>
            <a:r>
              <a:rPr lang="en-US" sz="1600" b="1">
                <a:solidFill>
                  <a:srgbClr val="2D3748"/>
                </a:solidFill>
                <a:latin typeface="Liter" pitchFamily="34" charset="0"/>
                <a:ea typeface="Liter" pitchFamily="34" charset="-122"/>
                <a:cs typeface="Liter" pitchFamily="34" charset="-120"/>
              </a:rPr>
              <a:t>trigger margin calls</a:t>
            </a:r>
            <a:r>
              <a:rPr lang="en-US" sz="1600" dirty="0">
                <a:solidFill>
                  <a:srgbClr val="2D3748"/>
                </a:solidFill>
                <a:latin typeface="Liter" pitchFamily="34" charset="0"/>
                <a:ea typeface="Liter" pitchFamily="34" charset="-122"/>
                <a:cs typeface="Liter" pitchFamily="34" charset="-120"/>
              </a:rPr>
              <a:t> — </a:t>
            </a:r>
            <a:r>
              <a:rPr lang="en-US" sz="1600">
                <a:solidFill>
                  <a:srgbClr val="2D3748"/>
                </a:solidFill>
                <a:latin typeface="Liter" pitchFamily="34" charset="0"/>
                <a:ea typeface="Liter" pitchFamily="34" charset="-122"/>
                <a:cs typeface="Liter" pitchFamily="34" charset="-120"/>
              </a:rPr>
              <a:t>plausible</a:t>
            </a:r>
            <a:r>
              <a:rPr lang="en-US" sz="1600" dirty="0">
                <a:solidFill>
                  <a:srgbClr val="2D3748"/>
                </a:solidFill>
                <a:latin typeface="Liter" pitchFamily="34" charset="0"/>
                <a:ea typeface="Liter" pitchFamily="34" charset="-122"/>
                <a:cs typeface="Liter" pitchFamily="34" charset="-120"/>
              </a:rPr>
              <a:t> given Korea's </a:t>
            </a:r>
            <a:r>
              <a:rPr lang="en-US" sz="1600">
                <a:solidFill>
                  <a:srgbClr val="2D3748"/>
                </a:solidFill>
                <a:latin typeface="Liter" pitchFamily="34" charset="0"/>
                <a:ea typeface="Liter" pitchFamily="34" charset="-122"/>
                <a:cs typeface="Liter" pitchFamily="34" charset="-120"/>
              </a:rPr>
              <a:t>volatility</a:t>
            </a:r>
            <a:endParaRPr lang="en-US" sz="1600"/>
          </a:p>
          <a:p>
            <a:pPr marL="254000" indent="-254000" algn="l">
              <a:lnSpc>
                <a:spcPct val="150000"/>
              </a:lnSpc>
              <a:spcBef>
                <a:spcPts val="10"/>
              </a:spcBef>
              <a:buSzPct val="100000"/>
              <a:buChar char="•"/>
            </a:pPr>
            <a:r>
              <a:rPr lang="en-US" sz="1600">
                <a:solidFill>
                  <a:srgbClr val="2D3748"/>
                </a:solidFill>
                <a:latin typeface="Liter" pitchFamily="34" charset="0"/>
                <a:ea typeface="Liter" pitchFamily="34" charset="-122"/>
                <a:cs typeface="Liter" pitchFamily="34" charset="-120"/>
              </a:rPr>
              <a:t>Margin-loan balances have climbed toward record highs above </a:t>
            </a:r>
            <a:r>
              <a:rPr lang="en-US" sz="1600" b="1">
                <a:solidFill>
                  <a:srgbClr val="2D3748"/>
                </a:solidFill>
                <a:latin typeface="Liter" pitchFamily="34" charset="0"/>
                <a:ea typeface="Liter" pitchFamily="34" charset="-122"/>
                <a:cs typeface="Liter" pitchFamily="34" charset="-120"/>
              </a:rPr>
              <a:t>KRW 30 trillion</a:t>
            </a:r>
            <a:r>
              <a:rPr lang="en-US" sz="1600">
                <a:solidFill>
                  <a:srgbClr val="2D3748"/>
                </a:solidFill>
                <a:latin typeface="Liter" pitchFamily="34" charset="0"/>
                <a:ea typeface="Liter" pitchFamily="34" charset="-122"/>
                <a:cs typeface="Liter" pitchFamily="34" charset="-120"/>
              </a:rPr>
              <a:t>, leaving the market primed for cascade selling</a:t>
            </a:r>
            <a:endParaRPr lang="en-US" sz="1600"/>
          </a:p>
          <a:p>
            <a:pPr algn="l">
              <a:lnSpc>
                <a:spcPct val="150000"/>
              </a:lnSpc>
              <a:spcBef>
                <a:spcPts val="1000"/>
              </a:spcBef>
            </a:pPr>
            <a:r>
              <a:rPr lang="en-US" sz="1600">
                <a:solidFill>
                  <a:srgbClr val="2D3748"/>
                </a:solidFill>
                <a:latin typeface="Liter" pitchFamily="34" charset="0"/>
                <a:ea typeface="Liter" pitchFamily="34" charset="-122"/>
                <a:cs typeface="Liter" pitchFamily="34" charset="-120"/>
              </a:rPr>
              <a:t>This sets off a </a:t>
            </a:r>
            <a:r>
              <a:rPr lang="en-US" sz="1600" b="1">
                <a:solidFill>
                  <a:srgbClr val="2D3748"/>
                </a:solidFill>
                <a:latin typeface="Liter" pitchFamily="34" charset="0"/>
                <a:ea typeface="Liter" pitchFamily="34" charset="-122"/>
                <a:cs typeface="Liter" pitchFamily="34" charset="-120"/>
              </a:rPr>
              <a:t>two-step liquidation spiral:</a:t>
            </a:r>
            <a:endParaRPr lang="en-US" sz="1600"/>
          </a:p>
          <a:p>
            <a:pPr marL="342900" indent="-342900" algn="l">
              <a:lnSpc>
                <a:spcPct val="150000"/>
              </a:lnSpc>
              <a:spcBef>
                <a:spcPts val="10"/>
              </a:spcBef>
              <a:buFont typeface="+mj-lt"/>
              <a:buAutoNum type="arabicPeriod"/>
            </a:pPr>
            <a:r>
              <a:rPr lang="en-US" sz="1600">
                <a:solidFill>
                  <a:srgbClr val="2D3748"/>
                </a:solidFill>
                <a:latin typeface="Liter" pitchFamily="34" charset="0"/>
                <a:ea typeface="Liter" pitchFamily="34" charset="-122"/>
                <a:cs typeface="Liter" pitchFamily="34" charset="-120"/>
              </a:rPr>
              <a:t>Cash-short investors </a:t>
            </a:r>
            <a:r>
              <a:rPr lang="en-US" sz="1600" b="1">
                <a:solidFill>
                  <a:srgbClr val="2D3748"/>
                </a:solidFill>
                <a:latin typeface="Liter" pitchFamily="34" charset="0"/>
                <a:ea typeface="Liter" pitchFamily="34" charset="-122"/>
                <a:cs typeface="Liter" pitchFamily="34" charset="-120"/>
              </a:rPr>
              <a:t>sell liquid holdings</a:t>
            </a:r>
            <a:r>
              <a:rPr lang="en-US" sz="1600">
                <a:solidFill>
                  <a:srgbClr val="2D3748"/>
                </a:solidFill>
                <a:latin typeface="Liter" pitchFamily="34" charset="0"/>
                <a:ea typeface="Liter" pitchFamily="34" charset="-122"/>
                <a:cs typeface="Liter" pitchFamily="34" charset="-120"/>
              </a:rPr>
              <a:t> to meet calls, squeezing </a:t>
            </a:r>
            <a:r>
              <a:rPr lang="en-US" sz="1600" b="1">
                <a:solidFill>
                  <a:srgbClr val="2D3748"/>
                </a:solidFill>
                <a:latin typeface="Liter" pitchFamily="34" charset="0"/>
                <a:ea typeface="Liter" pitchFamily="34" charset="-122"/>
                <a:cs typeface="Liter" pitchFamily="34" charset="-120"/>
              </a:rPr>
              <a:t>market liquidity</a:t>
            </a:r>
            <a:r>
              <a:rPr lang="en-US" sz="1600">
                <a:solidFill>
                  <a:srgbClr val="2D3748"/>
                </a:solidFill>
                <a:latin typeface="Liter" pitchFamily="34" charset="0"/>
                <a:ea typeface="Liter" pitchFamily="34" charset="-122"/>
                <a:cs typeface="Liter" pitchFamily="34" charset="-120"/>
              </a:rPr>
              <a:t>.</a:t>
            </a:r>
            <a:endParaRPr lang="en-US" sz="1600"/>
          </a:p>
          <a:p>
            <a:pPr marL="342900" indent="-342900" algn="l">
              <a:lnSpc>
                <a:spcPct val="150000"/>
              </a:lnSpc>
              <a:spcBef>
                <a:spcPts val="10"/>
              </a:spcBef>
              <a:buFont typeface="+mj-lt"/>
              <a:buAutoNum type="arabicPeriod"/>
            </a:pPr>
            <a:r>
              <a:rPr lang="en-US" sz="1600">
                <a:solidFill>
                  <a:srgbClr val="2D3748"/>
                </a:solidFill>
                <a:latin typeface="Liter" pitchFamily="34" charset="0"/>
                <a:ea typeface="Liter" pitchFamily="34" charset="-122"/>
                <a:cs typeface="Liter" pitchFamily="34" charset="-120"/>
              </a:rPr>
              <a:t>Those who </a:t>
            </a:r>
            <a:r>
              <a:rPr lang="en-US" sz="1600" b="1">
                <a:solidFill>
                  <a:srgbClr val="2D3748"/>
                </a:solidFill>
                <a:latin typeface="Liter" pitchFamily="34" charset="0"/>
                <a:ea typeface="Liter" pitchFamily="34" charset="-122"/>
                <a:cs typeface="Liter" pitchFamily="34" charset="-120"/>
              </a:rPr>
              <a:t>fail to top up in time</a:t>
            </a:r>
            <a:r>
              <a:rPr lang="en-US" sz="1600">
                <a:solidFill>
                  <a:srgbClr val="2D3748"/>
                </a:solidFill>
                <a:latin typeface="Liter" pitchFamily="34" charset="0"/>
                <a:ea typeface="Liter" pitchFamily="34" charset="-122"/>
                <a:cs typeface="Liter" pitchFamily="34" charset="-120"/>
              </a:rPr>
              <a:t> are </a:t>
            </a:r>
            <a:r>
              <a:rPr lang="en-US" sz="1600" b="1">
                <a:solidFill>
                  <a:srgbClr val="2D3748"/>
                </a:solidFill>
                <a:latin typeface="Liter" pitchFamily="34" charset="0"/>
                <a:ea typeface="Liter" pitchFamily="34" charset="-122"/>
                <a:cs typeface="Liter" pitchFamily="34" charset="-120"/>
              </a:rPr>
              <a:t>force-liquidated</a:t>
            </a:r>
            <a:r>
              <a:rPr lang="en-US" sz="1600">
                <a:solidFill>
                  <a:srgbClr val="2D3748"/>
                </a:solidFill>
                <a:latin typeface="Liter" pitchFamily="34" charset="0"/>
                <a:ea typeface="Liter" pitchFamily="34" charset="-122"/>
                <a:cs typeface="Liter" pitchFamily="34" charset="-120"/>
              </a:rPr>
              <a:t>, </a:t>
            </a:r>
            <a:r>
              <a:rPr lang="en-US" sz="1600" b="1">
                <a:solidFill>
                  <a:srgbClr val="2D3748"/>
                </a:solidFill>
                <a:latin typeface="Liter" pitchFamily="34" charset="0"/>
                <a:ea typeface="Liter" pitchFamily="34" charset="-122"/>
                <a:cs typeface="Liter" pitchFamily="34" charset="-120"/>
              </a:rPr>
              <a:t>driving prices lower</a:t>
            </a:r>
            <a:r>
              <a:rPr lang="en-US" sz="1600">
                <a:solidFill>
                  <a:srgbClr val="2D3748"/>
                </a:solidFill>
                <a:latin typeface="Liter" pitchFamily="34" charset="0"/>
                <a:ea typeface="Liter" pitchFamily="34" charset="-122"/>
                <a:cs typeface="Liter" pitchFamily="34" charset="-120"/>
              </a:rPr>
              <a:t> and restarting the loop.</a:t>
            </a:r>
            <a:endParaRPr lang="en-US" sz="1600"/>
          </a:p>
        </p:txBody>
      </p:sp>
      <p:sp>
        <p:nvSpPr>
          <p:cNvPr id="24" name="Shape 8">
            <a:extLst>
              <a:ext uri="{FF2B5EF4-FFF2-40B4-BE49-F238E27FC236}">
                <a16:creationId xmlns:a16="http://schemas.microsoft.com/office/drawing/2014/main" id="{B85C1058-F15A-9550-1618-8C27B3EC1882}"/>
              </a:ext>
            </a:extLst>
          </p:cNvPr>
          <p:cNvSpPr/>
          <p:nvPr/>
        </p:nvSpPr>
        <p:spPr>
          <a:xfrm rot="5400000">
            <a:off x="7881910" y="2900000"/>
            <a:ext cx="508000" cy="1016000"/>
          </a:xfrm>
          <a:prstGeom prst="rightArrow">
            <a:avLst>
              <a:gd name="adj1" fmla="val 50000"/>
              <a:gd name="adj2" fmla="val 50000"/>
            </a:avLst>
          </a:prstGeom>
          <a:solidFill>
            <a:srgbClr val="C4963A"/>
          </a:solidFill>
          <a:ln/>
        </p:spPr>
        <p:txBody>
          <a:bodyPr/>
          <a:lstStyle/>
          <a:p>
            <a:endParaRPr lang="en-US"/>
          </a:p>
        </p:txBody>
      </p:sp>
      <p:sp>
        <p:nvSpPr>
          <p:cNvPr id="25" name="Shape 9">
            <a:extLst>
              <a:ext uri="{FF2B5EF4-FFF2-40B4-BE49-F238E27FC236}">
                <a16:creationId xmlns:a16="http://schemas.microsoft.com/office/drawing/2014/main" id="{B104563F-6F8C-5271-776F-9F00E038A706}"/>
              </a:ext>
            </a:extLst>
          </p:cNvPr>
          <p:cNvSpPr/>
          <p:nvPr/>
        </p:nvSpPr>
        <p:spPr>
          <a:xfrm>
            <a:off x="8636000" y="1143000"/>
            <a:ext cx="6858000" cy="5400000"/>
          </a:xfrm>
          <a:prstGeom prst="rect">
            <a:avLst/>
          </a:prstGeom>
          <a:solidFill>
            <a:srgbClr val="F7F8FA"/>
          </a:solidFill>
          <a:ln/>
        </p:spPr>
        <p:txBody>
          <a:bodyPr/>
          <a:lstStyle/>
          <a:p>
            <a:endParaRPr lang="en-US"/>
          </a:p>
        </p:txBody>
      </p:sp>
      <p:sp>
        <p:nvSpPr>
          <p:cNvPr id="26" name="Shape 10">
            <a:extLst>
              <a:ext uri="{FF2B5EF4-FFF2-40B4-BE49-F238E27FC236}">
                <a16:creationId xmlns:a16="http://schemas.microsoft.com/office/drawing/2014/main" id="{79ED9818-D112-45A0-FDCE-07B15A453CEB}"/>
              </a:ext>
            </a:extLst>
          </p:cNvPr>
          <p:cNvSpPr/>
          <p:nvPr/>
        </p:nvSpPr>
        <p:spPr>
          <a:xfrm>
            <a:off x="8636000" y="1143000"/>
            <a:ext cx="6858000" cy="50800"/>
          </a:xfrm>
          <a:prstGeom prst="rect">
            <a:avLst/>
          </a:prstGeom>
          <a:solidFill>
            <a:srgbClr val="C44A4A"/>
          </a:solidFill>
          <a:ln/>
        </p:spPr>
        <p:txBody>
          <a:bodyPr/>
          <a:lstStyle/>
          <a:p>
            <a:endParaRPr lang="en-US"/>
          </a:p>
        </p:txBody>
      </p:sp>
      <p:sp>
        <p:nvSpPr>
          <p:cNvPr id="27" name="Text 11">
            <a:extLst>
              <a:ext uri="{FF2B5EF4-FFF2-40B4-BE49-F238E27FC236}">
                <a16:creationId xmlns:a16="http://schemas.microsoft.com/office/drawing/2014/main" id="{2FC5F14A-2389-A749-B2A7-2290FCBA6F96}"/>
              </a:ext>
            </a:extLst>
          </p:cNvPr>
          <p:cNvSpPr/>
          <p:nvPr/>
        </p:nvSpPr>
        <p:spPr>
          <a:xfrm>
            <a:off x="8890000" y="1320800"/>
            <a:ext cx="762000" cy="457200"/>
          </a:xfrm>
          <a:prstGeom prst="rect">
            <a:avLst/>
          </a:prstGeom>
          <a:noFill/>
          <a:ln/>
        </p:spPr>
        <p:txBody>
          <a:bodyPr wrap="none" lIns="0" tIns="0" rIns="0" bIns="0" rtlCol="0" anchor="t"/>
          <a:lstStyle/>
          <a:p>
            <a:pPr algn="l">
              <a:lnSpc>
                <a:spcPct val="120000"/>
              </a:lnSpc>
            </a:pPr>
            <a:r>
              <a:rPr lang="en-US" sz="2800" b="1" dirty="0">
                <a:solidFill>
                  <a:srgbClr val="C44A4A"/>
                </a:solidFill>
                <a:latin typeface="Liter" pitchFamily="34" charset="0"/>
                <a:ea typeface="Liter" pitchFamily="34" charset="-122"/>
                <a:cs typeface="Liter" pitchFamily="34" charset="-120"/>
              </a:rPr>
              <a:t>02</a:t>
            </a:r>
            <a:endParaRPr lang="en-US" sz="2800" dirty="0"/>
          </a:p>
        </p:txBody>
      </p:sp>
      <p:sp>
        <p:nvSpPr>
          <p:cNvPr id="28" name="Text 12">
            <a:extLst>
              <a:ext uri="{FF2B5EF4-FFF2-40B4-BE49-F238E27FC236}">
                <a16:creationId xmlns:a16="http://schemas.microsoft.com/office/drawing/2014/main" id="{0A914754-7EDB-CC92-2BDF-7C232910DD5F}"/>
              </a:ext>
            </a:extLst>
          </p:cNvPr>
          <p:cNvSpPr/>
          <p:nvPr/>
        </p:nvSpPr>
        <p:spPr>
          <a:xfrm>
            <a:off x="9652000" y="1371600"/>
            <a:ext cx="5588000" cy="355600"/>
          </a:xfrm>
          <a:prstGeom prst="rect">
            <a:avLst/>
          </a:prstGeom>
          <a:noFill/>
          <a:ln/>
        </p:spPr>
        <p:txBody>
          <a:bodyPr wrap="none" lIns="0" tIns="0" rIns="0" bIns="0" rtlCol="0" anchor="t"/>
          <a:lstStyle/>
          <a:p>
            <a:pPr algn="l">
              <a:lnSpc>
                <a:spcPct val="120000"/>
              </a:lnSpc>
            </a:pPr>
            <a:r>
              <a:rPr lang="en-US" sz="1800" b="1">
                <a:solidFill>
                  <a:srgbClr val="1B2F4A"/>
                </a:solidFill>
                <a:latin typeface="Liter" pitchFamily="34" charset="0"/>
                <a:ea typeface="Liter" pitchFamily="34" charset="-122"/>
                <a:cs typeface="Liter" pitchFamily="34" charset="-120"/>
              </a:rPr>
              <a:t>The July 2026 FSC Regulatory Crackdown</a:t>
            </a:r>
            <a:endParaRPr lang="en-US" sz="1800" dirty="0"/>
          </a:p>
        </p:txBody>
      </p:sp>
      <p:sp>
        <p:nvSpPr>
          <p:cNvPr id="29" name="Text 13">
            <a:extLst>
              <a:ext uri="{FF2B5EF4-FFF2-40B4-BE49-F238E27FC236}">
                <a16:creationId xmlns:a16="http://schemas.microsoft.com/office/drawing/2014/main" id="{D188BDCB-6508-DD25-8CDF-F7BFE537A0EA}"/>
              </a:ext>
            </a:extLst>
          </p:cNvPr>
          <p:cNvSpPr/>
          <p:nvPr/>
        </p:nvSpPr>
        <p:spPr>
          <a:xfrm>
            <a:off x="8890000" y="1879600"/>
            <a:ext cx="6350000" cy="5000000"/>
          </a:xfrm>
          <a:prstGeom prst="rect">
            <a:avLst/>
          </a:prstGeom>
          <a:noFill/>
          <a:ln/>
        </p:spPr>
        <p:txBody>
          <a:bodyPr wrap="square" lIns="0" tIns="0" rIns="0" bIns="0" rtlCol="0" anchor="t"/>
          <a:lstStyle/>
          <a:p>
            <a:pPr algn="l">
              <a:lnSpc>
                <a:spcPct val="150000"/>
              </a:lnSpc>
              <a:spcBef>
                <a:spcPts val="800"/>
              </a:spcBef>
            </a:pPr>
            <a:r>
              <a:rPr lang="en-US" sz="1600" dirty="0">
                <a:solidFill>
                  <a:srgbClr val="2D3748"/>
                </a:solidFill>
                <a:latin typeface="Liter" pitchFamily="34" charset="0"/>
                <a:ea typeface="Liter" pitchFamily="34" charset="-122"/>
                <a:cs typeface="Liter" pitchFamily="34" charset="-120"/>
              </a:rPr>
              <a:t>On </a:t>
            </a:r>
            <a:r>
              <a:rPr lang="en-US" sz="1600" b="1" dirty="0">
                <a:solidFill>
                  <a:srgbClr val="2D3748"/>
                </a:solidFill>
                <a:latin typeface="Liter" pitchFamily="34" charset="0"/>
                <a:ea typeface="Liter" pitchFamily="34" charset="-122"/>
                <a:cs typeface="Liter" pitchFamily="34" charset="-120"/>
              </a:rPr>
              <a:t>July 16, 2026</a:t>
            </a:r>
            <a:r>
              <a:rPr lang="en-US" sz="1600" dirty="0">
                <a:solidFill>
                  <a:srgbClr val="2D3748"/>
                </a:solidFill>
                <a:latin typeface="Liter" pitchFamily="34" charset="0"/>
                <a:ea typeface="Liter" pitchFamily="34" charset="-122"/>
                <a:cs typeface="Liter" pitchFamily="34" charset="-120"/>
              </a:rPr>
              <a:t>, the FSC unveiled sweeping curbs on </a:t>
            </a:r>
            <a:r>
              <a:rPr lang="en-US" sz="1600" b="1" dirty="0">
                <a:solidFill>
                  <a:srgbClr val="2D3748"/>
                </a:solidFill>
                <a:latin typeface="Liter" pitchFamily="34" charset="0"/>
                <a:ea typeface="Liter" pitchFamily="34" charset="-122"/>
                <a:cs typeface="Liter" pitchFamily="34" charset="-120"/>
              </a:rPr>
              <a:t>single-stock leveraged ETFs</a:t>
            </a:r>
            <a:r>
              <a:rPr lang="en-US" sz="1600" dirty="0">
                <a:solidFill>
                  <a:srgbClr val="2D3748"/>
                </a:solidFill>
                <a:latin typeface="Liter" pitchFamily="34" charset="0"/>
                <a:ea typeface="Liter" pitchFamily="34" charset="-122"/>
                <a:cs typeface="Liter" pitchFamily="34" charset="-120"/>
              </a:rPr>
              <a:t> to cool the retail leverage frenzy:</a:t>
            </a:r>
            <a:endParaRPr lang="en-US" sz="1600" dirty="0"/>
          </a:p>
          <a:p>
            <a:pPr marL="254000" indent="-254000">
              <a:lnSpc>
                <a:spcPct val="15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Temporary halt to new listings </a:t>
            </a:r>
            <a:r>
              <a:rPr lang="en-US" sz="1600" dirty="0">
                <a:solidFill>
                  <a:srgbClr val="2D3748"/>
                </a:solidFill>
                <a:latin typeface="Liter" pitchFamily="34" charset="0"/>
                <a:ea typeface="Liter" pitchFamily="34" charset="-122"/>
                <a:cs typeface="Liter" pitchFamily="34" charset="-120"/>
              </a:rPr>
              <a:t>of single-stock leveraged, inverse and covered-call products until market conditions stabilize</a:t>
            </a:r>
          </a:p>
          <a:p>
            <a:pPr marL="254000" indent="-254000">
              <a:lnSpc>
                <a:spcPct val="15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Marketing ban</a:t>
            </a:r>
            <a:r>
              <a:rPr lang="en-US" sz="1600" dirty="0">
                <a:solidFill>
                  <a:srgbClr val="2D3748"/>
                </a:solidFill>
                <a:latin typeface="Liter" pitchFamily="34" charset="0"/>
                <a:ea typeface="Liter" pitchFamily="34" charset="-122"/>
                <a:cs typeface="Liter" pitchFamily="34" charset="-120"/>
              </a:rPr>
              <a:t> on advertising and promotional events for existing </a:t>
            </a:r>
            <a:r>
              <a:rPr lang="en-US" altLang="zh-CN" sz="1600" dirty="0">
                <a:solidFill>
                  <a:srgbClr val="2D3748"/>
                </a:solidFill>
                <a:latin typeface="Liter" pitchFamily="34" charset="0"/>
                <a:ea typeface="Liter" pitchFamily="34" charset="-122"/>
                <a:cs typeface="Liter" pitchFamily="34" charset="-120"/>
              </a:rPr>
              <a:t>single-stock leveraged products</a:t>
            </a:r>
          </a:p>
          <a:p>
            <a:pPr marL="254000" indent="-254000">
              <a:lnSpc>
                <a:spcPct val="15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Minimum cash deposit tripled to KRW 30M</a:t>
            </a:r>
            <a:r>
              <a:rPr lang="en-US" sz="1600" dirty="0">
                <a:solidFill>
                  <a:srgbClr val="2D3748"/>
                </a:solidFill>
                <a:latin typeface="Liter" pitchFamily="34" charset="0"/>
                <a:ea typeface="Liter" pitchFamily="34" charset="-122"/>
                <a:cs typeface="Liter" pitchFamily="34" charset="-120"/>
              </a:rPr>
              <a:t> (from KRW 10M) to</a:t>
            </a:r>
            <a:r>
              <a:rPr lang="zh-CN" altLang="en-US" sz="1600" dirty="0">
                <a:solidFill>
                  <a:srgbClr val="2D3748"/>
                </a:solidFill>
                <a:latin typeface="Liter" pitchFamily="34" charset="0"/>
                <a:ea typeface="Liter" pitchFamily="34" charset="-122"/>
                <a:cs typeface="Liter" pitchFamily="34" charset="-120"/>
              </a:rPr>
              <a:t> </a:t>
            </a:r>
            <a:r>
              <a:rPr lang="en-US" altLang="zh-CN" sz="1600" dirty="0">
                <a:solidFill>
                  <a:srgbClr val="2D3748"/>
                </a:solidFill>
                <a:latin typeface="Liter" pitchFamily="34" charset="0"/>
                <a:ea typeface="Liter" pitchFamily="34" charset="-122"/>
                <a:cs typeface="Liter" pitchFamily="34" charset="-120"/>
              </a:rPr>
              <a:t>open/trade</a:t>
            </a:r>
            <a:r>
              <a:rPr lang="zh-CN" altLang="en-US" sz="1600" dirty="0">
                <a:solidFill>
                  <a:srgbClr val="2D3748"/>
                </a:solidFill>
                <a:latin typeface="Liter" pitchFamily="34" charset="0"/>
                <a:ea typeface="Liter" pitchFamily="34" charset="-122"/>
                <a:cs typeface="Liter" pitchFamily="34" charset="-120"/>
              </a:rPr>
              <a:t> </a:t>
            </a:r>
            <a:r>
              <a:rPr lang="en-US" altLang="zh-CN" sz="1600" dirty="0">
                <a:solidFill>
                  <a:srgbClr val="2D3748"/>
                </a:solidFill>
                <a:latin typeface="Liter" pitchFamily="34" charset="0"/>
                <a:ea typeface="Liter" pitchFamily="34" charset="-122"/>
                <a:cs typeface="Liter" pitchFamily="34" charset="-120"/>
              </a:rPr>
              <a:t>SSLI</a:t>
            </a:r>
            <a:r>
              <a:rPr lang="en-US" sz="1600" dirty="0">
                <a:solidFill>
                  <a:srgbClr val="2D3748"/>
                </a:solidFill>
                <a:latin typeface="Liter" pitchFamily="34" charset="0"/>
                <a:ea typeface="Liter" pitchFamily="34" charset="-122"/>
                <a:cs typeface="Liter" pitchFamily="34" charset="-120"/>
              </a:rPr>
              <a:t>, </a:t>
            </a:r>
            <a:r>
              <a:rPr lang="en-US" sz="1600" b="1" dirty="0">
                <a:solidFill>
                  <a:srgbClr val="2D3748"/>
                </a:solidFill>
                <a:latin typeface="Liter" pitchFamily="34" charset="0"/>
                <a:ea typeface="Liter" pitchFamily="34" charset="-122"/>
                <a:cs typeface="Liter" pitchFamily="34" charset="-120"/>
              </a:rPr>
              <a:t>cash-only </a:t>
            </a:r>
            <a:r>
              <a:rPr lang="en-US" sz="1600" dirty="0">
                <a:solidFill>
                  <a:srgbClr val="2D3748"/>
                </a:solidFill>
                <a:latin typeface="Liter" pitchFamily="34" charset="0"/>
                <a:ea typeface="Liter" pitchFamily="34" charset="-122"/>
                <a:cs typeface="Liter" pitchFamily="34" charset="-120"/>
              </a:rPr>
              <a:t>(substitute securities no longer count; absolute cash barrier to entry)</a:t>
            </a:r>
          </a:p>
          <a:p>
            <a:pPr marL="254000" indent="-254000">
              <a:lnSpc>
                <a:spcPct val="15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Lot size raised to 20 units</a:t>
            </a:r>
            <a:r>
              <a:rPr lang="en-US" sz="1600" dirty="0">
                <a:solidFill>
                  <a:srgbClr val="2D3748"/>
                </a:solidFill>
                <a:latin typeface="Liter" pitchFamily="34" charset="0"/>
                <a:ea typeface="Liter" pitchFamily="34" charset="-122"/>
                <a:cs typeface="Liter" pitchFamily="34" charset="-120"/>
              </a:rPr>
              <a:t> (from 1), lifting the entry barrier for retail</a:t>
            </a:r>
            <a:endParaRPr lang="en-US" sz="1600" dirty="0"/>
          </a:p>
          <a:p>
            <a:pPr marL="254000" indent="-254000">
              <a:lnSpc>
                <a:spcPct val="15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Tighter price-deviation controls, </a:t>
            </a:r>
            <a:r>
              <a:rPr lang="en-US" sz="1600" dirty="0">
                <a:solidFill>
                  <a:srgbClr val="2D3748"/>
                </a:solidFill>
                <a:latin typeface="Liter" pitchFamily="34" charset="0"/>
                <a:ea typeface="Liter" pitchFamily="34" charset="-122"/>
                <a:cs typeface="Liter" pitchFamily="34" charset="-120"/>
              </a:rPr>
              <a:t>with stronger accountability for liquidity providers and asset managers</a:t>
            </a:r>
            <a:endParaRPr lang="en-US" sz="1600" dirty="0"/>
          </a:p>
        </p:txBody>
      </p:sp>
      <p:sp>
        <p:nvSpPr>
          <p:cNvPr id="8" name="Shape 11">
            <a:extLst>
              <a:ext uri="{FF2B5EF4-FFF2-40B4-BE49-F238E27FC236}">
                <a16:creationId xmlns:a16="http://schemas.microsoft.com/office/drawing/2014/main" id="{F682BF20-1F1A-9B20-0179-58631410FA1F}"/>
              </a:ext>
            </a:extLst>
          </p:cNvPr>
          <p:cNvSpPr/>
          <p:nvPr/>
        </p:nvSpPr>
        <p:spPr>
          <a:xfrm>
            <a:off x="762000" y="6919582"/>
            <a:ext cx="14732000" cy="1081418"/>
          </a:xfrm>
          <a:prstGeom prst="rect">
            <a:avLst/>
          </a:prstGeom>
          <a:solidFill>
            <a:srgbClr val="F7F8FA"/>
          </a:solidFill>
          <a:ln/>
        </p:spPr>
        <p:txBody>
          <a:bodyPr/>
          <a:lstStyle/>
          <a:p>
            <a:endParaRPr lang="en-US"/>
          </a:p>
        </p:txBody>
      </p:sp>
      <p:sp>
        <p:nvSpPr>
          <p:cNvPr id="10" name="Shape 12">
            <a:extLst>
              <a:ext uri="{FF2B5EF4-FFF2-40B4-BE49-F238E27FC236}">
                <a16:creationId xmlns:a16="http://schemas.microsoft.com/office/drawing/2014/main" id="{B8278A81-3A23-D64C-B93A-7934826E3EEA}"/>
              </a:ext>
            </a:extLst>
          </p:cNvPr>
          <p:cNvSpPr/>
          <p:nvPr/>
        </p:nvSpPr>
        <p:spPr>
          <a:xfrm>
            <a:off x="762000" y="6894530"/>
            <a:ext cx="14732000" cy="50800"/>
          </a:xfrm>
          <a:prstGeom prst="rect">
            <a:avLst/>
          </a:prstGeom>
          <a:solidFill>
            <a:srgbClr val="C4963A"/>
          </a:solidFill>
          <a:ln/>
        </p:spPr>
        <p:txBody>
          <a:bodyPr/>
          <a:lstStyle/>
          <a:p>
            <a:endParaRPr lang="en-US"/>
          </a:p>
        </p:txBody>
      </p:sp>
      <p:sp>
        <p:nvSpPr>
          <p:cNvPr id="12" name="Text 13">
            <a:extLst>
              <a:ext uri="{FF2B5EF4-FFF2-40B4-BE49-F238E27FC236}">
                <a16:creationId xmlns:a16="http://schemas.microsoft.com/office/drawing/2014/main" id="{D013CFB9-E37E-9BF0-BFE5-9152D5A8D471}"/>
              </a:ext>
            </a:extLst>
          </p:cNvPr>
          <p:cNvSpPr/>
          <p:nvPr/>
        </p:nvSpPr>
        <p:spPr>
          <a:xfrm>
            <a:off x="1016000" y="7072330"/>
            <a:ext cx="14427200" cy="304800"/>
          </a:xfrm>
          <a:prstGeom prst="rect">
            <a:avLst/>
          </a:prstGeom>
          <a:noFill/>
          <a:ln/>
        </p:spPr>
        <p:txBody>
          <a:bodyPr wrap="none" lIns="0" tIns="0" rIns="0" bIns="0" rtlCol="0" anchor="t"/>
          <a:lstStyle/>
          <a:p>
            <a:pPr>
              <a:lnSpc>
                <a:spcPct val="120000"/>
              </a:lnSpc>
            </a:pPr>
            <a:r>
              <a:rPr lang="en-US" sz="1600" b="1" dirty="0">
                <a:solidFill>
                  <a:srgbClr val="1B2F4A"/>
                </a:solidFill>
                <a:latin typeface="Liter" pitchFamily="34" charset="0"/>
                <a:ea typeface="Liter" pitchFamily="34" charset="-122"/>
                <a:cs typeface="Liter" pitchFamily="34" charset="-120"/>
              </a:rPr>
              <a:t>Retail margin mechanics and forced-liquidation spirals remain Korea's primary volatility amplifier — and the July 2026 FSC crackdown is a direct attempt to cool the </a:t>
            </a:r>
          </a:p>
          <a:p>
            <a:pPr>
              <a:lnSpc>
                <a:spcPct val="120000"/>
              </a:lnSpc>
            </a:pPr>
            <a:r>
              <a:rPr lang="en-US" sz="1600" b="1" dirty="0">
                <a:solidFill>
                  <a:srgbClr val="1B2F4A"/>
                </a:solidFill>
                <a:latin typeface="Liter" pitchFamily="34" charset="0"/>
                <a:ea typeface="Liter" pitchFamily="34" charset="-122"/>
                <a:cs typeface="Liter" pitchFamily="34" charset="-120"/>
              </a:rPr>
              <a:t>leverage frenzy before it destabilizes the broader market.</a:t>
            </a:r>
            <a:endParaRPr lang="en-US" sz="1600" dirty="0"/>
          </a:p>
        </p:txBody>
      </p:sp>
    </p:spTree>
    <p:extLst>
      <p:ext uri="{BB962C8B-B14F-4D97-AF65-F5344CB8AC3E}">
        <p14:creationId xmlns:p14="http://schemas.microsoft.com/office/powerpoint/2010/main" val="108768771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200" b="1" dirty="0">
                <a:solidFill>
                  <a:srgbClr val="1B2F4A"/>
                </a:solidFill>
                <a:latin typeface="Liter" pitchFamily="34" charset="0"/>
                <a:ea typeface="Liter" pitchFamily="34" charset="-122"/>
                <a:cs typeface="Liter" pitchFamily="34" charset="-120"/>
              </a:rPr>
              <a:t>From Leverage to Volatility: Dealer Hedging and Leveraged ETF Short-Gamma Risks</a:t>
            </a:r>
            <a:endParaRPr lang="en-US" sz="22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13" name="Shape 11"/>
          <p:cNvSpPr/>
          <p:nvPr/>
        </p:nvSpPr>
        <p:spPr>
          <a:xfrm>
            <a:off x="762000" y="901700"/>
            <a:ext cx="14732000" cy="2124648"/>
          </a:xfrm>
          <a:prstGeom prst="rect">
            <a:avLst/>
          </a:prstGeom>
          <a:solidFill>
            <a:srgbClr val="F7F8FA"/>
          </a:solidFill>
          <a:ln/>
        </p:spPr>
        <p:txBody>
          <a:bodyPr/>
          <a:lstStyle/>
          <a:p>
            <a:endParaRPr lang="en-US"/>
          </a:p>
        </p:txBody>
      </p:sp>
      <p:sp>
        <p:nvSpPr>
          <p:cNvPr id="14" name="Shape 12"/>
          <p:cNvSpPr/>
          <p:nvPr/>
        </p:nvSpPr>
        <p:spPr>
          <a:xfrm>
            <a:off x="762000" y="901700"/>
            <a:ext cx="14732000" cy="50800"/>
          </a:xfrm>
          <a:prstGeom prst="rect">
            <a:avLst/>
          </a:prstGeom>
          <a:solidFill>
            <a:srgbClr val="C4963A"/>
          </a:solidFill>
          <a:ln/>
        </p:spPr>
        <p:txBody>
          <a:bodyPr/>
          <a:lstStyle/>
          <a:p>
            <a:endParaRPr lang="en-US"/>
          </a:p>
        </p:txBody>
      </p:sp>
      <p:sp>
        <p:nvSpPr>
          <p:cNvPr id="15" name="Text 13"/>
          <p:cNvSpPr/>
          <p:nvPr/>
        </p:nvSpPr>
        <p:spPr>
          <a:xfrm>
            <a:off x="1016000" y="1079500"/>
            <a:ext cx="635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Leveraged ETF "Gamma" Risk:</a:t>
            </a:r>
            <a:endParaRPr lang="en-US" sz="1600" dirty="0"/>
          </a:p>
        </p:txBody>
      </p:sp>
      <p:sp>
        <p:nvSpPr>
          <p:cNvPr id="16" name="Text 14"/>
          <p:cNvSpPr/>
          <p:nvPr/>
        </p:nvSpPr>
        <p:spPr>
          <a:xfrm>
            <a:off x="1016000" y="1435100"/>
            <a:ext cx="14224000" cy="1591248"/>
          </a:xfrm>
          <a:prstGeom prst="rect">
            <a:avLst/>
          </a:prstGeom>
          <a:noFill/>
          <a:ln/>
        </p:spPr>
        <p:txBody>
          <a:bodyPr wrap="square" lIns="0" tIns="0" rIns="0" bIns="0" rtlCol="0" anchor="t"/>
          <a:lstStyle/>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Leveraged ETFs</a:t>
            </a:r>
            <a:r>
              <a:rPr lang="en-US" sz="1600" dirty="0">
                <a:solidFill>
                  <a:srgbClr val="2D3748"/>
                </a:solidFill>
                <a:latin typeface="Liter" pitchFamily="34" charset="0"/>
                <a:ea typeface="Liter" pitchFamily="34" charset="-122"/>
                <a:cs typeface="Liter" pitchFamily="34" charset="-120"/>
              </a:rPr>
              <a:t> have grown rapidly in size and influence</a:t>
            </a:r>
            <a:endParaRPr lang="en-US" sz="1600" dirty="0"/>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When the index falls, ETF dealers </a:t>
            </a:r>
            <a:r>
              <a:rPr lang="en-US" sz="1600" b="1" dirty="0">
                <a:solidFill>
                  <a:srgbClr val="2D3748"/>
                </a:solidFill>
                <a:latin typeface="Liter" pitchFamily="34" charset="0"/>
                <a:ea typeface="Liter" pitchFamily="34" charset="-122"/>
                <a:cs typeface="Liter" pitchFamily="34" charset="-120"/>
              </a:rPr>
              <a:t>hedge by selling index futures</a:t>
            </a:r>
            <a:r>
              <a:rPr lang="en-US" sz="1600" dirty="0">
                <a:solidFill>
                  <a:srgbClr val="2D3748"/>
                </a:solidFill>
                <a:latin typeface="Liter" pitchFamily="34" charset="0"/>
                <a:ea typeface="Liter" pitchFamily="34" charset="-122"/>
                <a:cs typeface="Liter" pitchFamily="34" charset="-120"/>
              </a:rPr>
              <a:t> ("Short Gamma"), which can </a:t>
            </a:r>
            <a:r>
              <a:rPr lang="en-US" sz="1600" b="1" dirty="0">
                <a:solidFill>
                  <a:srgbClr val="2D3748"/>
                </a:solidFill>
                <a:latin typeface="Liter" pitchFamily="34" charset="0"/>
                <a:ea typeface="Liter" pitchFamily="34" charset="-122"/>
                <a:cs typeface="Liter" pitchFamily="34" charset="-120"/>
              </a:rPr>
              <a:t>mechanically accelerate intraday declines</a:t>
            </a:r>
            <a:r>
              <a:rPr lang="en-US" sz="1600" dirty="0">
                <a:solidFill>
                  <a:srgbClr val="2D3748"/>
                </a:solidFill>
                <a:latin typeface="Liter" pitchFamily="34" charset="0"/>
                <a:ea typeface="Liter" pitchFamily="34" charset="-122"/>
                <a:cs typeface="Liter" pitchFamily="34" charset="-120"/>
              </a:rPr>
              <a:t>, especially around rebalance points and the close</a:t>
            </a:r>
            <a:endParaRPr lang="en-US" sz="1600" dirty="0"/>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This creates a </a:t>
            </a:r>
            <a:r>
              <a:rPr lang="en-US" sz="1600" b="1" dirty="0">
                <a:solidFill>
                  <a:srgbClr val="2D3748"/>
                </a:solidFill>
                <a:latin typeface="Liter" pitchFamily="34" charset="0"/>
                <a:ea typeface="Liter" pitchFamily="34" charset="-122"/>
                <a:cs typeface="Liter" pitchFamily="34" charset="-120"/>
              </a:rPr>
              <a:t>reflexive feedback loop:</a:t>
            </a:r>
            <a:r>
              <a:rPr lang="en-US" sz="1600" dirty="0">
                <a:solidFill>
                  <a:srgbClr val="2D3748"/>
                </a:solidFill>
                <a:latin typeface="Liter" pitchFamily="34" charset="0"/>
                <a:ea typeface="Liter" pitchFamily="34" charset="-122"/>
                <a:cs typeface="Liter" pitchFamily="34" charset="-120"/>
              </a:rPr>
              <a:t> falling prices → dealer hedging → more selling pressure → further price declines</a:t>
            </a:r>
            <a:endParaRPr lang="en-US" sz="1600" dirty="0"/>
          </a:p>
        </p:txBody>
      </p:sp>
      <p:sp>
        <p:nvSpPr>
          <p:cNvPr id="17" name="Text 15"/>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CICC Research, Goldman Sachs.</a:t>
            </a:r>
            <a:endParaRPr lang="en-US" sz="1200" dirty="0"/>
          </a:p>
        </p:txBody>
      </p:sp>
      <p:sp>
        <p:nvSpPr>
          <p:cNvPr id="18" name="Text 16"/>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14</a:t>
            </a:r>
            <a:endParaRPr lang="en-US" sz="1200" dirty="0"/>
          </a:p>
        </p:txBody>
      </p:sp>
      <p:cxnSp>
        <p:nvCxnSpPr>
          <p:cNvPr id="52" name="Split Left">
            <a:extLst>
              <a:ext uri="{FF2B5EF4-FFF2-40B4-BE49-F238E27FC236}">
                <a16:creationId xmlns:a16="http://schemas.microsoft.com/office/drawing/2014/main" id="{46852AED-47FF-2393-FAF3-25D551605F91}"/>
              </a:ext>
            </a:extLst>
          </p:cNvPr>
          <p:cNvCxnSpPr>
            <a:cxnSpLocks/>
          </p:cNvCxnSpPr>
          <p:nvPr/>
        </p:nvCxnSpPr>
        <p:spPr>
          <a:xfrm flipH="1">
            <a:off x="4028000" y="4115978"/>
            <a:ext cx="2700000" cy="856871"/>
          </a:xfrm>
          <a:prstGeom prst="straightConnector1">
            <a:avLst/>
          </a:prstGeom>
          <a:ln w="28575" cap="rnd">
            <a:solidFill>
              <a:srgbClr val="1B2F4A"/>
            </a:solidFill>
            <a:tailEnd type="triangle" w="med" len="med"/>
          </a:ln>
        </p:spPr>
      </p:cxnSp>
      <p:cxnSp>
        <p:nvCxnSpPr>
          <p:cNvPr id="53" name="Split Right">
            <a:extLst>
              <a:ext uri="{FF2B5EF4-FFF2-40B4-BE49-F238E27FC236}">
                <a16:creationId xmlns:a16="http://schemas.microsoft.com/office/drawing/2014/main" id="{0A0AC18D-4ED7-79BE-4BF4-3A1F86209D63}"/>
              </a:ext>
            </a:extLst>
          </p:cNvPr>
          <p:cNvCxnSpPr>
            <a:cxnSpLocks/>
          </p:cNvCxnSpPr>
          <p:nvPr/>
        </p:nvCxnSpPr>
        <p:spPr>
          <a:xfrm>
            <a:off x="8984000" y="4115978"/>
            <a:ext cx="2700000" cy="856871"/>
          </a:xfrm>
          <a:prstGeom prst="straightConnector1">
            <a:avLst/>
          </a:prstGeom>
          <a:ln w="28575" cap="rnd">
            <a:solidFill>
              <a:srgbClr val="1B2F4A"/>
            </a:solidFill>
            <a:tailEnd type="triangle" w="med" len="med"/>
          </a:ln>
        </p:spPr>
      </p:cxnSp>
      <p:cxnSp>
        <p:nvCxnSpPr>
          <p:cNvPr id="54" name="Loop Bottom">
            <a:extLst>
              <a:ext uri="{FF2B5EF4-FFF2-40B4-BE49-F238E27FC236}">
                <a16:creationId xmlns:a16="http://schemas.microsoft.com/office/drawing/2014/main" id="{7CA4FC56-0CD9-F651-9704-B58CA6AEF8D3}"/>
              </a:ext>
            </a:extLst>
          </p:cNvPr>
          <p:cNvCxnSpPr>
            <a:cxnSpLocks/>
          </p:cNvCxnSpPr>
          <p:nvPr/>
        </p:nvCxnSpPr>
        <p:spPr>
          <a:xfrm>
            <a:off x="11336055" y="7903087"/>
            <a:ext cx="4141945" cy="0"/>
          </a:xfrm>
          <a:prstGeom prst="straightConnector1">
            <a:avLst/>
          </a:prstGeom>
          <a:ln w="38100" cap="rnd">
            <a:solidFill>
              <a:srgbClr val="C44A4A"/>
            </a:solidFill>
          </a:ln>
        </p:spPr>
      </p:cxnSp>
      <p:cxnSp>
        <p:nvCxnSpPr>
          <p:cNvPr id="55" name="Loop Vertical">
            <a:extLst>
              <a:ext uri="{FF2B5EF4-FFF2-40B4-BE49-F238E27FC236}">
                <a16:creationId xmlns:a16="http://schemas.microsoft.com/office/drawing/2014/main" id="{EC545409-C600-42FC-58D4-72FF6B013D05}"/>
              </a:ext>
            </a:extLst>
          </p:cNvPr>
          <p:cNvCxnSpPr>
            <a:cxnSpLocks/>
          </p:cNvCxnSpPr>
          <p:nvPr/>
        </p:nvCxnSpPr>
        <p:spPr>
          <a:xfrm>
            <a:off x="15494000" y="3626229"/>
            <a:ext cx="0" cy="4265168"/>
          </a:xfrm>
          <a:prstGeom prst="straightConnector1">
            <a:avLst/>
          </a:prstGeom>
          <a:ln w="38100" cap="rnd">
            <a:solidFill>
              <a:srgbClr val="C44A4A"/>
            </a:solidFill>
          </a:ln>
        </p:spPr>
      </p:cxnSp>
      <p:cxnSp>
        <p:nvCxnSpPr>
          <p:cNvPr id="56" name="Loop Top">
            <a:extLst>
              <a:ext uri="{FF2B5EF4-FFF2-40B4-BE49-F238E27FC236}">
                <a16:creationId xmlns:a16="http://schemas.microsoft.com/office/drawing/2014/main" id="{3A01C7B1-477F-7A25-A092-5790541B3801}"/>
              </a:ext>
            </a:extLst>
          </p:cNvPr>
          <p:cNvCxnSpPr>
            <a:cxnSpLocks/>
          </p:cNvCxnSpPr>
          <p:nvPr/>
        </p:nvCxnSpPr>
        <p:spPr>
          <a:xfrm flipH="1">
            <a:off x="9818000" y="3626229"/>
            <a:ext cx="5676000" cy="0"/>
          </a:xfrm>
          <a:prstGeom prst="straightConnector1">
            <a:avLst/>
          </a:prstGeom>
          <a:ln w="38100" cap="rnd">
            <a:solidFill>
              <a:srgbClr val="C44A4A"/>
            </a:solidFill>
            <a:tailEnd type="triangle" w="med" len="med"/>
          </a:ln>
        </p:spPr>
      </p:cxnSp>
      <p:sp>
        <p:nvSpPr>
          <p:cNvPr id="57" name="Loop Label">
            <a:extLst>
              <a:ext uri="{FF2B5EF4-FFF2-40B4-BE49-F238E27FC236}">
                <a16:creationId xmlns:a16="http://schemas.microsoft.com/office/drawing/2014/main" id="{AC3502CB-5A4C-37F6-D671-D70F49B47E3A}"/>
              </a:ext>
            </a:extLst>
          </p:cNvPr>
          <p:cNvSpPr/>
          <p:nvPr/>
        </p:nvSpPr>
        <p:spPr>
          <a:xfrm>
            <a:off x="10128000" y="3815978"/>
            <a:ext cx="5200000" cy="450000"/>
          </a:xfrm>
          <a:prstGeom prst="rect">
            <a:avLst/>
          </a:prstGeom>
          <a:noFill/>
          <a:ln/>
        </p:spPr>
        <p:txBody>
          <a:bodyPr wrap="square" lIns="0" tIns="0" rIns="0" bIns="0" rtlCol="0" anchor="ctr"/>
          <a:lstStyle/>
          <a:p>
            <a:pPr algn="ctr"/>
            <a:r>
              <a:rPr lang="en-US" altLang="zh-CN" sz="1300" b="1" dirty="0">
                <a:solidFill>
                  <a:srgbClr val="C44A4A"/>
                </a:solidFill>
                <a:latin typeface="Liter" pitchFamily="34" charset="0"/>
                <a:ea typeface="Liter" pitchFamily="34" charset="-122"/>
                <a:cs typeface="Liter" pitchFamily="34" charset="-120"/>
              </a:rPr>
              <a:t>Volatility </a:t>
            </a:r>
            <a:r>
              <a:rPr lang="en-US" sz="1300" b="1" dirty="0">
                <a:solidFill>
                  <a:srgbClr val="C44A4A"/>
                </a:solidFill>
                <a:latin typeface="Liter" pitchFamily="34" charset="0"/>
                <a:ea typeface="Liter" pitchFamily="34" charset="-122"/>
                <a:cs typeface="Liter" pitchFamily="34" charset="-120"/>
              </a:rPr>
              <a:t>Feedback loop — restarts the cycle</a:t>
            </a:r>
            <a:endParaRPr lang="en-US" sz="1300" dirty="0"/>
          </a:p>
        </p:txBody>
      </p:sp>
      <p:sp>
        <p:nvSpPr>
          <p:cNvPr id="58" name="Top Box">
            <a:extLst>
              <a:ext uri="{FF2B5EF4-FFF2-40B4-BE49-F238E27FC236}">
                <a16:creationId xmlns:a16="http://schemas.microsoft.com/office/drawing/2014/main" id="{BA7A9099-36EE-F485-1AF5-3F8583EF29E7}"/>
              </a:ext>
            </a:extLst>
          </p:cNvPr>
          <p:cNvSpPr/>
          <p:nvPr/>
        </p:nvSpPr>
        <p:spPr>
          <a:xfrm>
            <a:off x="5869000" y="3292356"/>
            <a:ext cx="3912000" cy="725000"/>
          </a:xfrm>
          <a:prstGeom prst="roundRect">
            <a:avLst>
              <a:gd name="adj" fmla="val 8000"/>
            </a:avLst>
          </a:prstGeom>
          <a:solidFill>
            <a:srgbClr val="1B2F4A"/>
          </a:solidFill>
          <a:ln/>
        </p:spPr>
        <p:txBody>
          <a:bodyPr wrap="square" lIns="91440" tIns="45720" rIns="91440" bIns="45720" rtlCol="0" anchor="ctr"/>
          <a:lstStyle/>
          <a:p>
            <a:pPr algn="ctr"/>
            <a:r>
              <a:rPr lang="en-US" sz="1800" b="1" dirty="0">
                <a:solidFill>
                  <a:srgbClr val="FFFFFF"/>
                </a:solidFill>
                <a:latin typeface="Liter" pitchFamily="34" charset="0"/>
                <a:ea typeface="Liter" pitchFamily="34" charset="-122"/>
                <a:cs typeface="Liter" pitchFamily="34" charset="-120"/>
              </a:rPr>
              <a:t>Initial Market Decline</a:t>
            </a:r>
            <a:endParaRPr lang="en-US" sz="1800" dirty="0"/>
          </a:p>
        </p:txBody>
      </p:sp>
      <p:sp>
        <p:nvSpPr>
          <p:cNvPr id="59" name="Left Card">
            <a:extLst>
              <a:ext uri="{FF2B5EF4-FFF2-40B4-BE49-F238E27FC236}">
                <a16:creationId xmlns:a16="http://schemas.microsoft.com/office/drawing/2014/main" id="{3E88DEFF-2FE2-1B1E-201B-2F792D7D23C3}"/>
              </a:ext>
            </a:extLst>
          </p:cNvPr>
          <p:cNvSpPr/>
          <p:nvPr/>
        </p:nvSpPr>
        <p:spPr>
          <a:xfrm>
            <a:off x="928000" y="5091238"/>
            <a:ext cx="6200000" cy="1900000"/>
          </a:xfrm>
          <a:prstGeom prst="roundRect">
            <a:avLst>
              <a:gd name="adj" fmla="val 4000"/>
            </a:avLst>
          </a:prstGeom>
          <a:solidFill>
            <a:srgbClr val="F7F8FA"/>
          </a:solidFill>
          <a:ln w="12700">
            <a:solidFill>
              <a:srgbClr val="E2E8F0"/>
            </a:solidFill>
          </a:ln>
        </p:spPr>
        <p:txBody>
          <a:bodyPr/>
          <a:lstStyle/>
          <a:p>
            <a:endParaRPr lang="en-US"/>
          </a:p>
        </p:txBody>
      </p:sp>
      <p:sp>
        <p:nvSpPr>
          <p:cNvPr id="60" name="Left Bar">
            <a:extLst>
              <a:ext uri="{FF2B5EF4-FFF2-40B4-BE49-F238E27FC236}">
                <a16:creationId xmlns:a16="http://schemas.microsoft.com/office/drawing/2014/main" id="{0F6F74EF-AB9B-E931-84A3-30FA02D3587E}"/>
              </a:ext>
            </a:extLst>
          </p:cNvPr>
          <p:cNvSpPr/>
          <p:nvPr/>
        </p:nvSpPr>
        <p:spPr>
          <a:xfrm>
            <a:off x="928000" y="5078712"/>
            <a:ext cx="6200000" cy="45719"/>
          </a:xfrm>
          <a:prstGeom prst="rect">
            <a:avLst/>
          </a:prstGeom>
          <a:solidFill>
            <a:srgbClr val="C4963A"/>
          </a:solidFill>
          <a:ln/>
        </p:spPr>
        <p:txBody>
          <a:bodyPr/>
          <a:lstStyle/>
          <a:p>
            <a:endParaRPr lang="en-US"/>
          </a:p>
        </p:txBody>
      </p:sp>
      <p:sp>
        <p:nvSpPr>
          <p:cNvPr id="61" name="Left Heading">
            <a:extLst>
              <a:ext uri="{FF2B5EF4-FFF2-40B4-BE49-F238E27FC236}">
                <a16:creationId xmlns:a16="http://schemas.microsoft.com/office/drawing/2014/main" id="{BDC5BABA-FD56-1BF2-2C79-54DCD8F9E08B}"/>
              </a:ext>
            </a:extLst>
          </p:cNvPr>
          <p:cNvSpPr/>
          <p:nvPr/>
        </p:nvSpPr>
        <p:spPr>
          <a:xfrm>
            <a:off x="1188000" y="5331238"/>
            <a:ext cx="5680000" cy="400000"/>
          </a:xfrm>
          <a:prstGeom prst="rect">
            <a:avLst/>
          </a:prstGeom>
          <a:noFill/>
          <a:ln/>
        </p:spPr>
        <p:txBody>
          <a:bodyPr wrap="square" lIns="0" tIns="0" rIns="0" bIns="0" rtlCol="0" anchor="t"/>
          <a:lstStyle/>
          <a:p>
            <a:pPr algn="l"/>
            <a:r>
              <a:rPr lang="en-US" sz="1600" b="1">
                <a:solidFill>
                  <a:srgbClr val="1B2F4A"/>
                </a:solidFill>
                <a:latin typeface="Liter" pitchFamily="34" charset="0"/>
                <a:ea typeface="Liter" pitchFamily="34" charset="-122"/>
                <a:cs typeface="Liter" pitchFamily="34" charset="-120"/>
              </a:rPr>
              <a:t>Retail Margin Liquidations</a:t>
            </a:r>
            <a:endParaRPr lang="en-US" sz="1600"/>
          </a:p>
        </p:txBody>
      </p:sp>
      <p:sp>
        <p:nvSpPr>
          <p:cNvPr id="62" name="Left Body">
            <a:extLst>
              <a:ext uri="{FF2B5EF4-FFF2-40B4-BE49-F238E27FC236}">
                <a16:creationId xmlns:a16="http://schemas.microsoft.com/office/drawing/2014/main" id="{431D5351-3FDE-C9F4-DBF6-6835FF538DAE}"/>
              </a:ext>
            </a:extLst>
          </p:cNvPr>
          <p:cNvSpPr/>
          <p:nvPr/>
        </p:nvSpPr>
        <p:spPr>
          <a:xfrm>
            <a:off x="1188000" y="5648400"/>
            <a:ext cx="5680000" cy="1050000"/>
          </a:xfrm>
          <a:prstGeom prst="rect">
            <a:avLst/>
          </a:prstGeom>
          <a:noFill/>
          <a:ln/>
        </p:spPr>
        <p:txBody>
          <a:bodyPr wrap="square" lIns="0" tIns="0" rIns="0" bIns="0" rtlCol="0" anchor="t"/>
          <a:lstStyle/>
          <a:p>
            <a:pPr algn="l">
              <a:lnSpc>
                <a:spcPct val="140000"/>
              </a:lnSpc>
            </a:pPr>
            <a:r>
              <a:rPr lang="en-US" sz="1400" dirty="0">
                <a:solidFill>
                  <a:srgbClr val="2D3748"/>
                </a:solidFill>
                <a:latin typeface="Liter" pitchFamily="34" charset="0"/>
                <a:ea typeface="Liter" pitchFamily="34" charset="-122"/>
                <a:cs typeface="Liter" pitchFamily="34" charset="-120"/>
              </a:rPr>
              <a:t>Prices drop </a:t>
            </a:r>
            <a:r>
              <a:rPr lang="en-US" sz="1400" b="1" dirty="0">
                <a:solidFill>
                  <a:srgbClr val="2D3748"/>
                </a:solidFill>
                <a:latin typeface="Liter" pitchFamily="34" charset="0"/>
                <a:ea typeface="Liter" pitchFamily="34" charset="-122"/>
                <a:cs typeface="Liter" pitchFamily="34" charset="-120"/>
              </a:rPr>
              <a:t>16–36%</a:t>
            </a:r>
            <a:r>
              <a:rPr lang="en-US" sz="1400" dirty="0">
                <a:solidFill>
                  <a:srgbClr val="2D3748"/>
                </a:solidFill>
                <a:latin typeface="Liter" pitchFamily="34" charset="0"/>
                <a:ea typeface="Liter" pitchFamily="34" charset="-122"/>
                <a:cs typeface="Liter" pitchFamily="34" charset="-120"/>
              </a:rPr>
              <a:t> → margin calls triggered → brokers </a:t>
            </a:r>
            <a:r>
              <a:rPr lang="en-US" sz="1400" b="1" dirty="0">
                <a:solidFill>
                  <a:srgbClr val="2D3748"/>
                </a:solidFill>
                <a:latin typeface="Liter" pitchFamily="34" charset="0"/>
                <a:ea typeface="Liter" pitchFamily="34" charset="-122"/>
                <a:cs typeface="Liter" pitchFamily="34" charset="-120"/>
              </a:rPr>
              <a:t>forcefully liquidate</a:t>
            </a:r>
            <a:r>
              <a:rPr lang="en-US" sz="1400" dirty="0">
                <a:solidFill>
                  <a:srgbClr val="2D3748"/>
                </a:solidFill>
                <a:latin typeface="Liter" pitchFamily="34" charset="0"/>
                <a:ea typeface="Liter" pitchFamily="34" charset="-122"/>
                <a:cs typeface="Liter" pitchFamily="34" charset="-120"/>
              </a:rPr>
              <a:t> retail positions.</a:t>
            </a:r>
            <a:endParaRPr lang="en-US" sz="1400" dirty="0"/>
          </a:p>
        </p:txBody>
      </p:sp>
      <p:sp>
        <p:nvSpPr>
          <p:cNvPr id="63" name="Right Card">
            <a:extLst>
              <a:ext uri="{FF2B5EF4-FFF2-40B4-BE49-F238E27FC236}">
                <a16:creationId xmlns:a16="http://schemas.microsoft.com/office/drawing/2014/main" id="{BE2AF8DE-0D5F-E80E-545D-6BE0B3A9AD34}"/>
              </a:ext>
            </a:extLst>
          </p:cNvPr>
          <p:cNvSpPr/>
          <p:nvPr/>
        </p:nvSpPr>
        <p:spPr>
          <a:xfrm>
            <a:off x="8584000" y="5091238"/>
            <a:ext cx="6200000" cy="1900000"/>
          </a:xfrm>
          <a:prstGeom prst="roundRect">
            <a:avLst>
              <a:gd name="adj" fmla="val 4000"/>
            </a:avLst>
          </a:prstGeom>
          <a:solidFill>
            <a:srgbClr val="F7F8FA"/>
          </a:solidFill>
          <a:ln w="12700">
            <a:solidFill>
              <a:srgbClr val="E2E8F0"/>
            </a:solidFill>
          </a:ln>
        </p:spPr>
        <p:txBody>
          <a:bodyPr/>
          <a:lstStyle/>
          <a:p>
            <a:endParaRPr lang="en-US"/>
          </a:p>
        </p:txBody>
      </p:sp>
      <p:sp>
        <p:nvSpPr>
          <p:cNvPr id="64" name="Right Bar">
            <a:extLst>
              <a:ext uri="{FF2B5EF4-FFF2-40B4-BE49-F238E27FC236}">
                <a16:creationId xmlns:a16="http://schemas.microsoft.com/office/drawing/2014/main" id="{62EA2820-87D9-CB05-5E04-C2CD3D2D9AC7}"/>
              </a:ext>
            </a:extLst>
          </p:cNvPr>
          <p:cNvSpPr/>
          <p:nvPr/>
        </p:nvSpPr>
        <p:spPr>
          <a:xfrm>
            <a:off x="8584000" y="5068378"/>
            <a:ext cx="6199998" cy="45719"/>
          </a:xfrm>
          <a:prstGeom prst="rect">
            <a:avLst/>
          </a:prstGeom>
          <a:solidFill>
            <a:srgbClr val="C44A4A"/>
          </a:solidFill>
          <a:ln/>
        </p:spPr>
        <p:txBody>
          <a:bodyPr/>
          <a:lstStyle/>
          <a:p>
            <a:endParaRPr lang="en-US" dirty="0"/>
          </a:p>
        </p:txBody>
      </p:sp>
      <p:sp>
        <p:nvSpPr>
          <p:cNvPr id="65" name="Right Heading">
            <a:extLst>
              <a:ext uri="{FF2B5EF4-FFF2-40B4-BE49-F238E27FC236}">
                <a16:creationId xmlns:a16="http://schemas.microsoft.com/office/drawing/2014/main" id="{DC77917B-ABC3-AB31-6AD4-DE106D1676AF}"/>
              </a:ext>
            </a:extLst>
          </p:cNvPr>
          <p:cNvSpPr/>
          <p:nvPr/>
        </p:nvSpPr>
        <p:spPr>
          <a:xfrm>
            <a:off x="8844000" y="5331238"/>
            <a:ext cx="5680000" cy="400000"/>
          </a:xfrm>
          <a:prstGeom prst="rect">
            <a:avLst/>
          </a:prstGeom>
          <a:noFill/>
          <a:ln/>
        </p:spPr>
        <p:txBody>
          <a:bodyPr wrap="square" lIns="0" tIns="0" rIns="0" bIns="0" rtlCol="0" anchor="t"/>
          <a:lstStyle/>
          <a:p>
            <a:pPr algn="l"/>
            <a:r>
              <a:rPr lang="en-US" sz="1600" b="1" dirty="0">
                <a:solidFill>
                  <a:srgbClr val="1B2F4A"/>
                </a:solidFill>
                <a:latin typeface="Liter" pitchFamily="34" charset="0"/>
                <a:ea typeface="Liter" pitchFamily="34" charset="-122"/>
                <a:cs typeface="Liter" pitchFamily="34" charset="-120"/>
              </a:rPr>
              <a:t>ETF “Short-Gamma” Hedging</a:t>
            </a:r>
            <a:endParaRPr lang="en-US" sz="1600" dirty="0"/>
          </a:p>
        </p:txBody>
      </p:sp>
      <p:sp>
        <p:nvSpPr>
          <p:cNvPr id="66" name="Right Body">
            <a:extLst>
              <a:ext uri="{FF2B5EF4-FFF2-40B4-BE49-F238E27FC236}">
                <a16:creationId xmlns:a16="http://schemas.microsoft.com/office/drawing/2014/main" id="{1E7307E6-039A-2DC9-43B6-2364EDDB3142}"/>
              </a:ext>
            </a:extLst>
          </p:cNvPr>
          <p:cNvSpPr/>
          <p:nvPr/>
        </p:nvSpPr>
        <p:spPr>
          <a:xfrm>
            <a:off x="8844000" y="5648400"/>
            <a:ext cx="5680000" cy="1050000"/>
          </a:xfrm>
          <a:prstGeom prst="rect">
            <a:avLst/>
          </a:prstGeom>
          <a:noFill/>
          <a:ln/>
        </p:spPr>
        <p:txBody>
          <a:bodyPr wrap="square" lIns="0" tIns="0" rIns="0" bIns="0" rtlCol="0" anchor="t"/>
          <a:lstStyle/>
          <a:p>
            <a:pPr algn="l">
              <a:lnSpc>
                <a:spcPct val="140000"/>
              </a:lnSpc>
            </a:pPr>
            <a:r>
              <a:rPr lang="en-US" sz="1400" dirty="0">
                <a:solidFill>
                  <a:srgbClr val="2D3748"/>
                </a:solidFill>
                <a:latin typeface="Liter" pitchFamily="34" charset="0"/>
                <a:ea typeface="Liter" pitchFamily="34" charset="-122"/>
                <a:cs typeface="Liter" pitchFamily="34" charset="-120"/>
              </a:rPr>
              <a:t>Index falls → leveraged ETF </a:t>
            </a:r>
            <a:r>
              <a:rPr lang="en-US" sz="1400" b="1" dirty="0">
                <a:solidFill>
                  <a:srgbClr val="2D3748"/>
                </a:solidFill>
                <a:latin typeface="Liter" pitchFamily="34" charset="0"/>
                <a:ea typeface="Liter" pitchFamily="34" charset="-122"/>
                <a:cs typeface="Liter" pitchFamily="34" charset="-120"/>
              </a:rPr>
              <a:t>asset base shrinks</a:t>
            </a:r>
            <a:r>
              <a:rPr lang="en-US" sz="1400" dirty="0">
                <a:solidFill>
                  <a:srgbClr val="2D3748"/>
                </a:solidFill>
                <a:latin typeface="Liter" pitchFamily="34" charset="0"/>
                <a:ea typeface="Liter" pitchFamily="34" charset="-122"/>
                <a:cs typeface="Liter" pitchFamily="34" charset="-120"/>
              </a:rPr>
              <a:t> → dealers </a:t>
            </a:r>
            <a:r>
              <a:rPr lang="en-US" sz="1400" b="1" dirty="0">
                <a:solidFill>
                  <a:srgbClr val="2D3748"/>
                </a:solidFill>
                <a:latin typeface="Liter" pitchFamily="34" charset="0"/>
                <a:ea typeface="Liter" pitchFamily="34" charset="-122"/>
                <a:cs typeface="Liter" pitchFamily="34" charset="-120"/>
              </a:rPr>
              <a:t>sell index futures</a:t>
            </a:r>
            <a:r>
              <a:rPr lang="en-US" sz="1400" dirty="0">
                <a:solidFill>
                  <a:srgbClr val="2D3748"/>
                </a:solidFill>
                <a:latin typeface="Liter" pitchFamily="34" charset="0"/>
                <a:ea typeface="Liter" pitchFamily="34" charset="-122"/>
                <a:cs typeface="Liter" pitchFamily="34" charset="-120"/>
              </a:rPr>
              <a:t> to maintain </a:t>
            </a:r>
            <a:r>
              <a:rPr lang="en-US" sz="1400" b="1" dirty="0">
                <a:solidFill>
                  <a:srgbClr val="2D3748"/>
                </a:solidFill>
                <a:latin typeface="Liter" pitchFamily="34" charset="0"/>
                <a:ea typeface="Liter" pitchFamily="34" charset="-122"/>
                <a:cs typeface="Liter" pitchFamily="34" charset="-120"/>
              </a:rPr>
              <a:t>2x exposure</a:t>
            </a:r>
            <a:r>
              <a:rPr lang="en-US" sz="1400" dirty="0">
                <a:solidFill>
                  <a:srgbClr val="2D3748"/>
                </a:solidFill>
                <a:latin typeface="Liter" pitchFamily="34" charset="0"/>
                <a:ea typeface="Liter" pitchFamily="34" charset="-122"/>
                <a:cs typeface="Liter" pitchFamily="34" charset="-120"/>
              </a:rPr>
              <a:t>.</a:t>
            </a:r>
            <a:endParaRPr lang="en-US" sz="1400" dirty="0"/>
          </a:p>
        </p:txBody>
      </p:sp>
      <p:sp>
        <p:nvSpPr>
          <p:cNvPr id="67" name="Bottom Box">
            <a:extLst>
              <a:ext uri="{FF2B5EF4-FFF2-40B4-BE49-F238E27FC236}">
                <a16:creationId xmlns:a16="http://schemas.microsoft.com/office/drawing/2014/main" id="{94BDC7F5-F8D2-C141-B1F0-1D0D5640158B}"/>
              </a:ext>
            </a:extLst>
          </p:cNvPr>
          <p:cNvSpPr/>
          <p:nvPr/>
        </p:nvSpPr>
        <p:spPr>
          <a:xfrm>
            <a:off x="5028000" y="7567107"/>
            <a:ext cx="6200001" cy="738951"/>
          </a:xfrm>
          <a:prstGeom prst="roundRect">
            <a:avLst>
              <a:gd name="adj" fmla="val 8000"/>
            </a:avLst>
          </a:prstGeom>
          <a:solidFill>
            <a:srgbClr val="C4963A"/>
          </a:solidFill>
          <a:ln/>
        </p:spPr>
        <p:txBody>
          <a:bodyPr wrap="square" lIns="91440" tIns="45720" rIns="91440" bIns="45720" rtlCol="0" anchor="ctr"/>
          <a:lstStyle/>
          <a:p>
            <a:pPr algn="ctr"/>
            <a:r>
              <a:rPr lang="en-US" sz="1800" b="1">
                <a:solidFill>
                  <a:srgbClr val="1B2F4A"/>
                </a:solidFill>
                <a:latin typeface="Liter" pitchFamily="34" charset="0"/>
                <a:ea typeface="Liter" pitchFamily="34" charset="-122"/>
                <a:cs typeface="Liter" pitchFamily="34" charset="-120"/>
              </a:rPr>
              <a:t>Amplified Selling Pressure &amp; Liquidity Squeeze</a:t>
            </a:r>
            <a:endParaRPr lang="en-US" sz="1800"/>
          </a:p>
        </p:txBody>
      </p:sp>
      <p:cxnSp>
        <p:nvCxnSpPr>
          <p:cNvPr id="68" name="Left Down">
            <a:extLst>
              <a:ext uri="{FF2B5EF4-FFF2-40B4-BE49-F238E27FC236}">
                <a16:creationId xmlns:a16="http://schemas.microsoft.com/office/drawing/2014/main" id="{6AAD49DE-8FE7-C366-E523-04C7B8C793CB}"/>
              </a:ext>
            </a:extLst>
          </p:cNvPr>
          <p:cNvCxnSpPr>
            <a:cxnSpLocks/>
          </p:cNvCxnSpPr>
          <p:nvPr/>
        </p:nvCxnSpPr>
        <p:spPr>
          <a:xfrm>
            <a:off x="4233000" y="6325476"/>
            <a:ext cx="1900000" cy="1140110"/>
          </a:xfrm>
          <a:prstGeom prst="straightConnector1">
            <a:avLst/>
          </a:prstGeom>
          <a:ln w="28575" cap="rnd">
            <a:solidFill>
              <a:srgbClr val="1B2F4A"/>
            </a:solidFill>
            <a:tailEnd type="triangle" w="med" len="med"/>
          </a:ln>
        </p:spPr>
      </p:cxnSp>
      <p:cxnSp>
        <p:nvCxnSpPr>
          <p:cNvPr id="69" name="Right Down">
            <a:extLst>
              <a:ext uri="{FF2B5EF4-FFF2-40B4-BE49-F238E27FC236}">
                <a16:creationId xmlns:a16="http://schemas.microsoft.com/office/drawing/2014/main" id="{9B499AEF-354F-6A2D-6FC6-8379F4A78C8F}"/>
              </a:ext>
            </a:extLst>
          </p:cNvPr>
          <p:cNvCxnSpPr>
            <a:cxnSpLocks/>
          </p:cNvCxnSpPr>
          <p:nvPr/>
        </p:nvCxnSpPr>
        <p:spPr>
          <a:xfrm flipH="1">
            <a:off x="9968000" y="6325476"/>
            <a:ext cx="1900000" cy="1140110"/>
          </a:xfrm>
          <a:prstGeom prst="straightConnector1">
            <a:avLst/>
          </a:prstGeom>
          <a:ln w="28575" cap="rnd">
            <a:solidFill>
              <a:srgbClr val="1B2F4A"/>
            </a:solidFill>
            <a:tailEnd type="triangle" w="med" len="med"/>
          </a:ln>
        </p:spPr>
      </p:cxn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905C9-8856-0023-CFEE-207EE19FE74D}"/>
            </a:ext>
          </a:extLst>
        </p:cNvPr>
        <p:cNvGrpSpPr/>
        <p:nvPr/>
      </p:nvGrpSpPr>
      <p:grpSpPr>
        <a:xfrm>
          <a:off x="0" y="0"/>
          <a:ext cx="0" cy="0"/>
          <a:chOff x="0" y="0"/>
          <a:chExt cx="0" cy="0"/>
        </a:xfrm>
      </p:grpSpPr>
      <p:pic>
        <p:nvPicPr>
          <p:cNvPr id="660" name="Graphic 659">
            <a:extLst>
              <a:ext uri="{FF2B5EF4-FFF2-40B4-BE49-F238E27FC236}">
                <a16:creationId xmlns:a16="http://schemas.microsoft.com/office/drawing/2014/main" id="{4540613C-A16A-AA80-C4A7-23199CBDAC3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42823" y="847800"/>
            <a:ext cx="4986888" cy="5018053"/>
          </a:xfrm>
          <a:prstGeom prst="rect">
            <a:avLst/>
          </a:prstGeom>
        </p:spPr>
      </p:pic>
      <p:grpSp>
        <p:nvGrpSpPr>
          <p:cNvPr id="7" name="Group 6">
            <a:extLst>
              <a:ext uri="{FF2B5EF4-FFF2-40B4-BE49-F238E27FC236}">
                <a16:creationId xmlns:a16="http://schemas.microsoft.com/office/drawing/2014/main" id="{04EED31D-C167-1550-CC3D-CB7CBA17C632}"/>
              </a:ext>
            </a:extLst>
          </p:cNvPr>
          <p:cNvGrpSpPr/>
          <p:nvPr/>
        </p:nvGrpSpPr>
        <p:grpSpPr>
          <a:xfrm>
            <a:off x="12214120" y="8750105"/>
            <a:ext cx="3400141" cy="340771"/>
            <a:chOff x="9160590" y="6563831"/>
            <a:chExt cx="2550106" cy="255578"/>
          </a:xfrm>
        </p:grpSpPr>
        <p:pic>
          <p:nvPicPr>
            <p:cNvPr id="46" name="Picture 45" descr="Logo&#10;&#10;Description automatically generated">
              <a:extLst>
                <a:ext uri="{FF2B5EF4-FFF2-40B4-BE49-F238E27FC236}">
                  <a16:creationId xmlns:a16="http://schemas.microsoft.com/office/drawing/2014/main" id="{4A48FDE4-65BD-E8C3-0C60-6946714ACFD1}"/>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47" name="Rectangle 19">
              <a:extLst>
                <a:ext uri="{FF2B5EF4-FFF2-40B4-BE49-F238E27FC236}">
                  <a16:creationId xmlns:a16="http://schemas.microsoft.com/office/drawing/2014/main" id="{7157E66A-9C1A-7C3E-BC8C-E85452E141B4}"/>
                </a:ext>
              </a:extLst>
            </p:cNvPr>
            <p:cNvSpPr/>
            <p:nvPr/>
          </p:nvSpPr>
          <p:spPr>
            <a:xfrm>
              <a:off x="9160590" y="6614676"/>
              <a:ext cx="2265443" cy="153841"/>
            </a:xfrm>
            <a:prstGeom prst="rect">
              <a:avLst/>
            </a:prstGeom>
          </p:spPr>
          <p:txBody>
            <a:bodyPr wrap="square" lIns="0" tIns="0" rIns="0" bIns="0">
              <a:spAutoFit/>
            </a:bodyPr>
            <a:lstStyle/>
            <a:p>
              <a:pPr algn="r" defTabSz="1219170">
                <a:defRPr/>
              </a:pPr>
              <a:r>
                <a:rPr lang="en-US" altLang="zh-CN" sz="1333" spc="-40" dirty="0">
                  <a:solidFill>
                    <a:prstClr val="white"/>
                  </a:solidFill>
                  <a:latin typeface="Calibri Light"/>
                  <a:ea typeface="Microsoft JhengHei"/>
                </a:rPr>
                <a:t>CSOP Asset Management</a:t>
              </a:r>
              <a:endParaRPr lang="zh-CN" altLang="en-US" sz="1333" dirty="0">
                <a:solidFill>
                  <a:prstClr val="white"/>
                </a:solidFill>
                <a:latin typeface="Calibri Light"/>
                <a:ea typeface="Microsoft JhengHei"/>
              </a:endParaRPr>
            </a:p>
          </p:txBody>
        </p:sp>
      </p:grpSp>
      <p:sp>
        <p:nvSpPr>
          <p:cNvPr id="32" name="圆角矩形 3">
            <a:extLst>
              <a:ext uri="{FF2B5EF4-FFF2-40B4-BE49-F238E27FC236}">
                <a16:creationId xmlns:a16="http://schemas.microsoft.com/office/drawing/2014/main" id="{36DBDA39-D088-0DB4-831F-0DFB65DAD46E}"/>
              </a:ext>
            </a:extLst>
          </p:cNvPr>
          <p:cNvSpPr/>
          <p:nvPr/>
        </p:nvSpPr>
        <p:spPr>
          <a:xfrm rot="2700000">
            <a:off x="6689530" y="2745145"/>
            <a:ext cx="3899372" cy="3899372"/>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3" name="椭圆 4">
            <a:extLst>
              <a:ext uri="{FF2B5EF4-FFF2-40B4-BE49-F238E27FC236}">
                <a16:creationId xmlns:a16="http://schemas.microsoft.com/office/drawing/2014/main" id="{E689F8B0-39A1-EA16-2B66-C6BB3A8B42B4}"/>
              </a:ext>
            </a:extLst>
          </p:cNvPr>
          <p:cNvSpPr/>
          <p:nvPr/>
        </p:nvSpPr>
        <p:spPr>
          <a:xfrm>
            <a:off x="6000646" y="2056259"/>
            <a:ext cx="5277140" cy="5277140"/>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nvGrpSpPr>
          <p:cNvPr id="34" name="组合 6">
            <a:extLst>
              <a:ext uri="{FF2B5EF4-FFF2-40B4-BE49-F238E27FC236}">
                <a16:creationId xmlns:a16="http://schemas.microsoft.com/office/drawing/2014/main" id="{1A589AF5-7702-F232-69E8-4AC5D0AC2605}"/>
              </a:ext>
            </a:extLst>
          </p:cNvPr>
          <p:cNvGrpSpPr/>
          <p:nvPr/>
        </p:nvGrpSpPr>
        <p:grpSpPr>
          <a:xfrm>
            <a:off x="6600753" y="2855029"/>
            <a:ext cx="4126435" cy="3698616"/>
            <a:chOff x="4950565" y="2141272"/>
            <a:chExt cx="3094826" cy="2773962"/>
          </a:xfrm>
        </p:grpSpPr>
        <p:sp>
          <p:nvSpPr>
            <p:cNvPr id="35" name="椭圆 43">
              <a:extLst>
                <a:ext uri="{FF2B5EF4-FFF2-40B4-BE49-F238E27FC236}">
                  <a16:creationId xmlns:a16="http://schemas.microsoft.com/office/drawing/2014/main" id="{5664AE0B-3E0E-7F33-FDF8-A954D15EFE69}"/>
                </a:ext>
              </a:extLst>
            </p:cNvPr>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6" name="椭圆 44">
              <a:extLst>
                <a:ext uri="{FF2B5EF4-FFF2-40B4-BE49-F238E27FC236}">
                  <a16:creationId xmlns:a16="http://schemas.microsoft.com/office/drawing/2014/main" id="{3A0805FF-D566-F48B-B8F3-D9F721C45859}"/>
                </a:ext>
              </a:extLst>
            </p:cNvPr>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grpSp>
        <p:nvGrpSpPr>
          <p:cNvPr id="37" name="组合 5">
            <a:extLst>
              <a:ext uri="{FF2B5EF4-FFF2-40B4-BE49-F238E27FC236}">
                <a16:creationId xmlns:a16="http://schemas.microsoft.com/office/drawing/2014/main" id="{8FA296D0-6691-E55D-9B82-35252B0BAB1D}"/>
              </a:ext>
            </a:extLst>
          </p:cNvPr>
          <p:cNvGrpSpPr/>
          <p:nvPr/>
        </p:nvGrpSpPr>
        <p:grpSpPr>
          <a:xfrm>
            <a:off x="6604306" y="2855030"/>
            <a:ext cx="4112293" cy="3731037"/>
            <a:chOff x="4953229" y="2141272"/>
            <a:chExt cx="3084220" cy="2798278"/>
          </a:xfrm>
        </p:grpSpPr>
        <p:sp>
          <p:nvSpPr>
            <p:cNvPr id="38" name="椭圆 45">
              <a:extLst>
                <a:ext uri="{FF2B5EF4-FFF2-40B4-BE49-F238E27FC236}">
                  <a16:creationId xmlns:a16="http://schemas.microsoft.com/office/drawing/2014/main" id="{A8F58288-BF72-0CA3-6EE0-CFC2C3EEF150}"/>
                </a:ext>
              </a:extLst>
            </p:cNvPr>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9" name="椭圆 46">
              <a:extLst>
                <a:ext uri="{FF2B5EF4-FFF2-40B4-BE49-F238E27FC236}">
                  <a16:creationId xmlns:a16="http://schemas.microsoft.com/office/drawing/2014/main" id="{09D2E9C2-6FCE-3A3B-0EDF-E336A75FC9A3}"/>
                </a:ext>
              </a:extLst>
            </p:cNvPr>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sp>
        <p:nvSpPr>
          <p:cNvPr id="40" name="矩形 19">
            <a:extLst>
              <a:ext uri="{FF2B5EF4-FFF2-40B4-BE49-F238E27FC236}">
                <a16:creationId xmlns:a16="http://schemas.microsoft.com/office/drawing/2014/main" id="{6D22B3FF-5A69-7295-5409-CD5B0FB94533}"/>
              </a:ext>
            </a:extLst>
          </p:cNvPr>
          <p:cNvSpPr/>
          <p:nvPr/>
        </p:nvSpPr>
        <p:spPr>
          <a:xfrm>
            <a:off x="6348606" y="4084476"/>
            <a:ext cx="4476329" cy="1241237"/>
          </a:xfrm>
          <a:prstGeom prst="rect">
            <a:avLst/>
          </a:prstGeom>
          <a:ln>
            <a:noFill/>
          </a:ln>
        </p:spPr>
        <p:txBody>
          <a:bodyPr wrap="square">
            <a:spAutoFit/>
          </a:bodyPr>
          <a:lstStyle/>
          <a:p>
            <a:pPr lvl="0" algn="ctr">
              <a:defRPr/>
            </a:pPr>
            <a:r>
              <a:rPr lang="en-US" altLang="zh-CN" sz="3733" b="1" dirty="0">
                <a:solidFill>
                  <a:srgbClr val="2660AD"/>
                </a:solidFill>
                <a:ea typeface="微软雅黑" panose="020B0503020204020204" pitchFamily="34" charset="-122"/>
                <a:sym typeface="+mn-lt"/>
              </a:rPr>
              <a:t>Into 2H26 – </a:t>
            </a:r>
          </a:p>
          <a:p>
            <a:pPr lvl="0" algn="ctr">
              <a:defRPr/>
            </a:pPr>
            <a:r>
              <a:rPr lang="en-US" altLang="zh-CN" sz="3733" b="1" dirty="0">
                <a:solidFill>
                  <a:srgbClr val="2660AD"/>
                </a:solidFill>
                <a:ea typeface="微软雅黑" panose="020B0503020204020204" pitchFamily="34" charset="-122"/>
                <a:sym typeface="+mn-lt"/>
              </a:rPr>
              <a:t>July Fund Flows</a:t>
            </a:r>
          </a:p>
        </p:txBody>
      </p:sp>
      <p:sp>
        <p:nvSpPr>
          <p:cNvPr id="42" name="矩形 21">
            <a:extLst>
              <a:ext uri="{FF2B5EF4-FFF2-40B4-BE49-F238E27FC236}">
                <a16:creationId xmlns:a16="http://schemas.microsoft.com/office/drawing/2014/main" id="{DB95953D-C7C6-F446-4F8D-2E503748E67A}"/>
              </a:ext>
            </a:extLst>
          </p:cNvPr>
          <p:cNvSpPr/>
          <p:nvPr/>
        </p:nvSpPr>
        <p:spPr>
          <a:xfrm rot="13500000">
            <a:off x="4263885" y="3800097"/>
            <a:ext cx="1789457" cy="1789460"/>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43" name="矩形 22">
            <a:extLst>
              <a:ext uri="{FF2B5EF4-FFF2-40B4-BE49-F238E27FC236}">
                <a16:creationId xmlns:a16="http://schemas.microsoft.com/office/drawing/2014/main" id="{370DE077-CDDC-6240-A180-3E03E888654D}"/>
              </a:ext>
            </a:extLst>
          </p:cNvPr>
          <p:cNvSpPr/>
          <p:nvPr/>
        </p:nvSpPr>
        <p:spPr>
          <a:xfrm>
            <a:off x="4488709" y="4044381"/>
            <a:ext cx="1146468" cy="1077218"/>
          </a:xfrm>
          <a:prstGeom prst="rect">
            <a:avLst/>
          </a:prstGeom>
        </p:spPr>
        <p:txBody>
          <a:bodyPr wrap="none">
            <a:spAutoFit/>
          </a:bodyPr>
          <a:lstStyle/>
          <a:p>
            <a:pPr defTabSz="1219170">
              <a:defRPr/>
            </a:pPr>
            <a:r>
              <a:rPr lang="en-US" altLang="zh-CN" sz="6400" dirty="0">
                <a:solidFill>
                  <a:prstClr val="white"/>
                </a:solidFill>
                <a:latin typeface="微软雅黑" panose="020B0503020204020204" pitchFamily="34" charset="-122"/>
                <a:ea typeface="微软雅黑" panose="020B0503020204020204" pitchFamily="34" charset="-122"/>
                <a:sym typeface="+mn-lt"/>
              </a:rPr>
              <a:t>03</a:t>
            </a:r>
            <a:endParaRPr lang="zh-CN" altLang="en-US" sz="6400" dirty="0">
              <a:solidFill>
                <a:prstClr val="white"/>
              </a:solidFill>
              <a:latin typeface="微软雅黑" panose="020B0503020204020204" pitchFamily="34" charset="-122"/>
              <a:ea typeface="微软雅黑" panose="020B0503020204020204" pitchFamily="34" charset="-122"/>
              <a:sym typeface="+mn-lt"/>
            </a:endParaRPr>
          </a:p>
        </p:txBody>
      </p:sp>
      <p:sp>
        <p:nvSpPr>
          <p:cNvPr id="3" name="Slide Number Placeholder 2">
            <a:extLst>
              <a:ext uri="{FF2B5EF4-FFF2-40B4-BE49-F238E27FC236}">
                <a16:creationId xmlns:a16="http://schemas.microsoft.com/office/drawing/2014/main" id="{17FC841A-D542-EF14-C003-8E6D159894F3}"/>
              </a:ext>
            </a:extLst>
          </p:cNvPr>
          <p:cNvSpPr>
            <a:spLocks noGrp="1"/>
          </p:cNvSpPr>
          <p:nvPr>
            <p:ph type="sldNum" sz="quarter" idx="4"/>
          </p:nvPr>
        </p:nvSpPr>
        <p:spPr>
          <a:xfrm>
            <a:off x="15614261" y="8743433"/>
            <a:ext cx="439212" cy="369332"/>
          </a:xfrm>
          <a:prstGeom prst="rect">
            <a:avLst/>
          </a:prstGeom>
        </p:spPr>
        <p:txBody>
          <a:bodyPr/>
          <a:lstStyle>
            <a:defPPr>
              <a:defRPr lang="en-US"/>
            </a:defPPr>
            <a:lvl1pPr marL="0" algn="r" defTabSz="1219170" rtl="0" eaLnBrk="1" latinLnBrk="0" hangingPunct="1">
              <a:defRPr sz="2400" kern="1200">
                <a:solidFill>
                  <a:schemeClr val="bg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defRPr/>
            </a:pPr>
            <a:fld id="{CC7D48C0-AA79-46F3-BF6F-F82B468F2D98}" type="slidenum">
              <a:rPr lang="en-US" sz="1333">
                <a:solidFill>
                  <a:prstClr val="white"/>
                </a:solidFill>
                <a:latin typeface="Calibri"/>
                <a:ea typeface="Microsoft JhengHei"/>
              </a:rPr>
              <a:pPr>
                <a:defRPr/>
              </a:pPr>
              <a:t>15</a:t>
            </a:fld>
            <a:endParaRPr lang="en-US" sz="1333" dirty="0">
              <a:solidFill>
                <a:prstClr val="white"/>
              </a:solidFill>
              <a:latin typeface="Calibri Light"/>
              <a:ea typeface="Microsoft JhengHei"/>
            </a:endParaRPr>
          </a:p>
        </p:txBody>
      </p:sp>
    </p:spTree>
    <p:custDataLst>
      <p:tags r:id="rId1"/>
    </p:custDataLst>
    <p:extLst>
      <p:ext uri="{BB962C8B-B14F-4D97-AF65-F5344CB8AC3E}">
        <p14:creationId xmlns:p14="http://schemas.microsoft.com/office/powerpoint/2010/main" val="4008354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DB713-EA9B-3CA5-F34D-9748D95CC35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A806B64-CCB3-BFE9-EC1A-AD57E2A0F624}"/>
              </a:ext>
            </a:extLst>
          </p:cNvPr>
          <p:cNvSpPr/>
          <p:nvPr/>
        </p:nvSpPr>
        <p:spPr>
          <a:xfrm>
            <a:off x="762000" y="279400"/>
            <a:ext cx="50800" cy="508000"/>
          </a:xfrm>
          <a:prstGeom prst="rect">
            <a:avLst/>
          </a:prstGeom>
          <a:solidFill>
            <a:srgbClr val="C4963A"/>
          </a:solidFill>
          <a:ln/>
        </p:spPr>
        <p:txBody>
          <a:bodyPr/>
          <a:lstStyle/>
          <a:p>
            <a:endParaRPr lang="en-US"/>
          </a:p>
        </p:txBody>
      </p:sp>
      <p:sp>
        <p:nvSpPr>
          <p:cNvPr id="3" name="Text 1">
            <a:extLst>
              <a:ext uri="{FF2B5EF4-FFF2-40B4-BE49-F238E27FC236}">
                <a16:creationId xmlns:a16="http://schemas.microsoft.com/office/drawing/2014/main" id="{E65BC32D-6539-B973-D994-B3664F29F221}"/>
              </a:ext>
            </a:extLst>
          </p:cNvPr>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200" b="1" dirty="0">
                <a:solidFill>
                  <a:srgbClr val="1B2F4A"/>
                </a:solidFill>
                <a:latin typeface="Liter" pitchFamily="34" charset="0"/>
                <a:ea typeface="Liter" pitchFamily="34" charset="-122"/>
                <a:cs typeface="Liter" pitchFamily="34" charset="-120"/>
              </a:rPr>
              <a:t>Into 2H26 - July Fund Flow Dynamics: A Sharp Reversal from 1H Outflows</a:t>
            </a:r>
            <a:endParaRPr lang="en-US" sz="2200" dirty="0"/>
          </a:p>
        </p:txBody>
      </p:sp>
      <p:sp>
        <p:nvSpPr>
          <p:cNvPr id="4" name="Shape 2">
            <a:extLst>
              <a:ext uri="{FF2B5EF4-FFF2-40B4-BE49-F238E27FC236}">
                <a16:creationId xmlns:a16="http://schemas.microsoft.com/office/drawing/2014/main" id="{1AA8872C-504B-ED52-7913-4B53B6757829}"/>
              </a:ext>
            </a:extLst>
          </p:cNvPr>
          <p:cNvSpPr/>
          <p:nvPr/>
        </p:nvSpPr>
        <p:spPr>
          <a:xfrm>
            <a:off x="762000" y="838200"/>
            <a:ext cx="14732000" cy="12700"/>
          </a:xfrm>
          <a:prstGeom prst="rect">
            <a:avLst/>
          </a:prstGeom>
          <a:solidFill>
            <a:srgbClr val="E2E8F0"/>
          </a:solidFill>
          <a:ln/>
        </p:spPr>
        <p:txBody>
          <a:bodyPr/>
          <a:lstStyle/>
          <a:p>
            <a:endParaRPr lang="en-US"/>
          </a:p>
        </p:txBody>
      </p:sp>
      <p:sp>
        <p:nvSpPr>
          <p:cNvPr id="5" name="Shape 3">
            <a:extLst>
              <a:ext uri="{FF2B5EF4-FFF2-40B4-BE49-F238E27FC236}">
                <a16:creationId xmlns:a16="http://schemas.microsoft.com/office/drawing/2014/main" id="{68F058D6-D15A-FB18-CF9B-AF9753817E23}"/>
              </a:ext>
            </a:extLst>
          </p:cNvPr>
          <p:cNvSpPr/>
          <p:nvPr/>
        </p:nvSpPr>
        <p:spPr>
          <a:xfrm>
            <a:off x="762000" y="1041400"/>
            <a:ext cx="50800" cy="254000"/>
          </a:xfrm>
          <a:prstGeom prst="rect">
            <a:avLst/>
          </a:prstGeom>
          <a:solidFill>
            <a:srgbClr val="C4963A"/>
          </a:solidFill>
          <a:ln/>
        </p:spPr>
        <p:txBody>
          <a:bodyPr/>
          <a:lstStyle/>
          <a:p>
            <a:endParaRPr lang="en-US"/>
          </a:p>
        </p:txBody>
      </p:sp>
      <p:sp>
        <p:nvSpPr>
          <p:cNvPr id="6" name="Text 4">
            <a:extLst>
              <a:ext uri="{FF2B5EF4-FFF2-40B4-BE49-F238E27FC236}">
                <a16:creationId xmlns:a16="http://schemas.microsoft.com/office/drawing/2014/main" id="{7959D55C-7DD3-B0B6-2BEB-F151AB6C8D28}"/>
              </a:ext>
            </a:extLst>
          </p:cNvPr>
          <p:cNvSpPr/>
          <p:nvPr/>
        </p:nvSpPr>
        <p:spPr>
          <a:xfrm>
            <a:off x="914400" y="1016000"/>
            <a:ext cx="6858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3.1 — Monthly Net Flows: Top Five South Korea–Exposed ETFs by July 2026 Flow</a:t>
            </a:r>
            <a:endParaRPr lang="en-US" sz="1300" dirty="0"/>
          </a:p>
        </p:txBody>
      </p:sp>
      <p:sp>
        <p:nvSpPr>
          <p:cNvPr id="7" name="Shape 5">
            <a:extLst>
              <a:ext uri="{FF2B5EF4-FFF2-40B4-BE49-F238E27FC236}">
                <a16:creationId xmlns:a16="http://schemas.microsoft.com/office/drawing/2014/main" id="{A471E8A0-5432-445E-E9B9-B358472276E8}"/>
              </a:ext>
            </a:extLst>
          </p:cNvPr>
          <p:cNvSpPr/>
          <p:nvPr/>
        </p:nvSpPr>
        <p:spPr>
          <a:xfrm>
            <a:off x="762000" y="1371600"/>
            <a:ext cx="6858000" cy="2921000"/>
          </a:xfrm>
          <a:prstGeom prst="rect">
            <a:avLst/>
          </a:prstGeom>
          <a:solidFill>
            <a:srgbClr val="F7F8FA"/>
          </a:solidFill>
          <a:ln w="12700">
            <a:solidFill>
              <a:srgbClr val="E2E8F0"/>
            </a:solidFill>
            <a:prstDash val="solid"/>
          </a:ln>
        </p:spPr>
        <p:txBody>
          <a:bodyPr/>
          <a:lstStyle/>
          <a:p>
            <a:endParaRPr lang="en-US"/>
          </a:p>
        </p:txBody>
      </p:sp>
      <p:sp>
        <p:nvSpPr>
          <p:cNvPr id="8" name="Text 6">
            <a:extLst>
              <a:ext uri="{FF2B5EF4-FFF2-40B4-BE49-F238E27FC236}">
                <a16:creationId xmlns:a16="http://schemas.microsoft.com/office/drawing/2014/main" id="{17C72E4F-3572-E628-57F2-3B75FC3979DB}"/>
              </a:ext>
            </a:extLst>
          </p:cNvPr>
          <p:cNvSpPr/>
          <p:nvPr/>
        </p:nvSpPr>
        <p:spPr>
          <a:xfrm>
            <a:off x="762000" y="1371600"/>
            <a:ext cx="6858000" cy="2921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Volatility of Major Global Indices]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KOSPI exhibits significantly higher volatility</a:t>
            </a:r>
            <a:endParaRPr lang="en-US" sz="1400" dirty="0"/>
          </a:p>
        </p:txBody>
      </p:sp>
      <p:sp>
        <p:nvSpPr>
          <p:cNvPr id="9" name="Shape 7">
            <a:extLst>
              <a:ext uri="{FF2B5EF4-FFF2-40B4-BE49-F238E27FC236}">
                <a16:creationId xmlns:a16="http://schemas.microsoft.com/office/drawing/2014/main" id="{7A112618-989D-C134-3E30-E07A0FC8C384}"/>
              </a:ext>
            </a:extLst>
          </p:cNvPr>
          <p:cNvSpPr/>
          <p:nvPr/>
        </p:nvSpPr>
        <p:spPr>
          <a:xfrm>
            <a:off x="8128000" y="1041400"/>
            <a:ext cx="50800" cy="254000"/>
          </a:xfrm>
          <a:prstGeom prst="rect">
            <a:avLst/>
          </a:prstGeom>
          <a:solidFill>
            <a:srgbClr val="C4963A"/>
          </a:solidFill>
          <a:ln/>
        </p:spPr>
        <p:txBody>
          <a:bodyPr/>
          <a:lstStyle/>
          <a:p>
            <a:endParaRPr lang="en-US"/>
          </a:p>
        </p:txBody>
      </p:sp>
      <p:sp>
        <p:nvSpPr>
          <p:cNvPr id="10" name="Text 8">
            <a:extLst>
              <a:ext uri="{FF2B5EF4-FFF2-40B4-BE49-F238E27FC236}">
                <a16:creationId xmlns:a16="http://schemas.microsoft.com/office/drawing/2014/main" id="{31C80EC2-BD48-C629-3167-C5E87301BB7D}"/>
              </a:ext>
            </a:extLst>
          </p:cNvPr>
          <p:cNvSpPr/>
          <p:nvPr/>
        </p:nvSpPr>
        <p:spPr>
          <a:xfrm>
            <a:off x="8280400" y="1016000"/>
            <a:ext cx="7112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3.2 — Monthly Fund Flows: CSOP 7709 vs. iShares MSCI South Korea ETF (EWY)</a:t>
            </a:r>
            <a:endParaRPr lang="en-US" sz="1300" dirty="0"/>
          </a:p>
        </p:txBody>
      </p:sp>
      <p:sp>
        <p:nvSpPr>
          <p:cNvPr id="11" name="Shape 9">
            <a:extLst>
              <a:ext uri="{FF2B5EF4-FFF2-40B4-BE49-F238E27FC236}">
                <a16:creationId xmlns:a16="http://schemas.microsoft.com/office/drawing/2014/main" id="{AA09A0DE-47EC-2C13-8B42-A1D0D00D266E}"/>
              </a:ext>
            </a:extLst>
          </p:cNvPr>
          <p:cNvSpPr/>
          <p:nvPr/>
        </p:nvSpPr>
        <p:spPr>
          <a:xfrm>
            <a:off x="8128000" y="1371600"/>
            <a:ext cx="7366000" cy="2921000"/>
          </a:xfrm>
          <a:prstGeom prst="rect">
            <a:avLst/>
          </a:prstGeom>
          <a:solidFill>
            <a:srgbClr val="F7F8FA"/>
          </a:solidFill>
          <a:ln w="12700">
            <a:solidFill>
              <a:srgbClr val="E2E8F0"/>
            </a:solidFill>
            <a:prstDash val="solid"/>
          </a:ln>
        </p:spPr>
        <p:txBody>
          <a:bodyPr/>
          <a:lstStyle/>
          <a:p>
            <a:endParaRPr lang="en-US"/>
          </a:p>
        </p:txBody>
      </p:sp>
      <p:sp>
        <p:nvSpPr>
          <p:cNvPr id="12" name="Text 10">
            <a:extLst>
              <a:ext uri="{FF2B5EF4-FFF2-40B4-BE49-F238E27FC236}">
                <a16:creationId xmlns:a16="http://schemas.microsoft.com/office/drawing/2014/main" id="{CAF3AA4D-6F50-723A-C4F4-99908198E09C}"/>
              </a:ext>
            </a:extLst>
          </p:cNvPr>
          <p:cNvSpPr/>
          <p:nvPr/>
        </p:nvSpPr>
        <p:spPr>
          <a:xfrm>
            <a:off x="8128000" y="1371600"/>
            <a:ext cx="7366000" cy="2921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Time Series of Broker Margin Loan Levels]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KRW 38tn in margin loans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0.90% of free-float mkt cap (vs US 2.0%, China 5.3%)</a:t>
            </a:r>
            <a:endParaRPr lang="en-US" sz="1400" dirty="0"/>
          </a:p>
        </p:txBody>
      </p:sp>
      <p:sp>
        <p:nvSpPr>
          <p:cNvPr id="13" name="Shape 11">
            <a:extLst>
              <a:ext uri="{FF2B5EF4-FFF2-40B4-BE49-F238E27FC236}">
                <a16:creationId xmlns:a16="http://schemas.microsoft.com/office/drawing/2014/main" id="{CBDC9F42-FB80-4583-AE89-8EF789C4E35D}"/>
              </a:ext>
            </a:extLst>
          </p:cNvPr>
          <p:cNvSpPr/>
          <p:nvPr/>
        </p:nvSpPr>
        <p:spPr>
          <a:xfrm>
            <a:off x="762000" y="4495800"/>
            <a:ext cx="50800" cy="254000"/>
          </a:xfrm>
          <a:prstGeom prst="rect">
            <a:avLst/>
          </a:prstGeom>
          <a:solidFill>
            <a:srgbClr val="C4963A"/>
          </a:solidFill>
          <a:ln/>
        </p:spPr>
        <p:txBody>
          <a:bodyPr/>
          <a:lstStyle/>
          <a:p>
            <a:endParaRPr lang="en-US"/>
          </a:p>
        </p:txBody>
      </p:sp>
      <p:sp>
        <p:nvSpPr>
          <p:cNvPr id="14" name="Text 12">
            <a:extLst>
              <a:ext uri="{FF2B5EF4-FFF2-40B4-BE49-F238E27FC236}">
                <a16:creationId xmlns:a16="http://schemas.microsoft.com/office/drawing/2014/main" id="{D5414337-3A3B-23EF-B188-45EC00F68142}"/>
              </a:ext>
            </a:extLst>
          </p:cNvPr>
          <p:cNvSpPr/>
          <p:nvPr/>
        </p:nvSpPr>
        <p:spPr>
          <a:xfrm>
            <a:off x="914400" y="4470400"/>
            <a:ext cx="6379980" cy="2794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3.3 — Time Series of SK Hynix ADRs Premium to South Korea-listed Shares</a:t>
            </a:r>
            <a:endParaRPr lang="en-US" sz="1300" dirty="0"/>
          </a:p>
        </p:txBody>
      </p:sp>
      <p:sp>
        <p:nvSpPr>
          <p:cNvPr id="15" name="Shape 13">
            <a:extLst>
              <a:ext uri="{FF2B5EF4-FFF2-40B4-BE49-F238E27FC236}">
                <a16:creationId xmlns:a16="http://schemas.microsoft.com/office/drawing/2014/main" id="{C9C8CFFD-DEC3-97EF-921C-BF5E81DA26FE}"/>
              </a:ext>
            </a:extLst>
          </p:cNvPr>
          <p:cNvSpPr/>
          <p:nvPr/>
        </p:nvSpPr>
        <p:spPr>
          <a:xfrm>
            <a:off x="762000" y="4826000"/>
            <a:ext cx="6858000" cy="3429000"/>
          </a:xfrm>
          <a:prstGeom prst="rect">
            <a:avLst/>
          </a:prstGeom>
          <a:solidFill>
            <a:srgbClr val="F7F8FA"/>
          </a:solidFill>
          <a:ln w="12700">
            <a:solidFill>
              <a:srgbClr val="E2E8F0"/>
            </a:solidFill>
            <a:prstDash val="solid"/>
          </a:ln>
        </p:spPr>
        <p:txBody>
          <a:bodyPr/>
          <a:lstStyle/>
          <a:p>
            <a:endParaRPr lang="en-US"/>
          </a:p>
        </p:txBody>
      </p:sp>
      <p:sp>
        <p:nvSpPr>
          <p:cNvPr id="16" name="Text 14">
            <a:extLst>
              <a:ext uri="{FF2B5EF4-FFF2-40B4-BE49-F238E27FC236}">
                <a16:creationId xmlns:a16="http://schemas.microsoft.com/office/drawing/2014/main" id="{82DB7901-8814-5413-C715-AD821F09E992}"/>
              </a:ext>
            </a:extLst>
          </p:cNvPr>
          <p:cNvSpPr/>
          <p:nvPr/>
        </p:nvSpPr>
        <p:spPr>
          <a:xfrm>
            <a:off x="762000" y="4826000"/>
            <a:ext cx="6858000" cy="3429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Time Series of Leveraged ETF Levels]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KRW 65tn in leveraged ETFs (1.5% of free-float)</a:t>
            </a:r>
            <a:endParaRPr lang="en-US" sz="1400" dirty="0"/>
          </a:p>
        </p:txBody>
      </p:sp>
      <p:sp>
        <p:nvSpPr>
          <p:cNvPr id="17" name="Shape 15">
            <a:extLst>
              <a:ext uri="{FF2B5EF4-FFF2-40B4-BE49-F238E27FC236}">
                <a16:creationId xmlns:a16="http://schemas.microsoft.com/office/drawing/2014/main" id="{2399E82D-9CE6-EAA0-DAD8-4DA9583A20DD}"/>
              </a:ext>
            </a:extLst>
          </p:cNvPr>
          <p:cNvSpPr/>
          <p:nvPr/>
        </p:nvSpPr>
        <p:spPr>
          <a:xfrm>
            <a:off x="8128697" y="4499279"/>
            <a:ext cx="7366000" cy="3752242"/>
          </a:xfrm>
          <a:prstGeom prst="rect">
            <a:avLst/>
          </a:prstGeom>
          <a:solidFill>
            <a:srgbClr val="F7F8FA"/>
          </a:solidFill>
          <a:ln/>
        </p:spPr>
        <p:txBody>
          <a:bodyPr/>
          <a:lstStyle/>
          <a:p>
            <a:endParaRPr lang="en-US"/>
          </a:p>
        </p:txBody>
      </p:sp>
      <p:sp>
        <p:nvSpPr>
          <p:cNvPr id="18" name="Shape 16">
            <a:extLst>
              <a:ext uri="{FF2B5EF4-FFF2-40B4-BE49-F238E27FC236}">
                <a16:creationId xmlns:a16="http://schemas.microsoft.com/office/drawing/2014/main" id="{47E719CC-ADC9-C4CE-5845-87EBFE736E24}"/>
              </a:ext>
            </a:extLst>
          </p:cNvPr>
          <p:cNvSpPr/>
          <p:nvPr/>
        </p:nvSpPr>
        <p:spPr>
          <a:xfrm>
            <a:off x="8128697" y="4499279"/>
            <a:ext cx="7366000" cy="50800"/>
          </a:xfrm>
          <a:prstGeom prst="rect">
            <a:avLst/>
          </a:prstGeom>
          <a:solidFill>
            <a:srgbClr val="C4963A"/>
          </a:solidFill>
          <a:ln/>
        </p:spPr>
        <p:txBody>
          <a:bodyPr/>
          <a:lstStyle/>
          <a:p>
            <a:endParaRPr lang="en-US"/>
          </a:p>
        </p:txBody>
      </p:sp>
      <p:sp>
        <p:nvSpPr>
          <p:cNvPr id="19" name="Text 17">
            <a:extLst>
              <a:ext uri="{FF2B5EF4-FFF2-40B4-BE49-F238E27FC236}">
                <a16:creationId xmlns:a16="http://schemas.microsoft.com/office/drawing/2014/main" id="{C2FBE836-C5C4-5416-93A3-3EA127C14296}"/>
              </a:ext>
            </a:extLst>
          </p:cNvPr>
          <p:cNvSpPr/>
          <p:nvPr/>
        </p:nvSpPr>
        <p:spPr>
          <a:xfrm>
            <a:off x="8382697" y="4649769"/>
            <a:ext cx="3810000" cy="304800"/>
          </a:xfrm>
          <a:prstGeom prst="rect">
            <a:avLst/>
          </a:prstGeom>
          <a:noFill/>
          <a:ln/>
        </p:spPr>
        <p:txBody>
          <a:bodyPr wrap="none" lIns="0" tIns="0" rIns="0" bIns="0" rtlCol="0" anchor="t"/>
          <a:lstStyle/>
          <a:p>
            <a:pPr>
              <a:lnSpc>
                <a:spcPct val="120000"/>
              </a:lnSpc>
            </a:pPr>
            <a:r>
              <a:rPr lang="en-US" sz="1600" b="1" dirty="0">
                <a:solidFill>
                  <a:srgbClr val="1B2F4A"/>
                </a:solidFill>
                <a:latin typeface="Liter" pitchFamily="34" charset="0"/>
                <a:ea typeface="Liter" pitchFamily="34" charset="-122"/>
                <a:cs typeface="Liter" pitchFamily="34" charset="-120"/>
              </a:rPr>
              <a:t>Why Did Flows Rebound Sharply in July?</a:t>
            </a:r>
            <a:endParaRPr lang="en-US" sz="1600" dirty="0"/>
          </a:p>
        </p:txBody>
      </p:sp>
      <p:sp>
        <p:nvSpPr>
          <p:cNvPr id="20" name="Text 18">
            <a:extLst>
              <a:ext uri="{FF2B5EF4-FFF2-40B4-BE49-F238E27FC236}">
                <a16:creationId xmlns:a16="http://schemas.microsoft.com/office/drawing/2014/main" id="{0482AC83-1AB9-4471-EE6D-30DAC6707D59}"/>
              </a:ext>
            </a:extLst>
          </p:cNvPr>
          <p:cNvSpPr/>
          <p:nvPr/>
        </p:nvSpPr>
        <p:spPr>
          <a:xfrm>
            <a:off x="8382697" y="4972925"/>
            <a:ext cx="6858000" cy="3190914"/>
          </a:xfrm>
          <a:prstGeom prst="rect">
            <a:avLst/>
          </a:prstGeom>
          <a:noFill/>
          <a:ln/>
        </p:spPr>
        <p:txBody>
          <a:bodyPr wrap="square" lIns="0" tIns="0" rIns="0" bIns="0" rtlCol="0" anchor="t"/>
          <a:lstStyle/>
          <a:p>
            <a:pPr marL="285750" indent="-285750">
              <a:lnSpc>
                <a:spcPct val="140000"/>
              </a:lnSpc>
              <a:buFont typeface="Arial" panose="020B0604020202020204" pitchFamily="34" charset="0"/>
              <a:buChar char="•"/>
            </a:pPr>
            <a:r>
              <a:rPr lang="en-US" sz="1450" b="1" dirty="0">
                <a:solidFill>
                  <a:srgbClr val="2D3748"/>
                </a:solidFill>
                <a:latin typeface="Liter" pitchFamily="34" charset="0"/>
                <a:ea typeface="Liter" pitchFamily="34" charset="-122"/>
                <a:cs typeface="Liter" pitchFamily="34" charset="-120"/>
              </a:rPr>
              <a:t>Dip-buying after the sell-off: </a:t>
            </a:r>
            <a:r>
              <a:rPr lang="en-US" sz="1450" dirty="0">
                <a:solidFill>
                  <a:srgbClr val="2D3748"/>
                </a:solidFill>
                <a:latin typeface="Liter" pitchFamily="34" charset="0"/>
                <a:ea typeface="Liter" pitchFamily="34" charset="-122"/>
                <a:cs typeface="Liter" pitchFamily="34" charset="-120"/>
              </a:rPr>
              <a:t>Retail deployed cash into the late-June correction, with </a:t>
            </a:r>
            <a:r>
              <a:rPr lang="en-US" sz="1450" b="1" dirty="0">
                <a:solidFill>
                  <a:srgbClr val="2D3748"/>
                </a:solidFill>
                <a:latin typeface="Liter" pitchFamily="34" charset="0"/>
                <a:ea typeface="Liter" pitchFamily="34" charset="-122"/>
                <a:cs typeface="Liter" pitchFamily="34" charset="-120"/>
              </a:rPr>
              <a:t>net buying KRW 27tn of equities and KRW 8.8tn of local equity ETFs</a:t>
            </a:r>
            <a:r>
              <a:rPr lang="en-US" sz="1450" dirty="0">
                <a:solidFill>
                  <a:srgbClr val="2D3748"/>
                </a:solidFill>
                <a:latin typeface="Liter" pitchFamily="34" charset="0"/>
                <a:ea typeface="Liter" pitchFamily="34" charset="-122"/>
                <a:cs typeface="Liter" pitchFamily="34" charset="-120"/>
              </a:rPr>
              <a:t>, while customer deposits fell KRW 21tn</a:t>
            </a:r>
          </a:p>
          <a:p>
            <a:pPr marL="285750" indent="-285750">
              <a:lnSpc>
                <a:spcPct val="140000"/>
              </a:lnSpc>
              <a:buFont typeface="Arial" panose="020B0604020202020204" pitchFamily="34" charset="0"/>
              <a:buChar char="•"/>
            </a:pPr>
            <a:r>
              <a:rPr lang="en-US" sz="1450" b="1" dirty="0">
                <a:solidFill>
                  <a:srgbClr val="2D3748"/>
                </a:solidFill>
                <a:latin typeface="Liter" pitchFamily="34" charset="0"/>
                <a:ea typeface="Liter" pitchFamily="34" charset="-122"/>
                <a:cs typeface="Liter" pitchFamily="34" charset="-120"/>
              </a:rPr>
              <a:t>EWY as an efficient SK Hynix proxy: </a:t>
            </a:r>
            <a:r>
              <a:rPr lang="en-US" sz="1450" dirty="0">
                <a:solidFill>
                  <a:srgbClr val="2D3748"/>
                </a:solidFill>
                <a:latin typeface="Liter" pitchFamily="34" charset="0"/>
                <a:ea typeface="Liter" pitchFamily="34" charset="-122"/>
                <a:cs typeface="Liter" pitchFamily="34" charset="-120"/>
              </a:rPr>
              <a:t>Record EWY inflows reflected demand for Korea-listed SK Hynix exposure without paying for the </a:t>
            </a:r>
            <a:r>
              <a:rPr lang="en-US" sz="1450" b="1" dirty="0">
                <a:solidFill>
                  <a:srgbClr val="2D3748"/>
                </a:solidFill>
                <a:latin typeface="Liter" pitchFamily="34" charset="0"/>
                <a:ea typeface="Liter" pitchFamily="34" charset="-122"/>
                <a:cs typeface="Liter" pitchFamily="34" charset="-120"/>
              </a:rPr>
              <a:t>more expensive US ADR</a:t>
            </a:r>
            <a:r>
              <a:rPr lang="en-US" sz="1450" dirty="0">
                <a:solidFill>
                  <a:srgbClr val="2D3748"/>
                </a:solidFill>
                <a:latin typeface="Liter" pitchFamily="34" charset="0"/>
                <a:ea typeface="Liter" pitchFamily="34" charset="-122"/>
                <a:cs typeface="Liter" pitchFamily="34" charset="-120"/>
              </a:rPr>
              <a:t>, whose </a:t>
            </a:r>
            <a:r>
              <a:rPr lang="en-US" sz="1450" b="1" dirty="0">
                <a:solidFill>
                  <a:srgbClr val="2D3748"/>
                </a:solidFill>
                <a:latin typeface="Liter" pitchFamily="34" charset="0"/>
                <a:ea typeface="Liter" pitchFamily="34" charset="-122"/>
                <a:cs typeface="Liter" pitchFamily="34" charset="-120"/>
              </a:rPr>
              <a:t>premium briefly exceeded 50% in mid-July</a:t>
            </a:r>
            <a:endParaRPr lang="en-US" sz="1450" dirty="0">
              <a:solidFill>
                <a:srgbClr val="2D3748"/>
              </a:solidFill>
              <a:latin typeface="Liter" pitchFamily="34" charset="0"/>
              <a:ea typeface="Liter" pitchFamily="34" charset="-122"/>
              <a:cs typeface="Liter" pitchFamily="34" charset="-120"/>
            </a:endParaRPr>
          </a:p>
          <a:p>
            <a:pPr marL="285750" indent="-285750">
              <a:lnSpc>
                <a:spcPct val="140000"/>
              </a:lnSpc>
              <a:buFont typeface="Arial" panose="020B0604020202020204" pitchFamily="34" charset="0"/>
              <a:buChar char="•"/>
            </a:pPr>
            <a:r>
              <a:rPr lang="en-US" sz="1450" b="1" dirty="0">
                <a:solidFill>
                  <a:srgbClr val="2D3748"/>
                </a:solidFill>
                <a:latin typeface="Liter" pitchFamily="34" charset="0"/>
                <a:ea typeface="Liter" pitchFamily="34" charset="-122"/>
                <a:cs typeface="Liter" pitchFamily="34" charset="-120"/>
              </a:rPr>
              <a:t>ADR conversion constraints sustained the gap: </a:t>
            </a:r>
            <a:r>
              <a:rPr lang="en-US" sz="1450" dirty="0">
                <a:solidFill>
                  <a:srgbClr val="2D3748"/>
                </a:solidFill>
                <a:latin typeface="Liter" pitchFamily="34" charset="0"/>
                <a:ea typeface="Liter" pitchFamily="34" charset="-122"/>
                <a:cs typeface="Liter" pitchFamily="34" charset="-120"/>
              </a:rPr>
              <a:t>ADR issuance/cancellation remained restricted until </a:t>
            </a:r>
            <a:r>
              <a:rPr lang="en-US" sz="1450" b="1" dirty="0">
                <a:solidFill>
                  <a:srgbClr val="2D3748"/>
                </a:solidFill>
                <a:latin typeface="Liter" pitchFamily="34" charset="0"/>
                <a:ea typeface="Liter" pitchFamily="34" charset="-122"/>
                <a:cs typeface="Liter" pitchFamily="34" charset="-120"/>
              </a:rPr>
              <a:t>29 July </a:t>
            </a:r>
            <a:r>
              <a:rPr lang="en-US" sz="1450" dirty="0">
                <a:solidFill>
                  <a:srgbClr val="2D3748"/>
                </a:solidFill>
                <a:latin typeface="Liter" pitchFamily="34" charset="0"/>
                <a:ea typeface="Liter" pitchFamily="34" charset="-122"/>
                <a:cs typeface="Liter" pitchFamily="34" charset="-120"/>
              </a:rPr>
              <a:t>(conversion books were closed), limiting arbitrage; EWY provided a </a:t>
            </a:r>
            <a:r>
              <a:rPr lang="en-US" sz="1450" b="1" dirty="0">
                <a:solidFill>
                  <a:srgbClr val="2D3748"/>
                </a:solidFill>
                <a:latin typeface="Liter" pitchFamily="34" charset="0"/>
                <a:ea typeface="Liter" pitchFamily="34" charset="-122"/>
                <a:cs typeface="Liter" pitchFamily="34" charset="-120"/>
              </a:rPr>
              <a:t>liquid US-hours alternative</a:t>
            </a:r>
            <a:r>
              <a:rPr lang="en-US" sz="1450" dirty="0">
                <a:solidFill>
                  <a:srgbClr val="2D3748"/>
                </a:solidFill>
                <a:latin typeface="Liter" pitchFamily="34" charset="0"/>
                <a:ea typeface="Liter" pitchFamily="34" charset="-122"/>
                <a:cs typeface="Liter" pitchFamily="34" charset="-120"/>
              </a:rPr>
              <a:t> without direct Korean-market or FX execution</a:t>
            </a:r>
            <a:endParaRPr lang="en-US" sz="1450" dirty="0"/>
          </a:p>
        </p:txBody>
      </p:sp>
      <p:sp>
        <p:nvSpPr>
          <p:cNvPr id="21" name="Text 19">
            <a:extLst>
              <a:ext uri="{FF2B5EF4-FFF2-40B4-BE49-F238E27FC236}">
                <a16:creationId xmlns:a16="http://schemas.microsoft.com/office/drawing/2014/main" id="{86205B1B-D6A2-32C0-869E-D70000246750}"/>
              </a:ext>
            </a:extLst>
          </p:cNvPr>
          <p:cNvSpPr/>
          <p:nvPr/>
        </p:nvSpPr>
        <p:spPr>
          <a:xfrm>
            <a:off x="761999" y="8346162"/>
            <a:ext cx="11074400" cy="622300"/>
          </a:xfrm>
          <a:prstGeom prst="rect">
            <a:avLst/>
          </a:prstGeom>
          <a:noFill/>
          <a:ln/>
        </p:spPr>
        <p:txBody>
          <a:bodyPr wrap="square" lIns="0" tIns="0" rIns="0" bIns="0" rtlCol="0" anchor="t"/>
          <a:lstStyle/>
          <a:p>
            <a:pPr>
              <a:lnSpc>
                <a:spcPct val="140000"/>
              </a:lnSpc>
            </a:pPr>
            <a:r>
              <a:rPr lang="en-US" sz="1200" dirty="0">
                <a:solidFill>
                  <a:srgbClr val="718096"/>
                </a:solidFill>
                <a:latin typeface="Liter" pitchFamily="34" charset="0"/>
                <a:ea typeface="Liter" pitchFamily="34" charset="-122"/>
                <a:cs typeface="Liter" pitchFamily="34" charset="-120"/>
              </a:rPr>
              <a:t>Source: Bloomberg, data as of 17 July 2026. Chosun Biz.</a:t>
            </a:r>
          </a:p>
          <a:p>
            <a:pPr>
              <a:lnSpc>
                <a:spcPct val="140000"/>
              </a:lnSpc>
            </a:pPr>
            <a:r>
              <a:rPr lang="en-US" sz="1200" dirty="0">
                <a:solidFill>
                  <a:srgbClr val="718096"/>
                </a:solidFill>
                <a:latin typeface="Liter" pitchFamily="34" charset="0"/>
                <a:ea typeface="Liter" pitchFamily="34" charset="-122"/>
                <a:cs typeface="Liter" pitchFamily="34" charset="-120"/>
              </a:rPr>
              <a:t>Note: SK Hynix ADR’s conversion books were temporarily closed until the new Korean shares became transferable/listed on July 29. Before then, Citibank, the depositary bank, could not freely process ADR issuance or cancellation because the underlying newly issued common shares had not yet listed on the Korea Exchange.</a:t>
            </a:r>
          </a:p>
          <a:p>
            <a:pPr>
              <a:lnSpc>
                <a:spcPct val="140000"/>
              </a:lnSpc>
            </a:pPr>
            <a:endParaRPr lang="en-US" sz="1200" dirty="0"/>
          </a:p>
        </p:txBody>
      </p:sp>
      <p:sp>
        <p:nvSpPr>
          <p:cNvPr id="22" name="Text 20">
            <a:extLst>
              <a:ext uri="{FF2B5EF4-FFF2-40B4-BE49-F238E27FC236}">
                <a16:creationId xmlns:a16="http://schemas.microsoft.com/office/drawing/2014/main" id="{47706062-AA13-4D9A-5248-CA3FD9DB7437}"/>
              </a:ext>
            </a:extLst>
          </p:cNvPr>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16</a:t>
            </a:r>
            <a:endParaRPr lang="en-US" sz="1200" dirty="0"/>
          </a:p>
        </p:txBody>
      </p:sp>
      <p:pic>
        <p:nvPicPr>
          <p:cNvPr id="29" name="Picture 28">
            <a:extLst>
              <a:ext uri="{FF2B5EF4-FFF2-40B4-BE49-F238E27FC236}">
                <a16:creationId xmlns:a16="http://schemas.microsoft.com/office/drawing/2014/main" id="{1E10D09F-418C-BEFD-7199-C41B9D480FB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28697" y="1396304"/>
            <a:ext cx="7365304" cy="2906020"/>
          </a:xfrm>
          <a:prstGeom prst="rect">
            <a:avLst/>
          </a:prstGeom>
        </p:spPr>
      </p:pic>
      <p:pic>
        <p:nvPicPr>
          <p:cNvPr id="31" name="Picture 30">
            <a:extLst>
              <a:ext uri="{FF2B5EF4-FFF2-40B4-BE49-F238E27FC236}">
                <a16:creationId xmlns:a16="http://schemas.microsoft.com/office/drawing/2014/main" id="{9404E663-BDB7-0B49-0A8B-2EA9CFA4A676}"/>
              </a:ext>
              <a:ext uri="{C183D7F6-B498-43B3-948B-1728B52AA6E4}">
                <adec:decorative xmlns:adec="http://schemas.microsoft.com/office/drawing/2017/decorative" val="1"/>
              </a:ext>
            </a:extLst>
          </p:cNvPr>
          <p:cNvPicPr>
            <a:picLocks noChangeAspect="1"/>
          </p:cNvPicPr>
          <p:nvPr/>
        </p:nvPicPr>
        <p:blipFill>
          <a:blip r:embed="rId4"/>
          <a:srcRect t="4370"/>
          <a:stretch>
            <a:fillRect/>
          </a:stretch>
        </p:blipFill>
        <p:spPr>
          <a:xfrm>
            <a:off x="762000" y="1384300"/>
            <a:ext cx="6858000" cy="2906020"/>
          </a:xfrm>
          <a:prstGeom prst="rect">
            <a:avLst/>
          </a:prstGeom>
        </p:spPr>
      </p:pic>
      <p:pic>
        <p:nvPicPr>
          <p:cNvPr id="34" name="Picture 33">
            <a:extLst>
              <a:ext uri="{FF2B5EF4-FFF2-40B4-BE49-F238E27FC236}">
                <a16:creationId xmlns:a16="http://schemas.microsoft.com/office/drawing/2014/main" id="{3068D0AF-7A2F-75B9-7B85-F995F9A156D1}"/>
              </a:ext>
            </a:extLst>
          </p:cNvPr>
          <p:cNvPicPr>
            <a:picLocks noChangeAspect="1"/>
          </p:cNvPicPr>
          <p:nvPr/>
        </p:nvPicPr>
        <p:blipFill>
          <a:blip r:embed="rId5"/>
          <a:srcRect t="6671"/>
          <a:stretch>
            <a:fillRect/>
          </a:stretch>
        </p:blipFill>
        <p:spPr>
          <a:xfrm>
            <a:off x="787401" y="4826001"/>
            <a:ext cx="6832600" cy="3471690"/>
          </a:xfrm>
          <a:prstGeom prst="rect">
            <a:avLst/>
          </a:prstGeom>
        </p:spPr>
      </p:pic>
      <p:sp>
        <p:nvSpPr>
          <p:cNvPr id="36" name="Rectangle 35">
            <a:extLst>
              <a:ext uri="{FF2B5EF4-FFF2-40B4-BE49-F238E27FC236}">
                <a16:creationId xmlns:a16="http://schemas.microsoft.com/office/drawing/2014/main" id="{85971344-B038-4657-DC45-741B8157AD20}"/>
              </a:ext>
            </a:extLst>
          </p:cNvPr>
          <p:cNvSpPr/>
          <p:nvPr/>
        </p:nvSpPr>
        <p:spPr>
          <a:xfrm>
            <a:off x="5010410" y="1354134"/>
            <a:ext cx="839245" cy="296071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792786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B3253-C520-F69C-DAC7-96F6A340540B}"/>
            </a:ext>
          </a:extLst>
        </p:cNvPr>
        <p:cNvGrpSpPr/>
        <p:nvPr/>
      </p:nvGrpSpPr>
      <p:grpSpPr>
        <a:xfrm>
          <a:off x="0" y="0"/>
          <a:ext cx="0" cy="0"/>
          <a:chOff x="0" y="0"/>
          <a:chExt cx="0" cy="0"/>
        </a:xfrm>
      </p:grpSpPr>
      <p:pic>
        <p:nvPicPr>
          <p:cNvPr id="660" name="Graphic 659">
            <a:extLst>
              <a:ext uri="{FF2B5EF4-FFF2-40B4-BE49-F238E27FC236}">
                <a16:creationId xmlns:a16="http://schemas.microsoft.com/office/drawing/2014/main" id="{E22D3E6F-8E80-9004-47DD-4A23D405F1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42823" y="847800"/>
            <a:ext cx="4986888" cy="5018053"/>
          </a:xfrm>
          <a:prstGeom prst="rect">
            <a:avLst/>
          </a:prstGeom>
        </p:spPr>
      </p:pic>
      <p:grpSp>
        <p:nvGrpSpPr>
          <p:cNvPr id="7" name="Group 6">
            <a:extLst>
              <a:ext uri="{FF2B5EF4-FFF2-40B4-BE49-F238E27FC236}">
                <a16:creationId xmlns:a16="http://schemas.microsoft.com/office/drawing/2014/main" id="{9B91ECE8-0E01-1C58-7BDD-06D4C019DB28}"/>
              </a:ext>
            </a:extLst>
          </p:cNvPr>
          <p:cNvGrpSpPr/>
          <p:nvPr/>
        </p:nvGrpSpPr>
        <p:grpSpPr>
          <a:xfrm>
            <a:off x="12214120" y="8750105"/>
            <a:ext cx="3400141" cy="340771"/>
            <a:chOff x="9160590" y="6563831"/>
            <a:chExt cx="2550106" cy="255578"/>
          </a:xfrm>
        </p:grpSpPr>
        <p:pic>
          <p:nvPicPr>
            <p:cNvPr id="46" name="Picture 45" descr="Logo&#10;&#10;Description automatically generated">
              <a:extLst>
                <a:ext uri="{FF2B5EF4-FFF2-40B4-BE49-F238E27FC236}">
                  <a16:creationId xmlns:a16="http://schemas.microsoft.com/office/drawing/2014/main" id="{3E445B58-AFAC-A583-2B18-C76C514494C6}"/>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47" name="Rectangle 19">
              <a:extLst>
                <a:ext uri="{FF2B5EF4-FFF2-40B4-BE49-F238E27FC236}">
                  <a16:creationId xmlns:a16="http://schemas.microsoft.com/office/drawing/2014/main" id="{911B1D71-BA88-8127-4EE6-6EFAFE9404D6}"/>
                </a:ext>
              </a:extLst>
            </p:cNvPr>
            <p:cNvSpPr/>
            <p:nvPr/>
          </p:nvSpPr>
          <p:spPr>
            <a:xfrm>
              <a:off x="9160590" y="6614676"/>
              <a:ext cx="2265443" cy="153841"/>
            </a:xfrm>
            <a:prstGeom prst="rect">
              <a:avLst/>
            </a:prstGeom>
          </p:spPr>
          <p:txBody>
            <a:bodyPr wrap="square" lIns="0" tIns="0" rIns="0" bIns="0">
              <a:spAutoFit/>
            </a:bodyPr>
            <a:lstStyle/>
            <a:p>
              <a:pPr algn="r" defTabSz="1219170">
                <a:defRPr/>
              </a:pPr>
              <a:r>
                <a:rPr lang="en-US" altLang="zh-CN" sz="1333" spc="-40" dirty="0">
                  <a:solidFill>
                    <a:prstClr val="white"/>
                  </a:solidFill>
                  <a:latin typeface="Calibri Light"/>
                  <a:ea typeface="Microsoft JhengHei"/>
                </a:rPr>
                <a:t>CSOP Asset Management</a:t>
              </a:r>
              <a:endParaRPr lang="zh-CN" altLang="en-US" sz="1333" dirty="0">
                <a:solidFill>
                  <a:prstClr val="white"/>
                </a:solidFill>
                <a:latin typeface="Calibri Light"/>
                <a:ea typeface="Microsoft JhengHei"/>
              </a:endParaRPr>
            </a:p>
          </p:txBody>
        </p:sp>
      </p:grpSp>
      <p:sp>
        <p:nvSpPr>
          <p:cNvPr id="32" name="圆角矩形 3">
            <a:extLst>
              <a:ext uri="{FF2B5EF4-FFF2-40B4-BE49-F238E27FC236}">
                <a16:creationId xmlns:a16="http://schemas.microsoft.com/office/drawing/2014/main" id="{F6BF7C52-3903-1D6E-D841-F06BE20C2429}"/>
              </a:ext>
            </a:extLst>
          </p:cNvPr>
          <p:cNvSpPr/>
          <p:nvPr/>
        </p:nvSpPr>
        <p:spPr>
          <a:xfrm rot="2700000">
            <a:off x="6689530" y="2745145"/>
            <a:ext cx="3899372" cy="3899372"/>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3" name="椭圆 4">
            <a:extLst>
              <a:ext uri="{FF2B5EF4-FFF2-40B4-BE49-F238E27FC236}">
                <a16:creationId xmlns:a16="http://schemas.microsoft.com/office/drawing/2014/main" id="{42A622D4-32E0-95F7-842B-24321BB54C75}"/>
              </a:ext>
            </a:extLst>
          </p:cNvPr>
          <p:cNvSpPr/>
          <p:nvPr/>
        </p:nvSpPr>
        <p:spPr>
          <a:xfrm>
            <a:off x="6000646" y="2056259"/>
            <a:ext cx="5277140" cy="5277140"/>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nvGrpSpPr>
          <p:cNvPr id="34" name="组合 6">
            <a:extLst>
              <a:ext uri="{FF2B5EF4-FFF2-40B4-BE49-F238E27FC236}">
                <a16:creationId xmlns:a16="http://schemas.microsoft.com/office/drawing/2014/main" id="{239FD481-D290-FC32-FCC8-EDB04D673A89}"/>
              </a:ext>
            </a:extLst>
          </p:cNvPr>
          <p:cNvGrpSpPr/>
          <p:nvPr/>
        </p:nvGrpSpPr>
        <p:grpSpPr>
          <a:xfrm>
            <a:off x="6600753" y="2855029"/>
            <a:ext cx="4126435" cy="3698616"/>
            <a:chOff x="4950565" y="2141272"/>
            <a:chExt cx="3094826" cy="2773962"/>
          </a:xfrm>
        </p:grpSpPr>
        <p:sp>
          <p:nvSpPr>
            <p:cNvPr id="35" name="椭圆 43">
              <a:extLst>
                <a:ext uri="{FF2B5EF4-FFF2-40B4-BE49-F238E27FC236}">
                  <a16:creationId xmlns:a16="http://schemas.microsoft.com/office/drawing/2014/main" id="{6C7EF4FB-AB58-7BB5-EACB-97EEEB2C53D5}"/>
                </a:ext>
              </a:extLst>
            </p:cNvPr>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6" name="椭圆 44">
              <a:extLst>
                <a:ext uri="{FF2B5EF4-FFF2-40B4-BE49-F238E27FC236}">
                  <a16:creationId xmlns:a16="http://schemas.microsoft.com/office/drawing/2014/main" id="{3D39AA92-7248-EE85-F652-68B209426279}"/>
                </a:ext>
              </a:extLst>
            </p:cNvPr>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grpSp>
        <p:nvGrpSpPr>
          <p:cNvPr id="37" name="组合 5">
            <a:extLst>
              <a:ext uri="{FF2B5EF4-FFF2-40B4-BE49-F238E27FC236}">
                <a16:creationId xmlns:a16="http://schemas.microsoft.com/office/drawing/2014/main" id="{C312A825-560E-71FE-22EB-AB37C4D82163}"/>
              </a:ext>
            </a:extLst>
          </p:cNvPr>
          <p:cNvGrpSpPr/>
          <p:nvPr/>
        </p:nvGrpSpPr>
        <p:grpSpPr>
          <a:xfrm>
            <a:off x="6604306" y="2855030"/>
            <a:ext cx="4112293" cy="3731037"/>
            <a:chOff x="4953229" y="2141272"/>
            <a:chExt cx="3084220" cy="2798278"/>
          </a:xfrm>
        </p:grpSpPr>
        <p:sp>
          <p:nvSpPr>
            <p:cNvPr id="38" name="椭圆 45">
              <a:extLst>
                <a:ext uri="{FF2B5EF4-FFF2-40B4-BE49-F238E27FC236}">
                  <a16:creationId xmlns:a16="http://schemas.microsoft.com/office/drawing/2014/main" id="{44A4B2A3-0790-BAE2-A991-F685CA3F06F3}"/>
                </a:ext>
              </a:extLst>
            </p:cNvPr>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9" name="椭圆 46">
              <a:extLst>
                <a:ext uri="{FF2B5EF4-FFF2-40B4-BE49-F238E27FC236}">
                  <a16:creationId xmlns:a16="http://schemas.microsoft.com/office/drawing/2014/main" id="{33F2993E-4E88-B046-9688-A80173763CF6}"/>
                </a:ext>
              </a:extLst>
            </p:cNvPr>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sp>
        <p:nvSpPr>
          <p:cNvPr id="40" name="矩形 19">
            <a:extLst>
              <a:ext uri="{FF2B5EF4-FFF2-40B4-BE49-F238E27FC236}">
                <a16:creationId xmlns:a16="http://schemas.microsoft.com/office/drawing/2014/main" id="{87869EBB-A74F-EF3C-AC2A-3242CD994BD6}"/>
              </a:ext>
            </a:extLst>
          </p:cNvPr>
          <p:cNvSpPr/>
          <p:nvPr/>
        </p:nvSpPr>
        <p:spPr>
          <a:xfrm>
            <a:off x="6348606" y="4084476"/>
            <a:ext cx="4476329" cy="1241237"/>
          </a:xfrm>
          <a:prstGeom prst="rect">
            <a:avLst/>
          </a:prstGeom>
          <a:ln>
            <a:noFill/>
          </a:ln>
        </p:spPr>
        <p:txBody>
          <a:bodyPr wrap="square">
            <a:spAutoFit/>
          </a:bodyPr>
          <a:lstStyle/>
          <a:p>
            <a:pPr lvl="0" algn="ctr">
              <a:defRPr/>
            </a:pPr>
            <a:r>
              <a:rPr lang="en-US" altLang="zh-CN" sz="3733" b="1" dirty="0">
                <a:solidFill>
                  <a:srgbClr val="2660AD"/>
                </a:solidFill>
                <a:ea typeface="微软雅黑" panose="020B0503020204020204" pitchFamily="34" charset="-122"/>
                <a:sym typeface="+mn-lt"/>
              </a:rPr>
              <a:t>2H26 Earnings Expectation</a:t>
            </a:r>
          </a:p>
        </p:txBody>
      </p:sp>
      <p:sp>
        <p:nvSpPr>
          <p:cNvPr id="42" name="矩形 21">
            <a:extLst>
              <a:ext uri="{FF2B5EF4-FFF2-40B4-BE49-F238E27FC236}">
                <a16:creationId xmlns:a16="http://schemas.microsoft.com/office/drawing/2014/main" id="{06551A85-A48D-8B0A-F301-EBA216DEA535}"/>
              </a:ext>
            </a:extLst>
          </p:cNvPr>
          <p:cNvSpPr/>
          <p:nvPr/>
        </p:nvSpPr>
        <p:spPr>
          <a:xfrm rot="13500000">
            <a:off x="4263885" y="3800097"/>
            <a:ext cx="1789457" cy="1789460"/>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43" name="矩形 22">
            <a:extLst>
              <a:ext uri="{FF2B5EF4-FFF2-40B4-BE49-F238E27FC236}">
                <a16:creationId xmlns:a16="http://schemas.microsoft.com/office/drawing/2014/main" id="{714584DE-0B36-55FA-A10B-272A24E54D36}"/>
              </a:ext>
            </a:extLst>
          </p:cNvPr>
          <p:cNvSpPr/>
          <p:nvPr/>
        </p:nvSpPr>
        <p:spPr>
          <a:xfrm>
            <a:off x="4488709" y="4044381"/>
            <a:ext cx="1146468" cy="1077218"/>
          </a:xfrm>
          <a:prstGeom prst="rect">
            <a:avLst/>
          </a:prstGeom>
        </p:spPr>
        <p:txBody>
          <a:bodyPr wrap="none">
            <a:spAutoFit/>
          </a:bodyPr>
          <a:lstStyle/>
          <a:p>
            <a:pPr defTabSz="1219170">
              <a:defRPr/>
            </a:pPr>
            <a:r>
              <a:rPr lang="en-US" altLang="zh-CN" sz="6400" dirty="0">
                <a:solidFill>
                  <a:prstClr val="white"/>
                </a:solidFill>
                <a:latin typeface="微软雅黑" panose="020B0503020204020204" pitchFamily="34" charset="-122"/>
                <a:ea typeface="微软雅黑" panose="020B0503020204020204" pitchFamily="34" charset="-122"/>
                <a:sym typeface="+mn-lt"/>
              </a:rPr>
              <a:t>04</a:t>
            </a:r>
            <a:endParaRPr lang="zh-CN" altLang="en-US" sz="6400" dirty="0">
              <a:solidFill>
                <a:prstClr val="white"/>
              </a:solidFill>
              <a:latin typeface="微软雅黑" panose="020B0503020204020204" pitchFamily="34" charset="-122"/>
              <a:ea typeface="微软雅黑" panose="020B0503020204020204" pitchFamily="34" charset="-122"/>
              <a:sym typeface="+mn-lt"/>
            </a:endParaRPr>
          </a:p>
        </p:txBody>
      </p:sp>
      <p:sp>
        <p:nvSpPr>
          <p:cNvPr id="3" name="Slide Number Placeholder 2">
            <a:extLst>
              <a:ext uri="{FF2B5EF4-FFF2-40B4-BE49-F238E27FC236}">
                <a16:creationId xmlns:a16="http://schemas.microsoft.com/office/drawing/2014/main" id="{617F7430-1256-71BA-FE34-E30B0C404A90}"/>
              </a:ext>
            </a:extLst>
          </p:cNvPr>
          <p:cNvSpPr>
            <a:spLocks noGrp="1"/>
          </p:cNvSpPr>
          <p:nvPr>
            <p:ph type="sldNum" sz="quarter" idx="4"/>
          </p:nvPr>
        </p:nvSpPr>
        <p:spPr>
          <a:xfrm>
            <a:off x="15614261" y="8743433"/>
            <a:ext cx="439212" cy="369332"/>
          </a:xfrm>
          <a:prstGeom prst="rect">
            <a:avLst/>
          </a:prstGeom>
        </p:spPr>
        <p:txBody>
          <a:bodyPr/>
          <a:lstStyle>
            <a:defPPr>
              <a:defRPr lang="en-US"/>
            </a:defPPr>
            <a:lvl1pPr marL="0" algn="r" defTabSz="1219170" rtl="0" eaLnBrk="1" latinLnBrk="0" hangingPunct="1">
              <a:defRPr sz="2400" kern="1200">
                <a:solidFill>
                  <a:schemeClr val="bg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defRPr/>
            </a:pPr>
            <a:fld id="{CC7D48C0-AA79-46F3-BF6F-F82B468F2D98}" type="slidenum">
              <a:rPr lang="en-US" sz="1333">
                <a:solidFill>
                  <a:prstClr val="white"/>
                </a:solidFill>
                <a:latin typeface="Calibri"/>
                <a:ea typeface="Microsoft JhengHei"/>
              </a:rPr>
              <a:pPr>
                <a:defRPr/>
              </a:pPr>
              <a:t>17</a:t>
            </a:fld>
            <a:endParaRPr lang="en-US" sz="1333" dirty="0">
              <a:solidFill>
                <a:prstClr val="white"/>
              </a:solidFill>
              <a:latin typeface="Calibri Light"/>
              <a:ea typeface="Microsoft JhengHei"/>
            </a:endParaRPr>
          </a:p>
        </p:txBody>
      </p:sp>
    </p:spTree>
    <p:custDataLst>
      <p:tags r:id="rId1"/>
    </p:custDataLst>
    <p:extLst>
      <p:ext uri="{BB962C8B-B14F-4D97-AF65-F5344CB8AC3E}">
        <p14:creationId xmlns:p14="http://schemas.microsoft.com/office/powerpoint/2010/main" val="2360786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en-US" sz="2400" b="1" dirty="0">
                <a:solidFill>
                  <a:srgbClr val="1B2F4A"/>
                </a:solidFill>
                <a:latin typeface="Liter" pitchFamily="34" charset="0"/>
                <a:ea typeface="Liter" pitchFamily="34" charset="-122"/>
                <a:cs typeface="Liter" pitchFamily="34" charset="-120"/>
              </a:rPr>
              <a:t>Earnings Expectation: Cycle Remains Powerful with Tech/AI as the Core Engine</a:t>
            </a:r>
            <a:endParaRPr lang="en-US" sz="24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7620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4.1 — Sector Screen: EPS Growth, Revision, and Valuations</a:t>
            </a:r>
            <a:endParaRPr lang="en-US" sz="1300" dirty="0"/>
          </a:p>
        </p:txBody>
      </p:sp>
      <p:sp>
        <p:nvSpPr>
          <p:cNvPr id="7" name="Shape 5"/>
          <p:cNvSpPr/>
          <p:nvPr/>
        </p:nvSpPr>
        <p:spPr>
          <a:xfrm>
            <a:off x="762000" y="1371600"/>
            <a:ext cx="8890000" cy="6400800"/>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71600"/>
            <a:ext cx="8890000" cy="3937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Sector Screen — EPS Growth, Revision, and Valuations]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Tech: 60% of KOSPI mkt cap, 464% EPS growth 26E</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Broadening into construction, industrials, defense</a:t>
            </a:r>
            <a:endParaRPr lang="en-US" sz="1400" dirty="0"/>
          </a:p>
        </p:txBody>
      </p:sp>
      <p:sp>
        <p:nvSpPr>
          <p:cNvPr id="9" name="Shape 7"/>
          <p:cNvSpPr/>
          <p:nvPr/>
        </p:nvSpPr>
        <p:spPr>
          <a:xfrm>
            <a:off x="10033000" y="1371600"/>
            <a:ext cx="5461000" cy="3937000"/>
          </a:xfrm>
          <a:prstGeom prst="rect">
            <a:avLst/>
          </a:prstGeom>
          <a:solidFill>
            <a:srgbClr val="F7F8FA"/>
          </a:solidFill>
          <a:ln/>
        </p:spPr>
        <p:txBody>
          <a:bodyPr/>
          <a:lstStyle/>
          <a:p>
            <a:endParaRPr lang="en-US"/>
          </a:p>
        </p:txBody>
      </p:sp>
      <p:sp>
        <p:nvSpPr>
          <p:cNvPr id="10" name="Shape 8"/>
          <p:cNvSpPr/>
          <p:nvPr/>
        </p:nvSpPr>
        <p:spPr>
          <a:xfrm>
            <a:off x="10033000" y="1371600"/>
            <a:ext cx="5461000" cy="50800"/>
          </a:xfrm>
          <a:prstGeom prst="rect">
            <a:avLst/>
          </a:prstGeom>
          <a:solidFill>
            <a:srgbClr val="C4963A"/>
          </a:solidFill>
          <a:ln/>
        </p:spPr>
        <p:txBody>
          <a:bodyPr/>
          <a:lstStyle/>
          <a:p>
            <a:endParaRPr lang="en-US"/>
          </a:p>
        </p:txBody>
      </p:sp>
      <p:sp>
        <p:nvSpPr>
          <p:cNvPr id="11" name="Text 9"/>
          <p:cNvSpPr/>
          <p:nvPr/>
        </p:nvSpPr>
        <p:spPr>
          <a:xfrm>
            <a:off x="10287000" y="1549400"/>
            <a:ext cx="381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Earnings Outlook:</a:t>
            </a:r>
            <a:endParaRPr lang="en-US" sz="1600" dirty="0"/>
          </a:p>
        </p:txBody>
      </p:sp>
      <p:sp>
        <p:nvSpPr>
          <p:cNvPr id="12" name="Text 10"/>
          <p:cNvSpPr/>
          <p:nvPr/>
        </p:nvSpPr>
        <p:spPr>
          <a:xfrm>
            <a:off x="10287000" y="1930400"/>
            <a:ext cx="4953000" cy="3378200"/>
          </a:xfrm>
          <a:prstGeom prst="rect">
            <a:avLst/>
          </a:prstGeom>
          <a:noFill/>
          <a:ln/>
        </p:spPr>
        <p:txBody>
          <a:bodyPr wrap="square" lIns="0" tIns="0" rIns="0" bIns="0" rtlCol="0" anchor="t"/>
          <a:lstStyle/>
          <a:p>
            <a:pPr marL="222250" indent="-222250" algn="l">
              <a:lnSpc>
                <a:spcPct val="15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Sell-side remains </a:t>
            </a:r>
            <a:r>
              <a:rPr lang="en-US" sz="1600" b="1" dirty="0" err="1">
                <a:solidFill>
                  <a:srgbClr val="2D3748"/>
                </a:solidFill>
                <a:latin typeface="Liter" pitchFamily="34" charset="0"/>
                <a:ea typeface="Liter" pitchFamily="34" charset="-122"/>
                <a:cs typeface="Liter" pitchFamily="34" charset="-120"/>
              </a:rPr>
              <a:t>constructuive</a:t>
            </a:r>
            <a:endParaRPr lang="en-US" sz="1600" b="1" dirty="0">
              <a:solidFill>
                <a:srgbClr val="2D3748"/>
              </a:solidFill>
              <a:latin typeface="Liter" pitchFamily="34" charset="0"/>
              <a:ea typeface="Liter" pitchFamily="34" charset="-122"/>
              <a:cs typeface="Liter" pitchFamily="34" charset="-120"/>
            </a:endParaRPr>
          </a:p>
          <a:p>
            <a:pPr marL="222250" indent="-222250" algn="l">
              <a:lnSpc>
                <a:spcPct val="15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Goldman Sachs:</a:t>
            </a:r>
            <a:r>
              <a:rPr lang="en-US" sz="1600" dirty="0">
                <a:solidFill>
                  <a:srgbClr val="2D3748"/>
                </a:solidFill>
                <a:latin typeface="Liter" pitchFamily="34" charset="0"/>
                <a:ea typeface="Liter" pitchFamily="34" charset="-122"/>
                <a:cs typeface="Liter" pitchFamily="34" charset="-120"/>
              </a:rPr>
              <a:t> Korea EPS growth </a:t>
            </a:r>
            <a:r>
              <a:rPr lang="en-US" sz="1600" b="1" dirty="0">
                <a:solidFill>
                  <a:srgbClr val="2D3748"/>
                </a:solidFill>
                <a:latin typeface="Liter" pitchFamily="34" charset="0"/>
                <a:ea typeface="Liter" pitchFamily="34" charset="-122"/>
                <a:cs typeface="Liter" pitchFamily="34" charset="-120"/>
              </a:rPr>
              <a:t>320%</a:t>
            </a:r>
            <a:r>
              <a:rPr lang="en-US" sz="1600" dirty="0">
                <a:solidFill>
                  <a:srgbClr val="2D3748"/>
                </a:solidFill>
                <a:latin typeface="Liter" pitchFamily="34" charset="0"/>
                <a:ea typeface="Liter" pitchFamily="34" charset="-122"/>
                <a:cs typeface="Liter" pitchFamily="34" charset="-120"/>
              </a:rPr>
              <a:t> in 2026, </a:t>
            </a:r>
            <a:r>
              <a:rPr lang="en-US" sz="1600" b="1" dirty="0">
                <a:solidFill>
                  <a:srgbClr val="2D3748"/>
                </a:solidFill>
                <a:latin typeface="Liter" pitchFamily="34" charset="0"/>
                <a:ea typeface="Liter" pitchFamily="34" charset="-122"/>
                <a:cs typeface="Liter" pitchFamily="34" charset="-120"/>
              </a:rPr>
              <a:t>35%</a:t>
            </a:r>
            <a:r>
              <a:rPr lang="en-US" sz="1600" dirty="0">
                <a:solidFill>
                  <a:srgbClr val="2D3748"/>
                </a:solidFill>
                <a:latin typeface="Liter" pitchFamily="34" charset="0"/>
                <a:ea typeface="Liter" pitchFamily="34" charset="-122"/>
                <a:cs typeface="Liter" pitchFamily="34" charset="-120"/>
              </a:rPr>
              <a:t> in 2027</a:t>
            </a:r>
            <a:endParaRPr lang="en-US" sz="1600" dirty="0"/>
          </a:p>
          <a:p>
            <a:pPr marL="222250" indent="-222250" algn="l">
              <a:lnSpc>
                <a:spcPct val="15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UBS:</a:t>
            </a:r>
            <a:r>
              <a:rPr lang="en-US" sz="1600" dirty="0">
                <a:solidFill>
                  <a:srgbClr val="2D3748"/>
                </a:solidFill>
                <a:latin typeface="Liter" pitchFamily="34" charset="0"/>
                <a:ea typeface="Liter" pitchFamily="34" charset="-122"/>
                <a:cs typeface="Liter" pitchFamily="34" charset="-120"/>
              </a:rPr>
              <a:t> Korea EPS growth </a:t>
            </a:r>
            <a:r>
              <a:rPr lang="en-US" sz="1600" b="1" dirty="0">
                <a:solidFill>
                  <a:srgbClr val="2D3748"/>
                </a:solidFill>
                <a:latin typeface="Liter" pitchFamily="34" charset="0"/>
                <a:ea typeface="Liter" pitchFamily="34" charset="-122"/>
                <a:cs typeface="Liter" pitchFamily="34" charset="-120"/>
              </a:rPr>
              <a:t>258%</a:t>
            </a:r>
            <a:r>
              <a:rPr lang="en-US" sz="1600" dirty="0">
                <a:solidFill>
                  <a:srgbClr val="2D3748"/>
                </a:solidFill>
                <a:latin typeface="Liter" pitchFamily="34" charset="0"/>
                <a:ea typeface="Liter" pitchFamily="34" charset="-122"/>
                <a:cs typeface="Liter" pitchFamily="34" charset="-120"/>
              </a:rPr>
              <a:t> in 2026, </a:t>
            </a:r>
            <a:r>
              <a:rPr lang="en-US" sz="1600" b="1" dirty="0">
                <a:solidFill>
                  <a:srgbClr val="2D3748"/>
                </a:solidFill>
                <a:latin typeface="Liter" pitchFamily="34" charset="0"/>
                <a:ea typeface="Liter" pitchFamily="34" charset="-122"/>
                <a:cs typeface="Liter" pitchFamily="34" charset="-120"/>
              </a:rPr>
              <a:t>46%</a:t>
            </a:r>
            <a:r>
              <a:rPr lang="en-US" sz="1600" dirty="0">
                <a:solidFill>
                  <a:srgbClr val="2D3748"/>
                </a:solidFill>
                <a:latin typeface="Liter" pitchFamily="34" charset="0"/>
                <a:ea typeface="Liter" pitchFamily="34" charset="-122"/>
                <a:cs typeface="Liter" pitchFamily="34" charset="-120"/>
              </a:rPr>
              <a:t> in 2027</a:t>
            </a:r>
            <a:endParaRPr lang="en-US" sz="1600" dirty="0"/>
          </a:p>
          <a:p>
            <a:pPr marL="222250" indent="-222250">
              <a:lnSpc>
                <a:spcPct val="15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Tech/AI core engine:</a:t>
            </a:r>
            <a:r>
              <a:rPr lang="en-US" sz="1600" dirty="0">
                <a:solidFill>
                  <a:srgbClr val="2D3748"/>
                </a:solidFill>
                <a:latin typeface="Liter" pitchFamily="34" charset="0"/>
                <a:ea typeface="Liter" pitchFamily="34" charset="-122"/>
                <a:cs typeface="Liter" pitchFamily="34" charset="-120"/>
              </a:rPr>
              <a:t> 60% of KOSPI mkt cap, </a:t>
            </a:r>
            <a:r>
              <a:rPr lang="en-US" sz="1600" b="1" dirty="0">
                <a:solidFill>
                  <a:srgbClr val="2D3748"/>
                </a:solidFill>
                <a:latin typeface="Liter" pitchFamily="34" charset="0"/>
                <a:ea typeface="Liter" pitchFamily="34" charset="-122"/>
                <a:cs typeface="Liter" pitchFamily="34" charset="-120"/>
              </a:rPr>
              <a:t>464% EPS growth 26E</a:t>
            </a:r>
            <a:r>
              <a:rPr lang="en-US" sz="1600" dirty="0">
                <a:solidFill>
                  <a:srgbClr val="2D3748"/>
                </a:solidFill>
                <a:latin typeface="Liter" pitchFamily="34" charset="0"/>
                <a:ea typeface="Liter" pitchFamily="34" charset="-122"/>
                <a:cs typeface="Liter" pitchFamily="34" charset="-120"/>
              </a:rPr>
              <a:t>, 41% EPS growth 27E</a:t>
            </a:r>
            <a:endParaRPr lang="en-US" sz="1600" dirty="0"/>
          </a:p>
          <a:p>
            <a:pPr marL="222250" indent="-222250" algn="l">
              <a:lnSpc>
                <a:spcPct val="15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Broadening recovery:</a:t>
            </a:r>
            <a:r>
              <a:rPr lang="en-US" sz="1600" dirty="0">
                <a:solidFill>
                  <a:srgbClr val="2D3748"/>
                </a:solidFill>
                <a:latin typeface="Liter" pitchFamily="34" charset="0"/>
                <a:ea typeface="Liter" pitchFamily="34" charset="-122"/>
                <a:cs typeface="Liter" pitchFamily="34" charset="-120"/>
              </a:rPr>
              <a:t> Construction, electrical equipment, shipbuilding, industrials, defense show </a:t>
            </a:r>
            <a:r>
              <a:rPr lang="en-US" sz="1600" b="1" dirty="0">
                <a:solidFill>
                  <a:srgbClr val="2D3748"/>
                </a:solidFill>
                <a:latin typeface="Liter" pitchFamily="34" charset="0"/>
                <a:ea typeface="Liter" pitchFamily="34" charset="-122"/>
                <a:cs typeface="Liter" pitchFamily="34" charset="-120"/>
              </a:rPr>
              <a:t>strong earning growth / positive revisions</a:t>
            </a:r>
            <a:endParaRPr lang="en-US" sz="1600" b="1" dirty="0"/>
          </a:p>
        </p:txBody>
      </p:sp>
      <p:sp>
        <p:nvSpPr>
          <p:cNvPr id="16" name="Text 14"/>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UBS, Goldman Sachs.</a:t>
            </a:r>
            <a:endParaRPr lang="en-US" sz="1200" dirty="0"/>
          </a:p>
        </p:txBody>
      </p:sp>
      <p:sp>
        <p:nvSpPr>
          <p:cNvPr id="17" name="Text 15"/>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18</a:t>
            </a:r>
            <a:endParaRPr lang="en-US" sz="1200" dirty="0"/>
          </a:p>
        </p:txBody>
      </p:sp>
      <p:pic>
        <p:nvPicPr>
          <p:cNvPr id="18" name="Picture 17">
            <a:extLst>
              <a:ext uri="{FF2B5EF4-FFF2-40B4-BE49-F238E27FC236}">
                <a16:creationId xmlns:a16="http://schemas.microsoft.com/office/drawing/2014/main" id="{C3F7059F-6614-BE47-1C0E-C9EFDCE4CD5D}"/>
              </a:ext>
            </a:extLst>
          </p:cNvPr>
          <p:cNvPicPr>
            <a:picLocks noChangeAspect="1"/>
          </p:cNvPicPr>
          <p:nvPr/>
        </p:nvPicPr>
        <p:blipFill>
          <a:blip r:embed="rId3"/>
          <a:stretch>
            <a:fillRect/>
          </a:stretch>
        </p:blipFill>
        <p:spPr>
          <a:xfrm>
            <a:off x="761999" y="1371600"/>
            <a:ext cx="8890001" cy="6400800"/>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B43995-B368-E49F-90B2-C8F577D17D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673D73D-BE0C-447F-CA99-56A3199AE499}"/>
              </a:ext>
            </a:extLst>
          </p:cNvPr>
          <p:cNvSpPr/>
          <p:nvPr/>
        </p:nvSpPr>
        <p:spPr>
          <a:xfrm>
            <a:off x="762000" y="279400"/>
            <a:ext cx="50800" cy="508000"/>
          </a:xfrm>
          <a:prstGeom prst="rect">
            <a:avLst/>
          </a:prstGeom>
          <a:solidFill>
            <a:srgbClr val="C4963A"/>
          </a:solidFill>
          <a:ln/>
        </p:spPr>
        <p:txBody>
          <a:bodyPr/>
          <a:lstStyle/>
          <a:p>
            <a:endParaRPr lang="en-US"/>
          </a:p>
        </p:txBody>
      </p:sp>
      <p:sp>
        <p:nvSpPr>
          <p:cNvPr id="3" name="Text 1">
            <a:extLst>
              <a:ext uri="{FF2B5EF4-FFF2-40B4-BE49-F238E27FC236}">
                <a16:creationId xmlns:a16="http://schemas.microsoft.com/office/drawing/2014/main" id="{DFA86E26-EA01-10C1-038D-3D343F06C78E}"/>
              </a:ext>
            </a:extLst>
          </p:cNvPr>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400" b="1" dirty="0">
                <a:solidFill>
                  <a:srgbClr val="1B2F4A"/>
                </a:solidFill>
                <a:latin typeface="Liter" pitchFamily="34" charset="0"/>
                <a:ea typeface="Liter" pitchFamily="34" charset="-122"/>
                <a:cs typeface="Liter" pitchFamily="34" charset="-120"/>
              </a:rPr>
              <a:t>Demand Dynamics: What Drove Strong Earnings Growth in Tech/AI/Memories</a:t>
            </a:r>
            <a:endParaRPr lang="en-US" sz="2400" dirty="0"/>
          </a:p>
        </p:txBody>
      </p:sp>
      <p:sp>
        <p:nvSpPr>
          <p:cNvPr id="4" name="Shape 2">
            <a:extLst>
              <a:ext uri="{FF2B5EF4-FFF2-40B4-BE49-F238E27FC236}">
                <a16:creationId xmlns:a16="http://schemas.microsoft.com/office/drawing/2014/main" id="{7754391E-0E2A-3CE1-B243-B67CF2E5D85C}"/>
              </a:ext>
            </a:extLst>
          </p:cNvPr>
          <p:cNvSpPr/>
          <p:nvPr/>
        </p:nvSpPr>
        <p:spPr>
          <a:xfrm>
            <a:off x="762000" y="838200"/>
            <a:ext cx="14732000" cy="12700"/>
          </a:xfrm>
          <a:prstGeom prst="rect">
            <a:avLst/>
          </a:prstGeom>
          <a:solidFill>
            <a:srgbClr val="E2E8F0"/>
          </a:solidFill>
          <a:ln/>
        </p:spPr>
        <p:txBody>
          <a:bodyPr/>
          <a:lstStyle/>
          <a:p>
            <a:endParaRPr lang="en-US"/>
          </a:p>
        </p:txBody>
      </p:sp>
      <p:sp>
        <p:nvSpPr>
          <p:cNvPr id="5" name="Shape 3">
            <a:extLst>
              <a:ext uri="{FF2B5EF4-FFF2-40B4-BE49-F238E27FC236}">
                <a16:creationId xmlns:a16="http://schemas.microsoft.com/office/drawing/2014/main" id="{FB0590DA-79EF-D55B-B1AC-E528CF3F9B02}"/>
              </a:ext>
            </a:extLst>
          </p:cNvPr>
          <p:cNvSpPr/>
          <p:nvPr/>
        </p:nvSpPr>
        <p:spPr>
          <a:xfrm>
            <a:off x="762000" y="1041400"/>
            <a:ext cx="50800" cy="254000"/>
          </a:xfrm>
          <a:prstGeom prst="rect">
            <a:avLst/>
          </a:prstGeom>
          <a:solidFill>
            <a:srgbClr val="C4963A"/>
          </a:solidFill>
          <a:ln/>
        </p:spPr>
        <p:txBody>
          <a:bodyPr/>
          <a:lstStyle/>
          <a:p>
            <a:endParaRPr lang="en-US"/>
          </a:p>
        </p:txBody>
      </p:sp>
      <p:sp>
        <p:nvSpPr>
          <p:cNvPr id="6" name="Text 4">
            <a:extLst>
              <a:ext uri="{FF2B5EF4-FFF2-40B4-BE49-F238E27FC236}">
                <a16:creationId xmlns:a16="http://schemas.microsoft.com/office/drawing/2014/main" id="{9DFCC0F5-013B-9305-741B-590959329667}"/>
              </a:ext>
            </a:extLst>
          </p:cNvPr>
          <p:cNvSpPr/>
          <p:nvPr/>
        </p:nvSpPr>
        <p:spPr>
          <a:xfrm>
            <a:off x="914400" y="1016000"/>
            <a:ext cx="6858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4.2 — Cloud Service Provider </a:t>
            </a:r>
            <a:r>
              <a:rPr lang="en-US" sz="1300" b="1" dirty="0" err="1">
                <a:solidFill>
                  <a:srgbClr val="1B2F4A"/>
                </a:solidFill>
                <a:latin typeface="Liter" pitchFamily="34" charset="0"/>
                <a:ea typeface="Liter" pitchFamily="34" charset="-122"/>
                <a:cs typeface="Liter" pitchFamily="34" charset="-120"/>
              </a:rPr>
              <a:t>CapEx</a:t>
            </a:r>
            <a:r>
              <a:rPr lang="en-US" sz="1300" b="1" dirty="0">
                <a:solidFill>
                  <a:srgbClr val="1B2F4A"/>
                </a:solidFill>
                <a:latin typeface="Liter" pitchFamily="34" charset="0"/>
                <a:ea typeface="Liter" pitchFamily="34" charset="-122"/>
                <a:cs typeface="Liter" pitchFamily="34" charset="-120"/>
              </a:rPr>
              <a:t> and Memory as % of CSP Capex Forecast</a:t>
            </a:r>
            <a:endParaRPr lang="en-US" sz="1300" dirty="0"/>
          </a:p>
        </p:txBody>
      </p:sp>
      <p:sp>
        <p:nvSpPr>
          <p:cNvPr id="7" name="Shape 5">
            <a:extLst>
              <a:ext uri="{FF2B5EF4-FFF2-40B4-BE49-F238E27FC236}">
                <a16:creationId xmlns:a16="http://schemas.microsoft.com/office/drawing/2014/main" id="{DECA1EBD-4668-3E9E-E4AF-66075BB20048}"/>
              </a:ext>
            </a:extLst>
          </p:cNvPr>
          <p:cNvSpPr/>
          <p:nvPr/>
        </p:nvSpPr>
        <p:spPr>
          <a:xfrm>
            <a:off x="762000" y="1371600"/>
            <a:ext cx="6858000" cy="3048042"/>
          </a:xfrm>
          <a:prstGeom prst="rect">
            <a:avLst/>
          </a:prstGeom>
          <a:solidFill>
            <a:srgbClr val="F7F8FA"/>
          </a:solidFill>
          <a:ln w="12700">
            <a:solidFill>
              <a:srgbClr val="E2E8F0"/>
            </a:solidFill>
            <a:prstDash val="solid"/>
          </a:ln>
        </p:spPr>
        <p:txBody>
          <a:bodyPr/>
          <a:lstStyle/>
          <a:p>
            <a:endParaRPr lang="en-US"/>
          </a:p>
        </p:txBody>
      </p:sp>
      <p:sp>
        <p:nvSpPr>
          <p:cNvPr id="8" name="Text 6">
            <a:extLst>
              <a:ext uri="{FF2B5EF4-FFF2-40B4-BE49-F238E27FC236}">
                <a16:creationId xmlns:a16="http://schemas.microsoft.com/office/drawing/2014/main" id="{87789C33-0BD0-6137-50C5-BB675D39F4F0}"/>
              </a:ext>
            </a:extLst>
          </p:cNvPr>
          <p:cNvSpPr/>
          <p:nvPr/>
        </p:nvSpPr>
        <p:spPr>
          <a:xfrm>
            <a:off x="762000" y="1371600"/>
            <a:ext cx="6858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Retail Investors' Deposit Balance vs. Margin Loan Balance]</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Deposit growth outpacing margin loan growth</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Margin loan-to-deposit ratio declining</a:t>
            </a:r>
            <a:endParaRPr lang="en-US" sz="1400" dirty="0"/>
          </a:p>
        </p:txBody>
      </p:sp>
      <p:sp>
        <p:nvSpPr>
          <p:cNvPr id="9" name="Shape 7">
            <a:extLst>
              <a:ext uri="{FF2B5EF4-FFF2-40B4-BE49-F238E27FC236}">
                <a16:creationId xmlns:a16="http://schemas.microsoft.com/office/drawing/2014/main" id="{429A99F2-3779-B19F-E44C-2F51BE536162}"/>
              </a:ext>
            </a:extLst>
          </p:cNvPr>
          <p:cNvSpPr/>
          <p:nvPr/>
        </p:nvSpPr>
        <p:spPr>
          <a:xfrm>
            <a:off x="8128000" y="1041400"/>
            <a:ext cx="50800" cy="254000"/>
          </a:xfrm>
          <a:prstGeom prst="rect">
            <a:avLst/>
          </a:prstGeom>
          <a:solidFill>
            <a:srgbClr val="C4963A"/>
          </a:solidFill>
          <a:ln/>
        </p:spPr>
        <p:txBody>
          <a:bodyPr/>
          <a:lstStyle/>
          <a:p>
            <a:endParaRPr lang="en-US"/>
          </a:p>
        </p:txBody>
      </p:sp>
      <p:sp>
        <p:nvSpPr>
          <p:cNvPr id="10" name="Text 8">
            <a:extLst>
              <a:ext uri="{FF2B5EF4-FFF2-40B4-BE49-F238E27FC236}">
                <a16:creationId xmlns:a16="http://schemas.microsoft.com/office/drawing/2014/main" id="{A5B122D5-FE56-A5B1-9ACA-1E5BA4A5FB87}"/>
              </a:ext>
            </a:extLst>
          </p:cNvPr>
          <p:cNvSpPr/>
          <p:nvPr/>
        </p:nvSpPr>
        <p:spPr>
          <a:xfrm>
            <a:off x="8280400" y="1016000"/>
            <a:ext cx="7112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4.3 — AI Server Bit (DRAM) Demand Growth Forecast</a:t>
            </a:r>
            <a:endParaRPr lang="en-US" sz="1300" dirty="0"/>
          </a:p>
        </p:txBody>
      </p:sp>
      <p:sp>
        <p:nvSpPr>
          <p:cNvPr id="11" name="Shape 9">
            <a:extLst>
              <a:ext uri="{FF2B5EF4-FFF2-40B4-BE49-F238E27FC236}">
                <a16:creationId xmlns:a16="http://schemas.microsoft.com/office/drawing/2014/main" id="{8C9B6D4D-745C-20B8-F546-5960A4C38049}"/>
              </a:ext>
            </a:extLst>
          </p:cNvPr>
          <p:cNvSpPr/>
          <p:nvPr/>
        </p:nvSpPr>
        <p:spPr>
          <a:xfrm>
            <a:off x="8128000" y="1371600"/>
            <a:ext cx="7366000" cy="3048042"/>
          </a:xfrm>
          <a:prstGeom prst="rect">
            <a:avLst/>
          </a:prstGeom>
          <a:solidFill>
            <a:srgbClr val="F7F8FA"/>
          </a:solidFill>
          <a:ln w="12700">
            <a:solidFill>
              <a:srgbClr val="E2E8F0"/>
            </a:solidFill>
            <a:prstDash val="solid"/>
          </a:ln>
        </p:spPr>
        <p:txBody>
          <a:bodyPr/>
          <a:lstStyle/>
          <a:p>
            <a:endParaRPr lang="en-US"/>
          </a:p>
        </p:txBody>
      </p:sp>
      <p:sp>
        <p:nvSpPr>
          <p:cNvPr id="12" name="Text 10">
            <a:extLst>
              <a:ext uri="{FF2B5EF4-FFF2-40B4-BE49-F238E27FC236}">
                <a16:creationId xmlns:a16="http://schemas.microsoft.com/office/drawing/2014/main" id="{65483BFD-402B-2A7A-DBDE-ABDE82C23B89}"/>
              </a:ext>
            </a:extLst>
          </p:cNvPr>
          <p:cNvSpPr/>
          <p:nvPr/>
        </p:nvSpPr>
        <p:spPr>
          <a:xfrm>
            <a:off x="8128000" y="1371600"/>
            <a:ext cx="7366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KOSPI RSI Time Series]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RSI fell back to &lt;60</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Below past stress peaks and overbought threshold</a:t>
            </a:r>
            <a:endParaRPr lang="en-US" sz="1400" dirty="0"/>
          </a:p>
        </p:txBody>
      </p:sp>
      <p:sp>
        <p:nvSpPr>
          <p:cNvPr id="13" name="Shape 11">
            <a:extLst>
              <a:ext uri="{FF2B5EF4-FFF2-40B4-BE49-F238E27FC236}">
                <a16:creationId xmlns:a16="http://schemas.microsoft.com/office/drawing/2014/main" id="{014A0A0D-6CAA-0C1D-FCA9-CDD288DDF76D}"/>
              </a:ext>
            </a:extLst>
          </p:cNvPr>
          <p:cNvSpPr/>
          <p:nvPr/>
        </p:nvSpPr>
        <p:spPr>
          <a:xfrm>
            <a:off x="8128000" y="4724400"/>
            <a:ext cx="7366000" cy="3632119"/>
          </a:xfrm>
          <a:prstGeom prst="rect">
            <a:avLst/>
          </a:prstGeom>
          <a:solidFill>
            <a:srgbClr val="F7F8FA"/>
          </a:solidFill>
          <a:ln/>
        </p:spPr>
        <p:txBody>
          <a:bodyPr/>
          <a:lstStyle/>
          <a:p>
            <a:endParaRPr lang="en-US"/>
          </a:p>
        </p:txBody>
      </p:sp>
      <p:sp>
        <p:nvSpPr>
          <p:cNvPr id="14" name="Shape 12">
            <a:extLst>
              <a:ext uri="{FF2B5EF4-FFF2-40B4-BE49-F238E27FC236}">
                <a16:creationId xmlns:a16="http://schemas.microsoft.com/office/drawing/2014/main" id="{CCFA7037-CD7C-3F43-4FF8-640C275013C8}"/>
              </a:ext>
            </a:extLst>
          </p:cNvPr>
          <p:cNvSpPr/>
          <p:nvPr/>
        </p:nvSpPr>
        <p:spPr>
          <a:xfrm>
            <a:off x="8128000" y="4681096"/>
            <a:ext cx="7366000" cy="45719"/>
          </a:xfrm>
          <a:prstGeom prst="rect">
            <a:avLst/>
          </a:prstGeom>
          <a:solidFill>
            <a:srgbClr val="C4963A"/>
          </a:solidFill>
          <a:ln/>
        </p:spPr>
        <p:txBody>
          <a:bodyPr/>
          <a:lstStyle/>
          <a:p>
            <a:endParaRPr lang="en-US"/>
          </a:p>
        </p:txBody>
      </p:sp>
      <p:sp>
        <p:nvSpPr>
          <p:cNvPr id="15" name="Text 13">
            <a:extLst>
              <a:ext uri="{FF2B5EF4-FFF2-40B4-BE49-F238E27FC236}">
                <a16:creationId xmlns:a16="http://schemas.microsoft.com/office/drawing/2014/main" id="{5FBD9626-3C6C-F467-909F-D7826F9B6523}"/>
              </a:ext>
            </a:extLst>
          </p:cNvPr>
          <p:cNvSpPr/>
          <p:nvPr/>
        </p:nvSpPr>
        <p:spPr>
          <a:xfrm>
            <a:off x="8178800" y="4765617"/>
            <a:ext cx="7061200" cy="30681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We all know HBM demand has surged,  but the story is broader than it may seem:</a:t>
            </a:r>
            <a:endParaRPr lang="en-US" sz="1600" dirty="0"/>
          </a:p>
        </p:txBody>
      </p:sp>
      <p:sp>
        <p:nvSpPr>
          <p:cNvPr id="16" name="Text 14">
            <a:extLst>
              <a:ext uri="{FF2B5EF4-FFF2-40B4-BE49-F238E27FC236}">
                <a16:creationId xmlns:a16="http://schemas.microsoft.com/office/drawing/2014/main" id="{28AC0DD8-40BA-83D3-A472-E6E2E2C08E08}"/>
              </a:ext>
            </a:extLst>
          </p:cNvPr>
          <p:cNvSpPr/>
          <p:nvPr/>
        </p:nvSpPr>
        <p:spPr>
          <a:xfrm>
            <a:off x="8178800" y="5072426"/>
            <a:ext cx="7315200" cy="3182615"/>
          </a:xfrm>
          <a:prstGeom prst="rect">
            <a:avLst/>
          </a:prstGeom>
          <a:noFill/>
          <a:ln/>
        </p:spPr>
        <p:txBody>
          <a:bodyPr wrap="square" lIns="0" tIns="0" rIns="0" bIns="0" rtlCol="0" anchor="t"/>
          <a:lstStyle/>
          <a:p>
            <a:pPr marL="254000" indent="-254000">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Memory is expected to account for </a:t>
            </a:r>
            <a:r>
              <a:rPr lang="en-US" sz="1600" b="1" dirty="0">
                <a:solidFill>
                  <a:srgbClr val="2D3748"/>
                </a:solidFill>
                <a:latin typeface="Liter" pitchFamily="34" charset="0"/>
                <a:ea typeface="Liter" pitchFamily="34" charset="-122"/>
                <a:cs typeface="Liter" pitchFamily="34" charset="-120"/>
              </a:rPr>
              <a:t>52% of Cloud Service Provider Capex</a:t>
            </a:r>
            <a:r>
              <a:rPr lang="en-US" sz="1600" dirty="0">
                <a:solidFill>
                  <a:srgbClr val="2D3748"/>
                </a:solidFill>
                <a:latin typeface="Liter" pitchFamily="34" charset="0"/>
                <a:ea typeface="Liter" pitchFamily="34" charset="-122"/>
                <a:cs typeface="Liter" pitchFamily="34" charset="-120"/>
              </a:rPr>
              <a:t> 2026E </a:t>
            </a:r>
          </a:p>
          <a:p>
            <a:pPr marL="254000" indent="-254000">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The AI-memory thesis is </a:t>
            </a:r>
            <a:r>
              <a:rPr lang="en-US" sz="1600" b="1" dirty="0">
                <a:solidFill>
                  <a:srgbClr val="2D3748"/>
                </a:solidFill>
                <a:latin typeface="Liter" pitchFamily="34" charset="0"/>
                <a:ea typeface="Liter" pitchFamily="34" charset="-122"/>
                <a:cs typeface="Liter" pitchFamily="34" charset="-120"/>
              </a:rPr>
              <a:t>evolving from HBM scarcity into a broader multi-year memory supply constraint </a:t>
            </a:r>
          </a:p>
          <a:p>
            <a:pPr marL="254000"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UBS: </a:t>
            </a:r>
            <a:r>
              <a:rPr lang="en-US" sz="1600" dirty="0">
                <a:solidFill>
                  <a:srgbClr val="2D3748"/>
                </a:solidFill>
                <a:latin typeface="Liter" pitchFamily="34" charset="0"/>
                <a:ea typeface="Liter" pitchFamily="34" charset="-122"/>
                <a:cs typeface="Liter" pitchFamily="34" charset="-120"/>
              </a:rPr>
              <a:t>AI workloads to lift demand not only for HBM, but also </a:t>
            </a:r>
            <a:r>
              <a:rPr lang="en-US" sz="1600" b="1" dirty="0">
                <a:solidFill>
                  <a:srgbClr val="2D3748"/>
                </a:solidFill>
                <a:latin typeface="Liter" pitchFamily="34" charset="0"/>
                <a:ea typeface="Liter" pitchFamily="34" charset="-122"/>
                <a:cs typeface="Liter" pitchFamily="34" charset="-120"/>
              </a:rPr>
              <a:t>DDR5/LPDDR5 in conventional servers </a:t>
            </a:r>
            <a:r>
              <a:rPr lang="en-US" sz="1600" i="1" dirty="0">
                <a:solidFill>
                  <a:schemeClr val="accent3"/>
                </a:solidFill>
                <a:latin typeface="Liter" pitchFamily="34" charset="0"/>
                <a:ea typeface="Liter" pitchFamily="34" charset="-122"/>
                <a:cs typeface="Liter" pitchFamily="34" charset="-120"/>
              </a:rPr>
              <a:t>(they are DRAM and Figure 3.3 shows its demand growth)</a:t>
            </a:r>
            <a:endParaRPr lang="en-US" sz="1600" b="1" i="1" dirty="0">
              <a:solidFill>
                <a:schemeClr val="accent3"/>
              </a:solidFill>
              <a:latin typeface="Liter" pitchFamily="34" charset="0"/>
              <a:ea typeface="Liter" pitchFamily="34" charset="-122"/>
              <a:cs typeface="Liter" pitchFamily="34" charset="-120"/>
            </a:endParaRPr>
          </a:p>
          <a:p>
            <a:pPr marL="254000"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UBS: </a:t>
            </a:r>
            <a:r>
              <a:rPr lang="en-US" sz="1600" dirty="0">
                <a:solidFill>
                  <a:srgbClr val="2D3748"/>
                </a:solidFill>
                <a:latin typeface="Liter" pitchFamily="34" charset="0"/>
                <a:ea typeface="Liter" pitchFamily="34" charset="-122"/>
                <a:cs typeface="Liter" pitchFamily="34" charset="-120"/>
              </a:rPr>
              <a:t>expects AI to lift demand for </a:t>
            </a:r>
            <a:r>
              <a:rPr lang="en-US" sz="1600" dirty="0" err="1">
                <a:solidFill>
                  <a:srgbClr val="2D3748"/>
                </a:solidFill>
                <a:latin typeface="Liter" pitchFamily="34" charset="0"/>
                <a:ea typeface="Liter" pitchFamily="34" charset="-122"/>
                <a:cs typeface="Liter" pitchFamily="34" charset="-120"/>
              </a:rPr>
              <a:t>eSSD</a:t>
            </a:r>
            <a:r>
              <a:rPr lang="en-US" sz="1600" dirty="0">
                <a:solidFill>
                  <a:srgbClr val="2D3748"/>
                </a:solidFill>
                <a:latin typeface="Liter" pitchFamily="34" charset="0"/>
                <a:ea typeface="Liter" pitchFamily="34" charset="-122"/>
                <a:cs typeface="Liter" pitchFamily="34" charset="-120"/>
              </a:rPr>
              <a:t> </a:t>
            </a:r>
            <a:r>
              <a:rPr lang="en-US" sz="1600" b="1" dirty="0">
                <a:solidFill>
                  <a:srgbClr val="2D3748"/>
                </a:solidFill>
                <a:latin typeface="Liter" pitchFamily="34" charset="0"/>
                <a:ea typeface="Liter" pitchFamily="34" charset="-122"/>
                <a:cs typeface="Liter" pitchFamily="34" charset="-120"/>
              </a:rPr>
              <a:t>(&gt;50% Y/Y growth </a:t>
            </a:r>
            <a:r>
              <a:rPr lang="en-US" sz="1600" dirty="0">
                <a:solidFill>
                  <a:srgbClr val="2D3748"/>
                </a:solidFill>
                <a:latin typeface="Liter" pitchFamily="34" charset="0"/>
                <a:ea typeface="Liter" pitchFamily="34" charset="-122"/>
                <a:cs typeface="Liter" pitchFamily="34" charset="-120"/>
              </a:rPr>
              <a:t>since 2026)</a:t>
            </a:r>
          </a:p>
          <a:p>
            <a:pPr marL="254000" indent="-254000">
              <a:lnSpc>
                <a:spcPct val="160000"/>
              </a:lnSpc>
              <a:spcBef>
                <a:spcPts val="10"/>
              </a:spcBef>
              <a:buSzPct val="100000"/>
              <a:buChar char="•"/>
            </a:pPr>
            <a:r>
              <a:rPr lang="en-US" sz="1600" b="1" i="1" dirty="0">
                <a:solidFill>
                  <a:srgbClr val="2D3748"/>
                </a:solidFill>
                <a:latin typeface="Liter" pitchFamily="34" charset="0"/>
                <a:ea typeface="Liter" pitchFamily="34" charset="-122"/>
                <a:cs typeface="Liter" pitchFamily="34" charset="-120"/>
              </a:rPr>
              <a:t>DRAM: </a:t>
            </a:r>
            <a:r>
              <a:rPr lang="en-US" sz="1600" i="1" dirty="0">
                <a:solidFill>
                  <a:srgbClr val="2D3748"/>
                </a:solidFill>
                <a:latin typeface="Liter" pitchFamily="34" charset="0"/>
                <a:ea typeface="Liter" pitchFamily="34" charset="-122"/>
                <a:cs typeface="Liter" pitchFamily="34" charset="-120"/>
              </a:rPr>
              <a:t>server working memory; </a:t>
            </a:r>
            <a:r>
              <a:rPr lang="en-US" sz="1600" b="1" i="1" dirty="0">
                <a:solidFill>
                  <a:srgbClr val="2D3748"/>
                </a:solidFill>
                <a:latin typeface="Liter" pitchFamily="34" charset="0"/>
                <a:ea typeface="Liter" pitchFamily="34" charset="-122"/>
                <a:cs typeface="Liter" pitchFamily="34" charset="-120"/>
              </a:rPr>
              <a:t>HBM</a:t>
            </a:r>
            <a:r>
              <a:rPr lang="en-US" sz="1600" i="1" dirty="0">
                <a:solidFill>
                  <a:srgbClr val="2D3748"/>
                </a:solidFill>
                <a:latin typeface="Liter" pitchFamily="34" charset="0"/>
                <a:ea typeface="Liter" pitchFamily="34" charset="-122"/>
                <a:cs typeface="Liter" pitchFamily="34" charset="-120"/>
              </a:rPr>
              <a:t>: high-speed DRAM for AI; </a:t>
            </a:r>
            <a:r>
              <a:rPr lang="en-US" sz="1600" b="1" i="1" dirty="0">
                <a:solidFill>
                  <a:srgbClr val="2D3748"/>
                </a:solidFill>
                <a:latin typeface="Liter" pitchFamily="34" charset="0"/>
                <a:ea typeface="Liter" pitchFamily="34" charset="-122"/>
                <a:cs typeface="Liter" pitchFamily="34" charset="-120"/>
              </a:rPr>
              <a:t>NAND</a:t>
            </a:r>
            <a:r>
              <a:rPr lang="en-US" sz="1600" i="1" dirty="0">
                <a:solidFill>
                  <a:srgbClr val="2D3748"/>
                </a:solidFill>
                <a:latin typeface="Liter" pitchFamily="34" charset="0"/>
                <a:ea typeface="Liter" pitchFamily="34" charset="-122"/>
                <a:cs typeface="Liter" pitchFamily="34" charset="-120"/>
              </a:rPr>
              <a:t>: storage memory chip; </a:t>
            </a:r>
            <a:r>
              <a:rPr lang="en-US" sz="1600" b="1" i="1" dirty="0" err="1">
                <a:solidFill>
                  <a:srgbClr val="2D3748"/>
                </a:solidFill>
                <a:latin typeface="Liter" pitchFamily="34" charset="0"/>
                <a:ea typeface="Liter" pitchFamily="34" charset="-122"/>
                <a:cs typeface="Liter" pitchFamily="34" charset="-120"/>
              </a:rPr>
              <a:t>eSSD</a:t>
            </a:r>
            <a:r>
              <a:rPr lang="en-US" sz="1600" i="1" dirty="0">
                <a:solidFill>
                  <a:srgbClr val="2D3748"/>
                </a:solidFill>
                <a:latin typeface="Liter" pitchFamily="34" charset="0"/>
                <a:ea typeface="Liter" pitchFamily="34" charset="-122"/>
                <a:cs typeface="Liter" pitchFamily="34" charset="-120"/>
              </a:rPr>
              <a:t>: enterprise storage drive built with NAND</a:t>
            </a:r>
            <a:endParaRPr lang="en-US" sz="1600" i="1" dirty="0"/>
          </a:p>
        </p:txBody>
      </p:sp>
      <p:sp>
        <p:nvSpPr>
          <p:cNvPr id="17" name="Text 15">
            <a:extLst>
              <a:ext uri="{FF2B5EF4-FFF2-40B4-BE49-F238E27FC236}">
                <a16:creationId xmlns:a16="http://schemas.microsoft.com/office/drawing/2014/main" id="{5C4819AA-06E0-CB7E-CA99-ACCA9EC5CA46}"/>
              </a:ext>
            </a:extLst>
          </p:cNvPr>
          <p:cNvSpPr/>
          <p:nvPr/>
        </p:nvSpPr>
        <p:spPr>
          <a:xfrm>
            <a:off x="762000" y="8509000"/>
            <a:ext cx="8890000" cy="576580"/>
          </a:xfrm>
          <a:prstGeom prst="rect">
            <a:avLst/>
          </a:prstGeom>
          <a:noFill/>
          <a:ln/>
        </p:spPr>
        <p:txBody>
          <a:bodyPr wrap="square" lIns="0" tIns="0" rIns="0" bIns="0" rtlCol="0" anchor="t"/>
          <a:lstStyle/>
          <a:p>
            <a:pPr>
              <a:lnSpc>
                <a:spcPct val="140000"/>
              </a:lnSpc>
            </a:pPr>
            <a:r>
              <a:rPr lang="en-US" sz="1200" dirty="0">
                <a:solidFill>
                  <a:srgbClr val="718096"/>
                </a:solidFill>
                <a:latin typeface="Liter" pitchFamily="34" charset="0"/>
                <a:ea typeface="Liter" pitchFamily="34" charset="-122"/>
                <a:cs typeface="Liter" pitchFamily="34" charset="-120"/>
              </a:rPr>
              <a:t>Source: JP Morgan, UBS.</a:t>
            </a:r>
          </a:p>
        </p:txBody>
      </p:sp>
      <p:sp>
        <p:nvSpPr>
          <p:cNvPr id="18" name="Text 16">
            <a:extLst>
              <a:ext uri="{FF2B5EF4-FFF2-40B4-BE49-F238E27FC236}">
                <a16:creationId xmlns:a16="http://schemas.microsoft.com/office/drawing/2014/main" id="{7637D0DC-7A0F-FBAB-F6A4-8745B489050F}"/>
              </a:ext>
            </a:extLst>
          </p:cNvPr>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19</a:t>
            </a:r>
            <a:endParaRPr lang="en-US" sz="1200" dirty="0"/>
          </a:p>
        </p:txBody>
      </p:sp>
      <p:sp>
        <p:nvSpPr>
          <p:cNvPr id="23" name="Shape 11">
            <a:extLst>
              <a:ext uri="{FF2B5EF4-FFF2-40B4-BE49-F238E27FC236}">
                <a16:creationId xmlns:a16="http://schemas.microsoft.com/office/drawing/2014/main" id="{BFA7868A-B600-ECAA-1C43-41F9216DE9C6}"/>
              </a:ext>
            </a:extLst>
          </p:cNvPr>
          <p:cNvSpPr/>
          <p:nvPr/>
        </p:nvSpPr>
        <p:spPr>
          <a:xfrm>
            <a:off x="762000" y="4678599"/>
            <a:ext cx="50800" cy="254000"/>
          </a:xfrm>
          <a:prstGeom prst="rect">
            <a:avLst/>
          </a:prstGeom>
          <a:solidFill>
            <a:srgbClr val="C4963A"/>
          </a:solidFill>
          <a:ln/>
        </p:spPr>
        <p:txBody>
          <a:bodyPr/>
          <a:lstStyle/>
          <a:p>
            <a:endParaRPr lang="en-US"/>
          </a:p>
        </p:txBody>
      </p:sp>
      <p:sp>
        <p:nvSpPr>
          <p:cNvPr id="24" name="Text 12">
            <a:extLst>
              <a:ext uri="{FF2B5EF4-FFF2-40B4-BE49-F238E27FC236}">
                <a16:creationId xmlns:a16="http://schemas.microsoft.com/office/drawing/2014/main" id="{83749360-2121-32A7-6F08-8B42FA375ECC}"/>
              </a:ext>
            </a:extLst>
          </p:cNvPr>
          <p:cNvSpPr/>
          <p:nvPr/>
        </p:nvSpPr>
        <p:spPr>
          <a:xfrm>
            <a:off x="914400" y="4653199"/>
            <a:ext cx="6379980" cy="2794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4.4 — </a:t>
            </a:r>
            <a:r>
              <a:rPr lang="en-US" sz="1300" b="1" dirty="0" err="1">
                <a:solidFill>
                  <a:srgbClr val="1B2F4A"/>
                </a:solidFill>
                <a:latin typeface="Liter" pitchFamily="34" charset="0"/>
                <a:ea typeface="Liter" pitchFamily="34" charset="-122"/>
                <a:cs typeface="Liter" pitchFamily="34" charset="-120"/>
              </a:rPr>
              <a:t>eSSD</a:t>
            </a:r>
            <a:r>
              <a:rPr lang="en-US" sz="1300" b="1" dirty="0">
                <a:solidFill>
                  <a:srgbClr val="1B2F4A"/>
                </a:solidFill>
                <a:latin typeface="Liter" pitchFamily="34" charset="0"/>
                <a:ea typeface="Liter" pitchFamily="34" charset="-122"/>
                <a:cs typeface="Liter" pitchFamily="34" charset="-120"/>
              </a:rPr>
              <a:t> Bit Demand Growth Forecast </a:t>
            </a:r>
            <a:endParaRPr lang="en-US" sz="1300" dirty="0"/>
          </a:p>
        </p:txBody>
      </p:sp>
      <p:sp>
        <p:nvSpPr>
          <p:cNvPr id="25" name="Shape 13">
            <a:extLst>
              <a:ext uri="{FF2B5EF4-FFF2-40B4-BE49-F238E27FC236}">
                <a16:creationId xmlns:a16="http://schemas.microsoft.com/office/drawing/2014/main" id="{B9F3FC87-FB75-23BC-A7E6-5698D0CCDEAB}"/>
              </a:ext>
            </a:extLst>
          </p:cNvPr>
          <p:cNvSpPr/>
          <p:nvPr/>
        </p:nvSpPr>
        <p:spPr>
          <a:xfrm>
            <a:off x="762000" y="5008799"/>
            <a:ext cx="6858000" cy="3297001"/>
          </a:xfrm>
          <a:prstGeom prst="rect">
            <a:avLst/>
          </a:prstGeom>
          <a:solidFill>
            <a:srgbClr val="F7F8FA"/>
          </a:solidFill>
          <a:ln w="12700">
            <a:solidFill>
              <a:srgbClr val="E2E8F0"/>
            </a:solidFill>
            <a:prstDash val="solid"/>
          </a:ln>
        </p:spPr>
        <p:txBody>
          <a:bodyPr/>
          <a:lstStyle/>
          <a:p>
            <a:endParaRPr lang="en-US"/>
          </a:p>
        </p:txBody>
      </p:sp>
      <p:sp>
        <p:nvSpPr>
          <p:cNvPr id="26" name="Text 14">
            <a:extLst>
              <a:ext uri="{FF2B5EF4-FFF2-40B4-BE49-F238E27FC236}">
                <a16:creationId xmlns:a16="http://schemas.microsoft.com/office/drawing/2014/main" id="{1B85C6F4-01BB-8270-5C4C-1346F709D7C9}"/>
              </a:ext>
            </a:extLst>
          </p:cNvPr>
          <p:cNvSpPr/>
          <p:nvPr/>
        </p:nvSpPr>
        <p:spPr>
          <a:xfrm>
            <a:off x="762000" y="5008799"/>
            <a:ext cx="6858000" cy="3429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Time Series of Leveraged ETF Levels]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KRW 65tn in leveraged ETFs (1.5% of free-float)</a:t>
            </a:r>
            <a:endParaRPr lang="en-US" sz="1400" dirty="0"/>
          </a:p>
        </p:txBody>
      </p:sp>
      <p:pic>
        <p:nvPicPr>
          <p:cNvPr id="20" name="Picture 19">
            <a:extLst>
              <a:ext uri="{FF2B5EF4-FFF2-40B4-BE49-F238E27FC236}">
                <a16:creationId xmlns:a16="http://schemas.microsoft.com/office/drawing/2014/main" id="{C958C25E-1F03-132B-5747-DEBF67EF8090}"/>
              </a:ext>
            </a:extLst>
          </p:cNvPr>
          <p:cNvPicPr>
            <a:picLocks noChangeAspect="1"/>
          </p:cNvPicPr>
          <p:nvPr/>
        </p:nvPicPr>
        <p:blipFill>
          <a:blip r:embed="rId3"/>
          <a:stretch>
            <a:fillRect/>
          </a:stretch>
        </p:blipFill>
        <p:spPr>
          <a:xfrm>
            <a:off x="762000" y="1391920"/>
            <a:ext cx="6858000" cy="3027722"/>
          </a:xfrm>
          <a:prstGeom prst="rect">
            <a:avLst/>
          </a:prstGeom>
        </p:spPr>
      </p:pic>
      <p:pic>
        <p:nvPicPr>
          <p:cNvPr id="21" name="Picture 20">
            <a:extLst>
              <a:ext uri="{FF2B5EF4-FFF2-40B4-BE49-F238E27FC236}">
                <a16:creationId xmlns:a16="http://schemas.microsoft.com/office/drawing/2014/main" id="{F28129E6-D846-8FFF-6285-83A5F12F11F6}"/>
              </a:ext>
            </a:extLst>
          </p:cNvPr>
          <p:cNvPicPr>
            <a:picLocks noChangeAspect="1"/>
          </p:cNvPicPr>
          <p:nvPr/>
        </p:nvPicPr>
        <p:blipFill>
          <a:blip r:embed="rId4"/>
          <a:stretch>
            <a:fillRect/>
          </a:stretch>
        </p:blipFill>
        <p:spPr>
          <a:xfrm>
            <a:off x="8128000" y="1371725"/>
            <a:ext cx="7365999" cy="3047917"/>
          </a:xfrm>
          <a:prstGeom prst="rect">
            <a:avLst/>
          </a:prstGeom>
        </p:spPr>
      </p:pic>
      <p:pic>
        <p:nvPicPr>
          <p:cNvPr id="27" name="Picture 26">
            <a:extLst>
              <a:ext uri="{FF2B5EF4-FFF2-40B4-BE49-F238E27FC236}">
                <a16:creationId xmlns:a16="http://schemas.microsoft.com/office/drawing/2014/main" id="{4A29107D-6C20-7834-8475-86DA30764F37}"/>
              </a:ext>
            </a:extLst>
          </p:cNvPr>
          <p:cNvPicPr>
            <a:picLocks noChangeAspect="1"/>
          </p:cNvPicPr>
          <p:nvPr/>
        </p:nvPicPr>
        <p:blipFill>
          <a:blip r:embed="rId5"/>
          <a:stretch>
            <a:fillRect/>
          </a:stretch>
        </p:blipFill>
        <p:spPr>
          <a:xfrm>
            <a:off x="762000" y="5003719"/>
            <a:ext cx="6858000" cy="3297000"/>
          </a:xfrm>
          <a:prstGeom prst="rect">
            <a:avLst/>
          </a:prstGeom>
        </p:spPr>
      </p:pic>
      <p:sp>
        <p:nvSpPr>
          <p:cNvPr id="29" name="Rectangle 28">
            <a:extLst>
              <a:ext uri="{FF2B5EF4-FFF2-40B4-BE49-F238E27FC236}">
                <a16:creationId xmlns:a16="http://schemas.microsoft.com/office/drawing/2014/main" id="{EDC7A374-BFDF-B116-0CE9-31A763497BA7}"/>
              </a:ext>
            </a:extLst>
          </p:cNvPr>
          <p:cNvSpPr/>
          <p:nvPr/>
        </p:nvSpPr>
        <p:spPr>
          <a:xfrm>
            <a:off x="5861154" y="6760564"/>
            <a:ext cx="1648918" cy="38879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202309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434A676-3E5A-44C1-B092-E15BBA6AE0C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6CB822F-9516-7DC6-7467-A5C073DDAB92}"/>
              </a:ext>
            </a:extLst>
          </p:cNvPr>
          <p:cNvSpPr/>
          <p:nvPr/>
        </p:nvSpPr>
        <p:spPr>
          <a:xfrm>
            <a:off x="762000" y="279400"/>
            <a:ext cx="50800" cy="508000"/>
          </a:xfrm>
          <a:prstGeom prst="rect">
            <a:avLst/>
          </a:prstGeom>
          <a:solidFill>
            <a:srgbClr val="C4963A"/>
          </a:solidFill>
          <a:ln/>
        </p:spPr>
        <p:txBody>
          <a:bodyPr/>
          <a:lstStyle/>
          <a:p>
            <a:endParaRPr lang="en-US"/>
          </a:p>
        </p:txBody>
      </p:sp>
      <p:sp>
        <p:nvSpPr>
          <p:cNvPr id="3" name="Text 1">
            <a:extLst>
              <a:ext uri="{FF2B5EF4-FFF2-40B4-BE49-F238E27FC236}">
                <a16:creationId xmlns:a16="http://schemas.microsoft.com/office/drawing/2014/main" id="{D090BB74-F468-B687-7FB7-6A01B02EBDCB}"/>
              </a:ext>
            </a:extLst>
          </p:cNvPr>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400" b="1" dirty="0">
                <a:solidFill>
                  <a:srgbClr val="1B2F4A"/>
                </a:solidFill>
                <a:latin typeface="Liter" pitchFamily="34" charset="0"/>
                <a:ea typeface="Liter" pitchFamily="34" charset="-122"/>
                <a:cs typeface="Liter" pitchFamily="34" charset="-120"/>
              </a:rPr>
              <a:t>Supply Dynamics: What Drove Strong Earnings Growth in Tech/AI/Memories</a:t>
            </a:r>
            <a:endParaRPr lang="en-US" sz="2400" dirty="0"/>
          </a:p>
        </p:txBody>
      </p:sp>
      <p:sp>
        <p:nvSpPr>
          <p:cNvPr id="4" name="Shape 2">
            <a:extLst>
              <a:ext uri="{FF2B5EF4-FFF2-40B4-BE49-F238E27FC236}">
                <a16:creationId xmlns:a16="http://schemas.microsoft.com/office/drawing/2014/main" id="{5A57F2C4-66F1-7876-38E9-3D2665632245}"/>
              </a:ext>
            </a:extLst>
          </p:cNvPr>
          <p:cNvSpPr/>
          <p:nvPr/>
        </p:nvSpPr>
        <p:spPr>
          <a:xfrm>
            <a:off x="762000" y="838200"/>
            <a:ext cx="14732000" cy="12700"/>
          </a:xfrm>
          <a:prstGeom prst="rect">
            <a:avLst/>
          </a:prstGeom>
          <a:solidFill>
            <a:srgbClr val="E2E8F0"/>
          </a:solidFill>
          <a:ln/>
        </p:spPr>
        <p:txBody>
          <a:bodyPr/>
          <a:lstStyle/>
          <a:p>
            <a:endParaRPr lang="en-US"/>
          </a:p>
        </p:txBody>
      </p:sp>
      <p:sp>
        <p:nvSpPr>
          <p:cNvPr id="13" name="Shape 11">
            <a:extLst>
              <a:ext uri="{FF2B5EF4-FFF2-40B4-BE49-F238E27FC236}">
                <a16:creationId xmlns:a16="http://schemas.microsoft.com/office/drawing/2014/main" id="{3031D650-E45B-00E6-AFD5-E8761B36906D}"/>
              </a:ext>
            </a:extLst>
          </p:cNvPr>
          <p:cNvSpPr/>
          <p:nvPr/>
        </p:nvSpPr>
        <p:spPr>
          <a:xfrm>
            <a:off x="762000" y="2508971"/>
            <a:ext cx="14732000" cy="4121876"/>
          </a:xfrm>
          <a:prstGeom prst="rect">
            <a:avLst/>
          </a:prstGeom>
          <a:solidFill>
            <a:srgbClr val="1B2F4A"/>
          </a:solidFill>
          <a:ln/>
        </p:spPr>
        <p:txBody>
          <a:bodyPr/>
          <a:lstStyle/>
          <a:p>
            <a:endParaRPr lang="en-US"/>
          </a:p>
        </p:txBody>
      </p:sp>
      <p:sp>
        <p:nvSpPr>
          <p:cNvPr id="14" name="Text 12">
            <a:extLst>
              <a:ext uri="{FF2B5EF4-FFF2-40B4-BE49-F238E27FC236}">
                <a16:creationId xmlns:a16="http://schemas.microsoft.com/office/drawing/2014/main" id="{14381540-5370-4357-5BEC-BAFA3AB98A6C}"/>
              </a:ext>
            </a:extLst>
          </p:cNvPr>
          <p:cNvSpPr/>
          <p:nvPr/>
        </p:nvSpPr>
        <p:spPr>
          <a:xfrm>
            <a:off x="1270000" y="2597458"/>
            <a:ext cx="6350000" cy="330200"/>
          </a:xfrm>
          <a:prstGeom prst="rect">
            <a:avLst/>
          </a:prstGeom>
          <a:noFill/>
          <a:ln/>
        </p:spPr>
        <p:txBody>
          <a:bodyPr wrap="none" lIns="0" tIns="0" rIns="0" bIns="0" rtlCol="0" anchor="t"/>
          <a:lstStyle/>
          <a:p>
            <a:pPr>
              <a:lnSpc>
                <a:spcPct val="120000"/>
              </a:lnSpc>
            </a:pPr>
            <a:r>
              <a:rPr lang="en-US" b="1" dirty="0">
                <a:solidFill>
                  <a:srgbClr val="C4963A"/>
                </a:solidFill>
                <a:latin typeface="Liter" pitchFamily="34" charset="0"/>
                <a:ea typeface="Liter" pitchFamily="34" charset="-122"/>
                <a:cs typeface="Liter" pitchFamily="34" charset="-120"/>
              </a:rPr>
              <a:t>Supply remains constrained…The dynamics…</a:t>
            </a:r>
            <a:endParaRPr lang="en-US" sz="1800" dirty="0"/>
          </a:p>
        </p:txBody>
      </p:sp>
      <p:sp>
        <p:nvSpPr>
          <p:cNvPr id="15" name="Text 13">
            <a:extLst>
              <a:ext uri="{FF2B5EF4-FFF2-40B4-BE49-F238E27FC236}">
                <a16:creationId xmlns:a16="http://schemas.microsoft.com/office/drawing/2014/main" id="{BCB0E5C2-130E-780E-4748-4000E3A64014}"/>
              </a:ext>
            </a:extLst>
          </p:cNvPr>
          <p:cNvSpPr/>
          <p:nvPr/>
        </p:nvSpPr>
        <p:spPr>
          <a:xfrm>
            <a:off x="1016000" y="2927658"/>
            <a:ext cx="14427200" cy="3587642"/>
          </a:xfrm>
          <a:prstGeom prst="rect">
            <a:avLst/>
          </a:prstGeom>
          <a:noFill/>
          <a:ln/>
        </p:spPr>
        <p:txBody>
          <a:bodyPr wrap="square" lIns="0" tIns="0" rIns="0" bIns="0" rtlCol="0" anchor="t"/>
          <a:lstStyle/>
          <a:p>
            <a:pPr marL="285750" indent="-285750">
              <a:lnSpc>
                <a:spcPct val="170000"/>
              </a:lnSpc>
              <a:spcBef>
                <a:spcPts val="800"/>
              </a:spcBef>
              <a:buFont typeface="Arial" panose="020B0604020202020204" pitchFamily="34" charset="0"/>
              <a:buChar char="•"/>
            </a:pPr>
            <a:r>
              <a:rPr lang="en-US" sz="1600" b="1" u="sng" dirty="0">
                <a:solidFill>
                  <a:srgbClr val="FFFFFF"/>
                </a:solidFill>
                <a:latin typeface="Liter" pitchFamily="34" charset="0"/>
                <a:ea typeface="Liter" pitchFamily="34" charset="-122"/>
                <a:cs typeface="Liter" pitchFamily="34" charset="-120"/>
              </a:rPr>
              <a:t>HBM itself remains supply-constrained</a:t>
            </a:r>
            <a:r>
              <a:rPr lang="en-US" sz="1600" dirty="0">
                <a:solidFill>
                  <a:srgbClr val="FFFFFF"/>
                </a:solidFill>
                <a:latin typeface="Liter" pitchFamily="34" charset="0"/>
                <a:ea typeface="Liter" pitchFamily="34" charset="-122"/>
                <a:cs typeface="Liter" pitchFamily="34" charset="-120"/>
              </a:rPr>
              <a:t>, with capacity largely committed through 2026–2027 (SK Hynix/Samsung flag record supply squeeze into 2027)</a:t>
            </a:r>
          </a:p>
          <a:p>
            <a:pPr marL="285750" indent="-285750">
              <a:lnSpc>
                <a:spcPct val="170000"/>
              </a:lnSpc>
              <a:spcBef>
                <a:spcPts val="800"/>
              </a:spcBef>
              <a:buFont typeface="Arial" panose="020B0604020202020204" pitchFamily="34" charset="0"/>
              <a:buChar char="•"/>
            </a:pPr>
            <a:r>
              <a:rPr lang="en-US" sz="1600" dirty="0">
                <a:solidFill>
                  <a:srgbClr val="FFFFFF"/>
                </a:solidFill>
                <a:latin typeface="Liter" pitchFamily="34" charset="0"/>
                <a:ea typeface="Liter" pitchFamily="34" charset="-122"/>
                <a:cs typeface="Liter" pitchFamily="34" charset="-120"/>
              </a:rPr>
              <a:t>As HBM output ramps, it</a:t>
            </a:r>
            <a:r>
              <a:rPr lang="en-US" sz="1600" b="1" u="sng" dirty="0">
                <a:solidFill>
                  <a:srgbClr val="FFFFFF"/>
                </a:solidFill>
                <a:latin typeface="Liter" pitchFamily="34" charset="0"/>
                <a:ea typeface="Liter" pitchFamily="34" charset="-122"/>
                <a:cs typeface="Liter" pitchFamily="34" charset="-120"/>
              </a:rPr>
              <a:t> crowds out conventional DRAM capacity</a:t>
            </a:r>
            <a:endParaRPr lang="en-US" sz="1600" dirty="0">
              <a:solidFill>
                <a:srgbClr val="FFFFFF"/>
              </a:solidFill>
              <a:latin typeface="Liter" pitchFamily="34" charset="0"/>
              <a:ea typeface="Liter" pitchFamily="34" charset="-122"/>
              <a:cs typeface="Liter" pitchFamily="34" charset="-120"/>
            </a:endParaRPr>
          </a:p>
          <a:p>
            <a:pPr marL="285750" indent="-285750">
              <a:lnSpc>
                <a:spcPct val="170000"/>
              </a:lnSpc>
              <a:spcBef>
                <a:spcPts val="800"/>
              </a:spcBef>
              <a:buFont typeface="Arial" panose="020B0604020202020204" pitchFamily="34" charset="0"/>
              <a:buChar char="•"/>
            </a:pPr>
            <a:r>
              <a:rPr lang="en-US" sz="1600" b="1" dirty="0">
                <a:solidFill>
                  <a:srgbClr val="FFFFFF"/>
                </a:solidFill>
                <a:latin typeface="Liter" pitchFamily="34" charset="0"/>
                <a:ea typeface="Liter" pitchFamily="34" charset="-122"/>
                <a:cs typeface="Liter" pitchFamily="34" charset="-120"/>
              </a:rPr>
              <a:t>UBS:</a:t>
            </a:r>
            <a:r>
              <a:rPr lang="en-US" sz="1600" dirty="0">
                <a:solidFill>
                  <a:srgbClr val="FFFFFF"/>
                </a:solidFill>
                <a:latin typeface="Liter" pitchFamily="34" charset="0"/>
                <a:ea typeface="Liter" pitchFamily="34" charset="-122"/>
                <a:cs typeface="Liter" pitchFamily="34" charset="-120"/>
              </a:rPr>
              <a:t> </a:t>
            </a:r>
            <a:r>
              <a:rPr lang="en-US" sz="1600" b="1" u="sng" dirty="0">
                <a:solidFill>
                  <a:srgbClr val="FFFFFF"/>
                </a:solidFill>
                <a:latin typeface="Liter" pitchFamily="34" charset="0"/>
                <a:ea typeface="Liter" pitchFamily="34" charset="-122"/>
                <a:cs typeface="Liter" pitchFamily="34" charset="-120"/>
              </a:rPr>
              <a:t>HBM could consume 25% of industry DRAM front-end capacity</a:t>
            </a:r>
            <a:r>
              <a:rPr lang="en-US" sz="1600" dirty="0">
                <a:solidFill>
                  <a:srgbClr val="FFFFFF"/>
                </a:solidFill>
                <a:latin typeface="Liter" pitchFamily="34" charset="0"/>
                <a:ea typeface="Liter" pitchFamily="34" charset="-122"/>
                <a:cs typeface="Liter" pitchFamily="34" charset="-120"/>
              </a:rPr>
              <a:t> by end-2026 and 31% by end-2027</a:t>
            </a:r>
          </a:p>
          <a:p>
            <a:pPr marL="285750" indent="-285750">
              <a:lnSpc>
                <a:spcPct val="170000"/>
              </a:lnSpc>
              <a:spcBef>
                <a:spcPts val="800"/>
              </a:spcBef>
              <a:buFont typeface="Arial" panose="020B0604020202020204" pitchFamily="34" charset="0"/>
              <a:buChar char="•"/>
            </a:pPr>
            <a:r>
              <a:rPr lang="en-US" sz="1600" b="1" dirty="0">
                <a:solidFill>
                  <a:srgbClr val="FFFFFF"/>
                </a:solidFill>
                <a:latin typeface="Liter" pitchFamily="34" charset="0"/>
                <a:ea typeface="Liter" pitchFamily="34" charset="-122"/>
                <a:cs typeface="Liter" pitchFamily="34" charset="-120"/>
              </a:rPr>
              <a:t>JPM: Wafer allocation to HBM rising from 351k WSPM (2025) to 475k (2026E) to 633k (2027E),</a:t>
            </a:r>
            <a:r>
              <a:rPr lang="en-US" sz="1600" dirty="0">
                <a:solidFill>
                  <a:srgbClr val="FFFFFF"/>
                </a:solidFill>
                <a:latin typeface="Liter" pitchFamily="34" charset="0"/>
                <a:ea typeface="Liter" pitchFamily="34" charset="-122"/>
                <a:cs typeface="Liter" pitchFamily="34" charset="-120"/>
              </a:rPr>
              <a:t> </a:t>
            </a:r>
            <a:r>
              <a:rPr lang="en-US" sz="1600" b="1" u="sng" dirty="0">
                <a:solidFill>
                  <a:srgbClr val="FFFFFF"/>
                </a:solidFill>
                <a:latin typeface="Liter" pitchFamily="34" charset="0"/>
                <a:ea typeface="Liter" pitchFamily="34" charset="-122"/>
                <a:cs typeface="Liter" pitchFamily="34" charset="-120"/>
              </a:rPr>
              <a:t>reducing effective supply for traditional non-HBM DRAM</a:t>
            </a:r>
          </a:p>
          <a:p>
            <a:pPr marL="285750" indent="-285750">
              <a:lnSpc>
                <a:spcPct val="170000"/>
              </a:lnSpc>
              <a:spcBef>
                <a:spcPts val="800"/>
              </a:spcBef>
              <a:buFont typeface="Arial" panose="020B0604020202020204" pitchFamily="34" charset="0"/>
              <a:buChar char="•"/>
            </a:pPr>
            <a:r>
              <a:rPr lang="en-US" sz="1600" b="1" dirty="0">
                <a:solidFill>
                  <a:srgbClr val="FFFFFF"/>
                </a:solidFill>
                <a:latin typeface="Liter" pitchFamily="34" charset="0"/>
                <a:ea typeface="Liter" pitchFamily="34" charset="-122"/>
                <a:cs typeface="Liter" pitchFamily="34" charset="-120"/>
              </a:rPr>
              <a:t>UBS:</a:t>
            </a:r>
            <a:r>
              <a:rPr lang="en-US" sz="1600" dirty="0">
                <a:solidFill>
                  <a:srgbClr val="FFFFFF"/>
                </a:solidFill>
                <a:latin typeface="Liter" pitchFamily="34" charset="0"/>
                <a:ea typeface="Liter" pitchFamily="34" charset="-122"/>
                <a:cs typeface="Liter" pitchFamily="34" charset="-120"/>
              </a:rPr>
              <a:t> With no meaningful new ex-China NAND capacity before 2028 → Limited NAND capacity &amp; broader memory supply remains tight </a:t>
            </a:r>
          </a:p>
          <a:p>
            <a:pPr marL="285750" indent="-285750">
              <a:lnSpc>
                <a:spcPct val="170000"/>
              </a:lnSpc>
              <a:spcBef>
                <a:spcPts val="800"/>
              </a:spcBef>
              <a:buFont typeface="Arial" panose="020B0604020202020204" pitchFamily="34" charset="0"/>
              <a:buChar char="•"/>
            </a:pPr>
            <a:r>
              <a:rPr lang="en-US" sz="1600" dirty="0">
                <a:solidFill>
                  <a:srgbClr val="FFFFFF"/>
                </a:solidFill>
                <a:latin typeface="Liter" pitchFamily="34" charset="0"/>
                <a:ea typeface="Liter" pitchFamily="34" charset="-122"/>
                <a:cs typeface="Liter" pitchFamily="34" charset="-120"/>
              </a:rPr>
              <a:t>At the same time, </a:t>
            </a:r>
            <a:r>
              <a:rPr lang="en-US" sz="1600" b="1" u="sng" dirty="0">
                <a:solidFill>
                  <a:srgbClr val="FFFFFF"/>
                </a:solidFill>
                <a:latin typeface="Liter" pitchFamily="34" charset="0"/>
                <a:ea typeface="Liter" pitchFamily="34" charset="-122"/>
                <a:cs typeface="Liter" pitchFamily="34" charset="-120"/>
              </a:rPr>
              <a:t>AI is lifting demand for both HBM and server DRAM</a:t>
            </a:r>
          </a:p>
          <a:p>
            <a:pPr marL="285750" indent="-285750">
              <a:lnSpc>
                <a:spcPct val="170000"/>
              </a:lnSpc>
              <a:spcBef>
                <a:spcPts val="800"/>
              </a:spcBef>
              <a:buFont typeface="Arial" panose="020B0604020202020204" pitchFamily="34" charset="0"/>
              <a:buChar char="•"/>
            </a:pPr>
            <a:r>
              <a:rPr lang="en-US" sz="1600" dirty="0">
                <a:solidFill>
                  <a:srgbClr val="FFFFFF"/>
                </a:solidFill>
                <a:latin typeface="Liter" pitchFamily="34" charset="0"/>
                <a:ea typeface="Liter" pitchFamily="34" charset="-122"/>
                <a:cs typeface="Liter" pitchFamily="34" charset="-120"/>
              </a:rPr>
              <a:t>Together, these dynamics keep memory markets </a:t>
            </a:r>
            <a:r>
              <a:rPr lang="en-US" sz="1600" b="1" u="sng" dirty="0">
                <a:solidFill>
                  <a:srgbClr val="FFFFFF"/>
                </a:solidFill>
                <a:latin typeface="Liter" pitchFamily="34" charset="0"/>
                <a:ea typeface="Liter" pitchFamily="34" charset="-122"/>
                <a:cs typeface="Liter" pitchFamily="34" charset="-120"/>
              </a:rPr>
              <a:t>tighter for longer</a:t>
            </a:r>
            <a:endParaRPr lang="en-US" sz="1600" b="1" u="sng" dirty="0"/>
          </a:p>
        </p:txBody>
      </p:sp>
      <p:sp>
        <p:nvSpPr>
          <p:cNvPr id="16" name="Text 14">
            <a:extLst>
              <a:ext uri="{FF2B5EF4-FFF2-40B4-BE49-F238E27FC236}">
                <a16:creationId xmlns:a16="http://schemas.microsoft.com/office/drawing/2014/main" id="{92D48D62-9594-937C-3DA9-5FFC423B42C7}"/>
              </a:ext>
            </a:extLst>
          </p:cNvPr>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South China Morning Post, UBS, J.P. Morgan Research.</a:t>
            </a:r>
            <a:endParaRPr lang="en-US" sz="1200" dirty="0"/>
          </a:p>
        </p:txBody>
      </p:sp>
      <p:sp>
        <p:nvSpPr>
          <p:cNvPr id="17" name="Text 15">
            <a:extLst>
              <a:ext uri="{FF2B5EF4-FFF2-40B4-BE49-F238E27FC236}">
                <a16:creationId xmlns:a16="http://schemas.microsoft.com/office/drawing/2014/main" id="{1F835800-B9CB-2B73-4414-9480B9375089}"/>
              </a:ext>
            </a:extLst>
          </p:cNvPr>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rPr>
              <a:t>20</a:t>
            </a:r>
            <a:endParaRPr lang="en-US" sz="1200" dirty="0"/>
          </a:p>
        </p:txBody>
      </p:sp>
      <p:sp>
        <p:nvSpPr>
          <p:cNvPr id="28" name="Shape 11">
            <a:extLst>
              <a:ext uri="{FF2B5EF4-FFF2-40B4-BE49-F238E27FC236}">
                <a16:creationId xmlns:a16="http://schemas.microsoft.com/office/drawing/2014/main" id="{AD9E226B-DD0B-B277-C905-C542D781B590}"/>
              </a:ext>
            </a:extLst>
          </p:cNvPr>
          <p:cNvSpPr/>
          <p:nvPr/>
        </p:nvSpPr>
        <p:spPr>
          <a:xfrm>
            <a:off x="762000" y="6791367"/>
            <a:ext cx="14732000" cy="1514433"/>
          </a:xfrm>
          <a:prstGeom prst="rect">
            <a:avLst/>
          </a:prstGeom>
          <a:solidFill>
            <a:srgbClr val="F7F8FA"/>
          </a:solidFill>
          <a:ln/>
        </p:spPr>
        <p:txBody>
          <a:bodyPr/>
          <a:lstStyle/>
          <a:p>
            <a:endParaRPr lang="en-US"/>
          </a:p>
        </p:txBody>
      </p:sp>
      <p:sp>
        <p:nvSpPr>
          <p:cNvPr id="29" name="Shape 12">
            <a:extLst>
              <a:ext uri="{FF2B5EF4-FFF2-40B4-BE49-F238E27FC236}">
                <a16:creationId xmlns:a16="http://schemas.microsoft.com/office/drawing/2014/main" id="{8778E26A-77A1-1443-6820-59DD0719A89E}"/>
              </a:ext>
            </a:extLst>
          </p:cNvPr>
          <p:cNvSpPr/>
          <p:nvPr/>
        </p:nvSpPr>
        <p:spPr>
          <a:xfrm>
            <a:off x="762000" y="6791367"/>
            <a:ext cx="14732000" cy="50800"/>
          </a:xfrm>
          <a:prstGeom prst="rect">
            <a:avLst/>
          </a:prstGeom>
          <a:solidFill>
            <a:srgbClr val="C4963A"/>
          </a:solidFill>
          <a:ln/>
        </p:spPr>
        <p:txBody>
          <a:bodyPr/>
          <a:lstStyle/>
          <a:p>
            <a:endParaRPr lang="en-US"/>
          </a:p>
        </p:txBody>
      </p:sp>
      <p:sp>
        <p:nvSpPr>
          <p:cNvPr id="30" name="Text 13">
            <a:extLst>
              <a:ext uri="{FF2B5EF4-FFF2-40B4-BE49-F238E27FC236}">
                <a16:creationId xmlns:a16="http://schemas.microsoft.com/office/drawing/2014/main" id="{0CA59A00-3096-1923-C2A5-96A959D10E86}"/>
              </a:ext>
            </a:extLst>
          </p:cNvPr>
          <p:cNvSpPr/>
          <p:nvPr/>
        </p:nvSpPr>
        <p:spPr>
          <a:xfrm>
            <a:off x="1016000" y="6969167"/>
            <a:ext cx="635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Result:</a:t>
            </a:r>
            <a:endParaRPr lang="en-US" sz="1600" dirty="0"/>
          </a:p>
        </p:txBody>
      </p:sp>
      <p:sp>
        <p:nvSpPr>
          <p:cNvPr id="31" name="Text 14">
            <a:extLst>
              <a:ext uri="{FF2B5EF4-FFF2-40B4-BE49-F238E27FC236}">
                <a16:creationId xmlns:a16="http://schemas.microsoft.com/office/drawing/2014/main" id="{283E4210-DDDD-CDD2-01D3-3DA0CB6E7719}"/>
              </a:ext>
            </a:extLst>
          </p:cNvPr>
          <p:cNvSpPr/>
          <p:nvPr/>
        </p:nvSpPr>
        <p:spPr>
          <a:xfrm>
            <a:off x="1016000" y="7324767"/>
            <a:ext cx="14224000" cy="981033"/>
          </a:xfrm>
          <a:prstGeom prst="rect">
            <a:avLst/>
          </a:prstGeom>
          <a:noFill/>
          <a:ln/>
        </p:spPr>
        <p:txBody>
          <a:bodyPr wrap="square" lIns="0" tIns="0" rIns="0" bIns="0" rtlCol="0" anchor="t"/>
          <a:lstStyle/>
          <a:p>
            <a:pPr marL="254000" indent="-254000">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Tightening supply-demand conditions grants producers </a:t>
            </a:r>
            <a:r>
              <a:rPr lang="en-US" sz="1600" b="1" dirty="0">
                <a:solidFill>
                  <a:srgbClr val="2D3748"/>
                </a:solidFill>
                <a:latin typeface="Liter" pitchFamily="34" charset="0"/>
                <a:ea typeface="Liter" pitchFamily="34" charset="-122"/>
                <a:cs typeface="Liter" pitchFamily="34" charset="-120"/>
              </a:rPr>
              <a:t>higher pricing power </a:t>
            </a:r>
            <a:r>
              <a:rPr lang="en-US" sz="1600" dirty="0">
                <a:solidFill>
                  <a:srgbClr val="2D3748"/>
                </a:solidFill>
                <a:latin typeface="Liter" pitchFamily="34" charset="0"/>
                <a:ea typeface="Liter" pitchFamily="34" charset="-122"/>
                <a:cs typeface="Liter" pitchFamily="34" charset="-120"/>
              </a:rPr>
              <a:t>&amp; sustain HBM/DRAM/NAND </a:t>
            </a:r>
            <a:r>
              <a:rPr lang="en-US" sz="1600" b="1" dirty="0">
                <a:solidFill>
                  <a:srgbClr val="2D3748"/>
                </a:solidFill>
                <a:latin typeface="Liter" pitchFamily="34" charset="0"/>
                <a:ea typeface="Liter" pitchFamily="34" charset="-122"/>
                <a:cs typeface="Liter" pitchFamily="34" charset="-120"/>
              </a:rPr>
              <a:t>Average Selling Price (ASP) increases</a:t>
            </a:r>
            <a:endParaRPr lang="en-US" sz="1600" b="1" dirty="0"/>
          </a:p>
          <a:p>
            <a:pPr marL="254000" indent="-254000">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A </a:t>
            </a:r>
            <a:r>
              <a:rPr lang="en-US" sz="1600" b="1" dirty="0">
                <a:solidFill>
                  <a:srgbClr val="2D3748"/>
                </a:solidFill>
                <a:latin typeface="Liter" pitchFamily="34" charset="0"/>
                <a:ea typeface="Liter" pitchFamily="34" charset="-122"/>
                <a:cs typeface="Liter" pitchFamily="34" charset="-120"/>
              </a:rPr>
              <a:t>richer product mix </a:t>
            </a:r>
            <a:r>
              <a:rPr lang="en-US" sz="1600" dirty="0">
                <a:solidFill>
                  <a:srgbClr val="2D3748"/>
                </a:solidFill>
                <a:latin typeface="Liter" pitchFamily="34" charset="0"/>
                <a:ea typeface="Liter" pitchFamily="34" charset="-122"/>
                <a:cs typeface="Liter" pitchFamily="34" charset="-120"/>
              </a:rPr>
              <a:t>(i.e. more HBM, server-grade DDR5/LPDDR5 (DRAM), enterprise SSDs) </a:t>
            </a:r>
            <a:r>
              <a:rPr lang="en-US" sz="1600" b="1" dirty="0">
                <a:solidFill>
                  <a:srgbClr val="2D3748"/>
                </a:solidFill>
                <a:latin typeface="Liter" pitchFamily="34" charset="0"/>
                <a:ea typeface="Liter" pitchFamily="34" charset="-122"/>
                <a:cs typeface="Liter" pitchFamily="34" charset="-120"/>
              </a:rPr>
              <a:t>lifts revenue and profit per wafer </a:t>
            </a:r>
            <a:r>
              <a:rPr lang="en-US" sz="1600" dirty="0">
                <a:solidFill>
                  <a:srgbClr val="2D3748"/>
                </a:solidFill>
                <a:latin typeface="Liter" pitchFamily="34" charset="0"/>
                <a:ea typeface="Liter" pitchFamily="34" charset="-122"/>
                <a:cs typeface="Liter" pitchFamily="34" charset="-120"/>
              </a:rPr>
              <a:t>(These are premium products)</a:t>
            </a:r>
            <a:endParaRPr lang="en-US" sz="1600" dirty="0"/>
          </a:p>
        </p:txBody>
      </p:sp>
      <p:pic>
        <p:nvPicPr>
          <p:cNvPr id="36" name="Picture 35">
            <a:extLst>
              <a:ext uri="{FF2B5EF4-FFF2-40B4-BE49-F238E27FC236}">
                <a16:creationId xmlns:a16="http://schemas.microsoft.com/office/drawing/2014/main" id="{01F3E926-24D1-E575-5536-A9B5EBD6876D}"/>
              </a:ext>
            </a:extLst>
          </p:cNvPr>
          <p:cNvPicPr>
            <a:picLocks noChangeAspect="1"/>
          </p:cNvPicPr>
          <p:nvPr/>
        </p:nvPicPr>
        <p:blipFill>
          <a:blip r:embed="rId3"/>
          <a:srcRect t="13994" b="21616"/>
          <a:stretch>
            <a:fillRect/>
          </a:stretch>
        </p:blipFill>
        <p:spPr>
          <a:xfrm>
            <a:off x="1606864" y="977900"/>
            <a:ext cx="6013136" cy="1402824"/>
          </a:xfrm>
          <a:prstGeom prst="rect">
            <a:avLst/>
          </a:prstGeom>
        </p:spPr>
      </p:pic>
      <p:pic>
        <p:nvPicPr>
          <p:cNvPr id="38" name="Picture 37">
            <a:extLst>
              <a:ext uri="{FF2B5EF4-FFF2-40B4-BE49-F238E27FC236}">
                <a16:creationId xmlns:a16="http://schemas.microsoft.com/office/drawing/2014/main" id="{4C385F88-1680-5311-BCC5-F0A4E27A0629}"/>
              </a:ext>
            </a:extLst>
          </p:cNvPr>
          <p:cNvPicPr>
            <a:picLocks noChangeAspect="1"/>
          </p:cNvPicPr>
          <p:nvPr/>
        </p:nvPicPr>
        <p:blipFill>
          <a:blip r:embed="rId4"/>
          <a:stretch>
            <a:fillRect/>
          </a:stretch>
        </p:blipFill>
        <p:spPr>
          <a:xfrm>
            <a:off x="8999566" y="876111"/>
            <a:ext cx="4879606" cy="1582060"/>
          </a:xfrm>
          <a:prstGeom prst="rect">
            <a:avLst/>
          </a:prstGeom>
        </p:spPr>
      </p:pic>
    </p:spTree>
    <p:extLst>
      <p:ext uri="{BB962C8B-B14F-4D97-AF65-F5344CB8AC3E}">
        <p14:creationId xmlns:p14="http://schemas.microsoft.com/office/powerpoint/2010/main" val="20104593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5861E-0F9F-699D-A840-191E4D77964A}"/>
            </a:ext>
          </a:extLst>
        </p:cNvPr>
        <p:cNvGrpSpPr/>
        <p:nvPr/>
      </p:nvGrpSpPr>
      <p:grpSpPr>
        <a:xfrm>
          <a:off x="0" y="0"/>
          <a:ext cx="0" cy="0"/>
          <a:chOff x="0" y="0"/>
          <a:chExt cx="0" cy="0"/>
        </a:xfrm>
      </p:grpSpPr>
      <p:pic>
        <p:nvPicPr>
          <p:cNvPr id="660" name="Graphic 659">
            <a:extLst>
              <a:ext uri="{FF2B5EF4-FFF2-40B4-BE49-F238E27FC236}">
                <a16:creationId xmlns:a16="http://schemas.microsoft.com/office/drawing/2014/main" id="{B6A3570F-B5BD-5BFB-D582-F7E2777E87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42823" y="847800"/>
            <a:ext cx="4986888" cy="5018053"/>
          </a:xfrm>
          <a:prstGeom prst="rect">
            <a:avLst/>
          </a:prstGeom>
        </p:spPr>
      </p:pic>
      <p:grpSp>
        <p:nvGrpSpPr>
          <p:cNvPr id="7" name="Group 6">
            <a:extLst>
              <a:ext uri="{FF2B5EF4-FFF2-40B4-BE49-F238E27FC236}">
                <a16:creationId xmlns:a16="http://schemas.microsoft.com/office/drawing/2014/main" id="{6ABB6C3F-6243-31CD-A922-6F4B4C12BE55}"/>
              </a:ext>
            </a:extLst>
          </p:cNvPr>
          <p:cNvGrpSpPr/>
          <p:nvPr/>
        </p:nvGrpSpPr>
        <p:grpSpPr>
          <a:xfrm>
            <a:off x="12214120" y="8750105"/>
            <a:ext cx="3400141" cy="340771"/>
            <a:chOff x="9160590" y="6563831"/>
            <a:chExt cx="2550106" cy="255578"/>
          </a:xfrm>
        </p:grpSpPr>
        <p:pic>
          <p:nvPicPr>
            <p:cNvPr id="46" name="Picture 45" descr="Logo&#10;&#10;Description automatically generated">
              <a:extLst>
                <a:ext uri="{FF2B5EF4-FFF2-40B4-BE49-F238E27FC236}">
                  <a16:creationId xmlns:a16="http://schemas.microsoft.com/office/drawing/2014/main" id="{3EC57243-5F5F-876D-E62B-04E668D1FEAE}"/>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47" name="Rectangle 19">
              <a:extLst>
                <a:ext uri="{FF2B5EF4-FFF2-40B4-BE49-F238E27FC236}">
                  <a16:creationId xmlns:a16="http://schemas.microsoft.com/office/drawing/2014/main" id="{6D937064-BF83-A172-ED56-A98375E7B850}"/>
                </a:ext>
              </a:extLst>
            </p:cNvPr>
            <p:cNvSpPr/>
            <p:nvPr/>
          </p:nvSpPr>
          <p:spPr>
            <a:xfrm>
              <a:off x="9160590" y="6614676"/>
              <a:ext cx="2265443" cy="153841"/>
            </a:xfrm>
            <a:prstGeom prst="rect">
              <a:avLst/>
            </a:prstGeom>
          </p:spPr>
          <p:txBody>
            <a:bodyPr wrap="square" lIns="0" tIns="0" rIns="0" bIns="0">
              <a:spAutoFit/>
            </a:bodyPr>
            <a:lstStyle/>
            <a:p>
              <a:pPr algn="r" defTabSz="1219170">
                <a:defRPr/>
              </a:pPr>
              <a:r>
                <a:rPr lang="en-US" altLang="zh-CN" sz="1333" spc="-40" dirty="0">
                  <a:solidFill>
                    <a:prstClr val="white"/>
                  </a:solidFill>
                  <a:latin typeface="Calibri Light"/>
                  <a:ea typeface="Microsoft JhengHei"/>
                </a:rPr>
                <a:t>CSOP Asset Management</a:t>
              </a:r>
              <a:endParaRPr lang="zh-CN" altLang="en-US" sz="1333" dirty="0">
                <a:solidFill>
                  <a:prstClr val="white"/>
                </a:solidFill>
                <a:latin typeface="Calibri Light"/>
                <a:ea typeface="Microsoft JhengHei"/>
              </a:endParaRPr>
            </a:p>
          </p:txBody>
        </p:sp>
      </p:grpSp>
      <p:sp>
        <p:nvSpPr>
          <p:cNvPr id="32" name="圆角矩形 3">
            <a:extLst>
              <a:ext uri="{FF2B5EF4-FFF2-40B4-BE49-F238E27FC236}">
                <a16:creationId xmlns:a16="http://schemas.microsoft.com/office/drawing/2014/main" id="{1805C511-F5B6-3E8A-71DE-937D339DFCEA}"/>
              </a:ext>
            </a:extLst>
          </p:cNvPr>
          <p:cNvSpPr/>
          <p:nvPr/>
        </p:nvSpPr>
        <p:spPr>
          <a:xfrm rot="2700000">
            <a:off x="6689530" y="2745145"/>
            <a:ext cx="3899372" cy="3899372"/>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3" name="椭圆 4">
            <a:extLst>
              <a:ext uri="{FF2B5EF4-FFF2-40B4-BE49-F238E27FC236}">
                <a16:creationId xmlns:a16="http://schemas.microsoft.com/office/drawing/2014/main" id="{7CBF124C-6B2E-80A9-7EBB-78F636A5EFA3}"/>
              </a:ext>
            </a:extLst>
          </p:cNvPr>
          <p:cNvSpPr/>
          <p:nvPr/>
        </p:nvSpPr>
        <p:spPr>
          <a:xfrm>
            <a:off x="6000646" y="2056259"/>
            <a:ext cx="5277140" cy="5277140"/>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nvGrpSpPr>
          <p:cNvPr id="34" name="组合 6">
            <a:extLst>
              <a:ext uri="{FF2B5EF4-FFF2-40B4-BE49-F238E27FC236}">
                <a16:creationId xmlns:a16="http://schemas.microsoft.com/office/drawing/2014/main" id="{69D110D3-6536-8C30-5135-285B8EA61457}"/>
              </a:ext>
            </a:extLst>
          </p:cNvPr>
          <p:cNvGrpSpPr/>
          <p:nvPr/>
        </p:nvGrpSpPr>
        <p:grpSpPr>
          <a:xfrm>
            <a:off x="6600753" y="2855029"/>
            <a:ext cx="4126435" cy="3698616"/>
            <a:chOff x="4950565" y="2141272"/>
            <a:chExt cx="3094826" cy="2773962"/>
          </a:xfrm>
        </p:grpSpPr>
        <p:sp>
          <p:nvSpPr>
            <p:cNvPr id="35" name="椭圆 43">
              <a:extLst>
                <a:ext uri="{FF2B5EF4-FFF2-40B4-BE49-F238E27FC236}">
                  <a16:creationId xmlns:a16="http://schemas.microsoft.com/office/drawing/2014/main" id="{5109F0BD-2FD6-0BFF-4B85-355C40AD3AB8}"/>
                </a:ext>
              </a:extLst>
            </p:cNvPr>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6" name="椭圆 44">
              <a:extLst>
                <a:ext uri="{FF2B5EF4-FFF2-40B4-BE49-F238E27FC236}">
                  <a16:creationId xmlns:a16="http://schemas.microsoft.com/office/drawing/2014/main" id="{1A226B62-B201-CAA9-B107-DC838C239AA9}"/>
                </a:ext>
              </a:extLst>
            </p:cNvPr>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grpSp>
        <p:nvGrpSpPr>
          <p:cNvPr id="37" name="组合 5">
            <a:extLst>
              <a:ext uri="{FF2B5EF4-FFF2-40B4-BE49-F238E27FC236}">
                <a16:creationId xmlns:a16="http://schemas.microsoft.com/office/drawing/2014/main" id="{B24A23D6-CE42-97E9-2C7F-DEF5F6190316}"/>
              </a:ext>
            </a:extLst>
          </p:cNvPr>
          <p:cNvGrpSpPr/>
          <p:nvPr/>
        </p:nvGrpSpPr>
        <p:grpSpPr>
          <a:xfrm>
            <a:off x="6604306" y="2855030"/>
            <a:ext cx="4112293" cy="3731037"/>
            <a:chOff x="4953229" y="2141272"/>
            <a:chExt cx="3084220" cy="2798278"/>
          </a:xfrm>
        </p:grpSpPr>
        <p:sp>
          <p:nvSpPr>
            <p:cNvPr id="38" name="椭圆 45">
              <a:extLst>
                <a:ext uri="{FF2B5EF4-FFF2-40B4-BE49-F238E27FC236}">
                  <a16:creationId xmlns:a16="http://schemas.microsoft.com/office/drawing/2014/main" id="{2847E8B7-CA21-0EC5-2852-AECA9F8E1998}"/>
                </a:ext>
              </a:extLst>
            </p:cNvPr>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9" name="椭圆 46">
              <a:extLst>
                <a:ext uri="{FF2B5EF4-FFF2-40B4-BE49-F238E27FC236}">
                  <a16:creationId xmlns:a16="http://schemas.microsoft.com/office/drawing/2014/main" id="{C4D69A24-80E9-9C91-8B49-B4CC7EB3304A}"/>
                </a:ext>
              </a:extLst>
            </p:cNvPr>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sp>
        <p:nvSpPr>
          <p:cNvPr id="40" name="矩形 19">
            <a:extLst>
              <a:ext uri="{FF2B5EF4-FFF2-40B4-BE49-F238E27FC236}">
                <a16:creationId xmlns:a16="http://schemas.microsoft.com/office/drawing/2014/main" id="{498BDC2C-9813-D275-7BD4-8A79A4A37C3F}"/>
              </a:ext>
            </a:extLst>
          </p:cNvPr>
          <p:cNvSpPr/>
          <p:nvPr/>
        </p:nvSpPr>
        <p:spPr>
          <a:xfrm>
            <a:off x="6348606" y="4084476"/>
            <a:ext cx="4476329" cy="1241237"/>
          </a:xfrm>
          <a:prstGeom prst="rect">
            <a:avLst/>
          </a:prstGeom>
          <a:ln>
            <a:noFill/>
          </a:ln>
        </p:spPr>
        <p:txBody>
          <a:bodyPr wrap="square">
            <a:spAutoFit/>
          </a:bodyPr>
          <a:lstStyle/>
          <a:p>
            <a:pPr lvl="0" algn="ctr">
              <a:defRPr/>
            </a:pPr>
            <a:r>
              <a:rPr lang="en-US" altLang="zh-CN" sz="3733" b="1" dirty="0">
                <a:solidFill>
                  <a:srgbClr val="2660AD"/>
                </a:solidFill>
                <a:ea typeface="微软雅黑" panose="020B0503020204020204" pitchFamily="34" charset="-122"/>
                <a:sym typeface="+mn-lt"/>
              </a:rPr>
              <a:t>2H26 Key Positive Catalysts</a:t>
            </a:r>
          </a:p>
        </p:txBody>
      </p:sp>
      <p:sp>
        <p:nvSpPr>
          <p:cNvPr id="42" name="矩形 21">
            <a:extLst>
              <a:ext uri="{FF2B5EF4-FFF2-40B4-BE49-F238E27FC236}">
                <a16:creationId xmlns:a16="http://schemas.microsoft.com/office/drawing/2014/main" id="{8A0212B1-D712-60D1-19EA-8CF1EFB0EEAE}"/>
              </a:ext>
            </a:extLst>
          </p:cNvPr>
          <p:cNvSpPr/>
          <p:nvPr/>
        </p:nvSpPr>
        <p:spPr>
          <a:xfrm rot="13500000">
            <a:off x="4263885" y="3800097"/>
            <a:ext cx="1789457" cy="1789460"/>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43" name="矩形 22">
            <a:extLst>
              <a:ext uri="{FF2B5EF4-FFF2-40B4-BE49-F238E27FC236}">
                <a16:creationId xmlns:a16="http://schemas.microsoft.com/office/drawing/2014/main" id="{A902D1BE-3D6B-84A4-0696-E5DA144F8FCC}"/>
              </a:ext>
            </a:extLst>
          </p:cNvPr>
          <p:cNvSpPr/>
          <p:nvPr/>
        </p:nvSpPr>
        <p:spPr>
          <a:xfrm>
            <a:off x="4488709" y="4044381"/>
            <a:ext cx="1146468" cy="1077218"/>
          </a:xfrm>
          <a:prstGeom prst="rect">
            <a:avLst/>
          </a:prstGeom>
        </p:spPr>
        <p:txBody>
          <a:bodyPr wrap="none">
            <a:spAutoFit/>
          </a:bodyPr>
          <a:lstStyle/>
          <a:p>
            <a:pPr defTabSz="1219170">
              <a:defRPr/>
            </a:pPr>
            <a:r>
              <a:rPr lang="en-US" altLang="zh-CN" sz="6400" dirty="0">
                <a:solidFill>
                  <a:prstClr val="white"/>
                </a:solidFill>
                <a:latin typeface="微软雅黑" panose="020B0503020204020204" pitchFamily="34" charset="-122"/>
                <a:ea typeface="微软雅黑" panose="020B0503020204020204" pitchFamily="34" charset="-122"/>
                <a:sym typeface="+mn-lt"/>
              </a:rPr>
              <a:t>05</a:t>
            </a:r>
            <a:endParaRPr lang="zh-CN" altLang="en-US" sz="6400" dirty="0">
              <a:solidFill>
                <a:prstClr val="white"/>
              </a:solidFill>
              <a:latin typeface="微软雅黑" panose="020B0503020204020204" pitchFamily="34" charset="-122"/>
              <a:ea typeface="微软雅黑" panose="020B0503020204020204" pitchFamily="34" charset="-122"/>
              <a:sym typeface="+mn-lt"/>
            </a:endParaRPr>
          </a:p>
        </p:txBody>
      </p:sp>
      <p:sp>
        <p:nvSpPr>
          <p:cNvPr id="3" name="Slide Number Placeholder 2">
            <a:extLst>
              <a:ext uri="{FF2B5EF4-FFF2-40B4-BE49-F238E27FC236}">
                <a16:creationId xmlns:a16="http://schemas.microsoft.com/office/drawing/2014/main" id="{DFDDBB1B-D944-5B7C-C125-1FBFAD3BF139}"/>
              </a:ext>
            </a:extLst>
          </p:cNvPr>
          <p:cNvSpPr>
            <a:spLocks noGrp="1"/>
          </p:cNvSpPr>
          <p:nvPr>
            <p:ph type="sldNum" sz="quarter" idx="4"/>
          </p:nvPr>
        </p:nvSpPr>
        <p:spPr>
          <a:xfrm>
            <a:off x="15614261" y="8743433"/>
            <a:ext cx="439212" cy="369332"/>
          </a:xfrm>
          <a:prstGeom prst="rect">
            <a:avLst/>
          </a:prstGeom>
        </p:spPr>
        <p:txBody>
          <a:bodyPr/>
          <a:lstStyle>
            <a:defPPr>
              <a:defRPr lang="en-US"/>
            </a:defPPr>
            <a:lvl1pPr marL="0" algn="r" defTabSz="1219170" rtl="0" eaLnBrk="1" latinLnBrk="0" hangingPunct="1">
              <a:defRPr sz="2400" kern="1200">
                <a:solidFill>
                  <a:schemeClr val="bg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defRPr/>
            </a:pPr>
            <a:fld id="{CC7D48C0-AA79-46F3-BF6F-F82B468F2D98}" type="slidenum">
              <a:rPr lang="en-US" sz="1333">
                <a:solidFill>
                  <a:prstClr val="white"/>
                </a:solidFill>
                <a:latin typeface="Calibri"/>
                <a:ea typeface="Microsoft JhengHei"/>
              </a:rPr>
              <a:pPr>
                <a:defRPr/>
              </a:pPr>
              <a:t>21</a:t>
            </a:fld>
            <a:endParaRPr lang="en-US" sz="1333" dirty="0">
              <a:solidFill>
                <a:prstClr val="white"/>
              </a:solidFill>
              <a:latin typeface="Calibri Light"/>
              <a:ea typeface="Microsoft JhengHei"/>
            </a:endParaRPr>
          </a:p>
        </p:txBody>
      </p:sp>
    </p:spTree>
    <p:custDataLst>
      <p:tags r:id="rId1"/>
    </p:custDataLst>
    <p:extLst>
      <p:ext uri="{BB962C8B-B14F-4D97-AF65-F5344CB8AC3E}">
        <p14:creationId xmlns:p14="http://schemas.microsoft.com/office/powerpoint/2010/main" val="4175185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en-US" sz="2200" b="1" dirty="0">
                <a:solidFill>
                  <a:srgbClr val="1B2F4A"/>
                </a:solidFill>
                <a:latin typeface="Liter" pitchFamily="34" charset="0"/>
                <a:ea typeface="Liter" pitchFamily="34" charset="-122"/>
                <a:cs typeface="Liter" pitchFamily="34" charset="-120"/>
              </a:rPr>
              <a:t>Key Positive Catalysts: Memory Exports at Fastest YoY Pace in 50 Years</a:t>
            </a:r>
            <a:endParaRPr lang="en-US" sz="22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5865006" cy="2794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5.1 — South Korea Exports Growth (%YoY)</a:t>
            </a:r>
            <a:endParaRPr lang="en-US" sz="1300" dirty="0"/>
          </a:p>
        </p:txBody>
      </p:sp>
      <p:sp>
        <p:nvSpPr>
          <p:cNvPr id="7" name="Shape 5"/>
          <p:cNvSpPr/>
          <p:nvPr/>
        </p:nvSpPr>
        <p:spPr>
          <a:xfrm>
            <a:off x="762000" y="1371600"/>
            <a:ext cx="5624330" cy="3804584"/>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71600"/>
            <a:ext cx="6858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South Korea Exports Growth (%YoY)]</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Fastest YoY pace in 50 years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Total exports +71% YoY (June 2026)</a:t>
            </a:r>
            <a:endParaRPr lang="en-US" sz="1400" dirty="0"/>
          </a:p>
        </p:txBody>
      </p:sp>
      <p:sp>
        <p:nvSpPr>
          <p:cNvPr id="9" name="Shape 7"/>
          <p:cNvSpPr/>
          <p:nvPr/>
        </p:nvSpPr>
        <p:spPr>
          <a:xfrm>
            <a:off x="6790548" y="1041400"/>
            <a:ext cx="50800" cy="254000"/>
          </a:xfrm>
          <a:prstGeom prst="rect">
            <a:avLst/>
          </a:prstGeom>
          <a:solidFill>
            <a:srgbClr val="C4963A"/>
          </a:solidFill>
          <a:ln/>
        </p:spPr>
        <p:txBody>
          <a:bodyPr/>
          <a:lstStyle/>
          <a:p>
            <a:endParaRPr lang="en-US"/>
          </a:p>
        </p:txBody>
      </p:sp>
      <p:sp>
        <p:nvSpPr>
          <p:cNvPr id="10" name="Text 8"/>
          <p:cNvSpPr/>
          <p:nvPr/>
        </p:nvSpPr>
        <p:spPr>
          <a:xfrm>
            <a:off x="6942948" y="1016000"/>
            <a:ext cx="7112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5.2 — Monthly Exports Trends (US$ mn, %)</a:t>
            </a:r>
            <a:endParaRPr lang="en-US" sz="1300" dirty="0"/>
          </a:p>
        </p:txBody>
      </p:sp>
      <p:sp>
        <p:nvSpPr>
          <p:cNvPr id="11" name="Shape 9"/>
          <p:cNvSpPr/>
          <p:nvPr/>
        </p:nvSpPr>
        <p:spPr>
          <a:xfrm>
            <a:off x="6779406" y="1371600"/>
            <a:ext cx="8714594" cy="3804584"/>
          </a:xfrm>
          <a:prstGeom prst="rect">
            <a:avLst/>
          </a:prstGeom>
          <a:solidFill>
            <a:srgbClr val="F7F8FA"/>
          </a:solidFill>
          <a:ln w="12700">
            <a:solidFill>
              <a:srgbClr val="E2E8F0"/>
            </a:solidFill>
            <a:prstDash val="solid"/>
          </a:ln>
        </p:spPr>
        <p:txBody>
          <a:bodyPr/>
          <a:lstStyle/>
          <a:p>
            <a:endParaRPr lang="en-US"/>
          </a:p>
        </p:txBody>
      </p:sp>
      <p:sp>
        <p:nvSpPr>
          <p:cNvPr id="12" name="Text 10"/>
          <p:cNvSpPr/>
          <p:nvPr/>
        </p:nvSpPr>
        <p:spPr>
          <a:xfrm>
            <a:off x="8128000" y="1371600"/>
            <a:ext cx="7366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[Table: Monthly Exports Trends of Korean Tech Products]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Memory exports +280% YoY</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DRAM +385%, NAND +301%, SSD +355%</a:t>
            </a:r>
            <a:endParaRPr lang="en-US" sz="1400" dirty="0"/>
          </a:p>
        </p:txBody>
      </p:sp>
      <p:sp>
        <p:nvSpPr>
          <p:cNvPr id="13" name="Shape 11"/>
          <p:cNvSpPr/>
          <p:nvPr/>
        </p:nvSpPr>
        <p:spPr>
          <a:xfrm>
            <a:off x="762000" y="5531786"/>
            <a:ext cx="14732000" cy="2723213"/>
          </a:xfrm>
          <a:prstGeom prst="rect">
            <a:avLst/>
          </a:prstGeom>
          <a:solidFill>
            <a:srgbClr val="F7F8FA"/>
          </a:solidFill>
          <a:ln/>
        </p:spPr>
        <p:txBody>
          <a:bodyPr/>
          <a:lstStyle/>
          <a:p>
            <a:endParaRPr lang="en-US"/>
          </a:p>
        </p:txBody>
      </p:sp>
      <p:sp>
        <p:nvSpPr>
          <p:cNvPr id="14" name="Shape 12"/>
          <p:cNvSpPr/>
          <p:nvPr/>
        </p:nvSpPr>
        <p:spPr>
          <a:xfrm>
            <a:off x="762000" y="5480986"/>
            <a:ext cx="14732000" cy="50800"/>
          </a:xfrm>
          <a:prstGeom prst="rect">
            <a:avLst/>
          </a:prstGeom>
          <a:solidFill>
            <a:srgbClr val="C4963A"/>
          </a:solidFill>
          <a:ln/>
        </p:spPr>
        <p:txBody>
          <a:bodyPr/>
          <a:lstStyle/>
          <a:p>
            <a:endParaRPr lang="en-US"/>
          </a:p>
        </p:txBody>
      </p:sp>
      <p:sp>
        <p:nvSpPr>
          <p:cNvPr id="15" name="Text 13"/>
          <p:cNvSpPr/>
          <p:nvPr/>
        </p:nvSpPr>
        <p:spPr>
          <a:xfrm>
            <a:off x="1016000" y="5699177"/>
            <a:ext cx="381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Export Strength (June 2026):</a:t>
            </a:r>
            <a:endParaRPr lang="en-US" sz="1600" dirty="0"/>
          </a:p>
        </p:txBody>
      </p:sp>
      <p:sp>
        <p:nvSpPr>
          <p:cNvPr id="16" name="Text 14"/>
          <p:cNvSpPr/>
          <p:nvPr/>
        </p:nvSpPr>
        <p:spPr>
          <a:xfrm>
            <a:off x="1016000" y="6003977"/>
            <a:ext cx="14224000" cy="2098623"/>
          </a:xfrm>
          <a:prstGeom prst="rect">
            <a:avLst/>
          </a:prstGeom>
          <a:noFill/>
          <a:ln/>
        </p:spPr>
        <p:txBody>
          <a:bodyPr wrap="square" lIns="0" tIns="0" rIns="0" bIns="0" rtlCol="0" anchor="t"/>
          <a:lstStyle/>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Total exports: +71% YoY</a:t>
            </a:r>
            <a:r>
              <a:rPr lang="en-US" sz="1600" dirty="0">
                <a:solidFill>
                  <a:srgbClr val="2D3748"/>
                </a:solidFill>
                <a:latin typeface="Liter" pitchFamily="34" charset="0"/>
                <a:ea typeface="Liter" pitchFamily="34" charset="-122"/>
                <a:cs typeface="Liter" pitchFamily="34" charset="-120"/>
              </a:rPr>
              <a:t> — 50-year strongest pace</a:t>
            </a:r>
            <a:endParaRPr lang="en-US" sz="1600" dirty="0"/>
          </a:p>
          <a:p>
            <a:pPr marL="254000"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Total Semiconductor exports: +199% YoY </a:t>
            </a:r>
            <a:r>
              <a:rPr lang="en-US" sz="1600" dirty="0">
                <a:solidFill>
                  <a:srgbClr val="2D3748"/>
                </a:solidFill>
                <a:latin typeface="Liter" pitchFamily="34" charset="0"/>
                <a:ea typeface="Liter" pitchFamily="34" charset="-122"/>
                <a:cs typeface="Liter" pitchFamily="34" charset="-120"/>
              </a:rPr>
              <a:t>| </a:t>
            </a:r>
            <a:r>
              <a:rPr lang="en-US" sz="1600" b="1" dirty="0">
                <a:solidFill>
                  <a:srgbClr val="2D3748"/>
                </a:solidFill>
                <a:latin typeface="Liter" pitchFamily="34" charset="0"/>
                <a:ea typeface="Liter" pitchFamily="34" charset="-122"/>
                <a:cs typeface="Liter" pitchFamily="34" charset="-120"/>
              </a:rPr>
              <a:t>Total Memory exports: +280% YoY</a:t>
            </a:r>
            <a:endParaRPr lang="en-US" sz="1600" dirty="0"/>
          </a:p>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DRAM: +385% YoY</a:t>
            </a:r>
            <a:r>
              <a:rPr lang="en-US" sz="1600" dirty="0">
                <a:solidFill>
                  <a:srgbClr val="2D3748"/>
                </a:solidFill>
                <a:latin typeface="Liter" pitchFamily="34" charset="0"/>
                <a:ea typeface="Liter" pitchFamily="34" charset="-122"/>
                <a:cs typeface="Liter" pitchFamily="34" charset="-120"/>
              </a:rPr>
              <a:t> | </a:t>
            </a:r>
            <a:r>
              <a:rPr lang="en-US" sz="1600" b="1" dirty="0">
                <a:solidFill>
                  <a:srgbClr val="2D3748"/>
                </a:solidFill>
                <a:latin typeface="Liter" pitchFamily="34" charset="0"/>
                <a:ea typeface="Liter" pitchFamily="34" charset="-122"/>
                <a:cs typeface="Liter" pitchFamily="34" charset="-120"/>
              </a:rPr>
              <a:t>NAND flash: +301% YoY</a:t>
            </a:r>
            <a:r>
              <a:rPr lang="en-US" sz="1600" dirty="0">
                <a:solidFill>
                  <a:srgbClr val="2D3748"/>
                </a:solidFill>
                <a:latin typeface="Liter" pitchFamily="34" charset="0"/>
                <a:ea typeface="Liter" pitchFamily="34" charset="-122"/>
                <a:cs typeface="Liter" pitchFamily="34" charset="-120"/>
              </a:rPr>
              <a:t> | </a:t>
            </a:r>
            <a:r>
              <a:rPr lang="en-US" sz="1600" b="1" dirty="0">
                <a:solidFill>
                  <a:srgbClr val="2D3748"/>
                </a:solidFill>
                <a:latin typeface="Liter" pitchFamily="34" charset="0"/>
                <a:ea typeface="Liter" pitchFamily="34" charset="-122"/>
                <a:cs typeface="Liter" pitchFamily="34" charset="-120"/>
              </a:rPr>
              <a:t>SSD: +355% YoY</a:t>
            </a:r>
            <a:endParaRPr lang="en-US" sz="1600" dirty="0"/>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Could support </a:t>
            </a:r>
            <a:r>
              <a:rPr lang="en-US" sz="1600" b="1" dirty="0">
                <a:solidFill>
                  <a:srgbClr val="2D3748"/>
                </a:solidFill>
                <a:latin typeface="Liter" pitchFamily="34" charset="0"/>
                <a:ea typeface="Liter" pitchFamily="34" charset="-122"/>
                <a:cs typeface="Liter" pitchFamily="34" charset="-120"/>
              </a:rPr>
              <a:t>another robust 2Q/3Q earnings cycle</a:t>
            </a:r>
            <a:r>
              <a:rPr lang="en-US" sz="1600" dirty="0">
                <a:solidFill>
                  <a:srgbClr val="2D3748"/>
                </a:solidFill>
                <a:latin typeface="Liter" pitchFamily="34" charset="0"/>
                <a:ea typeface="Liter" pitchFamily="34" charset="-122"/>
                <a:cs typeface="Liter" pitchFamily="34" charset="-120"/>
              </a:rPr>
              <a:t> for Korea's memory complex</a:t>
            </a:r>
            <a:endParaRPr lang="en-US" sz="1600" dirty="0"/>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Reinforces the view that </a:t>
            </a:r>
            <a:r>
              <a:rPr lang="en-US" sz="1600" b="1" dirty="0">
                <a:solidFill>
                  <a:srgbClr val="2D3748"/>
                </a:solidFill>
                <a:latin typeface="Liter" pitchFamily="34" charset="0"/>
                <a:ea typeface="Liter" pitchFamily="34" charset="-122"/>
                <a:cs typeface="Liter" pitchFamily="34" charset="-120"/>
              </a:rPr>
              <a:t>sector earnings momentum remains intact</a:t>
            </a:r>
            <a:r>
              <a:rPr lang="en-US" sz="1600" dirty="0">
                <a:solidFill>
                  <a:srgbClr val="2D3748"/>
                </a:solidFill>
                <a:latin typeface="Liter" pitchFamily="34" charset="0"/>
                <a:ea typeface="Liter" pitchFamily="34" charset="-122"/>
                <a:cs typeface="Liter" pitchFamily="34" charset="-120"/>
              </a:rPr>
              <a:t>, even as the AI trade becomes less one-dimensional</a:t>
            </a:r>
            <a:endParaRPr lang="en-US" sz="1600" dirty="0"/>
          </a:p>
        </p:txBody>
      </p:sp>
      <p:sp>
        <p:nvSpPr>
          <p:cNvPr id="17" name="Text 15"/>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Deutsche Bank, Goldman Sachs.</a:t>
            </a:r>
            <a:endParaRPr lang="en-US" sz="1200" dirty="0"/>
          </a:p>
        </p:txBody>
      </p:sp>
      <p:sp>
        <p:nvSpPr>
          <p:cNvPr id="18" name="Text 16"/>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rPr>
              <a:t>22</a:t>
            </a:r>
            <a:endParaRPr lang="en-US" sz="1200" dirty="0"/>
          </a:p>
        </p:txBody>
      </p:sp>
      <p:pic>
        <p:nvPicPr>
          <p:cNvPr id="19" name="Picture 18">
            <a:extLst>
              <a:ext uri="{FF2B5EF4-FFF2-40B4-BE49-F238E27FC236}">
                <a16:creationId xmlns:a16="http://schemas.microsoft.com/office/drawing/2014/main" id="{D8CE83F7-4302-2B11-A5AE-0AC810E56C15}"/>
              </a:ext>
            </a:extLst>
          </p:cNvPr>
          <p:cNvPicPr>
            <a:picLocks noChangeAspect="1"/>
          </p:cNvPicPr>
          <p:nvPr/>
        </p:nvPicPr>
        <p:blipFill>
          <a:blip r:embed="rId3"/>
          <a:stretch>
            <a:fillRect/>
          </a:stretch>
        </p:blipFill>
        <p:spPr>
          <a:xfrm>
            <a:off x="755650" y="1358901"/>
            <a:ext cx="5624330" cy="3817283"/>
          </a:xfrm>
          <a:prstGeom prst="rect">
            <a:avLst/>
          </a:prstGeom>
        </p:spPr>
      </p:pic>
      <p:pic>
        <p:nvPicPr>
          <p:cNvPr id="20" name="Picture 19">
            <a:extLst>
              <a:ext uri="{FF2B5EF4-FFF2-40B4-BE49-F238E27FC236}">
                <a16:creationId xmlns:a16="http://schemas.microsoft.com/office/drawing/2014/main" id="{834BCB55-1DE2-66CE-E82A-6D6206B0F1DC}"/>
              </a:ext>
            </a:extLst>
          </p:cNvPr>
          <p:cNvPicPr>
            <a:picLocks noChangeAspect="1"/>
          </p:cNvPicPr>
          <p:nvPr/>
        </p:nvPicPr>
        <p:blipFill>
          <a:blip r:embed="rId4"/>
          <a:stretch>
            <a:fillRect/>
          </a:stretch>
        </p:blipFill>
        <p:spPr>
          <a:xfrm>
            <a:off x="6773056" y="1371600"/>
            <a:ext cx="8720944" cy="3804584"/>
          </a:xfrm>
          <a:prstGeom prst="rect">
            <a:avLst/>
          </a:prstGeom>
        </p:spPr>
      </p:pic>
      <p:sp>
        <p:nvSpPr>
          <p:cNvPr id="21" name="Rectangle 20">
            <a:extLst>
              <a:ext uri="{FF2B5EF4-FFF2-40B4-BE49-F238E27FC236}">
                <a16:creationId xmlns:a16="http://schemas.microsoft.com/office/drawing/2014/main" id="{9A602C0D-43CD-CF2B-6A3C-F30180697E7E}"/>
              </a:ext>
            </a:extLst>
          </p:cNvPr>
          <p:cNvSpPr/>
          <p:nvPr/>
        </p:nvSpPr>
        <p:spPr>
          <a:xfrm>
            <a:off x="15080104" y="1658286"/>
            <a:ext cx="508001" cy="164413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1E8A0AD-558F-CB41-06E2-63DDD2D15EA6}"/>
              </a:ext>
            </a:extLst>
          </p:cNvPr>
          <p:cNvSpPr/>
          <p:nvPr/>
        </p:nvSpPr>
        <p:spPr>
          <a:xfrm>
            <a:off x="6708932" y="1658286"/>
            <a:ext cx="1085954" cy="164413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200" b="1" dirty="0">
                <a:solidFill>
                  <a:srgbClr val="1B2F4A"/>
                </a:solidFill>
                <a:latin typeface="Liter" pitchFamily="34" charset="0"/>
                <a:ea typeface="Liter" pitchFamily="34" charset="-122"/>
                <a:cs typeface="Liter" pitchFamily="34" charset="-120"/>
              </a:rPr>
              <a:t>Key Positive Catalysts: AI Capex Broadening into Components: SEMCO MLCC, ABF Substrates, AI Server Power</a:t>
            </a:r>
            <a:endParaRPr lang="en-US" sz="22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4572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5.3 — SEMCO AI Server MLCC Revenue Forecast</a:t>
            </a:r>
            <a:endParaRPr lang="en-US" sz="1300" dirty="0"/>
          </a:p>
        </p:txBody>
      </p:sp>
      <p:sp>
        <p:nvSpPr>
          <p:cNvPr id="7" name="Shape 5"/>
          <p:cNvSpPr/>
          <p:nvPr/>
        </p:nvSpPr>
        <p:spPr>
          <a:xfrm>
            <a:off x="762000" y="1371600"/>
            <a:ext cx="4699000" cy="2962847"/>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71600"/>
            <a:ext cx="4699000" cy="2794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SEMCO AI Server MLCC Revenue]</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6.4x growth from 2025 to 2028</a:t>
            </a:r>
            <a:endParaRPr lang="en-US" sz="1400" dirty="0"/>
          </a:p>
        </p:txBody>
      </p:sp>
      <p:sp>
        <p:nvSpPr>
          <p:cNvPr id="9" name="Shape 7"/>
          <p:cNvSpPr/>
          <p:nvPr/>
        </p:nvSpPr>
        <p:spPr>
          <a:xfrm>
            <a:off x="5842000" y="1041400"/>
            <a:ext cx="50800" cy="254000"/>
          </a:xfrm>
          <a:prstGeom prst="rect">
            <a:avLst/>
          </a:prstGeom>
          <a:solidFill>
            <a:srgbClr val="C4963A"/>
          </a:solidFill>
          <a:ln/>
        </p:spPr>
        <p:txBody>
          <a:bodyPr/>
          <a:lstStyle/>
          <a:p>
            <a:endParaRPr lang="en-US"/>
          </a:p>
        </p:txBody>
      </p:sp>
      <p:sp>
        <p:nvSpPr>
          <p:cNvPr id="10" name="Text 8"/>
          <p:cNvSpPr/>
          <p:nvPr/>
        </p:nvSpPr>
        <p:spPr>
          <a:xfrm>
            <a:off x="5994400" y="1016000"/>
            <a:ext cx="4572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5.4 — ABF Industry Supply Shortage Forecast</a:t>
            </a:r>
            <a:endParaRPr lang="en-US" sz="1300" dirty="0"/>
          </a:p>
        </p:txBody>
      </p:sp>
      <p:sp>
        <p:nvSpPr>
          <p:cNvPr id="11" name="Shape 9"/>
          <p:cNvSpPr/>
          <p:nvPr/>
        </p:nvSpPr>
        <p:spPr>
          <a:xfrm>
            <a:off x="5842000" y="1371600"/>
            <a:ext cx="4699000" cy="2967156"/>
          </a:xfrm>
          <a:prstGeom prst="rect">
            <a:avLst/>
          </a:prstGeom>
          <a:solidFill>
            <a:srgbClr val="F7F8FA"/>
          </a:solidFill>
          <a:ln w="12700">
            <a:solidFill>
              <a:srgbClr val="E2E8F0"/>
            </a:solidFill>
            <a:prstDash val="solid"/>
          </a:ln>
        </p:spPr>
        <p:txBody>
          <a:bodyPr/>
          <a:lstStyle/>
          <a:p>
            <a:endParaRPr lang="en-US"/>
          </a:p>
        </p:txBody>
      </p:sp>
      <p:sp>
        <p:nvSpPr>
          <p:cNvPr id="12" name="Text 10"/>
          <p:cNvSpPr/>
          <p:nvPr/>
        </p:nvSpPr>
        <p:spPr>
          <a:xfrm>
            <a:off x="5842000" y="1371600"/>
            <a:ext cx="4699000" cy="2794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ABF Industry Supply Shortage]</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Favorable supply-demand for 18-24 months</a:t>
            </a:r>
            <a:endParaRPr lang="en-US" sz="1400" dirty="0"/>
          </a:p>
        </p:txBody>
      </p:sp>
      <p:sp>
        <p:nvSpPr>
          <p:cNvPr id="13" name="Shape 11"/>
          <p:cNvSpPr/>
          <p:nvPr/>
        </p:nvSpPr>
        <p:spPr>
          <a:xfrm>
            <a:off x="10922000" y="1041400"/>
            <a:ext cx="50800" cy="254000"/>
          </a:xfrm>
          <a:prstGeom prst="rect">
            <a:avLst/>
          </a:prstGeom>
          <a:solidFill>
            <a:srgbClr val="C4963A"/>
          </a:solidFill>
          <a:ln/>
        </p:spPr>
        <p:txBody>
          <a:bodyPr/>
          <a:lstStyle/>
          <a:p>
            <a:endParaRPr lang="en-US"/>
          </a:p>
        </p:txBody>
      </p:sp>
      <p:sp>
        <p:nvSpPr>
          <p:cNvPr id="14" name="Text 12"/>
          <p:cNvSpPr/>
          <p:nvPr/>
        </p:nvSpPr>
        <p:spPr>
          <a:xfrm>
            <a:off x="11074400" y="1016000"/>
            <a:ext cx="4318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5.5 — AI Server Power Demand Forecast</a:t>
            </a:r>
            <a:endParaRPr lang="en-US" sz="1300" dirty="0"/>
          </a:p>
        </p:txBody>
      </p:sp>
      <p:sp>
        <p:nvSpPr>
          <p:cNvPr id="15" name="Shape 13"/>
          <p:cNvSpPr/>
          <p:nvPr/>
        </p:nvSpPr>
        <p:spPr>
          <a:xfrm>
            <a:off x="10922000" y="1371600"/>
            <a:ext cx="4572000" cy="2957082"/>
          </a:xfrm>
          <a:prstGeom prst="rect">
            <a:avLst/>
          </a:prstGeom>
          <a:solidFill>
            <a:srgbClr val="F7F8FA"/>
          </a:solidFill>
          <a:ln w="12700">
            <a:solidFill>
              <a:srgbClr val="E2E8F0"/>
            </a:solidFill>
            <a:prstDash val="solid"/>
          </a:ln>
        </p:spPr>
        <p:txBody>
          <a:bodyPr/>
          <a:lstStyle/>
          <a:p>
            <a:endParaRPr lang="en-US"/>
          </a:p>
        </p:txBody>
      </p:sp>
      <p:sp>
        <p:nvSpPr>
          <p:cNvPr id="16" name="Text 14"/>
          <p:cNvSpPr/>
          <p:nvPr/>
        </p:nvSpPr>
        <p:spPr>
          <a:xfrm>
            <a:off x="10922000" y="1371600"/>
            <a:ext cx="4572000" cy="2794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AI Server Power Demand]</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Rising to 534 TWh by 2030E</a:t>
            </a:r>
            <a:endParaRPr lang="en-US" sz="1400" dirty="0"/>
          </a:p>
        </p:txBody>
      </p:sp>
      <p:sp>
        <p:nvSpPr>
          <p:cNvPr id="17" name="Shape 15"/>
          <p:cNvSpPr/>
          <p:nvPr/>
        </p:nvSpPr>
        <p:spPr>
          <a:xfrm>
            <a:off x="762000" y="4430013"/>
            <a:ext cx="14732000" cy="2660338"/>
          </a:xfrm>
          <a:prstGeom prst="rect">
            <a:avLst/>
          </a:prstGeom>
          <a:solidFill>
            <a:srgbClr val="F7F8FA"/>
          </a:solidFill>
          <a:ln/>
        </p:spPr>
        <p:txBody>
          <a:bodyPr/>
          <a:lstStyle/>
          <a:p>
            <a:endParaRPr lang="en-US"/>
          </a:p>
        </p:txBody>
      </p:sp>
      <p:sp>
        <p:nvSpPr>
          <p:cNvPr id="18" name="Shape 16"/>
          <p:cNvSpPr/>
          <p:nvPr/>
        </p:nvSpPr>
        <p:spPr>
          <a:xfrm>
            <a:off x="762000" y="4430013"/>
            <a:ext cx="14732000" cy="50800"/>
          </a:xfrm>
          <a:prstGeom prst="rect">
            <a:avLst/>
          </a:prstGeom>
          <a:solidFill>
            <a:srgbClr val="C4963A"/>
          </a:solidFill>
          <a:ln/>
        </p:spPr>
        <p:txBody>
          <a:bodyPr/>
          <a:lstStyle/>
          <a:p>
            <a:endParaRPr lang="en-US"/>
          </a:p>
        </p:txBody>
      </p:sp>
      <p:sp>
        <p:nvSpPr>
          <p:cNvPr id="19" name="Text 17"/>
          <p:cNvSpPr/>
          <p:nvPr/>
        </p:nvSpPr>
        <p:spPr>
          <a:xfrm>
            <a:off x="1016000" y="4607813"/>
            <a:ext cx="5080000"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AI Component Growth Opportunities:</a:t>
            </a:r>
            <a:endParaRPr lang="en-US" sz="1600" dirty="0"/>
          </a:p>
        </p:txBody>
      </p:sp>
      <p:sp>
        <p:nvSpPr>
          <p:cNvPr id="20" name="Text 18"/>
          <p:cNvSpPr/>
          <p:nvPr/>
        </p:nvSpPr>
        <p:spPr>
          <a:xfrm>
            <a:off x="1016000" y="4963413"/>
            <a:ext cx="14224000" cy="2126938"/>
          </a:xfrm>
          <a:prstGeom prst="rect">
            <a:avLst/>
          </a:prstGeom>
          <a:noFill/>
          <a:ln/>
        </p:spPr>
        <p:txBody>
          <a:bodyPr wrap="square" lIns="0" tIns="0" rIns="0" bIns="0" rtlCol="0" anchor="t"/>
          <a:lstStyle/>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GS: SEMCO AI-server MLCC revenue</a:t>
            </a:r>
            <a:r>
              <a:rPr lang="en-US" sz="1600" dirty="0">
                <a:solidFill>
                  <a:srgbClr val="2D3748"/>
                </a:solidFill>
                <a:latin typeface="Liter" pitchFamily="34" charset="0"/>
                <a:ea typeface="Liter" pitchFamily="34" charset="-122"/>
                <a:cs typeface="Liter" pitchFamily="34" charset="-120"/>
              </a:rPr>
              <a:t> to grow </a:t>
            </a:r>
            <a:r>
              <a:rPr lang="en-US" sz="1600" b="1" dirty="0">
                <a:solidFill>
                  <a:srgbClr val="2D3748"/>
                </a:solidFill>
                <a:latin typeface="Liter" pitchFamily="34" charset="0"/>
                <a:ea typeface="Liter" pitchFamily="34" charset="-122"/>
                <a:cs typeface="Liter" pitchFamily="34" charset="-120"/>
              </a:rPr>
              <a:t>6.4x from 2025 to 2028</a:t>
            </a:r>
            <a:r>
              <a:rPr lang="en-US" sz="1600" dirty="0">
                <a:solidFill>
                  <a:srgbClr val="2D3748"/>
                </a:solidFill>
                <a:latin typeface="Liter" pitchFamily="34" charset="0"/>
                <a:ea typeface="Liter" pitchFamily="34" charset="-122"/>
                <a:cs typeface="Liter" pitchFamily="34" charset="-120"/>
              </a:rPr>
              <a:t> </a:t>
            </a:r>
          </a:p>
          <a:p>
            <a:pPr marL="254000"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ABF substrate supply-demand</a:t>
            </a:r>
            <a:r>
              <a:rPr lang="en-US" sz="1600" dirty="0">
                <a:solidFill>
                  <a:srgbClr val="2D3748"/>
                </a:solidFill>
                <a:latin typeface="Liter" pitchFamily="34" charset="0"/>
                <a:ea typeface="Liter" pitchFamily="34" charset="-122"/>
                <a:cs typeface="Liter" pitchFamily="34" charset="-120"/>
              </a:rPr>
              <a:t> favorable for </a:t>
            </a:r>
            <a:r>
              <a:rPr lang="en-US" sz="1600" b="1" dirty="0">
                <a:solidFill>
                  <a:srgbClr val="2D3748"/>
                </a:solidFill>
                <a:latin typeface="Liter" pitchFamily="34" charset="0"/>
                <a:ea typeface="Liter" pitchFamily="34" charset="-122"/>
                <a:cs typeface="Liter" pitchFamily="34" charset="-120"/>
              </a:rPr>
              <a:t>18-24 months</a:t>
            </a:r>
            <a:r>
              <a:rPr lang="en-US" sz="1600" dirty="0">
                <a:solidFill>
                  <a:srgbClr val="2D3748"/>
                </a:solidFill>
                <a:latin typeface="Liter" pitchFamily="34" charset="0"/>
                <a:ea typeface="Liter" pitchFamily="34" charset="-122"/>
                <a:cs typeface="Liter" pitchFamily="34" charset="-120"/>
              </a:rPr>
              <a:t> given strong AI-server demand, higher layer counts, and limited near-term capacity additions</a:t>
            </a:r>
            <a:endParaRPr lang="en-US" sz="1600" dirty="0"/>
          </a:p>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AI server power demand</a:t>
            </a:r>
            <a:r>
              <a:rPr lang="en-US" sz="1600" dirty="0">
                <a:solidFill>
                  <a:srgbClr val="2D3748"/>
                </a:solidFill>
                <a:latin typeface="Liter" pitchFamily="34" charset="0"/>
                <a:ea typeface="Liter" pitchFamily="34" charset="-122"/>
                <a:cs typeface="Liter" pitchFamily="34" charset="-120"/>
              </a:rPr>
              <a:t> rising significantly to </a:t>
            </a:r>
            <a:r>
              <a:rPr lang="en-US" sz="1600" b="1" dirty="0">
                <a:solidFill>
                  <a:srgbClr val="2D3748"/>
                </a:solidFill>
                <a:latin typeface="Liter" pitchFamily="34" charset="0"/>
                <a:ea typeface="Liter" pitchFamily="34" charset="-122"/>
                <a:cs typeface="Liter" pitchFamily="34" charset="-120"/>
              </a:rPr>
              <a:t>534 TWh by 2030E</a:t>
            </a:r>
            <a:r>
              <a:rPr lang="en-US" sz="1600" dirty="0">
                <a:solidFill>
                  <a:srgbClr val="2D3748"/>
                </a:solidFill>
                <a:latin typeface="Liter" pitchFamily="34" charset="0"/>
                <a:ea typeface="Liter" pitchFamily="34" charset="-122"/>
                <a:cs typeface="Liter" pitchFamily="34" charset="-120"/>
              </a:rPr>
              <a:t> — a massive new demand driver for power infrastructure and component suppliers</a:t>
            </a:r>
            <a:endParaRPr lang="en-US" sz="1600" dirty="0"/>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AI capex is </a:t>
            </a:r>
            <a:r>
              <a:rPr lang="en-US" sz="1600" b="1" dirty="0">
                <a:solidFill>
                  <a:srgbClr val="2D3748"/>
                </a:solidFill>
                <a:latin typeface="Liter" pitchFamily="34" charset="0"/>
                <a:ea typeface="Liter" pitchFamily="34" charset="-122"/>
                <a:cs typeface="Liter" pitchFamily="34" charset="-120"/>
              </a:rPr>
              <a:t>broadening beyond core memory</a:t>
            </a:r>
            <a:r>
              <a:rPr lang="en-US" sz="1600" dirty="0">
                <a:solidFill>
                  <a:srgbClr val="2D3748"/>
                </a:solidFill>
                <a:latin typeface="Liter" pitchFamily="34" charset="0"/>
                <a:ea typeface="Liter" pitchFamily="34" charset="-122"/>
                <a:cs typeface="Liter" pitchFamily="34" charset="-120"/>
              </a:rPr>
              <a:t> into Korean component names</a:t>
            </a:r>
          </a:p>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Korea's opportunity set in 2H26 should </a:t>
            </a:r>
            <a:r>
              <a:rPr lang="en-US" sz="1600" b="1" dirty="0">
                <a:solidFill>
                  <a:srgbClr val="2D3748"/>
                </a:solidFill>
                <a:latin typeface="Liter" pitchFamily="34" charset="0"/>
                <a:ea typeface="Liter" pitchFamily="34" charset="-122"/>
                <a:cs typeface="Liter" pitchFamily="34" charset="-120"/>
              </a:rPr>
              <a:t>widen beyond memory into AI supply-chain, industrial, and power-related beneficiaries</a:t>
            </a:r>
            <a:endParaRPr lang="en-US" sz="1600" b="1" dirty="0"/>
          </a:p>
        </p:txBody>
      </p:sp>
      <p:sp>
        <p:nvSpPr>
          <p:cNvPr id="21" name="Text 19"/>
          <p:cNvSpPr/>
          <p:nvPr/>
        </p:nvSpPr>
        <p:spPr>
          <a:xfrm>
            <a:off x="762000" y="862892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Goldman Sachs.</a:t>
            </a:r>
            <a:endParaRPr lang="en-US" sz="1200" dirty="0"/>
          </a:p>
        </p:txBody>
      </p:sp>
      <p:sp>
        <p:nvSpPr>
          <p:cNvPr id="22" name="Text 20"/>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rPr>
              <a:t>23</a:t>
            </a:r>
            <a:endParaRPr lang="en-US" sz="1200" dirty="0"/>
          </a:p>
        </p:txBody>
      </p:sp>
      <p:pic>
        <p:nvPicPr>
          <p:cNvPr id="23" name="Picture 22">
            <a:extLst>
              <a:ext uri="{FF2B5EF4-FFF2-40B4-BE49-F238E27FC236}">
                <a16:creationId xmlns:a16="http://schemas.microsoft.com/office/drawing/2014/main" id="{C5730A60-222E-7330-FFC2-14CDDFBEF490}"/>
              </a:ext>
            </a:extLst>
          </p:cNvPr>
          <p:cNvPicPr>
            <a:picLocks noChangeAspect="1"/>
          </p:cNvPicPr>
          <p:nvPr/>
        </p:nvPicPr>
        <p:blipFill>
          <a:blip r:embed="rId3"/>
          <a:stretch>
            <a:fillRect/>
          </a:stretch>
        </p:blipFill>
        <p:spPr>
          <a:xfrm>
            <a:off x="759459" y="1386657"/>
            <a:ext cx="4726941" cy="2947790"/>
          </a:xfrm>
          <a:prstGeom prst="rect">
            <a:avLst/>
          </a:prstGeom>
        </p:spPr>
      </p:pic>
      <p:pic>
        <p:nvPicPr>
          <p:cNvPr id="24" name="Picture 23">
            <a:extLst>
              <a:ext uri="{FF2B5EF4-FFF2-40B4-BE49-F238E27FC236}">
                <a16:creationId xmlns:a16="http://schemas.microsoft.com/office/drawing/2014/main" id="{6E6FAC28-2197-3374-AE9F-39C1D7C1F9DB}"/>
              </a:ext>
            </a:extLst>
          </p:cNvPr>
          <p:cNvPicPr>
            <a:picLocks noChangeAspect="1"/>
          </p:cNvPicPr>
          <p:nvPr/>
        </p:nvPicPr>
        <p:blipFill>
          <a:blip r:embed="rId4"/>
          <a:stretch>
            <a:fillRect/>
          </a:stretch>
        </p:blipFill>
        <p:spPr>
          <a:xfrm>
            <a:off x="5867399" y="1386656"/>
            <a:ext cx="4673601" cy="2942025"/>
          </a:xfrm>
          <a:prstGeom prst="rect">
            <a:avLst/>
          </a:prstGeom>
        </p:spPr>
      </p:pic>
      <p:pic>
        <p:nvPicPr>
          <p:cNvPr id="25" name="Picture 24">
            <a:extLst>
              <a:ext uri="{FF2B5EF4-FFF2-40B4-BE49-F238E27FC236}">
                <a16:creationId xmlns:a16="http://schemas.microsoft.com/office/drawing/2014/main" id="{01A011CE-9B92-2AF6-1E00-EBC94A10E1CC}"/>
              </a:ext>
            </a:extLst>
          </p:cNvPr>
          <p:cNvPicPr>
            <a:picLocks noChangeAspect="1"/>
          </p:cNvPicPr>
          <p:nvPr/>
        </p:nvPicPr>
        <p:blipFill>
          <a:blip r:embed="rId5"/>
          <a:stretch>
            <a:fillRect/>
          </a:stretch>
        </p:blipFill>
        <p:spPr>
          <a:xfrm>
            <a:off x="10922000" y="1396731"/>
            <a:ext cx="4572000" cy="2957082"/>
          </a:xfrm>
          <a:prstGeom prst="rect">
            <a:avLst/>
          </a:prstGeom>
        </p:spPr>
      </p:pic>
      <p:cxnSp>
        <p:nvCxnSpPr>
          <p:cNvPr id="27" name="Straight Arrow Connector 26">
            <a:extLst>
              <a:ext uri="{FF2B5EF4-FFF2-40B4-BE49-F238E27FC236}">
                <a16:creationId xmlns:a16="http://schemas.microsoft.com/office/drawing/2014/main" id="{196B52B6-5588-F79D-7F1B-1B2B5720258F}"/>
              </a:ext>
            </a:extLst>
          </p:cNvPr>
          <p:cNvCxnSpPr>
            <a:cxnSpLocks/>
          </p:cNvCxnSpPr>
          <p:nvPr/>
        </p:nvCxnSpPr>
        <p:spPr>
          <a:xfrm flipV="1">
            <a:off x="9166000" y="1723032"/>
            <a:ext cx="972000" cy="1246582"/>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205DEA97-8837-AE4D-BF2C-AEDC42B99005}"/>
              </a:ext>
            </a:extLst>
          </p:cNvPr>
          <p:cNvCxnSpPr>
            <a:cxnSpLocks/>
          </p:cNvCxnSpPr>
          <p:nvPr/>
        </p:nvCxnSpPr>
        <p:spPr>
          <a:xfrm flipV="1">
            <a:off x="13233400" y="1706276"/>
            <a:ext cx="1558977" cy="1263338"/>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35" name="Table 34">
            <a:extLst>
              <a:ext uri="{FF2B5EF4-FFF2-40B4-BE49-F238E27FC236}">
                <a16:creationId xmlns:a16="http://schemas.microsoft.com/office/drawing/2014/main" id="{DCBB3715-CF77-25D7-57C6-F41914A51B45}"/>
              </a:ext>
            </a:extLst>
          </p:cNvPr>
          <p:cNvGraphicFramePr>
            <a:graphicFrameLocks noGrp="1"/>
          </p:cNvGraphicFramePr>
          <p:nvPr>
            <p:extLst>
              <p:ext uri="{D42A27DB-BD31-4B8C-83A1-F6EECF244321}">
                <p14:modId xmlns:p14="http://schemas.microsoft.com/office/powerpoint/2010/main" val="443101857"/>
              </p:ext>
            </p:extLst>
          </p:nvPr>
        </p:nvGraphicFramePr>
        <p:xfrm>
          <a:off x="1665574" y="7214289"/>
          <a:ext cx="12924852" cy="1407160"/>
        </p:xfrm>
        <a:graphic>
          <a:graphicData uri="http://schemas.openxmlformats.org/drawingml/2006/table">
            <a:tbl>
              <a:tblPr firstRow="1" bandRow="1">
                <a:tableStyleId>{5C22544A-7EE6-4342-B048-85BDC9FD1C3A}</a:tableStyleId>
              </a:tblPr>
              <a:tblGrid>
                <a:gridCol w="1790075">
                  <a:extLst>
                    <a:ext uri="{9D8B030D-6E8A-4147-A177-3AD203B41FA5}">
                      <a16:colId xmlns:a16="http://schemas.microsoft.com/office/drawing/2014/main" val="2971777462"/>
                    </a:ext>
                  </a:extLst>
                </a:gridCol>
                <a:gridCol w="5591331">
                  <a:extLst>
                    <a:ext uri="{9D8B030D-6E8A-4147-A177-3AD203B41FA5}">
                      <a16:colId xmlns:a16="http://schemas.microsoft.com/office/drawing/2014/main" val="3103458913"/>
                    </a:ext>
                  </a:extLst>
                </a:gridCol>
                <a:gridCol w="5543446">
                  <a:extLst>
                    <a:ext uri="{9D8B030D-6E8A-4147-A177-3AD203B41FA5}">
                      <a16:colId xmlns:a16="http://schemas.microsoft.com/office/drawing/2014/main" val="1010525393"/>
                    </a:ext>
                  </a:extLst>
                </a:gridCol>
              </a:tblGrid>
              <a:tr h="370840">
                <a:tc>
                  <a:txBody>
                    <a:bodyPr/>
                    <a:lstStyle/>
                    <a:p>
                      <a:pPr>
                        <a:buNone/>
                      </a:pPr>
                      <a:r>
                        <a:rPr lang="en-HK" sz="1400" dirty="0"/>
                        <a:t>Term</a:t>
                      </a:r>
                    </a:p>
                  </a:txBody>
                  <a:tcPr anchor="ctr">
                    <a:solidFill>
                      <a:srgbClr val="002060"/>
                    </a:solidFill>
                  </a:tcPr>
                </a:tc>
                <a:tc>
                  <a:txBody>
                    <a:bodyPr/>
                    <a:lstStyle/>
                    <a:p>
                      <a:pPr>
                        <a:buNone/>
                      </a:pPr>
                      <a:r>
                        <a:rPr lang="en-HK" sz="1400"/>
                        <a:t>What it is</a:t>
                      </a:r>
                    </a:p>
                  </a:txBody>
                  <a:tcPr anchor="ctr">
                    <a:solidFill>
                      <a:srgbClr val="002060"/>
                    </a:solidFill>
                  </a:tcPr>
                </a:tc>
                <a:tc>
                  <a:txBody>
                    <a:bodyPr/>
                    <a:lstStyle/>
                    <a:p>
                      <a:pPr>
                        <a:buNone/>
                      </a:pPr>
                      <a:r>
                        <a:rPr lang="en-HK" sz="1400" dirty="0"/>
                        <a:t>Why it matters for AI</a:t>
                      </a:r>
                    </a:p>
                  </a:txBody>
                  <a:tcPr anchor="ctr">
                    <a:solidFill>
                      <a:srgbClr val="002060"/>
                    </a:solidFill>
                  </a:tcPr>
                </a:tc>
                <a:extLst>
                  <a:ext uri="{0D108BD9-81ED-4DB2-BD59-A6C34878D82A}">
                    <a16:rowId xmlns:a16="http://schemas.microsoft.com/office/drawing/2014/main" val="1112490006"/>
                  </a:ext>
                </a:extLst>
              </a:tr>
              <a:tr h="512141">
                <a:tc>
                  <a:txBody>
                    <a:bodyPr/>
                    <a:lstStyle/>
                    <a:p>
                      <a:pPr>
                        <a:buNone/>
                      </a:pPr>
                      <a:r>
                        <a:rPr lang="en-HK" sz="1400" b="1"/>
                        <a:t>SEMCO MLCC</a:t>
                      </a:r>
                      <a:endParaRPr lang="en-HK" sz="1400"/>
                    </a:p>
                  </a:txBody>
                  <a:tcPr anchor="ctr"/>
                </a:tc>
                <a:tc>
                  <a:txBody>
                    <a:bodyPr/>
                    <a:lstStyle/>
                    <a:p>
                      <a:pPr>
                        <a:buNone/>
                      </a:pPr>
                      <a:r>
                        <a:rPr lang="en-HK" sz="1400" dirty="0"/>
                        <a:t>Tiny capacitors made by Samsung Electro-Mechanics </a:t>
                      </a:r>
                      <a:r>
                        <a:rPr lang="en-HK" sz="1400" b="0" dirty="0"/>
                        <a:t>that</a:t>
                      </a:r>
                      <a:r>
                        <a:rPr lang="en-HK" sz="1400" b="1" dirty="0"/>
                        <a:t> help regulate and stabilise power on boards</a:t>
                      </a:r>
                    </a:p>
                  </a:txBody>
                  <a:tcPr anchor="ctr"/>
                </a:tc>
                <a:tc>
                  <a:txBody>
                    <a:bodyPr/>
                    <a:lstStyle/>
                    <a:p>
                      <a:pPr>
                        <a:buNone/>
                      </a:pPr>
                      <a:r>
                        <a:rPr lang="en-HK" sz="1400" dirty="0"/>
                        <a:t>AI servers need many more MLCCs because </a:t>
                      </a:r>
                      <a:r>
                        <a:rPr lang="en-HK" sz="1400" b="1" dirty="0"/>
                        <a:t>high-power chips require cleaner, more reliable power delivery</a:t>
                      </a:r>
                    </a:p>
                  </a:txBody>
                  <a:tcPr anchor="ctr"/>
                </a:tc>
                <a:extLst>
                  <a:ext uri="{0D108BD9-81ED-4DB2-BD59-A6C34878D82A}">
                    <a16:rowId xmlns:a16="http://schemas.microsoft.com/office/drawing/2014/main" val="2357286937"/>
                  </a:ext>
                </a:extLst>
              </a:tr>
              <a:tr h="370840">
                <a:tc>
                  <a:txBody>
                    <a:bodyPr/>
                    <a:lstStyle/>
                    <a:p>
                      <a:pPr>
                        <a:buNone/>
                      </a:pPr>
                      <a:r>
                        <a:rPr lang="en-HK" sz="1400" b="1"/>
                        <a:t>ABF substrates</a:t>
                      </a:r>
                      <a:endParaRPr lang="en-HK" sz="1400"/>
                    </a:p>
                  </a:txBody>
                  <a:tcPr anchor="ctr"/>
                </a:tc>
                <a:tc>
                  <a:txBody>
                    <a:bodyPr/>
                    <a:lstStyle/>
                    <a:p>
                      <a:pPr>
                        <a:buNone/>
                      </a:pPr>
                      <a:r>
                        <a:rPr lang="en-HK" sz="1400" b="1" dirty="0"/>
                        <a:t>Advanced packaging substrates </a:t>
                      </a:r>
                      <a:r>
                        <a:rPr lang="en-HK" sz="1400" dirty="0"/>
                        <a:t>that connect high-end chips to the board and carry dense electrical signals</a:t>
                      </a:r>
                    </a:p>
                  </a:txBody>
                  <a:tcPr anchor="ctr"/>
                </a:tc>
                <a:tc>
                  <a:txBody>
                    <a:bodyPr/>
                    <a:lstStyle/>
                    <a:p>
                      <a:pPr>
                        <a:buNone/>
                      </a:pPr>
                      <a:r>
                        <a:rPr lang="en-HK" sz="1400" b="1" dirty="0"/>
                        <a:t>AI GPUs and accelerators need more complex, higher-performance packaging</a:t>
                      </a:r>
                      <a:r>
                        <a:rPr lang="en-HK" sz="1400" dirty="0"/>
                        <a:t>, which lifts ABF demand</a:t>
                      </a:r>
                    </a:p>
                  </a:txBody>
                  <a:tcPr anchor="ctr"/>
                </a:tc>
                <a:extLst>
                  <a:ext uri="{0D108BD9-81ED-4DB2-BD59-A6C34878D82A}">
                    <a16:rowId xmlns:a16="http://schemas.microsoft.com/office/drawing/2014/main" val="171111286"/>
                  </a:ext>
                </a:extLst>
              </a:tr>
            </a:tbl>
          </a:graphicData>
        </a:graphic>
      </p:graphicFrame>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200" b="1" dirty="0">
                <a:solidFill>
                  <a:srgbClr val="1B2F4A"/>
                </a:solidFill>
                <a:latin typeface="Liter" pitchFamily="34" charset="0"/>
                <a:ea typeface="Liter" pitchFamily="34" charset="-122"/>
                <a:cs typeface="Liter" pitchFamily="34" charset="-120"/>
              </a:rPr>
              <a:t>Key Positive Catalysts: Corporate Governance Reform: Low-PBR Disclosure and Anti-Stock-Price-Suppression</a:t>
            </a:r>
            <a:endParaRPr lang="en-US" sz="22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8890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5.6 — Korea's Governance Reform Policy Pipeline</a:t>
            </a:r>
            <a:endParaRPr lang="en-US" sz="1300" dirty="0"/>
          </a:p>
        </p:txBody>
      </p:sp>
      <p:sp>
        <p:nvSpPr>
          <p:cNvPr id="7" name="Shape 5"/>
          <p:cNvSpPr/>
          <p:nvPr/>
        </p:nvSpPr>
        <p:spPr>
          <a:xfrm>
            <a:off x="762000" y="1371600"/>
            <a:ext cx="9920984" cy="4064000"/>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71600"/>
            <a:ext cx="8382000" cy="4064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[Table: Korea's Governance Reform Policy Pipeline]</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Second phase of Commercial Act reform</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July 2026 KRX low-PBR disclosure regime</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Anti-stock-price-suppression measures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Independent director system strengthening</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3% rule strengthening, audit committee reforms</a:t>
            </a:r>
            <a:endParaRPr lang="en-US" sz="1400" dirty="0"/>
          </a:p>
        </p:txBody>
      </p:sp>
      <p:sp>
        <p:nvSpPr>
          <p:cNvPr id="9" name="Shape 7"/>
          <p:cNvSpPr/>
          <p:nvPr/>
        </p:nvSpPr>
        <p:spPr>
          <a:xfrm>
            <a:off x="10852878" y="1371600"/>
            <a:ext cx="4641122" cy="4254500"/>
          </a:xfrm>
          <a:prstGeom prst="rect">
            <a:avLst/>
          </a:prstGeom>
          <a:solidFill>
            <a:srgbClr val="F7F8FA"/>
          </a:solidFill>
          <a:ln/>
        </p:spPr>
        <p:txBody>
          <a:bodyPr/>
          <a:lstStyle/>
          <a:p>
            <a:endParaRPr lang="en-US"/>
          </a:p>
        </p:txBody>
      </p:sp>
      <p:sp>
        <p:nvSpPr>
          <p:cNvPr id="10" name="Shape 8"/>
          <p:cNvSpPr/>
          <p:nvPr/>
        </p:nvSpPr>
        <p:spPr>
          <a:xfrm>
            <a:off x="10852876" y="1376680"/>
            <a:ext cx="4641123" cy="45719"/>
          </a:xfrm>
          <a:prstGeom prst="rect">
            <a:avLst/>
          </a:prstGeom>
          <a:solidFill>
            <a:srgbClr val="C4963A"/>
          </a:solidFill>
          <a:ln/>
        </p:spPr>
        <p:txBody>
          <a:bodyPr/>
          <a:lstStyle/>
          <a:p>
            <a:endParaRPr lang="en-US"/>
          </a:p>
        </p:txBody>
      </p:sp>
      <p:sp>
        <p:nvSpPr>
          <p:cNvPr id="11" name="Text 9"/>
          <p:cNvSpPr/>
          <p:nvPr/>
        </p:nvSpPr>
        <p:spPr>
          <a:xfrm>
            <a:off x="10888270" y="1594370"/>
            <a:ext cx="5080000" cy="304800"/>
          </a:xfrm>
          <a:prstGeom prst="rect">
            <a:avLst/>
          </a:prstGeom>
          <a:noFill/>
          <a:ln/>
        </p:spPr>
        <p:txBody>
          <a:bodyPr wrap="none" lIns="0" tIns="0" rIns="0" bIns="0" rtlCol="0" anchor="t"/>
          <a:lstStyle/>
          <a:p>
            <a:pPr algn="l">
              <a:lnSpc>
                <a:spcPct val="120000"/>
              </a:lnSpc>
            </a:pPr>
            <a:r>
              <a:rPr lang="en-US" b="1" dirty="0">
                <a:solidFill>
                  <a:srgbClr val="1B2F4A"/>
                </a:solidFill>
                <a:latin typeface="Liter" pitchFamily="34" charset="0"/>
                <a:ea typeface="Liter" pitchFamily="34" charset="-122"/>
                <a:cs typeface="Liter" pitchFamily="34" charset="-120"/>
              </a:rPr>
              <a:t>Governance Catalysts:</a:t>
            </a:r>
            <a:endParaRPr lang="en-US" dirty="0"/>
          </a:p>
        </p:txBody>
      </p:sp>
      <p:sp>
        <p:nvSpPr>
          <p:cNvPr id="12" name="Text 10"/>
          <p:cNvSpPr/>
          <p:nvPr/>
        </p:nvSpPr>
        <p:spPr>
          <a:xfrm>
            <a:off x="10897846" y="1930401"/>
            <a:ext cx="4560344" cy="3685080"/>
          </a:xfrm>
          <a:prstGeom prst="rect">
            <a:avLst/>
          </a:prstGeom>
          <a:noFill/>
          <a:ln/>
        </p:spPr>
        <p:txBody>
          <a:bodyPr wrap="square" lIns="0" tIns="0" rIns="0" bIns="0" rtlCol="0" anchor="t"/>
          <a:lstStyle/>
          <a:p>
            <a:pPr marL="342900" indent="-342900">
              <a:lnSpc>
                <a:spcPct val="145000"/>
              </a:lnSpc>
              <a:spcBef>
                <a:spcPts val="10"/>
              </a:spcBef>
              <a:buSzPct val="100000"/>
              <a:buFont typeface="+mj-lt"/>
              <a:buAutoNum type="arabicPeriod"/>
            </a:pPr>
            <a:r>
              <a:rPr lang="en-US" sz="1600" b="1" dirty="0">
                <a:solidFill>
                  <a:srgbClr val="2D3748"/>
                </a:solidFill>
                <a:latin typeface="Liter" pitchFamily="34" charset="0"/>
                <a:ea typeface="Liter" pitchFamily="34" charset="-122"/>
                <a:cs typeface="Liter" pitchFamily="34" charset="-120"/>
              </a:rPr>
              <a:t>Second phase of Commercial Act reform</a:t>
            </a:r>
            <a:r>
              <a:rPr lang="en-US" sz="1600" dirty="0">
                <a:solidFill>
                  <a:srgbClr val="2D3748"/>
                </a:solidFill>
                <a:latin typeface="Liter" pitchFamily="34" charset="0"/>
                <a:ea typeface="Liter" pitchFamily="34" charset="-122"/>
                <a:cs typeface="Liter" pitchFamily="34" charset="-120"/>
              </a:rPr>
              <a:t> — strengthens minority shareholder influence through mandatory cumulative voting &amp; more independent audit committee at listed firms</a:t>
            </a:r>
            <a:endParaRPr lang="en-US" sz="1600" dirty="0"/>
          </a:p>
          <a:p>
            <a:pPr marL="342900" indent="-342900" algn="l">
              <a:lnSpc>
                <a:spcPct val="145000"/>
              </a:lnSpc>
              <a:spcBef>
                <a:spcPts val="10"/>
              </a:spcBef>
              <a:buSzPct val="100000"/>
              <a:buFont typeface="+mj-lt"/>
              <a:buAutoNum type="arabicPeriod"/>
            </a:pPr>
            <a:r>
              <a:rPr lang="en-US" sz="1600" b="1" dirty="0">
                <a:solidFill>
                  <a:srgbClr val="2D3748"/>
                </a:solidFill>
                <a:latin typeface="Liter" pitchFamily="34" charset="0"/>
                <a:ea typeface="Liter" pitchFamily="34" charset="-122"/>
                <a:cs typeface="Liter" pitchFamily="34" charset="-120"/>
              </a:rPr>
              <a:t>July 2026 KRX low-PBR disclosure regime</a:t>
            </a:r>
            <a:r>
              <a:rPr lang="en-US" sz="1600" dirty="0">
                <a:solidFill>
                  <a:srgbClr val="2D3748"/>
                </a:solidFill>
                <a:latin typeface="Liter" pitchFamily="34" charset="0"/>
                <a:ea typeface="Liter" pitchFamily="34" charset="-122"/>
                <a:cs typeface="Liter" pitchFamily="34" charset="-120"/>
              </a:rPr>
              <a:t> — requiring companies trading below book to explain valuation and improvement plans</a:t>
            </a:r>
            <a:endParaRPr lang="en-US" sz="1600" dirty="0"/>
          </a:p>
          <a:p>
            <a:pPr marL="342900" indent="-342900" algn="l">
              <a:lnSpc>
                <a:spcPct val="145000"/>
              </a:lnSpc>
              <a:spcBef>
                <a:spcPts val="10"/>
              </a:spcBef>
              <a:buSzPct val="100000"/>
              <a:buFont typeface="+mj-lt"/>
              <a:buAutoNum type="arabicPeriod"/>
            </a:pPr>
            <a:r>
              <a:rPr lang="en-US" sz="1600" b="1" dirty="0">
                <a:solidFill>
                  <a:srgbClr val="2D3748"/>
                </a:solidFill>
                <a:latin typeface="Liter" pitchFamily="34" charset="0"/>
                <a:ea typeface="Liter" pitchFamily="34" charset="-122"/>
                <a:cs typeface="Liter" pitchFamily="34" charset="-120"/>
              </a:rPr>
              <a:t>Anti-stock-price-suppression measures</a:t>
            </a:r>
            <a:r>
              <a:rPr lang="en-US" sz="1600" dirty="0">
                <a:solidFill>
                  <a:srgbClr val="2D3748"/>
                </a:solidFill>
                <a:latin typeface="Liter" pitchFamily="34" charset="0"/>
                <a:ea typeface="Liter" pitchFamily="34" charset="-122"/>
                <a:cs typeface="Liter" pitchFamily="34" charset="-120"/>
              </a:rPr>
              <a:t> — targeting practices that artificially depress share prices</a:t>
            </a:r>
            <a:endParaRPr lang="en-US" sz="1600" dirty="0"/>
          </a:p>
        </p:txBody>
      </p:sp>
      <p:sp>
        <p:nvSpPr>
          <p:cNvPr id="13" name="Shape 11"/>
          <p:cNvSpPr/>
          <p:nvPr/>
        </p:nvSpPr>
        <p:spPr>
          <a:xfrm>
            <a:off x="762000" y="5778499"/>
            <a:ext cx="14732000" cy="2834681"/>
          </a:xfrm>
          <a:prstGeom prst="rect">
            <a:avLst/>
          </a:prstGeom>
          <a:solidFill>
            <a:srgbClr val="1B2F4A"/>
          </a:solidFill>
          <a:ln/>
        </p:spPr>
        <p:txBody>
          <a:bodyPr/>
          <a:lstStyle/>
          <a:p>
            <a:endParaRPr lang="en-US"/>
          </a:p>
        </p:txBody>
      </p:sp>
      <p:sp>
        <p:nvSpPr>
          <p:cNvPr id="14" name="Text 12"/>
          <p:cNvSpPr/>
          <p:nvPr/>
        </p:nvSpPr>
        <p:spPr>
          <a:xfrm>
            <a:off x="1270000" y="5880100"/>
            <a:ext cx="6350000" cy="330200"/>
          </a:xfrm>
          <a:prstGeom prst="rect">
            <a:avLst/>
          </a:prstGeom>
          <a:noFill/>
          <a:ln/>
        </p:spPr>
        <p:txBody>
          <a:bodyPr wrap="none" lIns="0" tIns="0" rIns="0" bIns="0" rtlCol="0" anchor="t"/>
          <a:lstStyle/>
          <a:p>
            <a:pPr algn="l">
              <a:lnSpc>
                <a:spcPct val="120000"/>
              </a:lnSpc>
            </a:pPr>
            <a:r>
              <a:rPr lang="en-US" sz="1800" b="1" dirty="0">
                <a:solidFill>
                  <a:srgbClr val="C4963A"/>
                </a:solidFill>
                <a:latin typeface="Liter" pitchFamily="34" charset="0"/>
                <a:ea typeface="Liter" pitchFamily="34" charset="-122"/>
                <a:cs typeface="Liter" pitchFamily="34" charset="-120"/>
              </a:rPr>
              <a:t>Why Governance Reform Matters for Investors</a:t>
            </a:r>
            <a:endParaRPr lang="en-US" sz="1800" dirty="0"/>
          </a:p>
        </p:txBody>
      </p:sp>
      <p:sp>
        <p:nvSpPr>
          <p:cNvPr id="15" name="Text 13"/>
          <p:cNvSpPr/>
          <p:nvPr/>
        </p:nvSpPr>
        <p:spPr>
          <a:xfrm>
            <a:off x="1270000" y="6210300"/>
            <a:ext cx="13716000" cy="2298700"/>
          </a:xfrm>
          <a:prstGeom prst="rect">
            <a:avLst/>
          </a:prstGeom>
          <a:noFill/>
          <a:ln/>
        </p:spPr>
        <p:txBody>
          <a:bodyPr wrap="square" lIns="0" tIns="0" rIns="0" bIns="0" rtlCol="0" anchor="t"/>
          <a:lstStyle/>
          <a:p>
            <a:pPr marL="285750" indent="-285750">
              <a:lnSpc>
                <a:spcPct val="170000"/>
              </a:lnSpc>
              <a:buFont typeface="Arial" panose="020B0604020202020204" pitchFamily="34" charset="0"/>
              <a:buChar char="•"/>
            </a:pPr>
            <a:r>
              <a:rPr lang="en-US" sz="1600" dirty="0">
                <a:solidFill>
                  <a:srgbClr val="FFFFFF"/>
                </a:solidFill>
                <a:latin typeface="Liter" pitchFamily="34" charset="0"/>
                <a:ea typeface="Liter" pitchFamily="34" charset="-122"/>
                <a:cs typeface="Liter" pitchFamily="34" charset="-120"/>
              </a:rPr>
              <a:t>The convergence of </a:t>
            </a:r>
            <a:r>
              <a:rPr lang="en-US" sz="1600" b="1" u="sng" dirty="0">
                <a:solidFill>
                  <a:srgbClr val="FFFFFF"/>
                </a:solidFill>
                <a:latin typeface="Liter" pitchFamily="34" charset="0"/>
                <a:ea typeface="Liter" pitchFamily="34" charset="-122"/>
                <a:cs typeface="Liter" pitchFamily="34" charset="-120"/>
              </a:rPr>
              <a:t>regulatory pressure </a:t>
            </a:r>
            <a:r>
              <a:rPr lang="en-US" sz="1600" dirty="0">
                <a:solidFill>
                  <a:srgbClr val="FFFFFF"/>
                </a:solidFill>
                <a:latin typeface="Liter" pitchFamily="34" charset="0"/>
                <a:ea typeface="Liter" pitchFamily="34" charset="-122"/>
                <a:cs typeface="Liter" pitchFamily="34" charset="-120"/>
              </a:rPr>
              <a:t>(KRX disclosure regime), </a:t>
            </a:r>
            <a:r>
              <a:rPr lang="en-US" sz="1600" b="1" u="sng" dirty="0">
                <a:solidFill>
                  <a:srgbClr val="FFFFFF"/>
                </a:solidFill>
                <a:latin typeface="Liter" pitchFamily="34" charset="0"/>
                <a:ea typeface="Liter" pitchFamily="34" charset="-122"/>
                <a:cs typeface="Liter" pitchFamily="34" charset="-120"/>
              </a:rPr>
              <a:t>legislative reform </a:t>
            </a:r>
            <a:r>
              <a:rPr lang="en-US" sz="1600" dirty="0">
                <a:solidFill>
                  <a:srgbClr val="FFFFFF"/>
                </a:solidFill>
                <a:latin typeface="Liter" pitchFamily="34" charset="0"/>
                <a:ea typeface="Liter" pitchFamily="34" charset="-122"/>
                <a:cs typeface="Liter" pitchFamily="34" charset="-120"/>
              </a:rPr>
              <a:t>(Commercial Act amendments), and </a:t>
            </a:r>
            <a:r>
              <a:rPr lang="en-US" sz="1600" b="1" u="sng" dirty="0">
                <a:solidFill>
                  <a:srgbClr val="FFFFFF"/>
                </a:solidFill>
                <a:latin typeface="Liter" pitchFamily="34" charset="0"/>
                <a:ea typeface="Liter" pitchFamily="34" charset="-122"/>
                <a:cs typeface="Liter" pitchFamily="34" charset="-120"/>
              </a:rPr>
              <a:t>market forces </a:t>
            </a:r>
            <a:r>
              <a:rPr lang="en-US" sz="1600" dirty="0">
                <a:solidFill>
                  <a:srgbClr val="FFFFFF"/>
                </a:solidFill>
                <a:latin typeface="Liter" pitchFamily="34" charset="0"/>
                <a:ea typeface="Liter" pitchFamily="34" charset="-122"/>
                <a:cs typeface="Liter" pitchFamily="34" charset="-120"/>
              </a:rPr>
              <a:t>(active investor engagement) creates a unique window for governance improvement in Korea</a:t>
            </a:r>
          </a:p>
          <a:p>
            <a:pPr marL="285750" indent="-285750">
              <a:lnSpc>
                <a:spcPct val="170000"/>
              </a:lnSpc>
              <a:buFont typeface="Arial" panose="020B0604020202020204" pitchFamily="34" charset="0"/>
              <a:buChar char="•"/>
            </a:pPr>
            <a:r>
              <a:rPr lang="en-US" sz="1600" dirty="0">
                <a:solidFill>
                  <a:srgbClr val="FFFFFF"/>
                </a:solidFill>
                <a:latin typeface="Liter" pitchFamily="34" charset="0"/>
                <a:ea typeface="Liter" pitchFamily="34" charset="-122"/>
                <a:cs typeface="Liter" pitchFamily="34" charset="-120"/>
              </a:rPr>
              <a:t>Could </a:t>
            </a:r>
            <a:r>
              <a:rPr lang="en-US" sz="1600" b="1" u="sng" dirty="0">
                <a:solidFill>
                  <a:srgbClr val="FFFFFF"/>
                </a:solidFill>
                <a:latin typeface="Liter" pitchFamily="34" charset="0"/>
                <a:ea typeface="Liter" pitchFamily="34" charset="-122"/>
                <a:cs typeface="Liter" pitchFamily="34" charset="-120"/>
              </a:rPr>
              <a:t>lift shareholder returns </a:t>
            </a:r>
            <a:r>
              <a:rPr lang="en-US" sz="1600" dirty="0">
                <a:solidFill>
                  <a:srgbClr val="FFFFFF"/>
                </a:solidFill>
                <a:latin typeface="Liter" pitchFamily="34" charset="0"/>
                <a:ea typeface="Liter" pitchFamily="34" charset="-122"/>
                <a:cs typeface="Liter" pitchFamily="34" charset="-120"/>
              </a:rPr>
              <a:t>and </a:t>
            </a:r>
            <a:r>
              <a:rPr lang="en-US" sz="1600" b="1" u="sng" dirty="0">
                <a:solidFill>
                  <a:srgbClr val="FFFFFF"/>
                </a:solidFill>
                <a:latin typeface="Liter" pitchFamily="34" charset="0"/>
                <a:ea typeface="Liter" pitchFamily="34" charset="-122"/>
                <a:cs typeface="Liter" pitchFamily="34" charset="-120"/>
              </a:rPr>
              <a:t>narrow discounts </a:t>
            </a:r>
          </a:p>
          <a:p>
            <a:pPr marL="285750" indent="-285750">
              <a:lnSpc>
                <a:spcPct val="170000"/>
              </a:lnSpc>
              <a:buFont typeface="Arial" panose="020B0604020202020204" pitchFamily="34" charset="0"/>
              <a:buChar char="•"/>
            </a:pPr>
            <a:r>
              <a:rPr lang="en-US" sz="1600" dirty="0">
                <a:solidFill>
                  <a:srgbClr val="FFFFFF"/>
                </a:solidFill>
                <a:latin typeface="Liter" pitchFamily="34" charset="0"/>
                <a:ea typeface="Liter" pitchFamily="34" charset="-122"/>
                <a:cs typeface="Liter" pitchFamily="34" charset="-120"/>
              </a:rPr>
              <a:t>&gt;70% of KOSPI companies still trade below book value — </a:t>
            </a:r>
            <a:r>
              <a:rPr lang="en-US" sz="1600" b="1" u="sng" dirty="0">
                <a:solidFill>
                  <a:srgbClr val="FFFFFF"/>
                </a:solidFill>
                <a:latin typeface="Liter" pitchFamily="34" charset="0"/>
                <a:ea typeface="Liter" pitchFamily="34" charset="-122"/>
                <a:cs typeface="Liter" pitchFamily="34" charset="-120"/>
              </a:rPr>
              <a:t>discounts remain wide enough for meaningful re-rating room</a:t>
            </a:r>
            <a:endParaRPr lang="en-US" sz="1600" b="1" u="sng" dirty="0"/>
          </a:p>
          <a:p>
            <a:pPr marL="285750" indent="-285750" algn="l">
              <a:lnSpc>
                <a:spcPct val="170000"/>
              </a:lnSpc>
              <a:spcBef>
                <a:spcPts val="600"/>
              </a:spcBef>
              <a:buFont typeface="Arial" panose="020B0604020202020204" pitchFamily="34" charset="0"/>
              <a:buChar char="•"/>
            </a:pPr>
            <a:r>
              <a:rPr lang="en-US" sz="1600" dirty="0">
                <a:solidFill>
                  <a:srgbClr val="FFFFFF"/>
                </a:solidFill>
                <a:latin typeface="Liter" pitchFamily="34" charset="0"/>
                <a:ea typeface="Liter" pitchFamily="34" charset="-122"/>
                <a:cs typeface="Liter" pitchFamily="34" charset="-120"/>
              </a:rPr>
              <a:t>Companies with </a:t>
            </a:r>
            <a:r>
              <a:rPr lang="en-US" sz="1600" b="1" dirty="0">
                <a:solidFill>
                  <a:srgbClr val="FFFFFF"/>
                </a:solidFill>
                <a:latin typeface="Liter" pitchFamily="34" charset="0"/>
                <a:ea typeface="Liter" pitchFamily="34" charset="-122"/>
                <a:cs typeface="Liter" pitchFamily="34" charset="-120"/>
              </a:rPr>
              <a:t>high insider ownership</a:t>
            </a:r>
            <a:r>
              <a:rPr lang="en-US" sz="1600" dirty="0">
                <a:solidFill>
                  <a:srgbClr val="FFFFFF"/>
                </a:solidFill>
                <a:latin typeface="Liter" pitchFamily="34" charset="0"/>
                <a:ea typeface="Liter" pitchFamily="34" charset="-122"/>
                <a:cs typeface="Liter" pitchFamily="34" charset="-120"/>
              </a:rPr>
              <a:t> and </a:t>
            </a:r>
            <a:r>
              <a:rPr lang="en-US" sz="1600" b="1" dirty="0">
                <a:solidFill>
                  <a:srgbClr val="FFFFFF"/>
                </a:solidFill>
                <a:latin typeface="Liter" pitchFamily="34" charset="0"/>
                <a:ea typeface="Liter" pitchFamily="34" charset="-122"/>
                <a:cs typeface="Liter" pitchFamily="34" charset="-120"/>
              </a:rPr>
              <a:t>low P/B ratios</a:t>
            </a:r>
            <a:r>
              <a:rPr lang="en-US" sz="1600" dirty="0">
                <a:solidFill>
                  <a:srgbClr val="FFFFFF"/>
                </a:solidFill>
                <a:latin typeface="Liter" pitchFamily="34" charset="0"/>
                <a:ea typeface="Liter" pitchFamily="34" charset="-122"/>
                <a:cs typeface="Liter" pitchFamily="34" charset="-120"/>
              </a:rPr>
              <a:t> stand to benefit most. Key beneficiaries: low-PBR financials, holding companies, etc.</a:t>
            </a:r>
          </a:p>
        </p:txBody>
      </p:sp>
      <p:sp>
        <p:nvSpPr>
          <p:cNvPr id="16" name="Text 14"/>
          <p:cNvSpPr/>
          <p:nvPr/>
        </p:nvSpPr>
        <p:spPr>
          <a:xfrm>
            <a:off x="762000" y="86589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Goldman Sachs.</a:t>
            </a:r>
            <a:endParaRPr lang="en-US" sz="1200" dirty="0"/>
          </a:p>
        </p:txBody>
      </p:sp>
      <p:sp>
        <p:nvSpPr>
          <p:cNvPr id="17" name="Text 15"/>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24</a:t>
            </a:r>
            <a:endParaRPr lang="en-US" sz="1200" dirty="0"/>
          </a:p>
        </p:txBody>
      </p:sp>
      <p:pic>
        <p:nvPicPr>
          <p:cNvPr id="18" name="Picture 17">
            <a:extLst>
              <a:ext uri="{FF2B5EF4-FFF2-40B4-BE49-F238E27FC236}">
                <a16:creationId xmlns:a16="http://schemas.microsoft.com/office/drawing/2014/main" id="{91262031-3908-1C19-4E30-D5BAAE3AF3E9}"/>
              </a:ext>
            </a:extLst>
          </p:cNvPr>
          <p:cNvPicPr>
            <a:picLocks noChangeAspect="1"/>
          </p:cNvPicPr>
          <p:nvPr/>
        </p:nvPicPr>
        <p:blipFill>
          <a:blip r:embed="rId3"/>
          <a:stretch>
            <a:fillRect/>
          </a:stretch>
        </p:blipFill>
        <p:spPr>
          <a:xfrm>
            <a:off x="761999" y="1341120"/>
            <a:ext cx="9920984" cy="4094480"/>
          </a:xfrm>
          <a:prstGeom prst="rect">
            <a:avLst/>
          </a:prstGeom>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41A14-5C04-C511-7464-493261525A2A}"/>
            </a:ext>
          </a:extLst>
        </p:cNvPr>
        <p:cNvGrpSpPr/>
        <p:nvPr/>
      </p:nvGrpSpPr>
      <p:grpSpPr>
        <a:xfrm>
          <a:off x="0" y="0"/>
          <a:ext cx="0" cy="0"/>
          <a:chOff x="0" y="0"/>
          <a:chExt cx="0" cy="0"/>
        </a:xfrm>
      </p:grpSpPr>
      <p:pic>
        <p:nvPicPr>
          <p:cNvPr id="660" name="Graphic 659">
            <a:extLst>
              <a:ext uri="{FF2B5EF4-FFF2-40B4-BE49-F238E27FC236}">
                <a16:creationId xmlns:a16="http://schemas.microsoft.com/office/drawing/2014/main" id="{8860DB79-0CE2-175A-F926-F1C01D8B78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42823" y="847800"/>
            <a:ext cx="4986888" cy="5018053"/>
          </a:xfrm>
          <a:prstGeom prst="rect">
            <a:avLst/>
          </a:prstGeom>
        </p:spPr>
      </p:pic>
      <p:grpSp>
        <p:nvGrpSpPr>
          <p:cNvPr id="7" name="Group 6">
            <a:extLst>
              <a:ext uri="{FF2B5EF4-FFF2-40B4-BE49-F238E27FC236}">
                <a16:creationId xmlns:a16="http://schemas.microsoft.com/office/drawing/2014/main" id="{F2B2069B-C85B-08E5-B456-DFE2AB5EDB07}"/>
              </a:ext>
            </a:extLst>
          </p:cNvPr>
          <p:cNvGrpSpPr/>
          <p:nvPr/>
        </p:nvGrpSpPr>
        <p:grpSpPr>
          <a:xfrm>
            <a:off x="12214120" y="8750105"/>
            <a:ext cx="3400141" cy="340771"/>
            <a:chOff x="9160590" y="6563831"/>
            <a:chExt cx="2550106" cy="255578"/>
          </a:xfrm>
        </p:grpSpPr>
        <p:pic>
          <p:nvPicPr>
            <p:cNvPr id="46" name="Picture 45" descr="Logo&#10;&#10;Description automatically generated">
              <a:extLst>
                <a:ext uri="{FF2B5EF4-FFF2-40B4-BE49-F238E27FC236}">
                  <a16:creationId xmlns:a16="http://schemas.microsoft.com/office/drawing/2014/main" id="{C5789FDB-6186-7E43-3E38-CFC8A0279971}"/>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47" name="Rectangle 19">
              <a:extLst>
                <a:ext uri="{FF2B5EF4-FFF2-40B4-BE49-F238E27FC236}">
                  <a16:creationId xmlns:a16="http://schemas.microsoft.com/office/drawing/2014/main" id="{3DC4C323-65A6-7FD4-A07D-91A6BA2188F5}"/>
                </a:ext>
              </a:extLst>
            </p:cNvPr>
            <p:cNvSpPr/>
            <p:nvPr/>
          </p:nvSpPr>
          <p:spPr>
            <a:xfrm>
              <a:off x="9160590" y="6614676"/>
              <a:ext cx="2265443" cy="153841"/>
            </a:xfrm>
            <a:prstGeom prst="rect">
              <a:avLst/>
            </a:prstGeom>
          </p:spPr>
          <p:txBody>
            <a:bodyPr wrap="square" lIns="0" tIns="0" rIns="0" bIns="0">
              <a:spAutoFit/>
            </a:bodyPr>
            <a:lstStyle/>
            <a:p>
              <a:pPr algn="r" defTabSz="1219170">
                <a:defRPr/>
              </a:pPr>
              <a:r>
                <a:rPr lang="en-US" altLang="zh-CN" sz="1333" spc="-40" dirty="0">
                  <a:solidFill>
                    <a:prstClr val="white"/>
                  </a:solidFill>
                  <a:latin typeface="Calibri Light"/>
                  <a:ea typeface="Microsoft JhengHei"/>
                </a:rPr>
                <a:t>CSOP Asset Management</a:t>
              </a:r>
              <a:endParaRPr lang="zh-CN" altLang="en-US" sz="1333" dirty="0">
                <a:solidFill>
                  <a:prstClr val="white"/>
                </a:solidFill>
                <a:latin typeface="Calibri Light"/>
                <a:ea typeface="Microsoft JhengHei"/>
              </a:endParaRPr>
            </a:p>
          </p:txBody>
        </p:sp>
      </p:grpSp>
      <p:sp>
        <p:nvSpPr>
          <p:cNvPr id="32" name="圆角矩形 3">
            <a:extLst>
              <a:ext uri="{FF2B5EF4-FFF2-40B4-BE49-F238E27FC236}">
                <a16:creationId xmlns:a16="http://schemas.microsoft.com/office/drawing/2014/main" id="{E10CC736-F987-4937-2BD6-A66FBC0E63E3}"/>
              </a:ext>
            </a:extLst>
          </p:cNvPr>
          <p:cNvSpPr/>
          <p:nvPr/>
        </p:nvSpPr>
        <p:spPr>
          <a:xfrm rot="2700000">
            <a:off x="6689530" y="2745145"/>
            <a:ext cx="3899372" cy="3899372"/>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3" name="椭圆 4">
            <a:extLst>
              <a:ext uri="{FF2B5EF4-FFF2-40B4-BE49-F238E27FC236}">
                <a16:creationId xmlns:a16="http://schemas.microsoft.com/office/drawing/2014/main" id="{D60B85FC-3F7E-D597-F157-47556721D560}"/>
              </a:ext>
            </a:extLst>
          </p:cNvPr>
          <p:cNvSpPr/>
          <p:nvPr/>
        </p:nvSpPr>
        <p:spPr>
          <a:xfrm>
            <a:off x="6000646" y="2056259"/>
            <a:ext cx="5277140" cy="5277140"/>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nvGrpSpPr>
          <p:cNvPr id="34" name="组合 6">
            <a:extLst>
              <a:ext uri="{FF2B5EF4-FFF2-40B4-BE49-F238E27FC236}">
                <a16:creationId xmlns:a16="http://schemas.microsoft.com/office/drawing/2014/main" id="{9377C59A-34B4-A1CA-39C2-E9D2B27DA830}"/>
              </a:ext>
            </a:extLst>
          </p:cNvPr>
          <p:cNvGrpSpPr/>
          <p:nvPr/>
        </p:nvGrpSpPr>
        <p:grpSpPr>
          <a:xfrm>
            <a:off x="6600753" y="2855029"/>
            <a:ext cx="4126435" cy="3698616"/>
            <a:chOff x="4950565" y="2141272"/>
            <a:chExt cx="3094826" cy="2773962"/>
          </a:xfrm>
        </p:grpSpPr>
        <p:sp>
          <p:nvSpPr>
            <p:cNvPr id="35" name="椭圆 43">
              <a:extLst>
                <a:ext uri="{FF2B5EF4-FFF2-40B4-BE49-F238E27FC236}">
                  <a16:creationId xmlns:a16="http://schemas.microsoft.com/office/drawing/2014/main" id="{292F5616-2D37-5706-20AC-A21B0E863CB6}"/>
                </a:ext>
              </a:extLst>
            </p:cNvPr>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6" name="椭圆 44">
              <a:extLst>
                <a:ext uri="{FF2B5EF4-FFF2-40B4-BE49-F238E27FC236}">
                  <a16:creationId xmlns:a16="http://schemas.microsoft.com/office/drawing/2014/main" id="{0BE6BD6E-BC5E-5652-5B15-706A0E29B7C9}"/>
                </a:ext>
              </a:extLst>
            </p:cNvPr>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grpSp>
        <p:nvGrpSpPr>
          <p:cNvPr id="37" name="组合 5">
            <a:extLst>
              <a:ext uri="{FF2B5EF4-FFF2-40B4-BE49-F238E27FC236}">
                <a16:creationId xmlns:a16="http://schemas.microsoft.com/office/drawing/2014/main" id="{F1B4F6A6-E819-0DD2-5C5B-E5092DDD4F41}"/>
              </a:ext>
            </a:extLst>
          </p:cNvPr>
          <p:cNvGrpSpPr/>
          <p:nvPr/>
        </p:nvGrpSpPr>
        <p:grpSpPr>
          <a:xfrm>
            <a:off x="6604306" y="2855030"/>
            <a:ext cx="4112293" cy="3731037"/>
            <a:chOff x="4953229" y="2141272"/>
            <a:chExt cx="3084220" cy="2798278"/>
          </a:xfrm>
        </p:grpSpPr>
        <p:sp>
          <p:nvSpPr>
            <p:cNvPr id="38" name="椭圆 45">
              <a:extLst>
                <a:ext uri="{FF2B5EF4-FFF2-40B4-BE49-F238E27FC236}">
                  <a16:creationId xmlns:a16="http://schemas.microsoft.com/office/drawing/2014/main" id="{0AD18668-9759-1DC3-F7BA-0837898B9B17}"/>
                </a:ext>
              </a:extLst>
            </p:cNvPr>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9" name="椭圆 46">
              <a:extLst>
                <a:ext uri="{FF2B5EF4-FFF2-40B4-BE49-F238E27FC236}">
                  <a16:creationId xmlns:a16="http://schemas.microsoft.com/office/drawing/2014/main" id="{5099B8B0-19D3-AF76-0E8D-1D0686C21B8D}"/>
                </a:ext>
              </a:extLst>
            </p:cNvPr>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sp>
        <p:nvSpPr>
          <p:cNvPr id="40" name="矩形 19">
            <a:extLst>
              <a:ext uri="{FF2B5EF4-FFF2-40B4-BE49-F238E27FC236}">
                <a16:creationId xmlns:a16="http://schemas.microsoft.com/office/drawing/2014/main" id="{D5A85858-377C-B260-CF46-9F88E1DBF2AF}"/>
              </a:ext>
            </a:extLst>
          </p:cNvPr>
          <p:cNvSpPr/>
          <p:nvPr/>
        </p:nvSpPr>
        <p:spPr>
          <a:xfrm>
            <a:off x="6348606" y="4084476"/>
            <a:ext cx="4476329" cy="1241237"/>
          </a:xfrm>
          <a:prstGeom prst="rect">
            <a:avLst/>
          </a:prstGeom>
          <a:ln>
            <a:noFill/>
          </a:ln>
        </p:spPr>
        <p:txBody>
          <a:bodyPr wrap="square">
            <a:spAutoFit/>
          </a:bodyPr>
          <a:lstStyle/>
          <a:p>
            <a:pPr lvl="0" algn="ctr">
              <a:defRPr/>
            </a:pPr>
            <a:r>
              <a:rPr lang="en-US" altLang="zh-CN" sz="3733" b="1" dirty="0">
                <a:solidFill>
                  <a:srgbClr val="2660AD"/>
                </a:solidFill>
                <a:ea typeface="微软雅黑" panose="020B0503020204020204" pitchFamily="34" charset="-122"/>
                <a:sym typeface="+mn-lt"/>
              </a:rPr>
              <a:t>2H26 Key Risks and Headwinds</a:t>
            </a:r>
          </a:p>
        </p:txBody>
      </p:sp>
      <p:sp>
        <p:nvSpPr>
          <p:cNvPr id="42" name="矩形 21">
            <a:extLst>
              <a:ext uri="{FF2B5EF4-FFF2-40B4-BE49-F238E27FC236}">
                <a16:creationId xmlns:a16="http://schemas.microsoft.com/office/drawing/2014/main" id="{6BF5CCB4-F8F2-7566-70F5-2C1CCC1B7FCF}"/>
              </a:ext>
            </a:extLst>
          </p:cNvPr>
          <p:cNvSpPr/>
          <p:nvPr/>
        </p:nvSpPr>
        <p:spPr>
          <a:xfrm rot="13500000">
            <a:off x="4263885" y="3800097"/>
            <a:ext cx="1789457" cy="1789460"/>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43" name="矩形 22">
            <a:extLst>
              <a:ext uri="{FF2B5EF4-FFF2-40B4-BE49-F238E27FC236}">
                <a16:creationId xmlns:a16="http://schemas.microsoft.com/office/drawing/2014/main" id="{F1860F57-71E0-88F8-193E-0D19416C73DD}"/>
              </a:ext>
            </a:extLst>
          </p:cNvPr>
          <p:cNvSpPr/>
          <p:nvPr/>
        </p:nvSpPr>
        <p:spPr>
          <a:xfrm>
            <a:off x="4488709" y="4044381"/>
            <a:ext cx="1146468" cy="1077218"/>
          </a:xfrm>
          <a:prstGeom prst="rect">
            <a:avLst/>
          </a:prstGeom>
        </p:spPr>
        <p:txBody>
          <a:bodyPr wrap="none">
            <a:spAutoFit/>
          </a:bodyPr>
          <a:lstStyle/>
          <a:p>
            <a:pPr defTabSz="1219170">
              <a:defRPr/>
            </a:pPr>
            <a:r>
              <a:rPr lang="en-US" altLang="zh-CN" sz="6400" dirty="0">
                <a:solidFill>
                  <a:prstClr val="white"/>
                </a:solidFill>
                <a:latin typeface="微软雅黑" panose="020B0503020204020204" pitchFamily="34" charset="-122"/>
                <a:ea typeface="微软雅黑" panose="020B0503020204020204" pitchFamily="34" charset="-122"/>
                <a:sym typeface="+mn-lt"/>
              </a:rPr>
              <a:t>06</a:t>
            </a:r>
            <a:endParaRPr lang="zh-CN" altLang="en-US" sz="6400" dirty="0">
              <a:solidFill>
                <a:prstClr val="white"/>
              </a:solidFill>
              <a:latin typeface="微软雅黑" panose="020B0503020204020204" pitchFamily="34" charset="-122"/>
              <a:ea typeface="微软雅黑" panose="020B0503020204020204" pitchFamily="34" charset="-122"/>
              <a:sym typeface="+mn-lt"/>
            </a:endParaRPr>
          </a:p>
        </p:txBody>
      </p:sp>
      <p:sp>
        <p:nvSpPr>
          <p:cNvPr id="3" name="Slide Number Placeholder 2">
            <a:extLst>
              <a:ext uri="{FF2B5EF4-FFF2-40B4-BE49-F238E27FC236}">
                <a16:creationId xmlns:a16="http://schemas.microsoft.com/office/drawing/2014/main" id="{051AE2E0-2350-EEAE-3A73-B9E479AC30EA}"/>
              </a:ext>
            </a:extLst>
          </p:cNvPr>
          <p:cNvSpPr>
            <a:spLocks noGrp="1"/>
          </p:cNvSpPr>
          <p:nvPr>
            <p:ph type="sldNum" sz="quarter" idx="4"/>
          </p:nvPr>
        </p:nvSpPr>
        <p:spPr>
          <a:xfrm>
            <a:off x="15614261" y="8743433"/>
            <a:ext cx="439212" cy="369332"/>
          </a:xfrm>
          <a:prstGeom prst="rect">
            <a:avLst/>
          </a:prstGeom>
        </p:spPr>
        <p:txBody>
          <a:bodyPr/>
          <a:lstStyle>
            <a:defPPr>
              <a:defRPr lang="en-US"/>
            </a:defPPr>
            <a:lvl1pPr marL="0" algn="r" defTabSz="1219170" rtl="0" eaLnBrk="1" latinLnBrk="0" hangingPunct="1">
              <a:defRPr sz="2400" kern="1200">
                <a:solidFill>
                  <a:schemeClr val="bg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defRPr/>
            </a:pPr>
            <a:fld id="{CC7D48C0-AA79-46F3-BF6F-F82B468F2D98}" type="slidenum">
              <a:rPr lang="en-US" sz="1333">
                <a:solidFill>
                  <a:prstClr val="white"/>
                </a:solidFill>
                <a:latin typeface="Calibri"/>
                <a:ea typeface="Microsoft JhengHei"/>
              </a:rPr>
              <a:pPr>
                <a:defRPr/>
              </a:pPr>
              <a:t>25</a:t>
            </a:fld>
            <a:endParaRPr lang="en-US" sz="1333" dirty="0">
              <a:solidFill>
                <a:prstClr val="white"/>
              </a:solidFill>
              <a:latin typeface="Calibri Light"/>
              <a:ea typeface="Microsoft JhengHei"/>
            </a:endParaRPr>
          </a:p>
        </p:txBody>
      </p:sp>
    </p:spTree>
    <p:custDataLst>
      <p:tags r:id="rId1"/>
    </p:custDataLst>
    <p:extLst>
      <p:ext uri="{BB962C8B-B14F-4D97-AF65-F5344CB8AC3E}">
        <p14:creationId xmlns:p14="http://schemas.microsoft.com/office/powerpoint/2010/main" val="28241203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en-US" sz="2200" b="1" dirty="0">
                <a:solidFill>
                  <a:srgbClr val="1B2F4A"/>
                </a:solidFill>
                <a:latin typeface="Liter" pitchFamily="34" charset="0"/>
                <a:ea typeface="Liter" pitchFamily="34" charset="-122"/>
                <a:cs typeface="Liter" pitchFamily="34" charset="-120"/>
              </a:rPr>
              <a:t>Key Risks &amp; Headwinds: Seasonality and Technicals Could Make the Path More Volatile</a:t>
            </a:r>
            <a:endParaRPr lang="en-US" sz="22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6858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6.1— Time Series of KOSPI vs. 20d/50d Moving Average Dispersion</a:t>
            </a:r>
            <a:endParaRPr lang="en-US" sz="1300" dirty="0"/>
          </a:p>
        </p:txBody>
      </p:sp>
      <p:sp>
        <p:nvSpPr>
          <p:cNvPr id="7" name="Shape 5"/>
          <p:cNvSpPr/>
          <p:nvPr/>
        </p:nvSpPr>
        <p:spPr>
          <a:xfrm>
            <a:off x="762000" y="1371600"/>
            <a:ext cx="6858000" cy="3302000"/>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71600"/>
            <a:ext cx="6858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KOSPI vs. 20d/50d Moving Average Dispersion]</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KOSPI prone to corrections when above key MAs</a:t>
            </a:r>
            <a:endParaRPr lang="en-US" sz="1400" dirty="0"/>
          </a:p>
        </p:txBody>
      </p:sp>
      <p:sp>
        <p:nvSpPr>
          <p:cNvPr id="9" name="Shape 7"/>
          <p:cNvSpPr/>
          <p:nvPr/>
        </p:nvSpPr>
        <p:spPr>
          <a:xfrm>
            <a:off x="8128000" y="1041400"/>
            <a:ext cx="50800" cy="254000"/>
          </a:xfrm>
          <a:prstGeom prst="rect">
            <a:avLst/>
          </a:prstGeom>
          <a:solidFill>
            <a:srgbClr val="C4963A"/>
          </a:solidFill>
          <a:ln/>
        </p:spPr>
        <p:txBody>
          <a:bodyPr/>
          <a:lstStyle/>
          <a:p>
            <a:endParaRPr lang="en-US"/>
          </a:p>
        </p:txBody>
      </p:sp>
      <p:sp>
        <p:nvSpPr>
          <p:cNvPr id="10" name="Text 8"/>
          <p:cNvSpPr/>
          <p:nvPr/>
        </p:nvSpPr>
        <p:spPr>
          <a:xfrm>
            <a:off x="8280400" y="1016000"/>
            <a:ext cx="7112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6.2 — KOSPI Historical Cyclicity &amp; Valuation</a:t>
            </a:r>
            <a:endParaRPr lang="en-US" sz="1300" dirty="0"/>
          </a:p>
        </p:txBody>
      </p:sp>
      <p:sp>
        <p:nvSpPr>
          <p:cNvPr id="11" name="Shape 9"/>
          <p:cNvSpPr/>
          <p:nvPr/>
        </p:nvSpPr>
        <p:spPr>
          <a:xfrm>
            <a:off x="8128000" y="1371600"/>
            <a:ext cx="7366000" cy="3302000"/>
          </a:xfrm>
          <a:prstGeom prst="rect">
            <a:avLst/>
          </a:prstGeom>
          <a:solidFill>
            <a:srgbClr val="F7F8FA"/>
          </a:solidFill>
          <a:ln w="12700">
            <a:solidFill>
              <a:srgbClr val="E2E8F0"/>
            </a:solidFill>
            <a:prstDash val="solid"/>
          </a:ln>
        </p:spPr>
        <p:txBody>
          <a:bodyPr/>
          <a:lstStyle/>
          <a:p>
            <a:endParaRPr lang="en-US"/>
          </a:p>
        </p:txBody>
      </p:sp>
      <p:sp>
        <p:nvSpPr>
          <p:cNvPr id="12" name="Text 10"/>
          <p:cNvSpPr/>
          <p:nvPr/>
        </p:nvSpPr>
        <p:spPr>
          <a:xfrm>
            <a:off x="8128000" y="1371600"/>
            <a:ext cx="7366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KOSPI Historical Cyclicity &amp; Valuation]</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Historical EPS peak-to-trough: median -33%</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Current NTM P/E at historical troughs: 11.4x</a:t>
            </a:r>
            <a:endParaRPr lang="en-US" sz="1400" dirty="0"/>
          </a:p>
        </p:txBody>
      </p:sp>
      <p:sp>
        <p:nvSpPr>
          <p:cNvPr id="13" name="Shape 11"/>
          <p:cNvSpPr/>
          <p:nvPr/>
        </p:nvSpPr>
        <p:spPr>
          <a:xfrm>
            <a:off x="762000" y="4953000"/>
            <a:ext cx="6858000" cy="3276600"/>
          </a:xfrm>
          <a:prstGeom prst="rect">
            <a:avLst/>
          </a:prstGeom>
          <a:solidFill>
            <a:srgbClr val="F7F8FA"/>
          </a:solidFill>
          <a:ln/>
        </p:spPr>
        <p:txBody>
          <a:bodyPr/>
          <a:lstStyle/>
          <a:p>
            <a:endParaRPr lang="en-US"/>
          </a:p>
        </p:txBody>
      </p:sp>
      <p:sp>
        <p:nvSpPr>
          <p:cNvPr id="14" name="Shape 12"/>
          <p:cNvSpPr/>
          <p:nvPr/>
        </p:nvSpPr>
        <p:spPr>
          <a:xfrm>
            <a:off x="762000" y="4953000"/>
            <a:ext cx="6858000" cy="50800"/>
          </a:xfrm>
          <a:prstGeom prst="rect">
            <a:avLst/>
          </a:prstGeom>
          <a:solidFill>
            <a:srgbClr val="C4963A"/>
          </a:solidFill>
          <a:ln/>
        </p:spPr>
        <p:txBody>
          <a:bodyPr/>
          <a:lstStyle/>
          <a:p>
            <a:endParaRPr lang="en-US"/>
          </a:p>
        </p:txBody>
      </p:sp>
      <p:sp>
        <p:nvSpPr>
          <p:cNvPr id="15" name="Text 13"/>
          <p:cNvSpPr/>
          <p:nvPr/>
        </p:nvSpPr>
        <p:spPr>
          <a:xfrm>
            <a:off x="1016000" y="5130800"/>
            <a:ext cx="1773621"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Technical Risks:</a:t>
            </a:r>
            <a:endParaRPr lang="en-US" sz="1600" dirty="0"/>
          </a:p>
        </p:txBody>
      </p:sp>
      <p:sp>
        <p:nvSpPr>
          <p:cNvPr id="16" name="Text 14"/>
          <p:cNvSpPr/>
          <p:nvPr/>
        </p:nvSpPr>
        <p:spPr>
          <a:xfrm>
            <a:off x="1016000" y="5486400"/>
            <a:ext cx="6621517" cy="2590800"/>
          </a:xfrm>
          <a:prstGeom prst="rect">
            <a:avLst/>
          </a:prstGeom>
          <a:noFill/>
          <a:ln/>
        </p:spPr>
        <p:txBody>
          <a:bodyPr wrap="square" lIns="0" tIns="0" rIns="0" bIns="0" rtlCol="0" anchor="t"/>
          <a:lstStyle/>
          <a:p>
            <a:pPr marL="254000" indent="-254000" algn="l">
              <a:lnSpc>
                <a:spcPct val="160000"/>
              </a:lnSpc>
              <a:spcBef>
                <a:spcPts val="10"/>
              </a:spcBef>
              <a:buSzPct val="100000"/>
              <a:buChar char="•"/>
            </a:pPr>
            <a:r>
              <a:rPr lang="en-US" sz="1500" b="1" dirty="0">
                <a:solidFill>
                  <a:srgbClr val="2D3748"/>
                </a:solidFill>
                <a:latin typeface="Liter" pitchFamily="34" charset="0"/>
                <a:ea typeface="Liter" pitchFamily="34" charset="-122"/>
                <a:cs typeface="Liter" pitchFamily="34" charset="-120"/>
              </a:rPr>
              <a:t>3Q has exhibited weaker seasonality</a:t>
            </a:r>
            <a:r>
              <a:rPr lang="en-US" sz="1500" dirty="0">
                <a:solidFill>
                  <a:srgbClr val="2D3748"/>
                </a:solidFill>
                <a:latin typeface="Liter" pitchFamily="34" charset="0"/>
                <a:ea typeface="Liter" pitchFamily="34" charset="-122"/>
                <a:cs typeface="Liter" pitchFamily="34" charset="-120"/>
              </a:rPr>
              <a:t> historically — a period of elevated correction risk</a:t>
            </a:r>
            <a:endParaRPr lang="en-US" sz="1500" dirty="0"/>
          </a:p>
          <a:p>
            <a:pPr marL="254000" indent="-254000" algn="l">
              <a:lnSpc>
                <a:spcPct val="160000"/>
              </a:lnSpc>
              <a:spcBef>
                <a:spcPts val="10"/>
              </a:spcBef>
              <a:buSzPct val="100000"/>
              <a:buChar char="•"/>
            </a:pPr>
            <a:r>
              <a:rPr lang="en-US" sz="1500" dirty="0">
                <a:solidFill>
                  <a:srgbClr val="2D3748"/>
                </a:solidFill>
                <a:latin typeface="Liter" pitchFamily="34" charset="0"/>
                <a:ea typeface="Liter" pitchFamily="34" charset="-122"/>
                <a:cs typeface="Liter" pitchFamily="34" charset="-120"/>
              </a:rPr>
              <a:t>KOSPI has been </a:t>
            </a:r>
            <a:r>
              <a:rPr lang="en-US" sz="1500" b="1" dirty="0">
                <a:solidFill>
                  <a:srgbClr val="2D3748"/>
                </a:solidFill>
                <a:latin typeface="Liter" pitchFamily="34" charset="0"/>
                <a:ea typeface="Liter" pitchFamily="34" charset="-122"/>
                <a:cs typeface="Liter" pitchFamily="34" charset="-120"/>
              </a:rPr>
              <a:t>prone to corrections</a:t>
            </a:r>
            <a:r>
              <a:rPr lang="en-US" sz="1500" dirty="0">
                <a:solidFill>
                  <a:srgbClr val="2D3748"/>
                </a:solidFill>
                <a:latin typeface="Liter" pitchFamily="34" charset="0"/>
                <a:ea typeface="Liter" pitchFamily="34" charset="-122"/>
                <a:cs typeface="Liter" pitchFamily="34" charset="-120"/>
              </a:rPr>
              <a:t> when trading materially above key moving averages (20d/50d)</a:t>
            </a:r>
            <a:endParaRPr lang="en-US" sz="1500" dirty="0"/>
          </a:p>
          <a:p>
            <a:pPr marL="254000" indent="-254000">
              <a:lnSpc>
                <a:spcPct val="160000"/>
              </a:lnSpc>
              <a:spcBef>
                <a:spcPts val="10"/>
              </a:spcBef>
              <a:buSzPct val="100000"/>
              <a:buChar char="•"/>
            </a:pPr>
            <a:r>
              <a:rPr lang="en-US" sz="1500" dirty="0">
                <a:solidFill>
                  <a:srgbClr val="2D3748"/>
                </a:solidFill>
                <a:latin typeface="Liter" pitchFamily="34" charset="0"/>
                <a:ea typeface="Liter" pitchFamily="34" charset="-122"/>
                <a:cs typeface="Liter" pitchFamily="34" charset="-120"/>
              </a:rPr>
              <a:t>Seasonality/technicals could make the path </a:t>
            </a:r>
            <a:r>
              <a:rPr lang="en-US" sz="1500" b="1" dirty="0">
                <a:solidFill>
                  <a:srgbClr val="2D3748"/>
                </a:solidFill>
                <a:latin typeface="Liter" pitchFamily="34" charset="0"/>
                <a:ea typeface="Liter" pitchFamily="34" charset="-122"/>
                <a:cs typeface="Liter" pitchFamily="34" charset="-120"/>
              </a:rPr>
              <a:t>more volatile,</a:t>
            </a:r>
            <a:r>
              <a:rPr lang="en-US" sz="1500" dirty="0">
                <a:solidFill>
                  <a:srgbClr val="2D3748"/>
                </a:solidFill>
                <a:latin typeface="Liter" pitchFamily="34" charset="0"/>
                <a:ea typeface="Liter" pitchFamily="34" charset="-122"/>
                <a:cs typeface="Liter" pitchFamily="34" charset="-120"/>
              </a:rPr>
              <a:t> but Goldman Sachs believes the </a:t>
            </a:r>
            <a:r>
              <a:rPr lang="en-US" sz="1500" b="1" dirty="0">
                <a:solidFill>
                  <a:srgbClr val="2D3748"/>
                </a:solidFill>
                <a:latin typeface="Liter" pitchFamily="34" charset="0"/>
                <a:ea typeface="Liter" pitchFamily="34" charset="-122"/>
                <a:cs typeface="Liter" pitchFamily="34" charset="-120"/>
              </a:rPr>
              <a:t>trend remains upward</a:t>
            </a:r>
            <a:endParaRPr lang="en-US" sz="1500" b="1" dirty="0"/>
          </a:p>
        </p:txBody>
      </p:sp>
      <p:sp>
        <p:nvSpPr>
          <p:cNvPr id="17" name="Text 15"/>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Goldman Sachs.</a:t>
            </a:r>
            <a:endParaRPr lang="en-US" sz="1200" dirty="0"/>
          </a:p>
        </p:txBody>
      </p:sp>
      <p:sp>
        <p:nvSpPr>
          <p:cNvPr id="18" name="Text 16"/>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26</a:t>
            </a:r>
            <a:endParaRPr lang="en-US" sz="1200" dirty="0"/>
          </a:p>
        </p:txBody>
      </p:sp>
      <p:pic>
        <p:nvPicPr>
          <p:cNvPr id="19" name="Picture 18">
            <a:extLst>
              <a:ext uri="{FF2B5EF4-FFF2-40B4-BE49-F238E27FC236}">
                <a16:creationId xmlns:a16="http://schemas.microsoft.com/office/drawing/2014/main" id="{4E4E3C2D-E4BF-BDD9-F545-F1407B4C1284}"/>
              </a:ext>
            </a:extLst>
          </p:cNvPr>
          <p:cNvPicPr>
            <a:picLocks noChangeAspect="1"/>
          </p:cNvPicPr>
          <p:nvPr/>
        </p:nvPicPr>
        <p:blipFill>
          <a:blip r:embed="rId3"/>
          <a:stretch>
            <a:fillRect/>
          </a:stretch>
        </p:blipFill>
        <p:spPr>
          <a:xfrm>
            <a:off x="762000" y="1372870"/>
            <a:ext cx="6858000" cy="3300730"/>
          </a:xfrm>
          <a:prstGeom prst="rect">
            <a:avLst/>
          </a:prstGeom>
        </p:spPr>
      </p:pic>
      <p:pic>
        <p:nvPicPr>
          <p:cNvPr id="20" name="Picture 19">
            <a:extLst>
              <a:ext uri="{FF2B5EF4-FFF2-40B4-BE49-F238E27FC236}">
                <a16:creationId xmlns:a16="http://schemas.microsoft.com/office/drawing/2014/main" id="{80842006-429A-EFB0-5A95-C053B15397F1}"/>
              </a:ext>
            </a:extLst>
          </p:cNvPr>
          <p:cNvPicPr>
            <a:picLocks noChangeAspect="1"/>
          </p:cNvPicPr>
          <p:nvPr/>
        </p:nvPicPr>
        <p:blipFill>
          <a:blip r:embed="rId4"/>
          <a:stretch>
            <a:fillRect/>
          </a:stretch>
        </p:blipFill>
        <p:spPr>
          <a:xfrm>
            <a:off x="8128000" y="1371600"/>
            <a:ext cx="7365999" cy="3314700"/>
          </a:xfrm>
          <a:prstGeom prst="rect">
            <a:avLst/>
          </a:prstGeom>
        </p:spPr>
      </p:pic>
      <p:sp>
        <p:nvSpPr>
          <p:cNvPr id="21" name="Shape 11">
            <a:extLst>
              <a:ext uri="{FF2B5EF4-FFF2-40B4-BE49-F238E27FC236}">
                <a16:creationId xmlns:a16="http://schemas.microsoft.com/office/drawing/2014/main" id="{B7C3F917-DAE0-8C04-B711-65E7EF7962D0}"/>
              </a:ext>
            </a:extLst>
          </p:cNvPr>
          <p:cNvSpPr/>
          <p:nvPr/>
        </p:nvSpPr>
        <p:spPr>
          <a:xfrm>
            <a:off x="8128000" y="4953000"/>
            <a:ext cx="7315200" cy="3276600"/>
          </a:xfrm>
          <a:prstGeom prst="rect">
            <a:avLst/>
          </a:prstGeom>
          <a:solidFill>
            <a:srgbClr val="F7F8FA"/>
          </a:solidFill>
          <a:ln/>
        </p:spPr>
        <p:txBody>
          <a:bodyPr/>
          <a:lstStyle/>
          <a:p>
            <a:endParaRPr lang="en-US"/>
          </a:p>
        </p:txBody>
      </p:sp>
      <p:sp>
        <p:nvSpPr>
          <p:cNvPr id="22" name="Shape 12">
            <a:extLst>
              <a:ext uri="{FF2B5EF4-FFF2-40B4-BE49-F238E27FC236}">
                <a16:creationId xmlns:a16="http://schemas.microsoft.com/office/drawing/2014/main" id="{B1199B1B-2286-C386-C936-4F23E0A569EF}"/>
              </a:ext>
            </a:extLst>
          </p:cNvPr>
          <p:cNvSpPr/>
          <p:nvPr/>
        </p:nvSpPr>
        <p:spPr>
          <a:xfrm>
            <a:off x="8128000" y="4953000"/>
            <a:ext cx="7315200" cy="50800"/>
          </a:xfrm>
          <a:prstGeom prst="rect">
            <a:avLst/>
          </a:prstGeom>
          <a:solidFill>
            <a:srgbClr val="C4963A"/>
          </a:solidFill>
          <a:ln/>
        </p:spPr>
        <p:txBody>
          <a:bodyPr/>
          <a:lstStyle/>
          <a:p>
            <a:endParaRPr lang="en-US"/>
          </a:p>
        </p:txBody>
      </p:sp>
      <p:sp>
        <p:nvSpPr>
          <p:cNvPr id="23" name="Text 13">
            <a:extLst>
              <a:ext uri="{FF2B5EF4-FFF2-40B4-BE49-F238E27FC236}">
                <a16:creationId xmlns:a16="http://schemas.microsoft.com/office/drawing/2014/main" id="{27492284-6B48-AF41-15FB-7D7F7583DC17}"/>
              </a:ext>
            </a:extLst>
          </p:cNvPr>
          <p:cNvSpPr/>
          <p:nvPr/>
        </p:nvSpPr>
        <p:spPr>
          <a:xfrm>
            <a:off x="8382000" y="5130800"/>
            <a:ext cx="1891862" cy="304800"/>
          </a:xfrm>
          <a:prstGeom prst="rect">
            <a:avLst/>
          </a:prstGeom>
          <a:noFill/>
          <a:ln/>
        </p:spPr>
        <p:txBody>
          <a:bodyPr wrap="none" lIns="0" tIns="0" rIns="0" bIns="0" rtlCol="0" anchor="t"/>
          <a:lstStyle/>
          <a:p>
            <a:pPr algn="l">
              <a:lnSpc>
                <a:spcPct val="120000"/>
              </a:lnSpc>
            </a:pPr>
            <a:r>
              <a:rPr lang="en-US" sz="1600" b="1" dirty="0">
                <a:solidFill>
                  <a:srgbClr val="1B2F4A"/>
                </a:solidFill>
                <a:latin typeface="Liter" pitchFamily="34" charset="0"/>
                <a:ea typeface="Liter" pitchFamily="34" charset="-122"/>
                <a:cs typeface="Liter" pitchFamily="34" charset="-120"/>
              </a:rPr>
              <a:t>Limited Downside Risks:</a:t>
            </a:r>
            <a:endParaRPr lang="en-US" sz="1600" dirty="0"/>
          </a:p>
        </p:txBody>
      </p:sp>
      <p:sp>
        <p:nvSpPr>
          <p:cNvPr id="24" name="Text 14">
            <a:extLst>
              <a:ext uri="{FF2B5EF4-FFF2-40B4-BE49-F238E27FC236}">
                <a16:creationId xmlns:a16="http://schemas.microsoft.com/office/drawing/2014/main" id="{F8DD5E74-EDCF-135F-31C1-6E2D395BD580}"/>
              </a:ext>
            </a:extLst>
          </p:cNvPr>
          <p:cNvSpPr/>
          <p:nvPr/>
        </p:nvSpPr>
        <p:spPr>
          <a:xfrm>
            <a:off x="8382000" y="5486400"/>
            <a:ext cx="7062951" cy="2590800"/>
          </a:xfrm>
          <a:prstGeom prst="rect">
            <a:avLst/>
          </a:prstGeom>
          <a:noFill/>
          <a:ln/>
        </p:spPr>
        <p:txBody>
          <a:bodyPr wrap="square" lIns="0" tIns="0" rIns="0" bIns="0" rtlCol="0" anchor="t"/>
          <a:lstStyle/>
          <a:p>
            <a:pPr marL="254000" indent="-254000">
              <a:lnSpc>
                <a:spcPct val="160000"/>
              </a:lnSpc>
              <a:spcBef>
                <a:spcPts val="10"/>
              </a:spcBef>
              <a:buSzPct val="100000"/>
              <a:buChar char="•"/>
            </a:pPr>
            <a:r>
              <a:rPr lang="en-US" sz="1500" b="1" dirty="0">
                <a:solidFill>
                  <a:srgbClr val="2D3748"/>
                </a:solidFill>
                <a:latin typeface="Liter" pitchFamily="34" charset="0"/>
                <a:ea typeface="Liter" pitchFamily="34" charset="-122"/>
                <a:cs typeface="Liter" pitchFamily="34" charset="-120"/>
              </a:rPr>
              <a:t>This table:</a:t>
            </a:r>
            <a:r>
              <a:rPr lang="en-US" sz="1500" dirty="0">
                <a:solidFill>
                  <a:srgbClr val="2D3748"/>
                </a:solidFill>
                <a:latin typeface="Liter" pitchFamily="34" charset="0"/>
                <a:ea typeface="Liter" pitchFamily="34" charset="-122"/>
                <a:cs typeface="Liter" pitchFamily="34" charset="-120"/>
              </a:rPr>
              <a:t> </a:t>
            </a:r>
            <a:r>
              <a:rPr lang="en-US" sz="1500" i="1" dirty="0">
                <a:solidFill>
                  <a:srgbClr val="2D3748"/>
                </a:solidFill>
                <a:latin typeface="Liter" pitchFamily="34" charset="0"/>
                <a:ea typeface="Liter" pitchFamily="34" charset="-122"/>
                <a:cs typeface="Liter" pitchFamily="34" charset="-120"/>
              </a:rPr>
              <a:t>apply median peak-to-trough EPS downgrades and trough valuations provides a downside framework for the index </a:t>
            </a:r>
          </a:p>
          <a:p>
            <a:pPr marL="254000" indent="-254000">
              <a:lnSpc>
                <a:spcPct val="160000"/>
              </a:lnSpc>
              <a:spcBef>
                <a:spcPts val="10"/>
              </a:spcBef>
              <a:buSzPct val="100000"/>
              <a:buChar char="•"/>
            </a:pPr>
            <a:r>
              <a:rPr lang="en-US" sz="1500" b="1" dirty="0">
                <a:solidFill>
                  <a:srgbClr val="2D3748"/>
                </a:solidFill>
                <a:latin typeface="Liter" pitchFamily="34" charset="0"/>
                <a:ea typeface="Liter" pitchFamily="34" charset="-122"/>
                <a:cs typeface="Liter" pitchFamily="34" charset="-120"/>
              </a:rPr>
              <a:t>Goldman Sachs:</a:t>
            </a:r>
            <a:r>
              <a:rPr lang="en-US" sz="1500" dirty="0">
                <a:solidFill>
                  <a:srgbClr val="2D3748"/>
                </a:solidFill>
                <a:latin typeface="Liter" pitchFamily="34" charset="0"/>
                <a:ea typeface="Liter" pitchFamily="34" charset="-122"/>
                <a:cs typeface="Liter" pitchFamily="34" charset="-120"/>
              </a:rPr>
              <a:t> Historical peak-to-trough EPS downgrades suggest </a:t>
            </a:r>
            <a:r>
              <a:rPr lang="en-US" sz="1500" b="1" dirty="0">
                <a:solidFill>
                  <a:srgbClr val="2D3748"/>
                </a:solidFill>
                <a:latin typeface="Liter" pitchFamily="34" charset="0"/>
                <a:ea typeface="Liter" pitchFamily="34" charset="-122"/>
                <a:cs typeface="Liter" pitchFamily="34" charset="-120"/>
              </a:rPr>
              <a:t>even under a historical downgrade scenario (-33%), cyclical KOSPI downside appears bounded (KOSPI still at ~8750)</a:t>
            </a:r>
          </a:p>
          <a:p>
            <a:pPr marL="254000" indent="-254000">
              <a:lnSpc>
                <a:spcPct val="160000"/>
              </a:lnSpc>
              <a:spcBef>
                <a:spcPts val="10"/>
              </a:spcBef>
              <a:buSzPct val="100000"/>
              <a:buChar char="•"/>
            </a:pPr>
            <a:r>
              <a:rPr lang="en-US" sz="1500" b="1" dirty="0">
                <a:solidFill>
                  <a:srgbClr val="2D3748"/>
                </a:solidFill>
                <a:latin typeface="Liter" pitchFamily="34" charset="0"/>
                <a:ea typeface="Liter" pitchFamily="34" charset="-122"/>
                <a:cs typeface="Liter" pitchFamily="34" charset="-120"/>
              </a:rPr>
              <a:t>GS: Limited downside risk; medium-term outlook constructive </a:t>
            </a:r>
            <a:r>
              <a:rPr lang="en-US" sz="1500" dirty="0">
                <a:solidFill>
                  <a:srgbClr val="2D3748"/>
                </a:solidFill>
                <a:latin typeface="Liter" pitchFamily="34" charset="0"/>
                <a:ea typeface="Liter" pitchFamily="34" charset="-122"/>
                <a:cs typeface="Liter" pitchFamily="34" charset="-120"/>
              </a:rPr>
              <a:t>if further earnings upside continues to support the market</a:t>
            </a:r>
          </a:p>
          <a:p>
            <a:pPr marL="254000" indent="-254000">
              <a:lnSpc>
                <a:spcPct val="160000"/>
              </a:lnSpc>
              <a:spcBef>
                <a:spcPts val="10"/>
              </a:spcBef>
              <a:buSzPct val="100000"/>
              <a:buChar char="•"/>
            </a:pPr>
            <a:endParaRPr lang="en-US" sz="1500" b="1" dirty="0">
              <a:solidFill>
                <a:srgbClr val="2D3748"/>
              </a:solidFill>
              <a:latin typeface="Liter" pitchFamily="34" charset="0"/>
              <a:ea typeface="Liter" pitchFamily="34" charset="-122"/>
              <a:cs typeface="Liter" pitchFamily="34" charset="-120"/>
            </a:endParaRPr>
          </a:p>
          <a:p>
            <a:pPr marL="254000" indent="-254000">
              <a:lnSpc>
                <a:spcPct val="160000"/>
              </a:lnSpc>
              <a:spcBef>
                <a:spcPts val="10"/>
              </a:spcBef>
              <a:buSzPct val="100000"/>
              <a:buChar char="•"/>
            </a:pPr>
            <a:endParaRPr lang="en-US" sz="1500" b="1"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200" b="1" dirty="0">
                <a:solidFill>
                  <a:srgbClr val="1B2F4A"/>
                </a:solidFill>
                <a:latin typeface="Liter" pitchFamily="34" charset="0"/>
                <a:ea typeface="Liter" pitchFamily="34" charset="-122"/>
                <a:cs typeface="Liter" pitchFamily="34" charset="-120"/>
              </a:rPr>
              <a:t>Key Risks &amp; Headwinds: Crowded AI-Memory Positioning: DRAM Earnings-Revision Breadth Near Historical Extremes</a:t>
            </a:r>
            <a:endParaRPr lang="en-US" sz="22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6858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6.3 — Time Series of DRAM Earnings Revision Breadth</a:t>
            </a:r>
            <a:endParaRPr lang="en-US" sz="1300" dirty="0"/>
          </a:p>
        </p:txBody>
      </p:sp>
      <p:sp>
        <p:nvSpPr>
          <p:cNvPr id="7" name="Shape 5"/>
          <p:cNvSpPr/>
          <p:nvPr/>
        </p:nvSpPr>
        <p:spPr>
          <a:xfrm>
            <a:off x="762000" y="1371600"/>
            <a:ext cx="6858000" cy="3302000"/>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71600"/>
            <a:ext cx="6858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DRAM Earnings Revision Breadth]</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Near historical extremes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High proportion of DRAM companies with upward revisions</a:t>
            </a:r>
            <a:endParaRPr lang="en-US" sz="1400" dirty="0"/>
          </a:p>
        </p:txBody>
      </p:sp>
      <p:sp>
        <p:nvSpPr>
          <p:cNvPr id="9" name="Shape 7"/>
          <p:cNvSpPr/>
          <p:nvPr/>
        </p:nvSpPr>
        <p:spPr>
          <a:xfrm>
            <a:off x="8128000" y="1041400"/>
            <a:ext cx="50800" cy="254000"/>
          </a:xfrm>
          <a:prstGeom prst="rect">
            <a:avLst/>
          </a:prstGeom>
          <a:solidFill>
            <a:srgbClr val="C4963A"/>
          </a:solidFill>
          <a:ln/>
        </p:spPr>
        <p:txBody>
          <a:bodyPr/>
          <a:lstStyle/>
          <a:p>
            <a:endParaRPr lang="en-US"/>
          </a:p>
        </p:txBody>
      </p:sp>
      <p:sp>
        <p:nvSpPr>
          <p:cNvPr id="10" name="Text 8"/>
          <p:cNvSpPr/>
          <p:nvPr/>
        </p:nvSpPr>
        <p:spPr>
          <a:xfrm>
            <a:off x="8280400" y="1016000"/>
            <a:ext cx="7112000" cy="304800"/>
          </a:xfrm>
          <a:prstGeom prst="rect">
            <a:avLst/>
          </a:prstGeom>
          <a:noFill/>
          <a:ln/>
        </p:spPr>
        <p:txBody>
          <a:bodyPr wrap="none" lIns="0" tIns="0" rIns="0" bIns="0" rtlCol="0" anchor="t"/>
          <a:lstStyle/>
          <a:p>
            <a:pPr algn="l">
              <a:lnSpc>
                <a:spcPct val="120000"/>
              </a:lnSpc>
            </a:pPr>
            <a:r>
              <a:rPr lang="en-US" sz="1300" b="1" dirty="0">
                <a:solidFill>
                  <a:srgbClr val="1B2F4A"/>
                </a:solidFill>
                <a:latin typeface="Liter" pitchFamily="34" charset="0"/>
                <a:ea typeface="Liter" pitchFamily="34" charset="-122"/>
                <a:cs typeface="Liter" pitchFamily="34" charset="-120"/>
              </a:rPr>
              <a:t>Figure 6.4 — Time Series of DRAM Price YoY vs. Stock P/B</a:t>
            </a:r>
            <a:endParaRPr lang="en-US" sz="1300" dirty="0"/>
          </a:p>
        </p:txBody>
      </p:sp>
      <p:sp>
        <p:nvSpPr>
          <p:cNvPr id="11" name="Shape 9"/>
          <p:cNvSpPr/>
          <p:nvPr/>
        </p:nvSpPr>
        <p:spPr>
          <a:xfrm>
            <a:off x="8128000" y="1371600"/>
            <a:ext cx="7366000" cy="3302000"/>
          </a:xfrm>
          <a:prstGeom prst="rect">
            <a:avLst/>
          </a:prstGeom>
          <a:solidFill>
            <a:srgbClr val="F7F8FA"/>
          </a:solidFill>
          <a:ln w="12700">
            <a:solidFill>
              <a:srgbClr val="E2E8F0"/>
            </a:solidFill>
            <a:prstDash val="solid"/>
          </a:ln>
        </p:spPr>
        <p:txBody>
          <a:bodyPr/>
          <a:lstStyle/>
          <a:p>
            <a:endParaRPr lang="en-US"/>
          </a:p>
        </p:txBody>
      </p:sp>
      <p:sp>
        <p:nvSpPr>
          <p:cNvPr id="12" name="Text 10"/>
          <p:cNvSpPr/>
          <p:nvPr/>
        </p:nvSpPr>
        <p:spPr>
          <a:xfrm>
            <a:off x="8128000" y="1371600"/>
            <a:ext cx="7366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DRAM Price YoY vs. DRAM Stock P/B]</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Memory stocks pricing in strong DRAM pricing</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Vulnerable to "sell-the-news" on any disappointment</a:t>
            </a:r>
            <a:endParaRPr lang="en-US" sz="1400" dirty="0"/>
          </a:p>
        </p:txBody>
      </p:sp>
      <p:sp>
        <p:nvSpPr>
          <p:cNvPr id="13" name="Shape 11"/>
          <p:cNvSpPr/>
          <p:nvPr/>
        </p:nvSpPr>
        <p:spPr>
          <a:xfrm>
            <a:off x="762000" y="4953000"/>
            <a:ext cx="14732000" cy="3479800"/>
          </a:xfrm>
          <a:prstGeom prst="rect">
            <a:avLst/>
          </a:prstGeom>
          <a:solidFill>
            <a:srgbClr val="F7F8FA"/>
          </a:solidFill>
          <a:ln/>
        </p:spPr>
        <p:txBody>
          <a:bodyPr/>
          <a:lstStyle/>
          <a:p>
            <a:endParaRPr lang="en-US"/>
          </a:p>
        </p:txBody>
      </p:sp>
      <p:sp>
        <p:nvSpPr>
          <p:cNvPr id="14" name="Shape 12"/>
          <p:cNvSpPr/>
          <p:nvPr/>
        </p:nvSpPr>
        <p:spPr>
          <a:xfrm>
            <a:off x="762000" y="4953000"/>
            <a:ext cx="14732000" cy="50800"/>
          </a:xfrm>
          <a:prstGeom prst="rect">
            <a:avLst/>
          </a:prstGeom>
          <a:solidFill>
            <a:srgbClr val="C44A4A"/>
          </a:solidFill>
          <a:ln/>
        </p:spPr>
        <p:txBody>
          <a:bodyPr/>
          <a:lstStyle/>
          <a:p>
            <a:endParaRPr lang="en-US"/>
          </a:p>
        </p:txBody>
      </p:sp>
      <p:sp>
        <p:nvSpPr>
          <p:cNvPr id="15" name="Text 13"/>
          <p:cNvSpPr/>
          <p:nvPr/>
        </p:nvSpPr>
        <p:spPr>
          <a:xfrm>
            <a:off x="1016000" y="5130800"/>
            <a:ext cx="5080000" cy="304800"/>
          </a:xfrm>
          <a:prstGeom prst="rect">
            <a:avLst/>
          </a:prstGeom>
          <a:noFill/>
          <a:ln/>
        </p:spPr>
        <p:txBody>
          <a:bodyPr wrap="none" lIns="0" tIns="0" rIns="0" bIns="0" rtlCol="0" anchor="t"/>
          <a:lstStyle/>
          <a:p>
            <a:pPr algn="l">
              <a:lnSpc>
                <a:spcPct val="120000"/>
              </a:lnSpc>
            </a:pPr>
            <a:r>
              <a:rPr lang="en-US" sz="1600" b="1" dirty="0">
                <a:solidFill>
                  <a:srgbClr val="C44A4A"/>
                </a:solidFill>
                <a:latin typeface="Liter" pitchFamily="34" charset="0"/>
                <a:ea typeface="Liter" pitchFamily="34" charset="-122"/>
                <a:cs typeface="Liter" pitchFamily="34" charset="-120"/>
              </a:rPr>
              <a:t>Positioning Risk Warning:</a:t>
            </a:r>
            <a:endParaRPr lang="en-US" sz="1600" dirty="0"/>
          </a:p>
        </p:txBody>
      </p:sp>
      <p:sp>
        <p:nvSpPr>
          <p:cNvPr id="16" name="Text 14"/>
          <p:cNvSpPr/>
          <p:nvPr/>
        </p:nvSpPr>
        <p:spPr>
          <a:xfrm>
            <a:off x="964504" y="5486400"/>
            <a:ext cx="14325600" cy="2819400"/>
          </a:xfrm>
          <a:prstGeom prst="rect">
            <a:avLst/>
          </a:prstGeom>
          <a:noFill/>
          <a:ln/>
        </p:spPr>
        <p:txBody>
          <a:bodyPr wrap="square" lIns="0" tIns="0" rIns="0" bIns="0" rtlCol="0" anchor="t"/>
          <a:lstStyle/>
          <a:p>
            <a:pPr marL="254000" indent="-254000" algn="l">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Memory is now one of the </a:t>
            </a:r>
            <a:r>
              <a:rPr lang="en-US" sz="1600" b="1" dirty="0">
                <a:solidFill>
                  <a:srgbClr val="2D3748"/>
                </a:solidFill>
                <a:latin typeface="Liter" pitchFamily="34" charset="0"/>
                <a:ea typeface="Liter" pitchFamily="34" charset="-122"/>
                <a:cs typeface="Liter" pitchFamily="34" charset="-120"/>
              </a:rPr>
              <a:t>most crowded segment</a:t>
            </a:r>
            <a:r>
              <a:rPr lang="en-US" sz="1600" dirty="0">
                <a:solidFill>
                  <a:srgbClr val="2D3748"/>
                </a:solidFill>
                <a:latin typeface="Liter" pitchFamily="34" charset="0"/>
                <a:ea typeface="Liter" pitchFamily="34" charset="-122"/>
                <a:cs typeface="Liter" pitchFamily="34" charset="-120"/>
              </a:rPr>
              <a:t> of the AI complex, with </a:t>
            </a:r>
            <a:r>
              <a:rPr lang="en-US" sz="1600" b="1" dirty="0">
                <a:solidFill>
                  <a:srgbClr val="2D3748"/>
                </a:solidFill>
                <a:latin typeface="Liter" pitchFamily="34" charset="0"/>
                <a:ea typeface="Liter" pitchFamily="34" charset="-122"/>
                <a:cs typeface="Liter" pitchFamily="34" charset="-120"/>
              </a:rPr>
              <a:t>DRAM earnings-revision breadth near historical extremes</a:t>
            </a:r>
          </a:p>
          <a:p>
            <a:pPr marL="254000" indent="-254000">
              <a:lnSpc>
                <a:spcPct val="160000"/>
              </a:lnSpc>
              <a:spcBef>
                <a:spcPts val="10"/>
              </a:spcBef>
              <a:buSzPct val="100000"/>
              <a:buChar char="•"/>
            </a:pPr>
            <a:r>
              <a:rPr lang="en-US" sz="1600" dirty="0">
                <a:solidFill>
                  <a:srgbClr val="2D3748"/>
                </a:solidFill>
                <a:latin typeface="Liter" pitchFamily="34" charset="0"/>
              </a:rPr>
              <a:t>What does that mean? </a:t>
            </a:r>
            <a:r>
              <a:rPr lang="en-US" sz="1600" b="1" dirty="0">
                <a:solidFill>
                  <a:srgbClr val="2D3748"/>
                </a:solidFill>
                <a:latin typeface="Liter" pitchFamily="34" charset="0"/>
              </a:rPr>
              <a:t>Upward revisions are overwhelmingly dominating downward revisions </a:t>
            </a:r>
            <a:r>
              <a:rPr lang="en-US" sz="1600" dirty="0">
                <a:solidFill>
                  <a:srgbClr val="2D3748"/>
                </a:solidFill>
                <a:latin typeface="Liter" pitchFamily="34" charset="0"/>
              </a:rPr>
              <a:t>in the DRAM universe</a:t>
            </a:r>
            <a:endParaRPr lang="en-US" sz="1600" dirty="0"/>
          </a:p>
          <a:p>
            <a:pPr marL="254000" indent="-254000">
              <a:lnSpc>
                <a:spcPct val="160000"/>
              </a:lnSpc>
              <a:spcBef>
                <a:spcPts val="10"/>
              </a:spcBef>
              <a:buSzPct val="100000"/>
              <a:buChar char="•"/>
            </a:pPr>
            <a:r>
              <a:rPr lang="en-US" sz="1600" b="1" dirty="0">
                <a:solidFill>
                  <a:srgbClr val="2D3748"/>
                </a:solidFill>
                <a:latin typeface="Liter" pitchFamily="34" charset="0"/>
              </a:rPr>
              <a:t>MS: Vulnerable</a:t>
            </a:r>
            <a:r>
              <a:rPr lang="en-US" sz="1600" dirty="0">
                <a:solidFill>
                  <a:srgbClr val="2D3748"/>
                </a:solidFill>
                <a:latin typeface="Liter" pitchFamily="34" charset="0"/>
              </a:rPr>
              <a:t> if stop improving as fast as expected; </a:t>
            </a:r>
            <a:r>
              <a:rPr lang="en-US" sz="1600" b="1" dirty="0">
                <a:solidFill>
                  <a:srgbClr val="2D3748"/>
                </a:solidFill>
                <a:latin typeface="Liter" pitchFamily="34" charset="0"/>
                <a:ea typeface="Liter" pitchFamily="34" charset="-122"/>
                <a:cs typeface="Liter" pitchFamily="34" charset="-120"/>
              </a:rPr>
              <a:t>Downside triggers:</a:t>
            </a:r>
            <a:r>
              <a:rPr lang="en-US" sz="1600" dirty="0">
                <a:solidFill>
                  <a:srgbClr val="2D3748"/>
                </a:solidFill>
                <a:latin typeface="Liter" pitchFamily="34" charset="0"/>
                <a:ea typeface="Liter" pitchFamily="34" charset="-122"/>
                <a:cs typeface="Liter" pitchFamily="34" charset="-120"/>
              </a:rPr>
              <a:t> Slower hyperscaler AI capex, improved token efficiency, concerns over AI monetisation</a:t>
            </a:r>
            <a:endParaRPr lang="en-US" sz="1600" dirty="0"/>
          </a:p>
          <a:p>
            <a:pPr marL="254000" indent="-254000" algn="l">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Morgan Stanley:</a:t>
            </a:r>
            <a:r>
              <a:rPr lang="en-US" sz="1600" dirty="0">
                <a:solidFill>
                  <a:srgbClr val="2D3748"/>
                </a:solidFill>
                <a:latin typeface="Liter" pitchFamily="34" charset="0"/>
                <a:ea typeface="Liter" pitchFamily="34" charset="-122"/>
                <a:cs typeface="Liter" pitchFamily="34" charset="-120"/>
              </a:rPr>
              <a:t> </a:t>
            </a:r>
          </a:p>
          <a:p>
            <a:pPr marL="711200" lvl="1" indent="-254000">
              <a:lnSpc>
                <a:spcPct val="160000"/>
              </a:lnSpc>
              <a:spcBef>
                <a:spcPts val="10"/>
              </a:spcBef>
              <a:buSzPct val="100000"/>
              <a:buChar char="•"/>
            </a:pPr>
            <a:r>
              <a:rPr lang="en-US" sz="1600" dirty="0">
                <a:solidFill>
                  <a:srgbClr val="2D3748"/>
                </a:solidFill>
                <a:latin typeface="Liter" pitchFamily="34" charset="0"/>
                <a:ea typeface="Liter" pitchFamily="34" charset="-122"/>
                <a:cs typeface="Liter" pitchFamily="34" charset="-120"/>
              </a:rPr>
              <a:t>Strong earnings backdrop continues to validate the rally in memory stocks; </a:t>
            </a:r>
          </a:p>
          <a:p>
            <a:pPr marL="711200" lvl="1"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Sharp corrections are both normal and healthy</a:t>
            </a:r>
            <a:r>
              <a:rPr lang="en-US" sz="1600" dirty="0">
                <a:solidFill>
                  <a:srgbClr val="2D3748"/>
                </a:solidFill>
                <a:latin typeface="Liter" pitchFamily="34" charset="0"/>
                <a:ea typeface="Liter" pitchFamily="34" charset="-122"/>
                <a:cs typeface="Liter" pitchFamily="34" charset="-120"/>
              </a:rPr>
              <a:t> when positioning becomes this crowded</a:t>
            </a:r>
            <a:endParaRPr lang="en-US" sz="1600" dirty="0"/>
          </a:p>
          <a:p>
            <a:pPr marL="711200" lvl="1"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Pullbacks may be necessary</a:t>
            </a:r>
            <a:r>
              <a:rPr lang="en-US" sz="1600" dirty="0">
                <a:solidFill>
                  <a:srgbClr val="2D3748"/>
                </a:solidFill>
                <a:latin typeface="Liter" pitchFamily="34" charset="0"/>
                <a:ea typeface="Liter" pitchFamily="34" charset="-122"/>
                <a:cs typeface="Liter" pitchFamily="34" charset="-120"/>
              </a:rPr>
              <a:t> for the bull market/cycle to continue — crowded positioning needs to reset for the next leg higher</a:t>
            </a:r>
            <a:endParaRPr lang="en-US" sz="1600" dirty="0"/>
          </a:p>
        </p:txBody>
      </p:sp>
      <p:sp>
        <p:nvSpPr>
          <p:cNvPr id="17" name="Text 15"/>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Morgan Stanley.</a:t>
            </a:r>
            <a:endParaRPr lang="en-US" sz="1200" dirty="0"/>
          </a:p>
        </p:txBody>
      </p:sp>
      <p:sp>
        <p:nvSpPr>
          <p:cNvPr id="18" name="Text 16"/>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27</a:t>
            </a:r>
            <a:endParaRPr lang="en-US" sz="1200" dirty="0"/>
          </a:p>
        </p:txBody>
      </p:sp>
      <p:pic>
        <p:nvPicPr>
          <p:cNvPr id="19" name="Picture 18">
            <a:extLst>
              <a:ext uri="{FF2B5EF4-FFF2-40B4-BE49-F238E27FC236}">
                <a16:creationId xmlns:a16="http://schemas.microsoft.com/office/drawing/2014/main" id="{9AD056AA-A5D0-8C3E-D6CB-82FAFBD90465}"/>
              </a:ext>
            </a:extLst>
          </p:cNvPr>
          <p:cNvPicPr>
            <a:picLocks noChangeAspect="1"/>
          </p:cNvPicPr>
          <p:nvPr/>
        </p:nvPicPr>
        <p:blipFill>
          <a:blip r:embed="rId3"/>
          <a:stretch>
            <a:fillRect/>
          </a:stretch>
        </p:blipFill>
        <p:spPr>
          <a:xfrm>
            <a:off x="761999" y="1397000"/>
            <a:ext cx="6858000" cy="3302000"/>
          </a:xfrm>
          <a:prstGeom prst="rect">
            <a:avLst/>
          </a:prstGeom>
        </p:spPr>
      </p:pic>
      <p:pic>
        <p:nvPicPr>
          <p:cNvPr id="20" name="Picture 19">
            <a:extLst>
              <a:ext uri="{FF2B5EF4-FFF2-40B4-BE49-F238E27FC236}">
                <a16:creationId xmlns:a16="http://schemas.microsoft.com/office/drawing/2014/main" id="{FDDFD212-7A0C-3B7F-9D72-D1EA636541DE}"/>
              </a:ext>
            </a:extLst>
          </p:cNvPr>
          <p:cNvPicPr>
            <a:picLocks noChangeAspect="1"/>
          </p:cNvPicPr>
          <p:nvPr/>
        </p:nvPicPr>
        <p:blipFill>
          <a:blip r:embed="rId4"/>
          <a:stretch>
            <a:fillRect/>
          </a:stretch>
        </p:blipFill>
        <p:spPr>
          <a:xfrm>
            <a:off x="8127998" y="1371600"/>
            <a:ext cx="7365999" cy="3302000"/>
          </a:xfrm>
          <a:prstGeom prst="rect">
            <a:avLst/>
          </a:prstGeom>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nSpc>
                <a:spcPct val="130000"/>
              </a:lnSpc>
            </a:pPr>
            <a:r>
              <a:rPr lang="en-US" sz="2200" b="1" dirty="0">
                <a:solidFill>
                  <a:srgbClr val="1B2F4A"/>
                </a:solidFill>
                <a:latin typeface="Liter" pitchFamily="34" charset="0"/>
                <a:ea typeface="Liter" pitchFamily="34" charset="-122"/>
                <a:cs typeface="Liter" pitchFamily="34" charset="-120"/>
              </a:rPr>
              <a:t>Key Risks &amp; Headwinds: Macro Risks: Higher-for-Longer Rates, Oil Risks, and BOK Rate Hike</a:t>
            </a:r>
            <a:endParaRPr lang="en-US" sz="22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41400"/>
            <a:ext cx="50800" cy="254000"/>
          </a:xfrm>
          <a:prstGeom prst="rect">
            <a:avLst/>
          </a:prstGeom>
          <a:solidFill>
            <a:srgbClr val="C4963A"/>
          </a:solidFill>
          <a:ln/>
        </p:spPr>
        <p:txBody>
          <a:bodyPr/>
          <a:lstStyle/>
          <a:p>
            <a:endParaRPr lang="en-US"/>
          </a:p>
        </p:txBody>
      </p:sp>
      <p:sp>
        <p:nvSpPr>
          <p:cNvPr id="6" name="Text 4"/>
          <p:cNvSpPr/>
          <p:nvPr/>
        </p:nvSpPr>
        <p:spPr>
          <a:xfrm>
            <a:off x="914400" y="1016000"/>
            <a:ext cx="6858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6.5 — Time Series of Brent Crude Oil Price (1M)</a:t>
            </a:r>
            <a:endParaRPr lang="en-US" sz="1300" dirty="0"/>
          </a:p>
        </p:txBody>
      </p:sp>
      <p:sp>
        <p:nvSpPr>
          <p:cNvPr id="7" name="Shape 5"/>
          <p:cNvSpPr/>
          <p:nvPr/>
        </p:nvSpPr>
        <p:spPr>
          <a:xfrm>
            <a:off x="762000" y="1371600"/>
            <a:ext cx="6858000" cy="3302000"/>
          </a:xfrm>
          <a:prstGeom prst="rect">
            <a:avLst/>
          </a:prstGeom>
          <a:solidFill>
            <a:srgbClr val="F7F8FA"/>
          </a:solidFill>
          <a:ln w="12700">
            <a:solidFill>
              <a:srgbClr val="E2E8F0"/>
            </a:solidFill>
            <a:prstDash val="solid"/>
          </a:ln>
        </p:spPr>
        <p:txBody>
          <a:bodyPr/>
          <a:lstStyle/>
          <a:p>
            <a:endParaRPr lang="en-US"/>
          </a:p>
        </p:txBody>
      </p:sp>
      <p:sp>
        <p:nvSpPr>
          <p:cNvPr id="8" name="Text 6"/>
          <p:cNvSpPr/>
          <p:nvPr/>
        </p:nvSpPr>
        <p:spPr>
          <a:xfrm>
            <a:off x="762000" y="1371600"/>
            <a:ext cx="6858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Fed Funds Rate vs. Policy Rule Prescriptions]</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Taylor rule, Balanced Approach, Williams Rule</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Sticky inflation may keep rates higher for longer</a:t>
            </a:r>
            <a:endParaRPr lang="en-US" sz="1400" dirty="0"/>
          </a:p>
        </p:txBody>
      </p:sp>
      <p:sp>
        <p:nvSpPr>
          <p:cNvPr id="9" name="Shape 7"/>
          <p:cNvSpPr/>
          <p:nvPr/>
        </p:nvSpPr>
        <p:spPr>
          <a:xfrm>
            <a:off x="8128000" y="1041400"/>
            <a:ext cx="50800" cy="254000"/>
          </a:xfrm>
          <a:prstGeom prst="rect">
            <a:avLst/>
          </a:prstGeom>
          <a:solidFill>
            <a:srgbClr val="C4963A"/>
          </a:solidFill>
          <a:ln/>
        </p:spPr>
        <p:txBody>
          <a:bodyPr/>
          <a:lstStyle/>
          <a:p>
            <a:endParaRPr lang="en-US"/>
          </a:p>
        </p:txBody>
      </p:sp>
      <p:sp>
        <p:nvSpPr>
          <p:cNvPr id="10" name="Text 8"/>
          <p:cNvSpPr/>
          <p:nvPr/>
        </p:nvSpPr>
        <p:spPr>
          <a:xfrm>
            <a:off x="8280400" y="1016000"/>
            <a:ext cx="7112000" cy="304800"/>
          </a:xfrm>
          <a:prstGeom prst="rect">
            <a:avLst/>
          </a:prstGeom>
          <a:noFill/>
          <a:ln/>
        </p:spPr>
        <p:txBody>
          <a:bodyPr wrap="none" lIns="0" tIns="0" rIns="0" bIns="0" rtlCol="0" anchor="t"/>
          <a:lstStyle/>
          <a:p>
            <a:pPr>
              <a:lnSpc>
                <a:spcPct val="120000"/>
              </a:lnSpc>
            </a:pPr>
            <a:r>
              <a:rPr lang="en-US" sz="1300" b="1" dirty="0">
                <a:solidFill>
                  <a:srgbClr val="1B2F4A"/>
                </a:solidFill>
                <a:latin typeface="Liter" pitchFamily="34" charset="0"/>
                <a:ea typeface="Liter" pitchFamily="34" charset="-122"/>
                <a:cs typeface="Liter" pitchFamily="34" charset="-120"/>
              </a:rPr>
              <a:t>Figure 6.6 — Market Implied Rate Hikes by September on July 1 vs. July 14 (bps)</a:t>
            </a:r>
            <a:endParaRPr lang="en-US" sz="1300" dirty="0"/>
          </a:p>
        </p:txBody>
      </p:sp>
      <p:sp>
        <p:nvSpPr>
          <p:cNvPr id="11" name="Shape 9"/>
          <p:cNvSpPr/>
          <p:nvPr/>
        </p:nvSpPr>
        <p:spPr>
          <a:xfrm>
            <a:off x="8128000" y="1371600"/>
            <a:ext cx="7366000" cy="3302000"/>
          </a:xfrm>
          <a:prstGeom prst="rect">
            <a:avLst/>
          </a:prstGeom>
          <a:solidFill>
            <a:srgbClr val="F7F8FA"/>
          </a:solidFill>
          <a:ln w="12700">
            <a:solidFill>
              <a:srgbClr val="E2E8F0"/>
            </a:solidFill>
            <a:prstDash val="solid"/>
          </a:ln>
        </p:spPr>
        <p:txBody>
          <a:bodyPr/>
          <a:lstStyle/>
          <a:p>
            <a:endParaRPr lang="en-US"/>
          </a:p>
        </p:txBody>
      </p:sp>
      <p:sp>
        <p:nvSpPr>
          <p:cNvPr id="12" name="Text 10"/>
          <p:cNvSpPr/>
          <p:nvPr/>
        </p:nvSpPr>
        <p:spPr>
          <a:xfrm>
            <a:off x="8128000" y="1371600"/>
            <a:ext cx="7366000" cy="3302000"/>
          </a:xfrm>
          <a:prstGeom prst="rect">
            <a:avLst/>
          </a:prstGeom>
          <a:noFill/>
          <a:ln/>
        </p:spPr>
        <p:txBody>
          <a:bodyPr wrap="square" lIns="0" tIns="0" rIns="0" bIns="0" rtlCol="0" anchor="ctr"/>
          <a:lstStyle/>
          <a:p>
            <a:pPr algn="ctr">
              <a:lnSpc>
                <a:spcPct val="120000"/>
              </a:lnSpc>
            </a:pPr>
            <a:r>
              <a:rPr lang="en-US" sz="1400" dirty="0">
                <a:solidFill>
                  <a:srgbClr val="718096"/>
                </a:solidFill>
                <a:latin typeface="Liter" pitchFamily="34" charset="0"/>
                <a:ea typeface="Liter" pitchFamily="34" charset="-122"/>
                <a:cs typeface="Liter" pitchFamily="34" charset="-120"/>
              </a:rPr>
              <a:t>[Chart: Fed Funds Rate and Historical Crises Annotated]</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US-Iran conflict adds oil-driven inflation risk</a:t>
            </a:r>
            <a:endParaRPr lang="en-US" sz="1400" dirty="0"/>
          </a:p>
          <a:p>
            <a:pPr algn="ctr">
              <a:lnSpc>
                <a:spcPct val="120000"/>
              </a:lnSpc>
            </a:pPr>
            <a:r>
              <a:rPr lang="en-US" sz="1400" dirty="0">
                <a:solidFill>
                  <a:srgbClr val="718096"/>
                </a:solidFill>
                <a:latin typeface="Liter" pitchFamily="34" charset="0"/>
                <a:ea typeface="Liter" pitchFamily="34" charset="-122"/>
                <a:cs typeface="Liter" pitchFamily="34" charset="-120"/>
              </a:rPr>
              <a:t>Higher rates compress EM valuations</a:t>
            </a:r>
            <a:endParaRPr lang="en-US" sz="1400" dirty="0"/>
          </a:p>
        </p:txBody>
      </p:sp>
      <p:sp>
        <p:nvSpPr>
          <p:cNvPr id="13" name="Shape 11"/>
          <p:cNvSpPr/>
          <p:nvPr/>
        </p:nvSpPr>
        <p:spPr>
          <a:xfrm>
            <a:off x="762000" y="4953000"/>
            <a:ext cx="14732000" cy="3276600"/>
          </a:xfrm>
          <a:prstGeom prst="rect">
            <a:avLst/>
          </a:prstGeom>
          <a:solidFill>
            <a:srgbClr val="F7F8FA"/>
          </a:solidFill>
          <a:ln/>
        </p:spPr>
        <p:txBody>
          <a:bodyPr/>
          <a:lstStyle/>
          <a:p>
            <a:endParaRPr lang="en-US"/>
          </a:p>
        </p:txBody>
      </p:sp>
      <p:sp>
        <p:nvSpPr>
          <p:cNvPr id="14" name="Shape 12"/>
          <p:cNvSpPr/>
          <p:nvPr/>
        </p:nvSpPr>
        <p:spPr>
          <a:xfrm>
            <a:off x="762000" y="4953000"/>
            <a:ext cx="14732000" cy="50800"/>
          </a:xfrm>
          <a:prstGeom prst="rect">
            <a:avLst/>
          </a:prstGeom>
          <a:solidFill>
            <a:srgbClr val="C44A4A"/>
          </a:solidFill>
          <a:ln/>
        </p:spPr>
        <p:txBody>
          <a:bodyPr/>
          <a:lstStyle/>
          <a:p>
            <a:endParaRPr lang="en-US"/>
          </a:p>
        </p:txBody>
      </p:sp>
      <p:sp>
        <p:nvSpPr>
          <p:cNvPr id="15" name="Text 13"/>
          <p:cNvSpPr/>
          <p:nvPr/>
        </p:nvSpPr>
        <p:spPr>
          <a:xfrm>
            <a:off x="1016000" y="5130800"/>
            <a:ext cx="5080000" cy="304800"/>
          </a:xfrm>
          <a:prstGeom prst="rect">
            <a:avLst/>
          </a:prstGeom>
          <a:noFill/>
          <a:ln/>
        </p:spPr>
        <p:txBody>
          <a:bodyPr wrap="none" lIns="0" tIns="0" rIns="0" bIns="0" rtlCol="0" anchor="t"/>
          <a:lstStyle/>
          <a:p>
            <a:pPr algn="l">
              <a:lnSpc>
                <a:spcPct val="120000"/>
              </a:lnSpc>
            </a:pPr>
            <a:r>
              <a:rPr lang="en-US" sz="1600" b="1" dirty="0">
                <a:solidFill>
                  <a:srgbClr val="C44A4A"/>
                </a:solidFill>
                <a:latin typeface="Liter" pitchFamily="34" charset="0"/>
                <a:ea typeface="Liter" pitchFamily="34" charset="-122"/>
                <a:cs typeface="Liter" pitchFamily="34" charset="-120"/>
              </a:rPr>
              <a:t>Macro Risk Factors:</a:t>
            </a:r>
            <a:endParaRPr lang="en-US" sz="1600" dirty="0"/>
          </a:p>
        </p:txBody>
      </p:sp>
      <p:sp>
        <p:nvSpPr>
          <p:cNvPr id="16" name="Text 14"/>
          <p:cNvSpPr/>
          <p:nvPr/>
        </p:nvSpPr>
        <p:spPr>
          <a:xfrm>
            <a:off x="812800" y="5486400"/>
            <a:ext cx="14732000" cy="2590800"/>
          </a:xfrm>
          <a:prstGeom prst="rect">
            <a:avLst/>
          </a:prstGeom>
          <a:noFill/>
          <a:ln/>
        </p:spPr>
        <p:txBody>
          <a:bodyPr wrap="square" lIns="0" tIns="0" rIns="0" bIns="0" rtlCol="0" anchor="t"/>
          <a:lstStyle/>
          <a:p>
            <a:pPr marL="254000"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Inflation vs. Energy Risks: </a:t>
            </a:r>
            <a:r>
              <a:rPr lang="en-US" sz="1600" dirty="0">
                <a:solidFill>
                  <a:srgbClr val="2D3748"/>
                </a:solidFill>
                <a:latin typeface="Liter" pitchFamily="34" charset="0"/>
                <a:ea typeface="Liter" pitchFamily="34" charset="-122"/>
                <a:cs typeface="Liter" pitchFamily="34" charset="-120"/>
              </a:rPr>
              <a:t>June’s surprise </a:t>
            </a:r>
            <a:r>
              <a:rPr lang="en-US" sz="1600" b="1" dirty="0">
                <a:solidFill>
                  <a:srgbClr val="2D3748"/>
                </a:solidFill>
                <a:latin typeface="Liter" pitchFamily="34" charset="0"/>
                <a:ea typeface="Liter" pitchFamily="34" charset="-122"/>
                <a:cs typeface="Liter" pitchFamily="34" charset="-120"/>
              </a:rPr>
              <a:t>US CPI drop (-0.4% MoM) </a:t>
            </a:r>
            <a:r>
              <a:rPr lang="en-US" sz="1600" dirty="0">
                <a:solidFill>
                  <a:srgbClr val="2D3748"/>
                </a:solidFill>
                <a:latin typeface="Liter" pitchFamily="34" charset="0"/>
                <a:ea typeface="Liter" pitchFamily="34" charset="-122"/>
                <a:cs typeface="Liter" pitchFamily="34" charset="-120"/>
              </a:rPr>
              <a:t>was eclipsed by the </a:t>
            </a:r>
            <a:r>
              <a:rPr lang="en-US" sz="1600" b="1" dirty="0">
                <a:solidFill>
                  <a:srgbClr val="2D3748"/>
                </a:solidFill>
                <a:latin typeface="Liter" pitchFamily="34" charset="0"/>
                <a:ea typeface="Liter" pitchFamily="34" charset="-122"/>
                <a:cs typeface="Liter" pitchFamily="34" charset="-120"/>
              </a:rPr>
              <a:t>renewed US-Iran conflict (supply disruption in the Strait of Hormuz)</a:t>
            </a:r>
            <a:r>
              <a:rPr lang="en-US" sz="1600" dirty="0">
                <a:solidFill>
                  <a:srgbClr val="2D3748"/>
                </a:solidFill>
                <a:latin typeface="Liter" pitchFamily="34" charset="0"/>
                <a:ea typeface="Liter" pitchFamily="34" charset="-122"/>
                <a:cs typeface="Liter" pitchFamily="34" charset="-120"/>
              </a:rPr>
              <a:t>. Oil spiking to ~$85/</a:t>
            </a:r>
            <a:r>
              <a:rPr lang="en-US" sz="1600" dirty="0" err="1">
                <a:solidFill>
                  <a:srgbClr val="2D3748"/>
                </a:solidFill>
                <a:latin typeface="Liter" pitchFamily="34" charset="0"/>
                <a:ea typeface="Liter" pitchFamily="34" charset="-122"/>
                <a:cs typeface="Liter" pitchFamily="34" charset="-120"/>
              </a:rPr>
              <a:t>bbl</a:t>
            </a:r>
            <a:r>
              <a:rPr lang="en-US" sz="1600" dirty="0">
                <a:solidFill>
                  <a:srgbClr val="2D3748"/>
                </a:solidFill>
                <a:latin typeface="Liter" pitchFamily="34" charset="0"/>
                <a:ea typeface="Liter" pitchFamily="34" charset="-122"/>
                <a:cs typeface="Liter" pitchFamily="34" charset="-120"/>
              </a:rPr>
              <a:t> could cloud the Fed's rate-cut timeline</a:t>
            </a:r>
          </a:p>
          <a:p>
            <a:pPr marL="254000"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Hawkish Rate Repricing: </a:t>
            </a:r>
            <a:r>
              <a:rPr lang="en-US" sz="1600" dirty="0">
                <a:solidFill>
                  <a:srgbClr val="2D3748"/>
                </a:solidFill>
                <a:latin typeface="Liter" pitchFamily="34" charset="0"/>
                <a:ea typeface="Liter" pitchFamily="34" charset="-122"/>
                <a:cs typeface="Liter" pitchFamily="34" charset="-120"/>
              </a:rPr>
              <a:t>Energy shock forced sharp shift in global rate expectations. </a:t>
            </a:r>
            <a:r>
              <a:rPr lang="en-US" sz="1600" b="1" dirty="0">
                <a:solidFill>
                  <a:srgbClr val="2D3748"/>
                </a:solidFill>
                <a:latin typeface="Liter" pitchFamily="34" charset="0"/>
                <a:ea typeface="Liter" pitchFamily="34" charset="-122"/>
                <a:cs typeface="Liter" pitchFamily="34" charset="-120"/>
              </a:rPr>
              <a:t>Markets aggressively priced in September rate hikes for the Fed, ECB, BoE</a:t>
            </a:r>
          </a:p>
          <a:p>
            <a:pPr marL="254000"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Valuation Compression Risk: </a:t>
            </a:r>
            <a:r>
              <a:rPr lang="en-US" sz="1600" dirty="0">
                <a:solidFill>
                  <a:srgbClr val="2D3748"/>
                </a:solidFill>
                <a:latin typeface="Liter" pitchFamily="34" charset="0"/>
                <a:ea typeface="Liter" pitchFamily="34" charset="-122"/>
                <a:cs typeface="Liter" pitchFamily="34" charset="-120"/>
              </a:rPr>
              <a:t>If global central banks maintain tighter financial conditions, </a:t>
            </a:r>
            <a:r>
              <a:rPr lang="en-US" sz="1600" b="1" dirty="0">
                <a:solidFill>
                  <a:srgbClr val="2D3748"/>
                </a:solidFill>
                <a:latin typeface="Liter" pitchFamily="34" charset="0"/>
                <a:ea typeface="Liter" pitchFamily="34" charset="-122"/>
                <a:cs typeface="Liter" pitchFamily="34" charset="-120"/>
              </a:rPr>
              <a:t>higher discount rates could compress KOSPI valuations given its high beta</a:t>
            </a:r>
          </a:p>
          <a:p>
            <a:pPr marL="254000" indent="-254000">
              <a:lnSpc>
                <a:spcPct val="160000"/>
              </a:lnSpc>
              <a:spcBef>
                <a:spcPts val="10"/>
              </a:spcBef>
              <a:buSzPct val="100000"/>
              <a:buChar char="•"/>
            </a:pPr>
            <a:r>
              <a:rPr lang="en-US" sz="1600" b="1" dirty="0">
                <a:solidFill>
                  <a:srgbClr val="2D3748"/>
                </a:solidFill>
                <a:latin typeface="Liter" pitchFamily="34" charset="0"/>
                <a:ea typeface="Liter" pitchFamily="34" charset="-122"/>
                <a:cs typeface="Liter" pitchFamily="34" charset="-120"/>
              </a:rPr>
              <a:t>BOK Rate Hike</a:t>
            </a:r>
            <a:r>
              <a:rPr lang="en-US" sz="1600" dirty="0">
                <a:solidFill>
                  <a:srgbClr val="2D3748"/>
                </a:solidFill>
                <a:latin typeface="Liter" pitchFamily="34" charset="0"/>
                <a:ea typeface="Liter" pitchFamily="34" charset="-122"/>
                <a:cs typeface="Liter" pitchFamily="34" charset="-120"/>
              </a:rPr>
              <a:t>: Stronger US dollar pushed KRW to ~1,500 (weakest level since 2009). To combat inflation and won slump, </a:t>
            </a:r>
            <a:r>
              <a:rPr lang="en-US" sz="1600" b="1" dirty="0">
                <a:solidFill>
                  <a:srgbClr val="2D3748"/>
                </a:solidFill>
                <a:latin typeface="Liter" pitchFamily="34" charset="0"/>
                <a:ea typeface="Liter" pitchFamily="34" charset="-122"/>
                <a:cs typeface="Liter" pitchFamily="34" charset="-120"/>
              </a:rPr>
              <a:t>BOK hiked its base rate to 2.75% </a:t>
            </a:r>
            <a:r>
              <a:rPr lang="en-US" sz="1600" dirty="0">
                <a:solidFill>
                  <a:srgbClr val="2D3748"/>
                </a:solidFill>
                <a:latin typeface="Liter" pitchFamily="34" charset="0"/>
                <a:ea typeface="Liter" pitchFamily="34" charset="-122"/>
                <a:cs typeface="Liter" pitchFamily="34" charset="-120"/>
              </a:rPr>
              <a:t>(with 3.00% expected by year-end). Combined with higher global rates, this creates a </a:t>
            </a:r>
            <a:r>
              <a:rPr lang="en-US" sz="1600" b="1" dirty="0">
                <a:solidFill>
                  <a:srgbClr val="2D3748"/>
                </a:solidFill>
                <a:latin typeface="Liter" pitchFamily="34" charset="0"/>
                <a:ea typeface="Liter" pitchFamily="34" charset="-122"/>
                <a:cs typeface="Liter" pitchFamily="34" charset="-120"/>
              </a:rPr>
              <a:t>double-squeeze on domestic liquidity and equity valuations</a:t>
            </a:r>
            <a:r>
              <a:rPr lang="en-US" sz="1600" dirty="0">
                <a:solidFill>
                  <a:srgbClr val="2D3748"/>
                </a:solidFill>
                <a:latin typeface="Liter" pitchFamily="34" charset="0"/>
                <a:ea typeface="Liter" pitchFamily="34" charset="-122"/>
                <a:cs typeface="Liter" pitchFamily="34" charset="-120"/>
              </a:rPr>
              <a:t>.</a:t>
            </a:r>
            <a:endParaRPr lang="en-US" sz="1600" dirty="0">
              <a:highlight>
                <a:srgbClr val="FFFF00"/>
              </a:highlight>
            </a:endParaRPr>
          </a:p>
        </p:txBody>
      </p:sp>
      <p:sp>
        <p:nvSpPr>
          <p:cNvPr id="17" name="Text 15"/>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Deutsche Bank, Bloomberg, Reuters, The Guardian.</a:t>
            </a:r>
            <a:endParaRPr lang="en-US" sz="1200" dirty="0"/>
          </a:p>
        </p:txBody>
      </p:sp>
      <p:sp>
        <p:nvSpPr>
          <p:cNvPr id="18" name="Text 16"/>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28</a:t>
            </a:r>
            <a:endParaRPr lang="en-US" sz="1200" dirty="0"/>
          </a:p>
        </p:txBody>
      </p:sp>
      <p:pic>
        <p:nvPicPr>
          <p:cNvPr id="20" name="Picture 19">
            <a:extLst>
              <a:ext uri="{FF2B5EF4-FFF2-40B4-BE49-F238E27FC236}">
                <a16:creationId xmlns:a16="http://schemas.microsoft.com/office/drawing/2014/main" id="{60B8402E-09AC-E872-1749-45A8C1427511}"/>
              </a:ext>
            </a:extLst>
          </p:cNvPr>
          <p:cNvPicPr>
            <a:picLocks noChangeAspect="1"/>
          </p:cNvPicPr>
          <p:nvPr/>
        </p:nvPicPr>
        <p:blipFill>
          <a:blip r:embed="rId3"/>
          <a:stretch>
            <a:fillRect/>
          </a:stretch>
        </p:blipFill>
        <p:spPr>
          <a:xfrm>
            <a:off x="762000" y="1384300"/>
            <a:ext cx="6858000" cy="3289300"/>
          </a:xfrm>
          <a:prstGeom prst="rect">
            <a:avLst/>
          </a:prstGeom>
        </p:spPr>
      </p:pic>
      <p:pic>
        <p:nvPicPr>
          <p:cNvPr id="23" name="Picture 22">
            <a:extLst>
              <a:ext uri="{FF2B5EF4-FFF2-40B4-BE49-F238E27FC236}">
                <a16:creationId xmlns:a16="http://schemas.microsoft.com/office/drawing/2014/main" id="{D7B62908-9FE6-346B-1986-88D1532457B2}"/>
              </a:ext>
            </a:extLst>
          </p:cNvPr>
          <p:cNvPicPr>
            <a:picLocks noChangeAspect="1"/>
          </p:cNvPicPr>
          <p:nvPr/>
        </p:nvPicPr>
        <p:blipFill>
          <a:blip r:embed="rId4"/>
          <a:stretch>
            <a:fillRect/>
          </a:stretch>
        </p:blipFill>
        <p:spPr>
          <a:xfrm>
            <a:off x="8128000" y="1371599"/>
            <a:ext cx="7366000" cy="3302001"/>
          </a:xfrm>
          <a:prstGeom prst="rect">
            <a:avLst/>
          </a:prstGeom>
        </p:spPr>
      </p:pic>
      <p:cxnSp>
        <p:nvCxnSpPr>
          <p:cNvPr id="24" name="Straight Arrow Connector 23">
            <a:extLst>
              <a:ext uri="{FF2B5EF4-FFF2-40B4-BE49-F238E27FC236}">
                <a16:creationId xmlns:a16="http://schemas.microsoft.com/office/drawing/2014/main" id="{42DFA3F2-B0E1-91CD-ECC6-4BBEC2A25BFF}"/>
              </a:ext>
            </a:extLst>
          </p:cNvPr>
          <p:cNvCxnSpPr>
            <a:cxnSpLocks/>
          </p:cNvCxnSpPr>
          <p:nvPr/>
        </p:nvCxnSpPr>
        <p:spPr>
          <a:xfrm flipV="1">
            <a:off x="4527030" y="1499343"/>
            <a:ext cx="1771338" cy="2387105"/>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F8C6343E-03EA-4143-C444-D4812DB952B6}"/>
              </a:ext>
            </a:extLst>
          </p:cNvPr>
          <p:cNvCxnSpPr>
            <a:cxnSpLocks/>
          </p:cNvCxnSpPr>
          <p:nvPr/>
        </p:nvCxnSpPr>
        <p:spPr>
          <a:xfrm flipV="1">
            <a:off x="8514413" y="2519854"/>
            <a:ext cx="553389" cy="1045546"/>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a:extLst>
              <a:ext uri="{FF2B5EF4-FFF2-40B4-BE49-F238E27FC236}">
                <a16:creationId xmlns:a16="http://schemas.microsoft.com/office/drawing/2014/main" id="{F507ADF0-FE5C-35F8-2E6E-4F4071EBB7D4}"/>
              </a:ext>
            </a:extLst>
          </p:cNvPr>
          <p:cNvCxnSpPr>
            <a:cxnSpLocks/>
          </p:cNvCxnSpPr>
          <p:nvPr/>
        </p:nvCxnSpPr>
        <p:spPr>
          <a:xfrm flipV="1">
            <a:off x="10897367" y="2119365"/>
            <a:ext cx="553389" cy="8529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Straight Arrow Connector 32">
            <a:extLst>
              <a:ext uri="{FF2B5EF4-FFF2-40B4-BE49-F238E27FC236}">
                <a16:creationId xmlns:a16="http://schemas.microsoft.com/office/drawing/2014/main" id="{40D2703F-7916-8BD9-B65A-203E806ECECC}"/>
              </a:ext>
            </a:extLst>
          </p:cNvPr>
          <p:cNvCxnSpPr>
            <a:cxnSpLocks/>
          </p:cNvCxnSpPr>
          <p:nvPr/>
        </p:nvCxnSpPr>
        <p:spPr>
          <a:xfrm flipV="1">
            <a:off x="13148869" y="2080007"/>
            <a:ext cx="762003" cy="455645"/>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693F1-5307-CCB3-24F5-D733050CDDE2}"/>
            </a:ext>
          </a:extLst>
        </p:cNvPr>
        <p:cNvGrpSpPr/>
        <p:nvPr/>
      </p:nvGrpSpPr>
      <p:grpSpPr>
        <a:xfrm>
          <a:off x="0" y="0"/>
          <a:ext cx="0" cy="0"/>
          <a:chOff x="0" y="0"/>
          <a:chExt cx="0" cy="0"/>
        </a:xfrm>
      </p:grpSpPr>
      <p:pic>
        <p:nvPicPr>
          <p:cNvPr id="660" name="Graphic 659">
            <a:extLst>
              <a:ext uri="{FF2B5EF4-FFF2-40B4-BE49-F238E27FC236}">
                <a16:creationId xmlns:a16="http://schemas.microsoft.com/office/drawing/2014/main" id="{D5785E47-E3B9-C547-3B5F-4704B20584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42823" y="847800"/>
            <a:ext cx="4986888" cy="5018053"/>
          </a:xfrm>
          <a:prstGeom prst="rect">
            <a:avLst/>
          </a:prstGeom>
        </p:spPr>
      </p:pic>
      <p:grpSp>
        <p:nvGrpSpPr>
          <p:cNvPr id="7" name="Group 6">
            <a:extLst>
              <a:ext uri="{FF2B5EF4-FFF2-40B4-BE49-F238E27FC236}">
                <a16:creationId xmlns:a16="http://schemas.microsoft.com/office/drawing/2014/main" id="{2C39A354-7FCE-2BC9-F656-4D3B1DE5AA08}"/>
              </a:ext>
            </a:extLst>
          </p:cNvPr>
          <p:cNvGrpSpPr/>
          <p:nvPr/>
        </p:nvGrpSpPr>
        <p:grpSpPr>
          <a:xfrm>
            <a:off x="12214120" y="8750105"/>
            <a:ext cx="3400141" cy="340771"/>
            <a:chOff x="9160590" y="6563831"/>
            <a:chExt cx="2550106" cy="255578"/>
          </a:xfrm>
        </p:grpSpPr>
        <p:pic>
          <p:nvPicPr>
            <p:cNvPr id="46" name="Picture 45" descr="Logo&#10;&#10;Description automatically generated">
              <a:extLst>
                <a:ext uri="{FF2B5EF4-FFF2-40B4-BE49-F238E27FC236}">
                  <a16:creationId xmlns:a16="http://schemas.microsoft.com/office/drawing/2014/main" id="{2A6454CC-AB88-B21E-4393-B4980DDBD2EC}"/>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47" name="Rectangle 19">
              <a:extLst>
                <a:ext uri="{FF2B5EF4-FFF2-40B4-BE49-F238E27FC236}">
                  <a16:creationId xmlns:a16="http://schemas.microsoft.com/office/drawing/2014/main" id="{BC48A23A-578E-B113-26A9-7B04FE49BAC1}"/>
                </a:ext>
              </a:extLst>
            </p:cNvPr>
            <p:cNvSpPr/>
            <p:nvPr/>
          </p:nvSpPr>
          <p:spPr>
            <a:xfrm>
              <a:off x="9160590" y="6614676"/>
              <a:ext cx="2265443" cy="153841"/>
            </a:xfrm>
            <a:prstGeom prst="rect">
              <a:avLst/>
            </a:prstGeom>
          </p:spPr>
          <p:txBody>
            <a:bodyPr wrap="square" lIns="0" tIns="0" rIns="0" bIns="0">
              <a:spAutoFit/>
            </a:bodyPr>
            <a:lstStyle/>
            <a:p>
              <a:pPr algn="r" defTabSz="1219170">
                <a:defRPr/>
              </a:pPr>
              <a:r>
                <a:rPr lang="en-US" altLang="zh-CN" sz="1333" spc="-40" dirty="0">
                  <a:solidFill>
                    <a:prstClr val="white"/>
                  </a:solidFill>
                  <a:latin typeface="Calibri Light"/>
                  <a:ea typeface="Microsoft JhengHei"/>
                </a:rPr>
                <a:t>CSOP Asset Management</a:t>
              </a:r>
              <a:endParaRPr lang="zh-CN" altLang="en-US" sz="1333" dirty="0">
                <a:solidFill>
                  <a:prstClr val="white"/>
                </a:solidFill>
                <a:latin typeface="Calibri Light"/>
                <a:ea typeface="Microsoft JhengHei"/>
              </a:endParaRPr>
            </a:p>
          </p:txBody>
        </p:sp>
      </p:grpSp>
      <p:sp>
        <p:nvSpPr>
          <p:cNvPr id="32" name="圆角矩形 3">
            <a:extLst>
              <a:ext uri="{FF2B5EF4-FFF2-40B4-BE49-F238E27FC236}">
                <a16:creationId xmlns:a16="http://schemas.microsoft.com/office/drawing/2014/main" id="{A643B82E-17C9-A22A-FD7E-C24291567DDA}"/>
              </a:ext>
            </a:extLst>
          </p:cNvPr>
          <p:cNvSpPr/>
          <p:nvPr/>
        </p:nvSpPr>
        <p:spPr>
          <a:xfrm rot="2700000">
            <a:off x="6689530" y="2745145"/>
            <a:ext cx="3899372" cy="3899372"/>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3" name="椭圆 4">
            <a:extLst>
              <a:ext uri="{FF2B5EF4-FFF2-40B4-BE49-F238E27FC236}">
                <a16:creationId xmlns:a16="http://schemas.microsoft.com/office/drawing/2014/main" id="{13E97151-B361-1DFD-B2C5-269321EB029D}"/>
              </a:ext>
            </a:extLst>
          </p:cNvPr>
          <p:cNvSpPr/>
          <p:nvPr/>
        </p:nvSpPr>
        <p:spPr>
          <a:xfrm>
            <a:off x="6000646" y="2056259"/>
            <a:ext cx="5277140" cy="5277140"/>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nvGrpSpPr>
          <p:cNvPr id="34" name="组合 6">
            <a:extLst>
              <a:ext uri="{FF2B5EF4-FFF2-40B4-BE49-F238E27FC236}">
                <a16:creationId xmlns:a16="http://schemas.microsoft.com/office/drawing/2014/main" id="{CA3D68E8-9ACA-73EF-1FF8-2367184EE031}"/>
              </a:ext>
            </a:extLst>
          </p:cNvPr>
          <p:cNvGrpSpPr/>
          <p:nvPr/>
        </p:nvGrpSpPr>
        <p:grpSpPr>
          <a:xfrm>
            <a:off x="6600753" y="2855029"/>
            <a:ext cx="4126435" cy="3698616"/>
            <a:chOff x="4950565" y="2141272"/>
            <a:chExt cx="3094826" cy="2773962"/>
          </a:xfrm>
        </p:grpSpPr>
        <p:sp>
          <p:nvSpPr>
            <p:cNvPr id="35" name="椭圆 43">
              <a:extLst>
                <a:ext uri="{FF2B5EF4-FFF2-40B4-BE49-F238E27FC236}">
                  <a16:creationId xmlns:a16="http://schemas.microsoft.com/office/drawing/2014/main" id="{D3001D47-E8A2-3847-DA37-94EA01341514}"/>
                </a:ext>
              </a:extLst>
            </p:cNvPr>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6" name="椭圆 44">
              <a:extLst>
                <a:ext uri="{FF2B5EF4-FFF2-40B4-BE49-F238E27FC236}">
                  <a16:creationId xmlns:a16="http://schemas.microsoft.com/office/drawing/2014/main" id="{2D5E4DE9-FA91-C130-4B14-2DDA6CFD0C62}"/>
                </a:ext>
              </a:extLst>
            </p:cNvPr>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grpSp>
        <p:nvGrpSpPr>
          <p:cNvPr id="37" name="组合 5">
            <a:extLst>
              <a:ext uri="{FF2B5EF4-FFF2-40B4-BE49-F238E27FC236}">
                <a16:creationId xmlns:a16="http://schemas.microsoft.com/office/drawing/2014/main" id="{E2338FC4-EEBE-C1B3-9DB7-0E566E1C9D73}"/>
              </a:ext>
            </a:extLst>
          </p:cNvPr>
          <p:cNvGrpSpPr/>
          <p:nvPr/>
        </p:nvGrpSpPr>
        <p:grpSpPr>
          <a:xfrm>
            <a:off x="6604306" y="2855030"/>
            <a:ext cx="4112293" cy="3731037"/>
            <a:chOff x="4953229" y="2141272"/>
            <a:chExt cx="3084220" cy="2798278"/>
          </a:xfrm>
        </p:grpSpPr>
        <p:sp>
          <p:nvSpPr>
            <p:cNvPr id="38" name="椭圆 45">
              <a:extLst>
                <a:ext uri="{FF2B5EF4-FFF2-40B4-BE49-F238E27FC236}">
                  <a16:creationId xmlns:a16="http://schemas.microsoft.com/office/drawing/2014/main" id="{E05277AA-9642-E98B-A590-8CAF211CA92A}"/>
                </a:ext>
              </a:extLst>
            </p:cNvPr>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39" name="椭圆 46">
              <a:extLst>
                <a:ext uri="{FF2B5EF4-FFF2-40B4-BE49-F238E27FC236}">
                  <a16:creationId xmlns:a16="http://schemas.microsoft.com/office/drawing/2014/main" id="{4E55AB5A-C6EA-36DC-BD88-817D08EE9428}"/>
                </a:ext>
              </a:extLst>
            </p:cNvPr>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grpSp>
      <p:sp>
        <p:nvSpPr>
          <p:cNvPr id="40" name="矩形 19">
            <a:extLst>
              <a:ext uri="{FF2B5EF4-FFF2-40B4-BE49-F238E27FC236}">
                <a16:creationId xmlns:a16="http://schemas.microsoft.com/office/drawing/2014/main" id="{643A1765-7A04-3EC5-D895-C1509C474413}"/>
              </a:ext>
            </a:extLst>
          </p:cNvPr>
          <p:cNvSpPr/>
          <p:nvPr/>
        </p:nvSpPr>
        <p:spPr>
          <a:xfrm>
            <a:off x="6348606" y="4084476"/>
            <a:ext cx="4476329" cy="1241237"/>
          </a:xfrm>
          <a:prstGeom prst="rect">
            <a:avLst/>
          </a:prstGeom>
          <a:ln>
            <a:noFill/>
          </a:ln>
        </p:spPr>
        <p:txBody>
          <a:bodyPr wrap="square">
            <a:spAutoFit/>
          </a:bodyPr>
          <a:lstStyle/>
          <a:p>
            <a:pPr lvl="0" algn="ctr">
              <a:defRPr/>
            </a:pPr>
            <a:r>
              <a:rPr lang="en-US" altLang="zh-CN" sz="3733" b="1" dirty="0">
                <a:solidFill>
                  <a:srgbClr val="2660AD"/>
                </a:solidFill>
                <a:ea typeface="微软雅黑" panose="020B0503020204020204" pitchFamily="34" charset="-122"/>
                <a:sym typeface="+mn-lt"/>
              </a:rPr>
              <a:t>2H26 Index and Stock Targets</a:t>
            </a:r>
          </a:p>
        </p:txBody>
      </p:sp>
      <p:sp>
        <p:nvSpPr>
          <p:cNvPr id="42" name="矩形 21">
            <a:extLst>
              <a:ext uri="{FF2B5EF4-FFF2-40B4-BE49-F238E27FC236}">
                <a16:creationId xmlns:a16="http://schemas.microsoft.com/office/drawing/2014/main" id="{A58D0659-AB16-3D8D-CE84-8DB962634E89}"/>
              </a:ext>
            </a:extLst>
          </p:cNvPr>
          <p:cNvSpPr/>
          <p:nvPr/>
        </p:nvSpPr>
        <p:spPr>
          <a:xfrm rot="13500000">
            <a:off x="4263885" y="3800097"/>
            <a:ext cx="1789457" cy="1789460"/>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微软雅黑" panose="020B0503020204020204" pitchFamily="34" charset="-122"/>
              <a:ea typeface="微软雅黑" panose="020B0503020204020204" pitchFamily="34" charset="-122"/>
              <a:sym typeface="+mn-lt"/>
            </a:endParaRPr>
          </a:p>
        </p:txBody>
      </p:sp>
      <p:sp>
        <p:nvSpPr>
          <p:cNvPr id="43" name="矩形 22">
            <a:extLst>
              <a:ext uri="{FF2B5EF4-FFF2-40B4-BE49-F238E27FC236}">
                <a16:creationId xmlns:a16="http://schemas.microsoft.com/office/drawing/2014/main" id="{29DFCC87-45A6-7033-54A3-47BC95362DEF}"/>
              </a:ext>
            </a:extLst>
          </p:cNvPr>
          <p:cNvSpPr/>
          <p:nvPr/>
        </p:nvSpPr>
        <p:spPr>
          <a:xfrm>
            <a:off x="4488709" y="4044381"/>
            <a:ext cx="1146468" cy="1077218"/>
          </a:xfrm>
          <a:prstGeom prst="rect">
            <a:avLst/>
          </a:prstGeom>
        </p:spPr>
        <p:txBody>
          <a:bodyPr wrap="none">
            <a:spAutoFit/>
          </a:bodyPr>
          <a:lstStyle/>
          <a:p>
            <a:pPr defTabSz="1219170">
              <a:defRPr/>
            </a:pPr>
            <a:r>
              <a:rPr lang="en-US" altLang="zh-CN" sz="6400" dirty="0">
                <a:solidFill>
                  <a:prstClr val="white"/>
                </a:solidFill>
                <a:latin typeface="微软雅黑" panose="020B0503020204020204" pitchFamily="34" charset="-122"/>
                <a:ea typeface="微软雅黑" panose="020B0503020204020204" pitchFamily="34" charset="-122"/>
                <a:sym typeface="+mn-lt"/>
              </a:rPr>
              <a:t>07</a:t>
            </a:r>
            <a:endParaRPr lang="zh-CN" altLang="en-US" sz="6400" dirty="0">
              <a:solidFill>
                <a:prstClr val="white"/>
              </a:solidFill>
              <a:latin typeface="微软雅黑" panose="020B0503020204020204" pitchFamily="34" charset="-122"/>
              <a:ea typeface="微软雅黑" panose="020B0503020204020204" pitchFamily="34" charset="-122"/>
              <a:sym typeface="+mn-lt"/>
            </a:endParaRPr>
          </a:p>
        </p:txBody>
      </p:sp>
      <p:sp>
        <p:nvSpPr>
          <p:cNvPr id="3" name="Slide Number Placeholder 2">
            <a:extLst>
              <a:ext uri="{FF2B5EF4-FFF2-40B4-BE49-F238E27FC236}">
                <a16:creationId xmlns:a16="http://schemas.microsoft.com/office/drawing/2014/main" id="{47356277-E727-A05B-6290-CFA8064EA386}"/>
              </a:ext>
            </a:extLst>
          </p:cNvPr>
          <p:cNvSpPr>
            <a:spLocks noGrp="1"/>
          </p:cNvSpPr>
          <p:nvPr>
            <p:ph type="sldNum" sz="quarter" idx="4"/>
          </p:nvPr>
        </p:nvSpPr>
        <p:spPr>
          <a:xfrm>
            <a:off x="15614261" y="8743433"/>
            <a:ext cx="439212" cy="369332"/>
          </a:xfrm>
          <a:prstGeom prst="rect">
            <a:avLst/>
          </a:prstGeom>
        </p:spPr>
        <p:txBody>
          <a:bodyPr/>
          <a:lstStyle>
            <a:defPPr>
              <a:defRPr lang="en-US"/>
            </a:defPPr>
            <a:lvl1pPr marL="0" algn="r" defTabSz="1219170" rtl="0" eaLnBrk="1" latinLnBrk="0" hangingPunct="1">
              <a:defRPr sz="2400" kern="1200">
                <a:solidFill>
                  <a:schemeClr val="bg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defRPr/>
            </a:pPr>
            <a:fld id="{CC7D48C0-AA79-46F3-BF6F-F82B468F2D98}" type="slidenum">
              <a:rPr lang="en-US" sz="1333">
                <a:solidFill>
                  <a:prstClr val="white"/>
                </a:solidFill>
                <a:latin typeface="Calibri"/>
                <a:ea typeface="Microsoft JhengHei"/>
              </a:rPr>
              <a:pPr>
                <a:defRPr/>
              </a:pPr>
              <a:t>29</a:t>
            </a:fld>
            <a:endParaRPr lang="en-US" sz="1333" dirty="0">
              <a:solidFill>
                <a:prstClr val="white"/>
              </a:solidFill>
              <a:latin typeface="Calibri Light"/>
              <a:ea typeface="Microsoft JhengHei"/>
            </a:endParaRPr>
          </a:p>
        </p:txBody>
      </p:sp>
    </p:spTree>
    <p:custDataLst>
      <p:tags r:id="rId1"/>
    </p:custDataLst>
    <p:extLst>
      <p:ext uri="{BB962C8B-B14F-4D97-AF65-F5344CB8AC3E}">
        <p14:creationId xmlns:p14="http://schemas.microsoft.com/office/powerpoint/2010/main" val="17953324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en-US" sz="2400" b="1" dirty="0">
                <a:solidFill>
                  <a:srgbClr val="1B2F4A"/>
                </a:solidFill>
                <a:latin typeface="Liter" pitchFamily="34" charset="0"/>
                <a:ea typeface="Liter" pitchFamily="34" charset="-122"/>
                <a:cs typeface="Liter" pitchFamily="34" charset="-120"/>
              </a:rPr>
              <a:t>Index and Stock Targets: Consensus KOSPI Range 9,200–12,500</a:t>
            </a:r>
            <a:endParaRPr lang="en-US" sz="24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graphicFrame>
        <p:nvGraphicFramePr>
          <p:cNvPr id="26" name="Table 0"/>
          <p:cNvGraphicFramePr>
            <a:graphicFrameLocks noGrp="1"/>
          </p:cNvGraphicFramePr>
          <p:nvPr>
            <p:extLst>
              <p:ext uri="{D42A27DB-BD31-4B8C-83A1-F6EECF244321}">
                <p14:modId xmlns:p14="http://schemas.microsoft.com/office/powerpoint/2010/main" val="4091210293"/>
              </p:ext>
            </p:extLst>
          </p:nvPr>
        </p:nvGraphicFramePr>
        <p:xfrm>
          <a:off x="762000" y="1079500"/>
          <a:ext cx="14732000" cy="2667000"/>
        </p:xfrm>
        <a:graphic>
          <a:graphicData uri="http://schemas.openxmlformats.org/drawingml/2006/table">
            <a:tbl>
              <a:tblPr/>
              <a:tblGrid>
                <a:gridCol w="2651760">
                  <a:extLst>
                    <a:ext uri="{9D8B030D-6E8A-4147-A177-3AD203B41FA5}">
                      <a16:colId xmlns:a16="http://schemas.microsoft.com/office/drawing/2014/main" val="20000"/>
                    </a:ext>
                  </a:extLst>
                </a:gridCol>
                <a:gridCol w="2357120">
                  <a:extLst>
                    <a:ext uri="{9D8B030D-6E8A-4147-A177-3AD203B41FA5}">
                      <a16:colId xmlns:a16="http://schemas.microsoft.com/office/drawing/2014/main" val="20001"/>
                    </a:ext>
                  </a:extLst>
                </a:gridCol>
                <a:gridCol w="2357120">
                  <a:extLst>
                    <a:ext uri="{9D8B030D-6E8A-4147-A177-3AD203B41FA5}">
                      <a16:colId xmlns:a16="http://schemas.microsoft.com/office/drawing/2014/main" val="20002"/>
                    </a:ext>
                  </a:extLst>
                </a:gridCol>
                <a:gridCol w="2357120">
                  <a:extLst>
                    <a:ext uri="{9D8B030D-6E8A-4147-A177-3AD203B41FA5}">
                      <a16:colId xmlns:a16="http://schemas.microsoft.com/office/drawing/2014/main" val="20003"/>
                    </a:ext>
                  </a:extLst>
                </a:gridCol>
                <a:gridCol w="235712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666750">
                <a:tc>
                  <a:txBody>
                    <a:bodyPr/>
                    <a:lstStyle/>
                    <a:p>
                      <a:pPr algn="ctr"/>
                      <a:r>
                        <a:rPr lang="en-US" sz="1400" b="1" dirty="0">
                          <a:solidFill>
                            <a:srgbClr val="FFFFFF"/>
                          </a:solidFill>
                          <a:latin typeface="Liter" pitchFamily="34" charset="0"/>
                          <a:ea typeface="Liter" pitchFamily="34" charset="-122"/>
                          <a:cs typeface="Liter" pitchFamily="34" charset="-120"/>
                        </a:rPr>
                        <a:t>Target</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F4A"/>
                    </a:solidFill>
                  </a:tcPr>
                </a:tc>
                <a:tc>
                  <a:txBody>
                    <a:bodyPr/>
                    <a:lstStyle/>
                    <a:p>
                      <a:pPr algn="ctr"/>
                      <a:r>
                        <a:rPr lang="en-US" sz="1400" b="1" dirty="0">
                          <a:solidFill>
                            <a:srgbClr val="FFFFFF"/>
                          </a:solidFill>
                          <a:latin typeface="Liter" pitchFamily="34" charset="0"/>
                          <a:ea typeface="Liter" pitchFamily="34" charset="-122"/>
                          <a:cs typeface="Liter" pitchFamily="34" charset="-120"/>
                        </a:rPr>
                        <a:t>Goldman Sachs</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F4A"/>
                    </a:solidFill>
                  </a:tcPr>
                </a:tc>
                <a:tc>
                  <a:txBody>
                    <a:bodyPr/>
                    <a:lstStyle/>
                    <a:p>
                      <a:pPr algn="ctr"/>
                      <a:r>
                        <a:rPr lang="en-US" sz="1400" b="1" dirty="0">
                          <a:solidFill>
                            <a:srgbClr val="FFFFFF"/>
                          </a:solidFill>
                          <a:latin typeface="Liter" pitchFamily="34" charset="0"/>
                          <a:ea typeface="Liter" pitchFamily="34" charset="-122"/>
                          <a:cs typeface="Liter" pitchFamily="34" charset="-120"/>
                        </a:rPr>
                        <a:t>J.P. Morgan</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F4A"/>
                    </a:solidFill>
                  </a:tcPr>
                </a:tc>
                <a:tc>
                  <a:txBody>
                    <a:bodyPr/>
                    <a:lstStyle/>
                    <a:p>
                      <a:pPr algn="ctr"/>
                      <a:r>
                        <a:rPr lang="en-US" sz="1400" b="1" dirty="0">
                          <a:solidFill>
                            <a:srgbClr val="FFFFFF"/>
                          </a:solidFill>
                          <a:latin typeface="Liter" pitchFamily="34" charset="0"/>
                          <a:ea typeface="Liter" pitchFamily="34" charset="-122"/>
                          <a:cs typeface="Liter" pitchFamily="34" charset="-120"/>
                        </a:rPr>
                        <a:t>UBS</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F4A"/>
                    </a:solidFill>
                  </a:tcPr>
                </a:tc>
                <a:tc>
                  <a:txBody>
                    <a:bodyPr/>
                    <a:lstStyle/>
                    <a:p>
                      <a:pPr algn="ctr"/>
                      <a:r>
                        <a:rPr lang="en-US" sz="1400" b="1" dirty="0">
                          <a:solidFill>
                            <a:srgbClr val="FFFFFF"/>
                          </a:solidFill>
                          <a:latin typeface="Liter" pitchFamily="34" charset="0"/>
                          <a:ea typeface="Liter" pitchFamily="34" charset="-122"/>
                          <a:cs typeface="Liter" pitchFamily="34" charset="-120"/>
                        </a:rPr>
                        <a:t>Current</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F4A"/>
                    </a:solidFill>
                  </a:tcPr>
                </a:tc>
                <a:tc>
                  <a:txBody>
                    <a:bodyPr/>
                    <a:lstStyle/>
                    <a:p>
                      <a:pPr algn="ctr"/>
                      <a:r>
                        <a:rPr lang="en-US" sz="1400" b="1" dirty="0">
                          <a:solidFill>
                            <a:srgbClr val="FFFFFF"/>
                          </a:solidFill>
                          <a:latin typeface="Liter" pitchFamily="34" charset="0"/>
                          <a:ea typeface="Liter" pitchFamily="34" charset="-122"/>
                          <a:cs typeface="Liter" pitchFamily="34" charset="-120"/>
                        </a:rPr>
                        <a:t>Upside</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F4A"/>
                    </a:solidFill>
                  </a:tcPr>
                </a:tc>
                <a:extLst>
                  <a:ext uri="{0D108BD9-81ED-4DB2-BD59-A6C34878D82A}">
                    <a16:rowId xmlns:a16="http://schemas.microsoft.com/office/drawing/2014/main" val="10000"/>
                  </a:ext>
                </a:extLst>
              </a:tr>
              <a:tr h="666750">
                <a:tc>
                  <a:txBody>
                    <a:bodyPr/>
                    <a:lstStyle/>
                    <a:p>
                      <a:pPr algn="ctr"/>
                      <a:r>
                        <a:rPr lang="en-US" sz="1400" b="1" dirty="0">
                          <a:solidFill>
                            <a:srgbClr val="2D3748"/>
                          </a:solidFill>
                          <a:latin typeface="Liter" pitchFamily="34" charset="0"/>
                          <a:ea typeface="Liter" pitchFamily="34" charset="-122"/>
                          <a:cs typeface="Liter" pitchFamily="34" charset="-120"/>
                        </a:rPr>
                        <a:t>KOSPI</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Liter" pitchFamily="34" charset="0"/>
                          <a:ea typeface="Liter" pitchFamily="34" charset="-122"/>
                          <a:cs typeface="Liter" pitchFamily="34" charset="-120"/>
                        </a:rPr>
                        <a:t>12,000</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Liter" pitchFamily="34" charset="0"/>
                          <a:ea typeface="Liter" pitchFamily="34" charset="-122"/>
                          <a:cs typeface="Liter" pitchFamily="34" charset="-120"/>
                        </a:rPr>
                        <a:t>12,500</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Liter" pitchFamily="34" charset="0"/>
                          <a:ea typeface="Liter" pitchFamily="34" charset="-122"/>
                          <a:cs typeface="Liter" pitchFamily="34" charset="-120"/>
                        </a:rPr>
                        <a:t>9,200</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highlight>
                            <a:srgbClr val="FFFF00"/>
                          </a:highlight>
                          <a:latin typeface="Liter" pitchFamily="34" charset="0"/>
                          <a:ea typeface="Liter" pitchFamily="34" charset="-122"/>
                          <a:cs typeface="Liter" pitchFamily="34" charset="-120"/>
                        </a:rPr>
                        <a:t>6,800</a:t>
                      </a:r>
                      <a:endParaRPr lang="en-US" sz="1400" dirty="0">
                        <a:highlight>
                          <a:srgbClr val="FFFF00"/>
                        </a:highlight>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highlight>
                            <a:srgbClr val="FFFF00"/>
                          </a:highlight>
                          <a:latin typeface="Liter" pitchFamily="34" charset="0"/>
                          <a:ea typeface="Liter" pitchFamily="34" charset="-122"/>
                          <a:cs typeface="Liter" pitchFamily="34" charset="-120"/>
                        </a:rPr>
                        <a:t>35-84%</a:t>
                      </a:r>
                      <a:endParaRPr lang="en-US" sz="1400" dirty="0">
                        <a:highlight>
                          <a:srgbClr val="FFFF00"/>
                        </a:highlight>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66750">
                <a:tc>
                  <a:txBody>
                    <a:bodyPr/>
                    <a:lstStyle/>
                    <a:p>
                      <a:pPr algn="ctr"/>
                      <a:r>
                        <a:rPr lang="en-US" sz="1400" b="1" dirty="0">
                          <a:solidFill>
                            <a:srgbClr val="2D3748"/>
                          </a:solidFill>
                          <a:latin typeface="Liter" pitchFamily="34" charset="0"/>
                          <a:ea typeface="Liter" pitchFamily="34" charset="-122"/>
                          <a:cs typeface="Liter" pitchFamily="34" charset="-120"/>
                        </a:rPr>
                        <a:t>Samsung Elec.</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8FA"/>
                    </a:solidFill>
                  </a:tcPr>
                </a:tc>
                <a:tc>
                  <a:txBody>
                    <a:bodyPr/>
                    <a:lstStyle/>
                    <a:p>
                      <a:pPr algn="ctr"/>
                      <a:r>
                        <a:rPr lang="en-US" sz="1400" dirty="0">
                          <a:solidFill>
                            <a:srgbClr val="2D3748"/>
                          </a:solidFill>
                          <a:latin typeface="Liter" pitchFamily="34" charset="0"/>
                          <a:ea typeface="Liter" pitchFamily="34" charset="-122"/>
                          <a:cs typeface="Liter" pitchFamily="34" charset="-120"/>
                        </a:rPr>
                        <a:t>480,000</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8FA"/>
                    </a:solidFill>
                  </a:tcPr>
                </a:tc>
                <a:tc>
                  <a:txBody>
                    <a:bodyPr/>
                    <a:lstStyle/>
                    <a:p>
                      <a:pPr algn="ctr"/>
                      <a:r>
                        <a:rPr lang="en-US" sz="1400" dirty="0">
                          <a:solidFill>
                            <a:srgbClr val="2D3748"/>
                          </a:solidFill>
                          <a:latin typeface="Liter" pitchFamily="34" charset="0"/>
                          <a:ea typeface="Liter" pitchFamily="34" charset="-122"/>
                          <a:cs typeface="Liter" pitchFamily="34" charset="-120"/>
                        </a:rPr>
                        <a:t>—</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8FA"/>
                    </a:solidFill>
                  </a:tcPr>
                </a:tc>
                <a:tc>
                  <a:txBody>
                    <a:bodyPr/>
                    <a:lstStyle/>
                    <a:p>
                      <a:pPr algn="ctr"/>
                      <a:r>
                        <a:rPr lang="en-US" sz="1400" b="1" dirty="0">
                          <a:solidFill>
                            <a:srgbClr val="2D3748"/>
                          </a:solidFill>
                          <a:latin typeface="Liter" pitchFamily="34" charset="0"/>
                          <a:ea typeface="Liter" pitchFamily="34" charset="-122"/>
                          <a:cs typeface="Liter" pitchFamily="34" charset="-120"/>
                        </a:rPr>
                        <a:t>550,000</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8FA"/>
                    </a:solidFill>
                  </a:tcPr>
                </a:tc>
                <a:tc>
                  <a:txBody>
                    <a:bodyPr/>
                    <a:lstStyle/>
                    <a:p>
                      <a:pPr algn="ctr"/>
                      <a:r>
                        <a:rPr lang="en-US" sz="1400" dirty="0">
                          <a:solidFill>
                            <a:srgbClr val="2D3748"/>
                          </a:solidFill>
                          <a:highlight>
                            <a:srgbClr val="FFFF00"/>
                          </a:highlight>
                          <a:latin typeface="Liter" pitchFamily="34" charset="0"/>
                          <a:ea typeface="Liter" pitchFamily="34" charset="-122"/>
                          <a:cs typeface="Liter" pitchFamily="34" charset="-120"/>
                        </a:rPr>
                        <a:t>254,500</a:t>
                      </a:r>
                      <a:endParaRPr lang="en-US" sz="1400" dirty="0">
                        <a:highlight>
                          <a:srgbClr val="FFFF00"/>
                        </a:highlight>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8FA"/>
                    </a:solidFill>
                  </a:tcPr>
                </a:tc>
                <a:tc>
                  <a:txBody>
                    <a:bodyPr/>
                    <a:lstStyle/>
                    <a:p>
                      <a:pPr algn="ctr"/>
                      <a:r>
                        <a:rPr lang="en-US" sz="1400" b="1" dirty="0">
                          <a:solidFill>
                            <a:srgbClr val="2D3748"/>
                          </a:solidFill>
                          <a:highlight>
                            <a:srgbClr val="FFFF00"/>
                          </a:highlight>
                          <a:latin typeface="Liter" pitchFamily="34" charset="0"/>
                          <a:ea typeface="Liter" pitchFamily="34" charset="-122"/>
                          <a:cs typeface="Liter" pitchFamily="34" charset="-120"/>
                        </a:rPr>
                        <a:t>89-116%</a:t>
                      </a:r>
                      <a:endParaRPr lang="en-US" sz="1400" dirty="0">
                        <a:highlight>
                          <a:srgbClr val="FFFF00"/>
                        </a:highlight>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666750">
                <a:tc>
                  <a:txBody>
                    <a:bodyPr/>
                    <a:lstStyle/>
                    <a:p>
                      <a:pPr algn="ctr"/>
                      <a:r>
                        <a:rPr lang="en-US" sz="1400" b="1" dirty="0">
                          <a:solidFill>
                            <a:srgbClr val="2D3748"/>
                          </a:solidFill>
                          <a:latin typeface="Liter" pitchFamily="34" charset="0"/>
                          <a:ea typeface="Liter" pitchFamily="34" charset="-122"/>
                          <a:cs typeface="Liter" pitchFamily="34" charset="-120"/>
                        </a:rPr>
                        <a:t>SK Hynix</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Liter" pitchFamily="34" charset="0"/>
                          <a:ea typeface="Liter" pitchFamily="34" charset="-122"/>
                          <a:cs typeface="Liter" pitchFamily="34" charset="-120"/>
                        </a:rPr>
                        <a:t>3,500,000</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Liter" pitchFamily="34" charset="0"/>
                          <a:ea typeface="Liter" pitchFamily="34" charset="-122"/>
                          <a:cs typeface="Liter" pitchFamily="34" charset="-120"/>
                        </a:rPr>
                        <a:t>—</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Liter" pitchFamily="34" charset="0"/>
                          <a:ea typeface="Liter" pitchFamily="34" charset="-122"/>
                          <a:cs typeface="Liter" pitchFamily="34" charset="-120"/>
                        </a:rPr>
                        <a:t>3,200,000</a:t>
                      </a:r>
                      <a:endParaRPr lang="en-US" sz="1400" dirty="0">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highlight>
                            <a:srgbClr val="FFFF00"/>
                          </a:highlight>
                          <a:latin typeface="Liter" pitchFamily="34" charset="0"/>
                          <a:ea typeface="Liter" pitchFamily="34" charset="-122"/>
                          <a:cs typeface="Liter" pitchFamily="34" charset="-120"/>
                        </a:rPr>
                        <a:t>1,845,000</a:t>
                      </a:r>
                      <a:endParaRPr lang="en-US" sz="1400" dirty="0">
                        <a:highlight>
                          <a:srgbClr val="FFFF00"/>
                        </a:highlight>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highlight>
                            <a:srgbClr val="FFFF00"/>
                          </a:highlight>
                          <a:latin typeface="Liter" pitchFamily="34" charset="0"/>
                          <a:ea typeface="Liter" pitchFamily="34" charset="-122"/>
                          <a:cs typeface="Liter" pitchFamily="34" charset="-120"/>
                        </a:rPr>
                        <a:t>73-90%</a:t>
                      </a:r>
                      <a:endParaRPr lang="en-US" sz="1400" dirty="0">
                        <a:highlight>
                          <a:srgbClr val="FFFF00"/>
                        </a:highlight>
                        <a:latin typeface="Liter" charset="0"/>
                        <a:ea typeface="Liter" charset="0"/>
                        <a:cs typeface="Liter"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762000" y="4000500"/>
            <a:ext cx="4699000" cy="2159000"/>
          </a:xfrm>
          <a:prstGeom prst="rect">
            <a:avLst/>
          </a:prstGeom>
          <a:solidFill>
            <a:srgbClr val="F7F8FA"/>
          </a:solidFill>
          <a:ln/>
        </p:spPr>
        <p:txBody>
          <a:bodyPr/>
          <a:lstStyle/>
          <a:p>
            <a:endParaRPr lang="en-US"/>
          </a:p>
        </p:txBody>
      </p:sp>
      <p:sp>
        <p:nvSpPr>
          <p:cNvPr id="7" name="Shape 4"/>
          <p:cNvSpPr/>
          <p:nvPr/>
        </p:nvSpPr>
        <p:spPr>
          <a:xfrm>
            <a:off x="762000" y="4000500"/>
            <a:ext cx="4699000" cy="50800"/>
          </a:xfrm>
          <a:prstGeom prst="rect">
            <a:avLst/>
          </a:prstGeom>
          <a:solidFill>
            <a:srgbClr val="C4963A"/>
          </a:solidFill>
          <a:ln/>
        </p:spPr>
        <p:txBody>
          <a:bodyPr/>
          <a:lstStyle/>
          <a:p>
            <a:endParaRPr lang="en-US"/>
          </a:p>
        </p:txBody>
      </p:sp>
      <p:sp>
        <p:nvSpPr>
          <p:cNvPr id="8" name="Text 5"/>
          <p:cNvSpPr/>
          <p:nvPr/>
        </p:nvSpPr>
        <p:spPr>
          <a:xfrm>
            <a:off x="1016000" y="4152900"/>
            <a:ext cx="4191000" cy="279400"/>
          </a:xfrm>
          <a:prstGeom prst="rect">
            <a:avLst/>
          </a:prstGeom>
          <a:noFill/>
          <a:ln/>
        </p:spPr>
        <p:txBody>
          <a:bodyPr wrap="none" lIns="0" tIns="0" rIns="0" bIns="0" rtlCol="0" anchor="t"/>
          <a:lstStyle/>
          <a:p>
            <a:pPr algn="l">
              <a:lnSpc>
                <a:spcPct val="120000"/>
              </a:lnSpc>
            </a:pPr>
            <a:r>
              <a:rPr lang="en-US" sz="1500" b="1" dirty="0">
                <a:solidFill>
                  <a:srgbClr val="1B2F4A"/>
                </a:solidFill>
                <a:latin typeface="Liter" pitchFamily="34" charset="0"/>
                <a:ea typeface="Liter" pitchFamily="34" charset="-122"/>
                <a:cs typeface="Liter" pitchFamily="34" charset="-120"/>
              </a:rPr>
              <a:t>Goldman Sachs</a:t>
            </a:r>
            <a:endParaRPr lang="en-US" sz="1500" dirty="0"/>
          </a:p>
        </p:txBody>
      </p:sp>
      <p:sp>
        <p:nvSpPr>
          <p:cNvPr id="9" name="Text 6"/>
          <p:cNvSpPr/>
          <p:nvPr/>
        </p:nvSpPr>
        <p:spPr>
          <a:xfrm>
            <a:off x="1016000" y="4483100"/>
            <a:ext cx="4191000" cy="1524000"/>
          </a:xfrm>
          <a:prstGeom prst="rect">
            <a:avLst/>
          </a:prstGeom>
          <a:noFill/>
          <a:ln/>
        </p:spPr>
        <p:txBody>
          <a:bodyPr wrap="square" lIns="0" tIns="0" rIns="0" bIns="0" rtlCol="0" anchor="t"/>
          <a:lstStyle/>
          <a:p>
            <a:pPr algn="l">
              <a:lnSpc>
                <a:spcPct val="150000"/>
              </a:lnSpc>
            </a:pPr>
            <a:r>
              <a:rPr lang="en-US" sz="1400" dirty="0">
                <a:solidFill>
                  <a:srgbClr val="2D3748"/>
                </a:solidFill>
                <a:latin typeface="Liter" pitchFamily="34" charset="0"/>
                <a:ea typeface="Liter" pitchFamily="34" charset="-122"/>
                <a:cs typeface="Liter" pitchFamily="34" charset="-120"/>
              </a:rPr>
              <a:t>KOSPI target raised to </a:t>
            </a:r>
            <a:r>
              <a:rPr lang="en-US" sz="1400" b="1" dirty="0">
                <a:solidFill>
                  <a:srgbClr val="2D3748"/>
                </a:solidFill>
                <a:latin typeface="Liter" pitchFamily="34" charset="0"/>
                <a:ea typeface="Liter" pitchFamily="34" charset="-122"/>
                <a:cs typeface="Liter" pitchFamily="34" charset="-120"/>
              </a:rPr>
              <a:t>12,000</a:t>
            </a:r>
            <a:r>
              <a:rPr lang="en-US" sz="1400" dirty="0">
                <a:solidFill>
                  <a:srgbClr val="2D3748"/>
                </a:solidFill>
                <a:latin typeface="Liter" pitchFamily="34" charset="0"/>
                <a:ea typeface="Liter" pitchFamily="34" charset="-122"/>
                <a:cs typeface="Liter" pitchFamily="34" charset="-120"/>
              </a:rPr>
              <a:t> in early June (from 9,000). Constructive on Korea — raised target on strong earnings momentum and still-depressed valuations.</a:t>
            </a:r>
            <a:endParaRPr lang="en-US" sz="1400" dirty="0"/>
          </a:p>
        </p:txBody>
      </p:sp>
      <p:sp>
        <p:nvSpPr>
          <p:cNvPr id="10" name="Shape 7"/>
          <p:cNvSpPr/>
          <p:nvPr/>
        </p:nvSpPr>
        <p:spPr>
          <a:xfrm>
            <a:off x="5778500" y="4000500"/>
            <a:ext cx="4699000" cy="2159000"/>
          </a:xfrm>
          <a:prstGeom prst="rect">
            <a:avLst/>
          </a:prstGeom>
          <a:solidFill>
            <a:srgbClr val="F7F8FA"/>
          </a:solidFill>
          <a:ln/>
        </p:spPr>
        <p:txBody>
          <a:bodyPr/>
          <a:lstStyle/>
          <a:p>
            <a:endParaRPr lang="en-US"/>
          </a:p>
        </p:txBody>
      </p:sp>
      <p:sp>
        <p:nvSpPr>
          <p:cNvPr id="11" name="Shape 8"/>
          <p:cNvSpPr/>
          <p:nvPr/>
        </p:nvSpPr>
        <p:spPr>
          <a:xfrm>
            <a:off x="5778500" y="4000500"/>
            <a:ext cx="4699000" cy="50800"/>
          </a:xfrm>
          <a:prstGeom prst="rect">
            <a:avLst/>
          </a:prstGeom>
          <a:solidFill>
            <a:srgbClr val="C4963A"/>
          </a:solidFill>
          <a:ln/>
        </p:spPr>
        <p:txBody>
          <a:bodyPr/>
          <a:lstStyle/>
          <a:p>
            <a:endParaRPr lang="en-US"/>
          </a:p>
        </p:txBody>
      </p:sp>
      <p:sp>
        <p:nvSpPr>
          <p:cNvPr id="12" name="Text 9"/>
          <p:cNvSpPr/>
          <p:nvPr/>
        </p:nvSpPr>
        <p:spPr>
          <a:xfrm>
            <a:off x="6032500" y="4152900"/>
            <a:ext cx="4191000" cy="279400"/>
          </a:xfrm>
          <a:prstGeom prst="rect">
            <a:avLst/>
          </a:prstGeom>
          <a:noFill/>
          <a:ln/>
        </p:spPr>
        <p:txBody>
          <a:bodyPr wrap="none" lIns="0" tIns="0" rIns="0" bIns="0" rtlCol="0" anchor="t"/>
          <a:lstStyle/>
          <a:p>
            <a:pPr algn="l">
              <a:lnSpc>
                <a:spcPct val="120000"/>
              </a:lnSpc>
            </a:pPr>
            <a:r>
              <a:rPr lang="en-US" sz="1500" b="1" dirty="0">
                <a:solidFill>
                  <a:srgbClr val="1B2F4A"/>
                </a:solidFill>
                <a:latin typeface="Liter" pitchFamily="34" charset="0"/>
                <a:ea typeface="Liter" pitchFamily="34" charset="-122"/>
                <a:cs typeface="Liter" pitchFamily="34" charset="-120"/>
              </a:rPr>
              <a:t>J.P. Morgan</a:t>
            </a:r>
            <a:endParaRPr lang="en-US" sz="1500" dirty="0"/>
          </a:p>
        </p:txBody>
      </p:sp>
      <p:sp>
        <p:nvSpPr>
          <p:cNvPr id="13" name="Text 10"/>
          <p:cNvSpPr/>
          <p:nvPr/>
        </p:nvSpPr>
        <p:spPr>
          <a:xfrm>
            <a:off x="6032500" y="4483100"/>
            <a:ext cx="4191000" cy="1524000"/>
          </a:xfrm>
          <a:prstGeom prst="rect">
            <a:avLst/>
          </a:prstGeom>
          <a:noFill/>
          <a:ln/>
        </p:spPr>
        <p:txBody>
          <a:bodyPr wrap="square" lIns="0" tIns="0" rIns="0" bIns="0" rtlCol="0" anchor="t"/>
          <a:lstStyle/>
          <a:p>
            <a:pPr algn="l">
              <a:lnSpc>
                <a:spcPct val="150000"/>
              </a:lnSpc>
            </a:pPr>
            <a:r>
              <a:rPr lang="en-US" sz="1400" dirty="0">
                <a:solidFill>
                  <a:srgbClr val="2D3748"/>
                </a:solidFill>
                <a:latin typeface="Liter" pitchFamily="34" charset="0"/>
                <a:ea typeface="Liter" pitchFamily="34" charset="-122"/>
                <a:cs typeface="Liter" pitchFamily="34" charset="-120"/>
              </a:rPr>
              <a:t>KOSPI target </a:t>
            </a:r>
            <a:r>
              <a:rPr lang="en-US" sz="1400" b="1" dirty="0">
                <a:solidFill>
                  <a:srgbClr val="2D3748"/>
                </a:solidFill>
                <a:latin typeface="Liter" pitchFamily="34" charset="0"/>
                <a:ea typeface="Liter" pitchFamily="34" charset="-122"/>
                <a:cs typeface="Liter" pitchFamily="34" charset="-120"/>
              </a:rPr>
              <a:t>12,500</a:t>
            </a:r>
            <a:r>
              <a:rPr lang="en-US" sz="1400" dirty="0">
                <a:solidFill>
                  <a:srgbClr val="2D3748"/>
                </a:solidFill>
                <a:latin typeface="Liter" pitchFamily="34" charset="0"/>
                <a:ea typeface="Liter" pitchFamily="34" charset="-122"/>
                <a:cs typeface="Liter" pitchFamily="34" charset="-120"/>
              </a:rPr>
              <a:t> — keeps Korea as its </a:t>
            </a:r>
            <a:r>
              <a:rPr lang="en-US" sz="1400" b="1" dirty="0">
                <a:solidFill>
                  <a:srgbClr val="2D3748"/>
                </a:solidFill>
                <a:latin typeface="Liter" pitchFamily="34" charset="0"/>
                <a:ea typeface="Liter" pitchFamily="34" charset="-122"/>
                <a:cs typeface="Liter" pitchFamily="34" charset="-120"/>
              </a:rPr>
              <a:t>top market in Asia</a:t>
            </a:r>
            <a:r>
              <a:rPr lang="en-US" sz="1400" dirty="0">
                <a:solidFill>
                  <a:srgbClr val="2D3748"/>
                </a:solidFill>
                <a:latin typeface="Liter" pitchFamily="34" charset="0"/>
                <a:ea typeface="Liter" pitchFamily="34" charset="-122"/>
                <a:cs typeface="Liter" pitchFamily="34" charset="-120"/>
              </a:rPr>
              <a:t>. Most bullish among major brokers on the back of memory upcycle and earnings momentum.</a:t>
            </a:r>
            <a:endParaRPr lang="en-US" sz="1400" dirty="0"/>
          </a:p>
        </p:txBody>
      </p:sp>
      <p:sp>
        <p:nvSpPr>
          <p:cNvPr id="14" name="Shape 11"/>
          <p:cNvSpPr/>
          <p:nvPr/>
        </p:nvSpPr>
        <p:spPr>
          <a:xfrm>
            <a:off x="10795000" y="4000500"/>
            <a:ext cx="4699000" cy="2159000"/>
          </a:xfrm>
          <a:prstGeom prst="rect">
            <a:avLst/>
          </a:prstGeom>
          <a:solidFill>
            <a:srgbClr val="F7F8FA"/>
          </a:solidFill>
          <a:ln/>
        </p:spPr>
        <p:txBody>
          <a:bodyPr/>
          <a:lstStyle/>
          <a:p>
            <a:endParaRPr lang="en-US"/>
          </a:p>
        </p:txBody>
      </p:sp>
      <p:sp>
        <p:nvSpPr>
          <p:cNvPr id="15" name="Shape 12"/>
          <p:cNvSpPr/>
          <p:nvPr/>
        </p:nvSpPr>
        <p:spPr>
          <a:xfrm>
            <a:off x="10795000" y="4000500"/>
            <a:ext cx="4699000" cy="50800"/>
          </a:xfrm>
          <a:prstGeom prst="rect">
            <a:avLst/>
          </a:prstGeom>
          <a:solidFill>
            <a:srgbClr val="C4963A"/>
          </a:solidFill>
          <a:ln/>
        </p:spPr>
        <p:txBody>
          <a:bodyPr/>
          <a:lstStyle/>
          <a:p>
            <a:endParaRPr lang="en-US"/>
          </a:p>
        </p:txBody>
      </p:sp>
      <p:sp>
        <p:nvSpPr>
          <p:cNvPr id="16" name="Text 13"/>
          <p:cNvSpPr/>
          <p:nvPr/>
        </p:nvSpPr>
        <p:spPr>
          <a:xfrm>
            <a:off x="11049000" y="4152900"/>
            <a:ext cx="4191000" cy="279400"/>
          </a:xfrm>
          <a:prstGeom prst="rect">
            <a:avLst/>
          </a:prstGeom>
          <a:noFill/>
          <a:ln/>
        </p:spPr>
        <p:txBody>
          <a:bodyPr wrap="none" lIns="0" tIns="0" rIns="0" bIns="0" rtlCol="0" anchor="t"/>
          <a:lstStyle/>
          <a:p>
            <a:pPr algn="l">
              <a:lnSpc>
                <a:spcPct val="120000"/>
              </a:lnSpc>
            </a:pPr>
            <a:r>
              <a:rPr lang="en-US" sz="1500" b="1" dirty="0">
                <a:solidFill>
                  <a:srgbClr val="1B2F4A"/>
                </a:solidFill>
                <a:latin typeface="Liter" pitchFamily="34" charset="0"/>
                <a:ea typeface="Liter" pitchFamily="34" charset="-122"/>
                <a:cs typeface="Liter" pitchFamily="34" charset="-120"/>
              </a:rPr>
              <a:t>UBS</a:t>
            </a:r>
            <a:endParaRPr lang="en-US" sz="1500" dirty="0"/>
          </a:p>
        </p:txBody>
      </p:sp>
      <p:sp>
        <p:nvSpPr>
          <p:cNvPr id="17" name="Text 14"/>
          <p:cNvSpPr/>
          <p:nvPr/>
        </p:nvSpPr>
        <p:spPr>
          <a:xfrm>
            <a:off x="11049000" y="4483100"/>
            <a:ext cx="4191000" cy="1524000"/>
          </a:xfrm>
          <a:prstGeom prst="rect">
            <a:avLst/>
          </a:prstGeom>
          <a:noFill/>
          <a:ln/>
        </p:spPr>
        <p:txBody>
          <a:bodyPr wrap="square" lIns="0" tIns="0" rIns="0" bIns="0" rtlCol="0" anchor="t"/>
          <a:lstStyle/>
          <a:p>
            <a:pPr algn="l">
              <a:lnSpc>
                <a:spcPct val="150000"/>
              </a:lnSpc>
            </a:pPr>
            <a:r>
              <a:rPr lang="en-US" sz="1400" dirty="0">
                <a:solidFill>
                  <a:srgbClr val="2D3748"/>
                </a:solidFill>
                <a:latin typeface="Liter" pitchFamily="34" charset="0"/>
                <a:ea typeface="Liter" pitchFamily="34" charset="-122"/>
                <a:cs typeface="Liter" pitchFamily="34" charset="-120"/>
              </a:rPr>
              <a:t>KOSPI target </a:t>
            </a:r>
            <a:r>
              <a:rPr lang="en-US" sz="1400" b="1" dirty="0">
                <a:solidFill>
                  <a:srgbClr val="2D3748"/>
                </a:solidFill>
                <a:latin typeface="Liter" pitchFamily="34" charset="0"/>
                <a:ea typeface="Liter" pitchFamily="34" charset="-122"/>
                <a:cs typeface="Liter" pitchFamily="34" charset="-120"/>
              </a:rPr>
              <a:t>9,200</a:t>
            </a:r>
            <a:r>
              <a:rPr lang="en-US" sz="1400" dirty="0">
                <a:solidFill>
                  <a:srgbClr val="2D3748"/>
                </a:solidFill>
                <a:latin typeface="Liter" pitchFamily="34" charset="0"/>
                <a:ea typeface="Liter" pitchFamily="34" charset="-122"/>
                <a:cs typeface="Liter" pitchFamily="34" charset="-120"/>
              </a:rPr>
              <a:t>. Warns of possibility of near-term consolidation following the strong rally and lingering rate concerns, but remains constructive medium-term.</a:t>
            </a:r>
            <a:endParaRPr lang="en-US" sz="1400" dirty="0"/>
          </a:p>
        </p:txBody>
      </p:sp>
      <p:sp>
        <p:nvSpPr>
          <p:cNvPr id="18" name="Shape 15"/>
          <p:cNvSpPr/>
          <p:nvPr/>
        </p:nvSpPr>
        <p:spPr>
          <a:xfrm>
            <a:off x="762000" y="6413500"/>
            <a:ext cx="14732000" cy="1778000"/>
          </a:xfrm>
          <a:prstGeom prst="rect">
            <a:avLst/>
          </a:prstGeom>
          <a:solidFill>
            <a:srgbClr val="1B2F4A"/>
          </a:solidFill>
          <a:ln/>
        </p:spPr>
        <p:txBody>
          <a:bodyPr/>
          <a:lstStyle/>
          <a:p>
            <a:endParaRPr lang="en-US"/>
          </a:p>
        </p:txBody>
      </p:sp>
      <p:sp>
        <p:nvSpPr>
          <p:cNvPr id="19" name="Text 16"/>
          <p:cNvSpPr/>
          <p:nvPr/>
        </p:nvSpPr>
        <p:spPr>
          <a:xfrm>
            <a:off x="1270000" y="6480540"/>
            <a:ext cx="13716000" cy="1651000"/>
          </a:xfrm>
          <a:prstGeom prst="rect">
            <a:avLst/>
          </a:prstGeom>
          <a:noFill/>
          <a:ln/>
        </p:spPr>
        <p:txBody>
          <a:bodyPr wrap="square" lIns="0" tIns="0" rIns="0" bIns="0" rtlCol="0" anchor="t"/>
          <a:lstStyle/>
          <a:p>
            <a:pPr algn="l">
              <a:lnSpc>
                <a:spcPct val="160000"/>
              </a:lnSpc>
            </a:pPr>
            <a:r>
              <a:rPr lang="en-US" sz="1600" b="1" dirty="0">
                <a:solidFill>
                  <a:srgbClr val="FFFFFF"/>
                </a:solidFill>
                <a:latin typeface="Liter" pitchFamily="34" charset="0"/>
                <a:ea typeface="Liter" pitchFamily="34" charset="-122"/>
                <a:cs typeface="Liter" pitchFamily="34" charset="-120"/>
              </a:rPr>
              <a:t>KOSPI is trading around the 7,600 level</a:t>
            </a:r>
            <a:r>
              <a:rPr lang="en-US" sz="1600" dirty="0">
                <a:solidFill>
                  <a:srgbClr val="FFFFFF"/>
                </a:solidFill>
                <a:latin typeface="Liter" pitchFamily="34" charset="0"/>
                <a:ea typeface="Liter" pitchFamily="34" charset="-122"/>
                <a:cs typeface="Liter" pitchFamily="34" charset="-120"/>
              </a:rPr>
              <a:t> (as of early July 2026). Sell-side sentiment remains </a:t>
            </a:r>
            <a:r>
              <a:rPr lang="en-US" sz="1600" b="1" u="sng" dirty="0">
                <a:solidFill>
                  <a:srgbClr val="FFFFFF"/>
                </a:solidFill>
                <a:latin typeface="Liter" pitchFamily="34" charset="0"/>
                <a:ea typeface="Liter" pitchFamily="34" charset="-122"/>
                <a:cs typeface="Liter" pitchFamily="34" charset="-120"/>
              </a:rPr>
              <a:t>firmly constructive</a:t>
            </a:r>
            <a:r>
              <a:rPr lang="en-US" sz="1600" dirty="0">
                <a:solidFill>
                  <a:srgbClr val="FFFFFF"/>
                </a:solidFill>
                <a:latin typeface="Liter" pitchFamily="34" charset="0"/>
                <a:ea typeface="Liter" pitchFamily="34" charset="-122"/>
                <a:cs typeface="Liter" pitchFamily="34" charset="-120"/>
              </a:rPr>
              <a:t>, with most base-case target scenarios ranging from </a:t>
            </a:r>
            <a:r>
              <a:rPr lang="en-US" sz="1600" b="1" dirty="0">
                <a:solidFill>
                  <a:srgbClr val="FFFFFF"/>
                </a:solidFill>
                <a:latin typeface="Liter" pitchFamily="34" charset="0"/>
                <a:ea typeface="Liter" pitchFamily="34" charset="-122"/>
                <a:cs typeface="Liter" pitchFamily="34" charset="-120"/>
              </a:rPr>
              <a:t>9,000 to 12,500</a:t>
            </a:r>
            <a:r>
              <a:rPr lang="en-US" sz="1600" dirty="0">
                <a:solidFill>
                  <a:srgbClr val="FFFFFF"/>
                </a:solidFill>
                <a:latin typeface="Liter" pitchFamily="34" charset="0"/>
                <a:ea typeface="Liter" pitchFamily="34" charset="-122"/>
                <a:cs typeface="Liter" pitchFamily="34" charset="-120"/>
              </a:rPr>
              <a:t> — implying </a:t>
            </a:r>
            <a:r>
              <a:rPr lang="en-US" sz="1600" b="1" dirty="0">
                <a:solidFill>
                  <a:srgbClr val="FFFFFF"/>
                </a:solidFill>
                <a:latin typeface="Liter" pitchFamily="34" charset="0"/>
                <a:ea typeface="Liter" pitchFamily="34" charset="-122"/>
                <a:cs typeface="Liter" pitchFamily="34" charset="-120"/>
              </a:rPr>
              <a:t>35-84% upside</a:t>
            </a:r>
            <a:r>
              <a:rPr lang="en-US" sz="1600" dirty="0">
                <a:solidFill>
                  <a:srgbClr val="FFFFFF"/>
                </a:solidFill>
                <a:latin typeface="Liter" pitchFamily="34" charset="0"/>
                <a:ea typeface="Liter" pitchFamily="34" charset="-122"/>
                <a:cs typeface="Liter" pitchFamily="34" charset="-120"/>
              </a:rPr>
              <a:t> from current levels.</a:t>
            </a:r>
            <a:endParaRPr lang="en-US" sz="1600" dirty="0"/>
          </a:p>
          <a:p>
            <a:pPr algn="l">
              <a:lnSpc>
                <a:spcPct val="160000"/>
              </a:lnSpc>
              <a:spcBef>
                <a:spcPts val="600"/>
              </a:spcBef>
            </a:pPr>
            <a:r>
              <a:rPr lang="en-US" sz="1600" dirty="0">
                <a:solidFill>
                  <a:srgbClr val="FFFFFF"/>
                </a:solidFill>
                <a:latin typeface="Liter" pitchFamily="34" charset="0"/>
                <a:ea typeface="Liter" pitchFamily="34" charset="-122"/>
                <a:cs typeface="Liter" pitchFamily="34" charset="-120"/>
              </a:rPr>
              <a:t>The wide target range reflects differing views on the durability of the memory cycle, the pace of governance reform, and the macro outlook — but all major brokers agree the </a:t>
            </a:r>
            <a:r>
              <a:rPr lang="en-US" sz="1600" b="1" u="sng" dirty="0">
                <a:solidFill>
                  <a:srgbClr val="FFFFFF"/>
                </a:solidFill>
                <a:latin typeface="Liter" pitchFamily="34" charset="0"/>
                <a:ea typeface="Liter" pitchFamily="34" charset="-122"/>
                <a:cs typeface="Liter" pitchFamily="34" charset="-120"/>
              </a:rPr>
              <a:t>risk-reward remains favorable</a:t>
            </a:r>
            <a:r>
              <a:rPr lang="en-US" sz="1600" dirty="0">
                <a:solidFill>
                  <a:srgbClr val="FFFFFF"/>
                </a:solidFill>
                <a:latin typeface="Liter" pitchFamily="34" charset="0"/>
                <a:ea typeface="Liter" pitchFamily="34" charset="-122"/>
                <a:cs typeface="Liter" pitchFamily="34" charset="-120"/>
              </a:rPr>
              <a:t>.</a:t>
            </a:r>
            <a:endParaRPr lang="en-US" sz="1600" dirty="0"/>
          </a:p>
        </p:txBody>
      </p:sp>
      <p:sp>
        <p:nvSpPr>
          <p:cNvPr id="20" name="Text 17"/>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Goldman Sachs, UBS, J.P. Morgan. As of 13/07/2026 noon.</a:t>
            </a:r>
            <a:endParaRPr lang="en-US" sz="1200" dirty="0"/>
          </a:p>
        </p:txBody>
      </p:sp>
      <p:sp>
        <p:nvSpPr>
          <p:cNvPr id="21" name="Text 18"/>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30</a:t>
            </a:r>
            <a:endParaRPr lang="en-US" sz="1200"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en-US" sz="2200" b="1" dirty="0">
                <a:solidFill>
                  <a:srgbClr val="1B2F4A"/>
                </a:solidFill>
                <a:latin typeface="Liter" pitchFamily="34" charset="0"/>
                <a:ea typeface="Liter" pitchFamily="34" charset="-122"/>
                <a:cs typeface="Liter" pitchFamily="34" charset="-120"/>
              </a:rPr>
              <a:t>Why Sell-Side Remains Constructive: EPS Upgrades and Still-Depressed Valuations</a:t>
            </a:r>
            <a:endParaRPr lang="en-US" sz="22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079500"/>
            <a:ext cx="7239000" cy="3556000"/>
          </a:xfrm>
          <a:prstGeom prst="rect">
            <a:avLst/>
          </a:prstGeom>
          <a:solidFill>
            <a:srgbClr val="F7F8FA"/>
          </a:solidFill>
          <a:ln/>
        </p:spPr>
        <p:txBody>
          <a:bodyPr/>
          <a:lstStyle/>
          <a:p>
            <a:endParaRPr lang="en-US"/>
          </a:p>
        </p:txBody>
      </p:sp>
      <p:sp>
        <p:nvSpPr>
          <p:cNvPr id="6" name="Shape 4"/>
          <p:cNvSpPr/>
          <p:nvPr/>
        </p:nvSpPr>
        <p:spPr>
          <a:xfrm>
            <a:off x="762000" y="1079500"/>
            <a:ext cx="7239000" cy="50800"/>
          </a:xfrm>
          <a:prstGeom prst="rect">
            <a:avLst/>
          </a:prstGeom>
          <a:solidFill>
            <a:srgbClr val="C4963A"/>
          </a:solidFill>
          <a:ln/>
        </p:spPr>
        <p:txBody>
          <a:bodyPr/>
          <a:lstStyle/>
          <a:p>
            <a:endParaRPr lang="en-US"/>
          </a:p>
        </p:txBody>
      </p:sp>
      <p:sp>
        <p:nvSpPr>
          <p:cNvPr id="7" name="Text 5"/>
          <p:cNvSpPr/>
          <p:nvPr/>
        </p:nvSpPr>
        <p:spPr>
          <a:xfrm>
            <a:off x="1016000" y="1231900"/>
            <a:ext cx="3810000" cy="304800"/>
          </a:xfrm>
          <a:prstGeom prst="rect">
            <a:avLst/>
          </a:prstGeom>
          <a:noFill/>
          <a:ln/>
        </p:spPr>
        <p:txBody>
          <a:bodyPr wrap="none" lIns="0" tIns="0" rIns="0" bIns="0" rtlCol="0" anchor="t"/>
          <a:lstStyle/>
          <a:p>
            <a:pPr algn="l">
              <a:lnSpc>
                <a:spcPct val="120000"/>
              </a:lnSpc>
            </a:pPr>
            <a:r>
              <a:rPr lang="en-US" sz="1800" b="1" dirty="0">
                <a:solidFill>
                  <a:srgbClr val="1B2F4A"/>
                </a:solidFill>
                <a:latin typeface="Liter" pitchFamily="34" charset="0"/>
                <a:ea typeface="Liter" pitchFamily="34" charset="-122"/>
                <a:cs typeface="Liter" pitchFamily="34" charset="-120"/>
              </a:rPr>
              <a:t>Samsung Electronics</a:t>
            </a:r>
            <a:endParaRPr lang="en-US" sz="1800" dirty="0"/>
          </a:p>
        </p:txBody>
      </p:sp>
      <p:sp>
        <p:nvSpPr>
          <p:cNvPr id="8" name="Text 6"/>
          <p:cNvSpPr/>
          <p:nvPr/>
        </p:nvSpPr>
        <p:spPr>
          <a:xfrm>
            <a:off x="1016000" y="1600200"/>
            <a:ext cx="6731000" cy="2870200"/>
          </a:xfrm>
          <a:prstGeom prst="rect">
            <a:avLst/>
          </a:prstGeom>
          <a:noFill/>
          <a:ln/>
        </p:spPr>
        <p:txBody>
          <a:bodyPr wrap="square" lIns="0" tIns="0" rIns="0" bIns="0" rtlCol="0" anchor="t"/>
          <a:lstStyle/>
          <a:p>
            <a:pPr algn="l">
              <a:lnSpc>
                <a:spcPct val="160000"/>
              </a:lnSpc>
            </a:pPr>
            <a:r>
              <a:rPr lang="en-US" sz="1500" b="1" dirty="0">
                <a:solidFill>
                  <a:srgbClr val="2D3748"/>
                </a:solidFill>
                <a:latin typeface="Liter" pitchFamily="34" charset="0"/>
                <a:ea typeface="Liter" pitchFamily="34" charset="-122"/>
                <a:cs typeface="Liter" pitchFamily="34" charset="-120"/>
              </a:rPr>
              <a:t>UBS forecasts:</a:t>
            </a:r>
            <a:endParaRPr lang="en-US" sz="1500" dirty="0"/>
          </a:p>
          <a:p>
            <a:pPr marL="238125" indent="-238125">
              <a:lnSpc>
                <a:spcPct val="160000"/>
              </a:lnSpc>
              <a:spcBef>
                <a:spcPts val="10"/>
              </a:spcBef>
              <a:buSzPct val="100000"/>
              <a:buChar char="•"/>
            </a:pPr>
            <a:r>
              <a:rPr lang="en-US" sz="1500" dirty="0">
                <a:solidFill>
                  <a:srgbClr val="2D3748"/>
                </a:solidFill>
                <a:latin typeface="Liter" pitchFamily="34" charset="0"/>
                <a:ea typeface="Liter" pitchFamily="34" charset="-122"/>
                <a:cs typeface="Liter" pitchFamily="34" charset="-120"/>
              </a:rPr>
              <a:t>Operating profit: </a:t>
            </a:r>
            <a:r>
              <a:rPr lang="en-US" sz="1500" b="1" dirty="0">
                <a:solidFill>
                  <a:srgbClr val="2D3748"/>
                </a:solidFill>
                <a:latin typeface="Liter" pitchFamily="34" charset="0"/>
                <a:ea typeface="Liter" pitchFamily="34" charset="-122"/>
                <a:cs typeface="Liter" pitchFamily="34" charset="-120"/>
              </a:rPr>
              <a:t>KRW 441tn</a:t>
            </a:r>
            <a:r>
              <a:rPr lang="en-US" sz="1500" dirty="0">
                <a:solidFill>
                  <a:srgbClr val="2D3748"/>
                </a:solidFill>
                <a:latin typeface="Liter" pitchFamily="34" charset="0"/>
                <a:ea typeface="Liter" pitchFamily="34" charset="-122"/>
                <a:cs typeface="Liter" pitchFamily="34" charset="-120"/>
              </a:rPr>
              <a:t> (2026E) → </a:t>
            </a:r>
            <a:r>
              <a:rPr lang="en-US" sz="1500" b="1" dirty="0">
                <a:solidFill>
                  <a:srgbClr val="2D3748"/>
                </a:solidFill>
                <a:latin typeface="Liter" pitchFamily="34" charset="0"/>
                <a:ea typeface="Liter" pitchFamily="34" charset="-122"/>
                <a:cs typeface="Liter" pitchFamily="34" charset="-120"/>
              </a:rPr>
              <a:t>KRW 837tn</a:t>
            </a:r>
            <a:r>
              <a:rPr lang="en-US" sz="1500" dirty="0">
                <a:solidFill>
                  <a:srgbClr val="2D3748"/>
                </a:solidFill>
                <a:latin typeface="Liter" pitchFamily="34" charset="0"/>
                <a:ea typeface="Liter" pitchFamily="34" charset="-122"/>
                <a:cs typeface="Liter" pitchFamily="34" charset="-120"/>
              </a:rPr>
              <a:t> (2027E) / </a:t>
            </a:r>
            <a:r>
              <a:rPr lang="en-US" sz="1500" b="1" dirty="0">
                <a:solidFill>
                  <a:srgbClr val="2D3748"/>
                </a:solidFill>
                <a:latin typeface="Liter" pitchFamily="34" charset="0"/>
                <a:ea typeface="Liter" pitchFamily="34" charset="-122"/>
                <a:cs typeface="Liter" pitchFamily="34" charset="-120"/>
              </a:rPr>
              <a:t>+90%YoY</a:t>
            </a:r>
            <a:endParaRPr lang="en-US" sz="1500" b="1" dirty="0"/>
          </a:p>
          <a:p>
            <a:pPr marL="238125" indent="-238125">
              <a:lnSpc>
                <a:spcPct val="160000"/>
              </a:lnSpc>
              <a:spcBef>
                <a:spcPts val="10"/>
              </a:spcBef>
              <a:buSzPct val="100000"/>
              <a:buChar char="•"/>
            </a:pPr>
            <a:r>
              <a:rPr lang="en-US" sz="1500" dirty="0">
                <a:solidFill>
                  <a:srgbClr val="2D3748"/>
                </a:solidFill>
                <a:latin typeface="Liter" pitchFamily="34" charset="0"/>
                <a:ea typeface="Liter" pitchFamily="34" charset="-122"/>
                <a:cs typeface="Liter" pitchFamily="34" charset="-120"/>
              </a:rPr>
              <a:t>Free cash flow: </a:t>
            </a:r>
            <a:r>
              <a:rPr lang="en-US" sz="1500" b="1" dirty="0">
                <a:solidFill>
                  <a:srgbClr val="2D3748"/>
                </a:solidFill>
                <a:latin typeface="Liter" pitchFamily="34" charset="0"/>
                <a:ea typeface="Liter" pitchFamily="34" charset="-122"/>
                <a:cs typeface="Liter" pitchFamily="34" charset="-120"/>
              </a:rPr>
              <a:t>KRW 226tn</a:t>
            </a:r>
            <a:r>
              <a:rPr lang="en-US" sz="1500" dirty="0">
                <a:solidFill>
                  <a:srgbClr val="2D3748"/>
                </a:solidFill>
                <a:latin typeface="Liter" pitchFamily="34" charset="0"/>
                <a:ea typeface="Liter" pitchFamily="34" charset="-122"/>
                <a:cs typeface="Liter" pitchFamily="34" charset="-120"/>
              </a:rPr>
              <a:t> → </a:t>
            </a:r>
            <a:r>
              <a:rPr lang="en-US" sz="1500" b="1" dirty="0">
                <a:solidFill>
                  <a:srgbClr val="2D3748"/>
                </a:solidFill>
                <a:latin typeface="Liter" pitchFamily="34" charset="0"/>
                <a:ea typeface="Liter" pitchFamily="34" charset="-122"/>
                <a:cs typeface="Liter" pitchFamily="34" charset="-120"/>
              </a:rPr>
              <a:t>KRW 565tn</a:t>
            </a:r>
            <a:r>
              <a:rPr lang="en-US" sz="1500" dirty="0">
                <a:solidFill>
                  <a:srgbClr val="2D3748"/>
                </a:solidFill>
                <a:latin typeface="Liter" pitchFamily="34" charset="0"/>
                <a:ea typeface="Liter" pitchFamily="34" charset="-122"/>
                <a:cs typeface="Liter" pitchFamily="34" charset="-120"/>
              </a:rPr>
              <a:t> / </a:t>
            </a:r>
            <a:r>
              <a:rPr lang="en-US" sz="1500" b="1" dirty="0">
                <a:solidFill>
                  <a:srgbClr val="2D3748"/>
                </a:solidFill>
                <a:latin typeface="Liter" pitchFamily="34" charset="0"/>
                <a:ea typeface="Liter" pitchFamily="34" charset="-122"/>
                <a:cs typeface="Liter" pitchFamily="34" charset="-120"/>
              </a:rPr>
              <a:t>+150% YoY</a:t>
            </a:r>
            <a:endParaRPr lang="en-US" sz="1500" b="1" dirty="0"/>
          </a:p>
          <a:p>
            <a:pPr marL="238125" indent="-238125">
              <a:lnSpc>
                <a:spcPct val="160000"/>
              </a:lnSpc>
              <a:spcBef>
                <a:spcPts val="10"/>
              </a:spcBef>
              <a:buSzPct val="100000"/>
              <a:buChar char="•"/>
            </a:pPr>
            <a:r>
              <a:rPr lang="en-US" sz="1500" dirty="0">
                <a:solidFill>
                  <a:srgbClr val="2D3748"/>
                </a:solidFill>
                <a:latin typeface="Liter" pitchFamily="34" charset="0"/>
                <a:ea typeface="Liter" pitchFamily="34" charset="-122"/>
                <a:cs typeface="Liter" pitchFamily="34" charset="-120"/>
              </a:rPr>
              <a:t>Additional shareholder returns: </a:t>
            </a:r>
            <a:r>
              <a:rPr lang="en-US" sz="1500" b="1" dirty="0">
                <a:solidFill>
                  <a:srgbClr val="2D3748"/>
                </a:solidFill>
                <a:latin typeface="Liter" pitchFamily="34" charset="0"/>
                <a:ea typeface="Liter" pitchFamily="34" charset="-122"/>
                <a:cs typeface="Liter" pitchFamily="34" charset="-120"/>
              </a:rPr>
              <a:t>KRW 104tn</a:t>
            </a:r>
            <a:r>
              <a:rPr lang="en-US" sz="1500" dirty="0">
                <a:solidFill>
                  <a:srgbClr val="2D3748"/>
                </a:solidFill>
                <a:latin typeface="Liter" pitchFamily="34" charset="0"/>
                <a:ea typeface="Liter" pitchFamily="34" charset="-122"/>
                <a:cs typeface="Liter" pitchFamily="34" charset="-120"/>
              </a:rPr>
              <a:t> → </a:t>
            </a:r>
            <a:r>
              <a:rPr lang="en-US" sz="1500" b="1" dirty="0">
                <a:solidFill>
                  <a:srgbClr val="2D3748"/>
                </a:solidFill>
                <a:latin typeface="Liter" pitchFamily="34" charset="0"/>
                <a:ea typeface="Liter" pitchFamily="34" charset="-122"/>
                <a:cs typeface="Liter" pitchFamily="34" charset="-120"/>
              </a:rPr>
              <a:t>KRW 273tn</a:t>
            </a:r>
            <a:r>
              <a:rPr lang="en-US" sz="1500" dirty="0">
                <a:solidFill>
                  <a:srgbClr val="2D3748"/>
                </a:solidFill>
                <a:latin typeface="Liter" pitchFamily="34" charset="0"/>
                <a:ea typeface="Liter" pitchFamily="34" charset="-122"/>
                <a:cs typeface="Liter" pitchFamily="34" charset="-120"/>
              </a:rPr>
              <a:t> / </a:t>
            </a:r>
            <a:r>
              <a:rPr lang="en-US" sz="1500" b="1" dirty="0">
                <a:solidFill>
                  <a:srgbClr val="2D3748"/>
                </a:solidFill>
                <a:latin typeface="Liter" pitchFamily="34" charset="0"/>
                <a:ea typeface="Liter" pitchFamily="34" charset="-122"/>
                <a:cs typeface="Liter" pitchFamily="34" charset="-120"/>
              </a:rPr>
              <a:t>+163% YoY</a:t>
            </a:r>
            <a:endParaRPr lang="en-US" sz="1500" b="1" dirty="0"/>
          </a:p>
          <a:p>
            <a:pPr algn="l">
              <a:lnSpc>
                <a:spcPct val="160000"/>
              </a:lnSpc>
              <a:spcBef>
                <a:spcPts val="600"/>
              </a:spcBef>
            </a:pPr>
            <a:r>
              <a:rPr lang="en-US" sz="1500" b="1" dirty="0">
                <a:solidFill>
                  <a:srgbClr val="2D3748"/>
                </a:solidFill>
                <a:latin typeface="Liter" pitchFamily="34" charset="0"/>
                <a:ea typeface="Liter" pitchFamily="34" charset="-122"/>
                <a:cs typeface="Liter" pitchFamily="34" charset="-120"/>
              </a:rPr>
              <a:t>Goldman Sachs:</a:t>
            </a:r>
            <a:r>
              <a:rPr lang="en-US" sz="1500" dirty="0">
                <a:solidFill>
                  <a:srgbClr val="2D3748"/>
                </a:solidFill>
                <a:latin typeface="Liter" pitchFamily="34" charset="0"/>
                <a:ea typeface="Liter" pitchFamily="34" charset="-122"/>
                <a:cs typeface="Liter" pitchFamily="34" charset="-120"/>
              </a:rPr>
              <a:t> Stronger DRAM and NAND </a:t>
            </a:r>
            <a:r>
              <a:rPr lang="en-US" sz="1500" b="1" dirty="0">
                <a:solidFill>
                  <a:srgbClr val="2D3748"/>
                </a:solidFill>
                <a:latin typeface="Liter" pitchFamily="34" charset="0"/>
                <a:ea typeface="Liter" pitchFamily="34" charset="-122"/>
                <a:cs typeface="Liter" pitchFamily="34" charset="-120"/>
              </a:rPr>
              <a:t>pricing</a:t>
            </a:r>
            <a:r>
              <a:rPr lang="en-US" sz="1500" dirty="0">
                <a:solidFill>
                  <a:srgbClr val="2D3748"/>
                </a:solidFill>
                <a:latin typeface="Liter" pitchFamily="34" charset="0"/>
                <a:ea typeface="Liter" pitchFamily="34" charset="-122"/>
                <a:cs typeface="Liter" pitchFamily="34" charset="-120"/>
              </a:rPr>
              <a:t>, accelerating </a:t>
            </a:r>
            <a:r>
              <a:rPr lang="en-US" sz="1500" b="1" dirty="0">
                <a:solidFill>
                  <a:srgbClr val="2D3748"/>
                </a:solidFill>
                <a:latin typeface="Liter" pitchFamily="34" charset="0"/>
                <a:ea typeface="Liter" pitchFamily="34" charset="-122"/>
                <a:cs typeface="Liter" pitchFamily="34" charset="-120"/>
              </a:rPr>
              <a:t>HBM shipment momentum</a:t>
            </a:r>
            <a:r>
              <a:rPr lang="en-US" sz="1500" dirty="0">
                <a:solidFill>
                  <a:srgbClr val="2D3748"/>
                </a:solidFill>
                <a:latin typeface="Liter" pitchFamily="34" charset="0"/>
                <a:ea typeface="Liter" pitchFamily="34" charset="-122"/>
                <a:cs typeface="Liter" pitchFamily="34" charset="-120"/>
              </a:rPr>
              <a:t>, </a:t>
            </a:r>
            <a:r>
              <a:rPr lang="en-US" sz="1500" b="1" dirty="0">
                <a:solidFill>
                  <a:srgbClr val="2D3748"/>
                </a:solidFill>
                <a:latin typeface="Liter" pitchFamily="34" charset="0"/>
                <a:ea typeface="Liter" pitchFamily="34" charset="-122"/>
                <a:cs typeface="Liter" pitchFamily="34" charset="-120"/>
              </a:rPr>
              <a:t>improving export </a:t>
            </a:r>
            <a:r>
              <a:rPr lang="en-US" sz="1500" dirty="0">
                <a:solidFill>
                  <a:srgbClr val="2D3748"/>
                </a:solidFill>
                <a:latin typeface="Liter" pitchFamily="34" charset="0"/>
                <a:ea typeface="Liter" pitchFamily="34" charset="-122"/>
                <a:cs typeface="Liter" pitchFamily="34" charset="-120"/>
              </a:rPr>
              <a:t>indicators point to continued earnings upside.</a:t>
            </a:r>
            <a:endParaRPr lang="en-US" sz="1500" dirty="0"/>
          </a:p>
        </p:txBody>
      </p:sp>
      <p:sp>
        <p:nvSpPr>
          <p:cNvPr id="9" name="Shape 7"/>
          <p:cNvSpPr/>
          <p:nvPr/>
        </p:nvSpPr>
        <p:spPr>
          <a:xfrm>
            <a:off x="8255000" y="1079500"/>
            <a:ext cx="7239000" cy="3556000"/>
          </a:xfrm>
          <a:prstGeom prst="rect">
            <a:avLst/>
          </a:prstGeom>
          <a:solidFill>
            <a:srgbClr val="F7F8FA"/>
          </a:solidFill>
          <a:ln/>
        </p:spPr>
        <p:txBody>
          <a:bodyPr/>
          <a:lstStyle/>
          <a:p>
            <a:endParaRPr lang="en-US"/>
          </a:p>
        </p:txBody>
      </p:sp>
      <p:sp>
        <p:nvSpPr>
          <p:cNvPr id="10" name="Shape 8"/>
          <p:cNvSpPr/>
          <p:nvPr/>
        </p:nvSpPr>
        <p:spPr>
          <a:xfrm>
            <a:off x="8255000" y="1079500"/>
            <a:ext cx="7239000" cy="50800"/>
          </a:xfrm>
          <a:prstGeom prst="rect">
            <a:avLst/>
          </a:prstGeom>
          <a:solidFill>
            <a:srgbClr val="C4963A"/>
          </a:solidFill>
          <a:ln/>
        </p:spPr>
        <p:txBody>
          <a:bodyPr/>
          <a:lstStyle/>
          <a:p>
            <a:endParaRPr lang="en-US"/>
          </a:p>
        </p:txBody>
      </p:sp>
      <p:sp>
        <p:nvSpPr>
          <p:cNvPr id="11" name="Text 9"/>
          <p:cNvSpPr/>
          <p:nvPr/>
        </p:nvSpPr>
        <p:spPr>
          <a:xfrm>
            <a:off x="8509000" y="1231900"/>
            <a:ext cx="3810000" cy="304800"/>
          </a:xfrm>
          <a:prstGeom prst="rect">
            <a:avLst/>
          </a:prstGeom>
          <a:noFill/>
          <a:ln/>
        </p:spPr>
        <p:txBody>
          <a:bodyPr wrap="none" lIns="0" tIns="0" rIns="0" bIns="0" rtlCol="0" anchor="t"/>
          <a:lstStyle/>
          <a:p>
            <a:pPr algn="l">
              <a:lnSpc>
                <a:spcPct val="120000"/>
              </a:lnSpc>
            </a:pPr>
            <a:r>
              <a:rPr lang="en-US" sz="1800" b="1" dirty="0">
                <a:solidFill>
                  <a:srgbClr val="1B2F4A"/>
                </a:solidFill>
                <a:latin typeface="Liter" pitchFamily="34" charset="0"/>
                <a:ea typeface="Liter" pitchFamily="34" charset="-122"/>
                <a:cs typeface="Liter" pitchFamily="34" charset="-120"/>
              </a:rPr>
              <a:t>SK Hynix</a:t>
            </a:r>
            <a:endParaRPr lang="en-US" sz="1800" dirty="0"/>
          </a:p>
        </p:txBody>
      </p:sp>
      <p:sp>
        <p:nvSpPr>
          <p:cNvPr id="12" name="Text 10"/>
          <p:cNvSpPr/>
          <p:nvPr/>
        </p:nvSpPr>
        <p:spPr>
          <a:xfrm>
            <a:off x="8509000" y="1600200"/>
            <a:ext cx="6731000" cy="2870200"/>
          </a:xfrm>
          <a:prstGeom prst="rect">
            <a:avLst/>
          </a:prstGeom>
          <a:noFill/>
          <a:ln/>
        </p:spPr>
        <p:txBody>
          <a:bodyPr wrap="square" lIns="0" tIns="0" rIns="0" bIns="0" rtlCol="0" anchor="t"/>
          <a:lstStyle/>
          <a:p>
            <a:pPr algn="l">
              <a:lnSpc>
                <a:spcPct val="160000"/>
              </a:lnSpc>
            </a:pPr>
            <a:r>
              <a:rPr lang="en-US" sz="1500" b="1" dirty="0">
                <a:solidFill>
                  <a:srgbClr val="2D3748"/>
                </a:solidFill>
                <a:latin typeface="Liter" pitchFamily="34" charset="0"/>
                <a:ea typeface="Liter" pitchFamily="34" charset="-122"/>
                <a:cs typeface="Liter" pitchFamily="34" charset="-120"/>
              </a:rPr>
              <a:t>UBS forecasts:</a:t>
            </a:r>
            <a:endParaRPr lang="en-US" sz="1500" dirty="0"/>
          </a:p>
          <a:p>
            <a:pPr marL="238125" indent="-238125">
              <a:lnSpc>
                <a:spcPct val="160000"/>
              </a:lnSpc>
              <a:spcBef>
                <a:spcPts val="10"/>
              </a:spcBef>
              <a:buSzPct val="100000"/>
              <a:buChar char="•"/>
            </a:pPr>
            <a:r>
              <a:rPr lang="en-US" sz="1500" dirty="0">
                <a:solidFill>
                  <a:srgbClr val="2D3748"/>
                </a:solidFill>
                <a:latin typeface="Liter" pitchFamily="34" charset="0"/>
                <a:ea typeface="Liter" pitchFamily="34" charset="-122"/>
                <a:cs typeface="Liter" pitchFamily="34" charset="-120"/>
              </a:rPr>
              <a:t>Operating profit: </a:t>
            </a:r>
            <a:r>
              <a:rPr lang="en-US" sz="1500" b="1" dirty="0">
                <a:solidFill>
                  <a:srgbClr val="2D3748"/>
                </a:solidFill>
                <a:latin typeface="Liter" pitchFamily="34" charset="0"/>
                <a:ea typeface="Liter" pitchFamily="34" charset="-122"/>
                <a:cs typeface="Liter" pitchFamily="34" charset="-120"/>
              </a:rPr>
              <a:t>KRW 327tn</a:t>
            </a:r>
            <a:r>
              <a:rPr lang="en-US" sz="1500" dirty="0">
                <a:solidFill>
                  <a:srgbClr val="2D3748"/>
                </a:solidFill>
                <a:latin typeface="Liter" pitchFamily="34" charset="0"/>
                <a:ea typeface="Liter" pitchFamily="34" charset="-122"/>
                <a:cs typeface="Liter" pitchFamily="34" charset="-120"/>
              </a:rPr>
              <a:t> (2026E) → </a:t>
            </a:r>
            <a:r>
              <a:rPr lang="en-US" sz="1500" b="1" dirty="0">
                <a:solidFill>
                  <a:srgbClr val="2D3748"/>
                </a:solidFill>
                <a:latin typeface="Liter" pitchFamily="34" charset="0"/>
                <a:ea typeface="Liter" pitchFamily="34" charset="-122"/>
                <a:cs typeface="Liter" pitchFamily="34" charset="-120"/>
              </a:rPr>
              <a:t>KRW 623tn</a:t>
            </a:r>
            <a:r>
              <a:rPr lang="en-US" sz="1500" dirty="0">
                <a:solidFill>
                  <a:srgbClr val="2D3748"/>
                </a:solidFill>
                <a:latin typeface="Liter" pitchFamily="34" charset="0"/>
                <a:ea typeface="Liter" pitchFamily="34" charset="-122"/>
                <a:cs typeface="Liter" pitchFamily="34" charset="-120"/>
              </a:rPr>
              <a:t> (2027E) / </a:t>
            </a:r>
            <a:r>
              <a:rPr lang="en-US" sz="1500" b="1" dirty="0">
                <a:solidFill>
                  <a:srgbClr val="2D3748"/>
                </a:solidFill>
                <a:latin typeface="Liter" pitchFamily="34" charset="0"/>
                <a:ea typeface="Liter" pitchFamily="34" charset="-122"/>
                <a:cs typeface="Liter" pitchFamily="34" charset="-120"/>
              </a:rPr>
              <a:t>+91% YoY</a:t>
            </a:r>
            <a:endParaRPr lang="en-US" sz="1500" b="1" dirty="0"/>
          </a:p>
          <a:p>
            <a:pPr marL="238125" indent="-238125" algn="l">
              <a:lnSpc>
                <a:spcPct val="160000"/>
              </a:lnSpc>
              <a:spcBef>
                <a:spcPts val="10"/>
              </a:spcBef>
              <a:buSzPct val="100000"/>
              <a:buChar char="•"/>
            </a:pPr>
            <a:r>
              <a:rPr lang="en-US" sz="1500" dirty="0">
                <a:solidFill>
                  <a:srgbClr val="2D3748"/>
                </a:solidFill>
                <a:latin typeface="Liter" pitchFamily="34" charset="0"/>
                <a:ea typeface="Liter" pitchFamily="34" charset="-122"/>
                <a:cs typeface="Liter" pitchFamily="34" charset="-120"/>
              </a:rPr>
              <a:t>Price does not fully reflect structurally higher DRAM profitability, stronger FCF, and enhanced shareholder returns</a:t>
            </a:r>
            <a:endParaRPr lang="en-US" sz="1500" dirty="0"/>
          </a:p>
          <a:p>
            <a:pPr marL="238125" indent="-238125" algn="l">
              <a:lnSpc>
                <a:spcPct val="160000"/>
              </a:lnSpc>
              <a:spcBef>
                <a:spcPts val="10"/>
              </a:spcBef>
              <a:buSzPct val="100000"/>
              <a:buChar char="•"/>
            </a:pPr>
            <a:r>
              <a:rPr lang="en-US" sz="1500" b="1" dirty="0">
                <a:solidFill>
                  <a:srgbClr val="2D3748"/>
                </a:solidFill>
                <a:latin typeface="Liter" pitchFamily="34" charset="0"/>
                <a:ea typeface="Liter" pitchFamily="34" charset="-122"/>
                <a:cs typeface="Liter" pitchFamily="34" charset="-120"/>
              </a:rPr>
              <a:t>HBM leadership:</a:t>
            </a:r>
            <a:r>
              <a:rPr lang="en-US" sz="1500" dirty="0">
                <a:solidFill>
                  <a:srgbClr val="2D3748"/>
                </a:solidFill>
                <a:latin typeface="Liter" pitchFamily="34" charset="0"/>
                <a:ea typeface="Liter" pitchFamily="34" charset="-122"/>
                <a:cs typeface="Liter" pitchFamily="34" charset="-120"/>
              </a:rPr>
              <a:t> Expected to maintain </a:t>
            </a:r>
            <a:r>
              <a:rPr lang="en-US" sz="1500" b="1" dirty="0">
                <a:solidFill>
                  <a:srgbClr val="2D3748"/>
                </a:solidFill>
                <a:latin typeface="Liter" pitchFamily="34" charset="0"/>
                <a:ea typeface="Liter" pitchFamily="34" charset="-122"/>
                <a:cs typeface="Liter" pitchFamily="34" charset="-120"/>
              </a:rPr>
              <a:t>50% of industry bit shipments</a:t>
            </a:r>
            <a:r>
              <a:rPr lang="en-US" sz="1500" dirty="0">
                <a:solidFill>
                  <a:srgbClr val="2D3748"/>
                </a:solidFill>
                <a:latin typeface="Liter" pitchFamily="34" charset="0"/>
                <a:ea typeface="Liter" pitchFamily="34" charset="-122"/>
                <a:cs typeface="Liter" pitchFamily="34" charset="-120"/>
              </a:rPr>
              <a:t> in 2026. HBM to rise from 15% of DRAM revenue (2026) to </a:t>
            </a:r>
            <a:r>
              <a:rPr lang="en-US" sz="1500" b="1" dirty="0">
                <a:solidFill>
                  <a:srgbClr val="2D3748"/>
                </a:solidFill>
                <a:latin typeface="Liter" pitchFamily="34" charset="0"/>
                <a:ea typeface="Liter" pitchFamily="34" charset="-122"/>
                <a:cs typeface="Liter" pitchFamily="34" charset="-120"/>
              </a:rPr>
              <a:t>58% by 2030</a:t>
            </a:r>
            <a:r>
              <a:rPr lang="en-US" sz="1500" dirty="0">
                <a:solidFill>
                  <a:srgbClr val="2D3748"/>
                </a:solidFill>
                <a:latin typeface="Liter" pitchFamily="34" charset="0"/>
                <a:ea typeface="Liter" pitchFamily="34" charset="-122"/>
                <a:cs typeface="Liter" pitchFamily="34" charset="-120"/>
              </a:rPr>
              <a:t>.</a:t>
            </a:r>
            <a:endParaRPr lang="en-US" sz="1500" dirty="0"/>
          </a:p>
        </p:txBody>
      </p:sp>
      <p:sp>
        <p:nvSpPr>
          <p:cNvPr id="13" name="Shape 11"/>
          <p:cNvSpPr/>
          <p:nvPr/>
        </p:nvSpPr>
        <p:spPr>
          <a:xfrm>
            <a:off x="762000" y="4953000"/>
            <a:ext cx="14732000" cy="3530600"/>
          </a:xfrm>
          <a:prstGeom prst="rect">
            <a:avLst/>
          </a:prstGeom>
          <a:solidFill>
            <a:srgbClr val="1B2F4A"/>
          </a:solidFill>
          <a:ln/>
        </p:spPr>
        <p:txBody>
          <a:bodyPr/>
          <a:lstStyle/>
          <a:p>
            <a:endParaRPr lang="en-US"/>
          </a:p>
        </p:txBody>
      </p:sp>
      <p:sp>
        <p:nvSpPr>
          <p:cNvPr id="14" name="Text 12"/>
          <p:cNvSpPr/>
          <p:nvPr/>
        </p:nvSpPr>
        <p:spPr>
          <a:xfrm>
            <a:off x="1270000" y="5130800"/>
            <a:ext cx="7620000" cy="330200"/>
          </a:xfrm>
          <a:prstGeom prst="rect">
            <a:avLst/>
          </a:prstGeom>
          <a:noFill/>
          <a:ln/>
        </p:spPr>
        <p:txBody>
          <a:bodyPr wrap="none" lIns="0" tIns="0" rIns="0" bIns="0" rtlCol="0" anchor="t"/>
          <a:lstStyle/>
          <a:p>
            <a:pPr algn="l">
              <a:lnSpc>
                <a:spcPct val="120000"/>
              </a:lnSpc>
            </a:pPr>
            <a:r>
              <a:rPr lang="en-US" sz="1800" b="1" dirty="0">
                <a:solidFill>
                  <a:srgbClr val="C4963A"/>
                </a:solidFill>
                <a:latin typeface="Liter" pitchFamily="34" charset="0"/>
                <a:ea typeface="Liter" pitchFamily="34" charset="-122"/>
                <a:cs typeface="Liter" pitchFamily="34" charset="-120"/>
              </a:rPr>
              <a:t>Core Constructive Thesis – Recap of Positive Catalysts</a:t>
            </a:r>
            <a:endParaRPr lang="en-US" sz="1800" dirty="0"/>
          </a:p>
        </p:txBody>
      </p:sp>
      <p:sp>
        <p:nvSpPr>
          <p:cNvPr id="15" name="Text 13"/>
          <p:cNvSpPr/>
          <p:nvPr/>
        </p:nvSpPr>
        <p:spPr>
          <a:xfrm>
            <a:off x="1270000" y="5537200"/>
            <a:ext cx="13716000" cy="2946400"/>
          </a:xfrm>
          <a:prstGeom prst="rect">
            <a:avLst/>
          </a:prstGeom>
          <a:noFill/>
          <a:ln/>
        </p:spPr>
        <p:txBody>
          <a:bodyPr wrap="square" lIns="0" tIns="0" rIns="0" bIns="0" rtlCol="0" anchor="t"/>
          <a:lstStyle/>
          <a:p>
            <a:pPr marL="254000" indent="-254000" algn="l">
              <a:lnSpc>
                <a:spcPct val="170000"/>
              </a:lnSpc>
              <a:spcBef>
                <a:spcPts val="10"/>
              </a:spcBef>
              <a:buSzPct val="100000"/>
              <a:buChar char="•"/>
            </a:pPr>
            <a:r>
              <a:rPr lang="en-US" sz="1600" b="1" dirty="0">
                <a:solidFill>
                  <a:srgbClr val="FFFFFF"/>
                </a:solidFill>
                <a:latin typeface="Liter" pitchFamily="34" charset="0"/>
                <a:ea typeface="Liter" pitchFamily="34" charset="-122"/>
                <a:cs typeface="Liter" pitchFamily="34" charset="-120"/>
              </a:rPr>
              <a:t>KOSPI targets underpinned by powerful EPS upgrades</a:t>
            </a:r>
            <a:r>
              <a:rPr lang="en-US" sz="1600" dirty="0">
                <a:solidFill>
                  <a:srgbClr val="FFFFFF"/>
                </a:solidFill>
                <a:latin typeface="Liter" pitchFamily="34" charset="0"/>
                <a:ea typeface="Liter" pitchFamily="34" charset="-122"/>
                <a:cs typeface="Liter" pitchFamily="34" charset="-120"/>
              </a:rPr>
              <a:t> and still-depressed valuations</a:t>
            </a:r>
            <a:endParaRPr lang="en-US" sz="1600" dirty="0"/>
          </a:p>
          <a:p>
            <a:pPr marL="254000" indent="-254000" algn="l">
              <a:lnSpc>
                <a:spcPct val="170000"/>
              </a:lnSpc>
              <a:spcBef>
                <a:spcPts val="10"/>
              </a:spcBef>
              <a:buSzPct val="100000"/>
              <a:buChar char="•"/>
            </a:pPr>
            <a:r>
              <a:rPr lang="en-US" sz="1600" b="1" dirty="0">
                <a:solidFill>
                  <a:srgbClr val="FFFFFF"/>
                </a:solidFill>
                <a:latin typeface="Liter" pitchFamily="34" charset="0"/>
                <a:ea typeface="Liter" pitchFamily="34" charset="-122"/>
                <a:cs typeface="Liter" pitchFamily="34" charset="-120"/>
              </a:rPr>
              <a:t>Memory cycle:</a:t>
            </a:r>
            <a:r>
              <a:rPr lang="en-US" sz="1600" dirty="0">
                <a:solidFill>
                  <a:srgbClr val="FFFFFF"/>
                </a:solidFill>
                <a:latin typeface="Liter" pitchFamily="34" charset="0"/>
                <a:ea typeface="Liter" pitchFamily="34" charset="-122"/>
                <a:cs typeface="Liter" pitchFamily="34" charset="-120"/>
              </a:rPr>
              <a:t> AI-driven HBM, DRAM and NAND demand, together with supply discipline, supports a potentially more durable </a:t>
            </a:r>
            <a:r>
              <a:rPr lang="en-US" sz="1600" b="1" dirty="0">
                <a:solidFill>
                  <a:srgbClr val="FFFFFF"/>
                </a:solidFill>
                <a:latin typeface="Liter" pitchFamily="34" charset="0"/>
                <a:ea typeface="Liter" pitchFamily="34" charset="-122"/>
                <a:cs typeface="Liter" pitchFamily="34" charset="-120"/>
              </a:rPr>
              <a:t>"higher-for-longer" pricing cycle</a:t>
            </a:r>
            <a:endParaRPr lang="en-US" sz="1600" dirty="0"/>
          </a:p>
          <a:p>
            <a:pPr marL="254000" indent="-254000" algn="l">
              <a:lnSpc>
                <a:spcPct val="170000"/>
              </a:lnSpc>
              <a:spcBef>
                <a:spcPts val="10"/>
              </a:spcBef>
              <a:buSzPct val="100000"/>
              <a:buChar char="•"/>
            </a:pPr>
            <a:r>
              <a:rPr lang="en-US" sz="1600" b="1" dirty="0">
                <a:solidFill>
                  <a:srgbClr val="FFFFFF"/>
                </a:solidFill>
                <a:latin typeface="Liter" pitchFamily="34" charset="0"/>
                <a:ea typeface="Liter" pitchFamily="34" charset="-122"/>
                <a:cs typeface="Liter" pitchFamily="34" charset="-120"/>
              </a:rPr>
              <a:t>Samsung and SK Hynix</a:t>
            </a:r>
            <a:r>
              <a:rPr lang="en-US" sz="1600" dirty="0">
                <a:solidFill>
                  <a:srgbClr val="FFFFFF"/>
                </a:solidFill>
                <a:latin typeface="Liter" pitchFamily="34" charset="0"/>
                <a:ea typeface="Liter" pitchFamily="34" charset="-122"/>
                <a:cs typeface="Liter" pitchFamily="34" charset="-120"/>
              </a:rPr>
              <a:t> should benefit through gradual bit-volume growth, stronger ASPs, and a shift toward higher-value products</a:t>
            </a:r>
            <a:endParaRPr lang="en-US" sz="1600" dirty="0"/>
          </a:p>
          <a:p>
            <a:pPr marL="254000" indent="-254000" algn="l">
              <a:lnSpc>
                <a:spcPct val="170000"/>
              </a:lnSpc>
              <a:spcBef>
                <a:spcPts val="10"/>
              </a:spcBef>
              <a:buSzPct val="100000"/>
              <a:buChar char="•"/>
            </a:pPr>
            <a:r>
              <a:rPr lang="en-US" sz="1600" dirty="0">
                <a:solidFill>
                  <a:srgbClr val="FFFFFF"/>
                </a:solidFill>
                <a:latin typeface="Liter" pitchFamily="34" charset="0"/>
                <a:ea typeface="Liter" pitchFamily="34" charset="-122"/>
                <a:cs typeface="Liter" pitchFamily="34" charset="-120"/>
              </a:rPr>
              <a:t>A richer product mix (more HBM, server-grade DDR5, enterprise SSDs) </a:t>
            </a:r>
            <a:r>
              <a:rPr lang="en-US" sz="1600" b="1" dirty="0">
                <a:solidFill>
                  <a:srgbClr val="FFFFFF"/>
                </a:solidFill>
                <a:latin typeface="Liter" pitchFamily="34" charset="0"/>
                <a:ea typeface="Liter" pitchFamily="34" charset="-122"/>
                <a:cs typeface="Liter" pitchFamily="34" charset="-120"/>
              </a:rPr>
              <a:t>lifts revenue and profit per wafer</a:t>
            </a:r>
            <a:r>
              <a:rPr lang="en-US" sz="1600" dirty="0">
                <a:solidFill>
                  <a:srgbClr val="FFFFFF"/>
                </a:solidFill>
                <a:latin typeface="Liter" pitchFamily="34" charset="0"/>
                <a:ea typeface="Liter" pitchFamily="34" charset="-122"/>
                <a:cs typeface="Liter" pitchFamily="34" charset="-120"/>
              </a:rPr>
              <a:t>, while broader conventional-memory tightness supports pricing of the rest of the portfolio</a:t>
            </a:r>
            <a:endParaRPr lang="en-US" sz="1600" dirty="0"/>
          </a:p>
        </p:txBody>
      </p:sp>
      <p:sp>
        <p:nvSpPr>
          <p:cNvPr id="16" name="Text 14"/>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Goldman Sachs, UBS. </a:t>
            </a:r>
            <a:endParaRPr lang="en-US" sz="1200" dirty="0"/>
          </a:p>
        </p:txBody>
      </p:sp>
      <p:sp>
        <p:nvSpPr>
          <p:cNvPr id="17" name="Text 15"/>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ea typeface="Liter" pitchFamily="34" charset="-122"/>
                <a:cs typeface="Liter" pitchFamily="34" charset="-120"/>
              </a:rPr>
              <a:t>31</a:t>
            </a:r>
            <a:endParaRPr lang="en-US" sz="1200" dirty="0"/>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279400"/>
            <a:ext cx="50800" cy="508000"/>
          </a:xfrm>
          <a:prstGeom prst="rect">
            <a:avLst/>
          </a:prstGeom>
          <a:solidFill>
            <a:srgbClr val="C4963A"/>
          </a:solidFill>
          <a:ln/>
        </p:spPr>
        <p:txBody>
          <a:bodyPr/>
          <a:lstStyle/>
          <a:p>
            <a:endParaRPr lang="en-US"/>
          </a:p>
        </p:txBody>
      </p:sp>
      <p:sp>
        <p:nvSpPr>
          <p:cNvPr id="3" name="Text 1"/>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en-US" sz="2400" b="1" dirty="0">
                <a:solidFill>
                  <a:srgbClr val="1B2F4A"/>
                </a:solidFill>
                <a:latin typeface="Liter" pitchFamily="34" charset="0"/>
                <a:ea typeface="Liter" pitchFamily="34" charset="-122"/>
                <a:cs typeface="Liter" pitchFamily="34" charset="-120"/>
              </a:rPr>
              <a:t>Sector Recommendations: Four Preferred Themes for 2H26… and Key Risks to Watch…</a:t>
            </a:r>
            <a:endParaRPr lang="en-US" sz="2400" dirty="0"/>
          </a:p>
        </p:txBody>
      </p:sp>
      <p:sp>
        <p:nvSpPr>
          <p:cNvPr id="4" name="Shape 2"/>
          <p:cNvSpPr/>
          <p:nvPr/>
        </p:nvSpPr>
        <p:spPr>
          <a:xfrm>
            <a:off x="762000" y="838200"/>
            <a:ext cx="14732000" cy="12700"/>
          </a:xfrm>
          <a:prstGeom prst="rect">
            <a:avLst/>
          </a:prstGeom>
          <a:solidFill>
            <a:srgbClr val="E2E8F0"/>
          </a:solidFill>
          <a:ln/>
        </p:spPr>
        <p:txBody>
          <a:bodyPr/>
          <a:lstStyle/>
          <a:p>
            <a:endParaRPr lang="en-US"/>
          </a:p>
        </p:txBody>
      </p:sp>
      <p:sp>
        <p:nvSpPr>
          <p:cNvPr id="5" name="Shape 3"/>
          <p:cNvSpPr/>
          <p:nvPr/>
        </p:nvSpPr>
        <p:spPr>
          <a:xfrm>
            <a:off x="762000" y="1191492"/>
            <a:ext cx="508000" cy="508000"/>
          </a:xfrm>
          <a:prstGeom prst="rect">
            <a:avLst/>
          </a:prstGeom>
          <a:solidFill>
            <a:srgbClr val="C4963A"/>
          </a:solidFill>
          <a:ln/>
        </p:spPr>
        <p:txBody>
          <a:bodyPr/>
          <a:lstStyle/>
          <a:p>
            <a:endParaRPr lang="en-US"/>
          </a:p>
        </p:txBody>
      </p:sp>
      <p:sp>
        <p:nvSpPr>
          <p:cNvPr id="6" name="Text 4"/>
          <p:cNvSpPr/>
          <p:nvPr/>
        </p:nvSpPr>
        <p:spPr>
          <a:xfrm>
            <a:off x="762000" y="1191492"/>
            <a:ext cx="508000" cy="508000"/>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Liter" pitchFamily="34" charset="0"/>
                <a:ea typeface="Liter" pitchFamily="34" charset="-122"/>
                <a:cs typeface="Liter" pitchFamily="34" charset="-120"/>
              </a:rPr>
              <a:t>1</a:t>
            </a:r>
            <a:endParaRPr lang="en-US" sz="2000" dirty="0"/>
          </a:p>
        </p:txBody>
      </p:sp>
      <p:sp>
        <p:nvSpPr>
          <p:cNvPr id="7" name="Text 5"/>
          <p:cNvSpPr/>
          <p:nvPr/>
        </p:nvSpPr>
        <p:spPr>
          <a:xfrm>
            <a:off x="1422400" y="1216892"/>
            <a:ext cx="6350000" cy="355600"/>
          </a:xfrm>
          <a:prstGeom prst="rect">
            <a:avLst/>
          </a:prstGeom>
          <a:noFill/>
          <a:ln/>
        </p:spPr>
        <p:txBody>
          <a:bodyPr wrap="none" lIns="0" tIns="0" rIns="0" bIns="0" rtlCol="0" anchor="t"/>
          <a:lstStyle/>
          <a:p>
            <a:pPr algn="l">
              <a:lnSpc>
                <a:spcPct val="120000"/>
              </a:lnSpc>
            </a:pPr>
            <a:r>
              <a:rPr lang="en-US" sz="1800" b="1" dirty="0">
                <a:solidFill>
                  <a:srgbClr val="1B2F4A"/>
                </a:solidFill>
                <a:latin typeface="Liter" pitchFamily="34" charset="0"/>
                <a:ea typeface="Liter" pitchFamily="34" charset="-122"/>
                <a:cs typeface="Liter" pitchFamily="34" charset="-120"/>
              </a:rPr>
              <a:t>Memory Leaders</a:t>
            </a:r>
            <a:endParaRPr lang="en-US" sz="1800" dirty="0"/>
          </a:p>
        </p:txBody>
      </p:sp>
      <p:sp>
        <p:nvSpPr>
          <p:cNvPr id="8" name="Text 6"/>
          <p:cNvSpPr/>
          <p:nvPr/>
        </p:nvSpPr>
        <p:spPr>
          <a:xfrm>
            <a:off x="1422400" y="1597892"/>
            <a:ext cx="6477000" cy="1676400"/>
          </a:xfrm>
          <a:prstGeom prst="rect">
            <a:avLst/>
          </a:prstGeom>
          <a:noFill/>
          <a:ln/>
        </p:spPr>
        <p:txBody>
          <a:bodyPr wrap="square" lIns="0" tIns="0" rIns="0" bIns="0" rtlCol="0" anchor="t"/>
          <a:lstStyle/>
          <a:p>
            <a:pPr algn="just">
              <a:lnSpc>
                <a:spcPct val="150000"/>
              </a:lnSpc>
            </a:pPr>
            <a:r>
              <a:rPr lang="en-US" sz="1500" dirty="0">
                <a:solidFill>
                  <a:srgbClr val="2D3748"/>
                </a:solidFill>
                <a:latin typeface="Liter" pitchFamily="34" charset="0"/>
                <a:ea typeface="Liter" pitchFamily="34" charset="-122"/>
                <a:cs typeface="Liter" pitchFamily="34" charset="-120"/>
              </a:rPr>
              <a:t>AI-led HBM demand and constrained conventional-memory supply should sustain pricing, mix and earnings upside for Memory Leaders:</a:t>
            </a:r>
          </a:p>
          <a:p>
            <a:pPr marL="285750" indent="-285750" algn="just">
              <a:lnSpc>
                <a:spcPct val="150000"/>
              </a:lnSpc>
              <a:buFont typeface="Arial" panose="020B0604020202020204" pitchFamily="34" charset="0"/>
              <a:buChar char="•"/>
            </a:pPr>
            <a:r>
              <a:rPr lang="en-US" sz="1500" b="1" dirty="0">
                <a:solidFill>
                  <a:srgbClr val="2D3748"/>
                </a:solidFill>
                <a:latin typeface="Liter" pitchFamily="34" charset="0"/>
                <a:ea typeface="Liter" pitchFamily="34" charset="-122"/>
                <a:cs typeface="Liter" pitchFamily="34" charset="-120"/>
              </a:rPr>
              <a:t>Tech / AI EPS</a:t>
            </a:r>
            <a:r>
              <a:rPr lang="en-US" sz="1500" dirty="0">
                <a:solidFill>
                  <a:srgbClr val="2D3748"/>
                </a:solidFill>
                <a:latin typeface="Liter" pitchFamily="34" charset="0"/>
                <a:ea typeface="Liter" pitchFamily="34" charset="-122"/>
                <a:cs typeface="Liter" pitchFamily="34" charset="-120"/>
              </a:rPr>
              <a:t>: +464% in 2026E; represents 60% of KOSPI market cap </a:t>
            </a:r>
          </a:p>
          <a:p>
            <a:pPr marL="285750" indent="-285750" algn="just">
              <a:lnSpc>
                <a:spcPct val="150000"/>
              </a:lnSpc>
              <a:buFont typeface="Arial" panose="020B0604020202020204" pitchFamily="34" charset="0"/>
              <a:buChar char="•"/>
            </a:pPr>
            <a:r>
              <a:rPr lang="en-US" sz="1500" b="1" dirty="0">
                <a:solidFill>
                  <a:srgbClr val="2D3748"/>
                </a:solidFill>
                <a:latin typeface="Liter" pitchFamily="34" charset="0"/>
                <a:ea typeface="Liter" pitchFamily="34" charset="-122"/>
                <a:cs typeface="Liter" pitchFamily="34" charset="-120"/>
              </a:rPr>
              <a:t>Earnings Inflection: </a:t>
            </a:r>
            <a:r>
              <a:rPr lang="en-US" sz="1500" dirty="0">
                <a:solidFill>
                  <a:srgbClr val="2D3748"/>
                </a:solidFill>
                <a:latin typeface="Liter" pitchFamily="34" charset="0"/>
                <a:ea typeface="Liter" pitchFamily="34" charset="-122"/>
                <a:cs typeface="Liter" pitchFamily="34" charset="-120"/>
              </a:rPr>
              <a:t>Samsung operating profit: KRW 44.1tn in 2026E to KRW 83.7tn in 2027E; SK </a:t>
            </a:r>
            <a:r>
              <a:rPr lang="en-US" sz="1500" dirty="0" err="1">
                <a:solidFill>
                  <a:srgbClr val="2D3748"/>
                </a:solidFill>
                <a:latin typeface="Liter" pitchFamily="34" charset="0"/>
                <a:ea typeface="Liter" pitchFamily="34" charset="-122"/>
                <a:cs typeface="Liter" pitchFamily="34" charset="-120"/>
              </a:rPr>
              <a:t>hynix</a:t>
            </a:r>
            <a:r>
              <a:rPr lang="en-US" sz="1500" dirty="0">
                <a:solidFill>
                  <a:srgbClr val="2D3748"/>
                </a:solidFill>
                <a:latin typeface="Liter" pitchFamily="34" charset="0"/>
                <a:ea typeface="Liter" pitchFamily="34" charset="-122"/>
                <a:cs typeface="Liter" pitchFamily="34" charset="-120"/>
              </a:rPr>
              <a:t>: KRW 32.7tn to KRW 62.3tn</a:t>
            </a:r>
          </a:p>
          <a:p>
            <a:pPr algn="l">
              <a:lnSpc>
                <a:spcPct val="150000"/>
              </a:lnSpc>
            </a:pPr>
            <a:endParaRPr lang="en-US" sz="1500" dirty="0"/>
          </a:p>
        </p:txBody>
      </p:sp>
      <p:sp>
        <p:nvSpPr>
          <p:cNvPr id="10" name="Shape 8"/>
          <p:cNvSpPr/>
          <p:nvPr/>
        </p:nvSpPr>
        <p:spPr>
          <a:xfrm>
            <a:off x="8128000" y="1191492"/>
            <a:ext cx="508000" cy="508000"/>
          </a:xfrm>
          <a:prstGeom prst="rect">
            <a:avLst/>
          </a:prstGeom>
          <a:solidFill>
            <a:srgbClr val="C4963A"/>
          </a:solidFill>
          <a:ln/>
        </p:spPr>
        <p:txBody>
          <a:bodyPr/>
          <a:lstStyle/>
          <a:p>
            <a:endParaRPr lang="en-US"/>
          </a:p>
        </p:txBody>
      </p:sp>
      <p:sp>
        <p:nvSpPr>
          <p:cNvPr id="11" name="Text 9"/>
          <p:cNvSpPr/>
          <p:nvPr/>
        </p:nvSpPr>
        <p:spPr>
          <a:xfrm>
            <a:off x="8128000" y="1191492"/>
            <a:ext cx="508000" cy="508000"/>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Liter" pitchFamily="34" charset="0"/>
                <a:ea typeface="Liter" pitchFamily="34" charset="-122"/>
                <a:cs typeface="Liter" pitchFamily="34" charset="-120"/>
              </a:rPr>
              <a:t>2</a:t>
            </a:r>
            <a:endParaRPr lang="en-US" sz="2000" dirty="0"/>
          </a:p>
        </p:txBody>
      </p:sp>
      <p:sp>
        <p:nvSpPr>
          <p:cNvPr id="12" name="Text 10"/>
          <p:cNvSpPr/>
          <p:nvPr/>
        </p:nvSpPr>
        <p:spPr>
          <a:xfrm>
            <a:off x="8788400" y="1216892"/>
            <a:ext cx="6350000" cy="355600"/>
          </a:xfrm>
          <a:prstGeom prst="rect">
            <a:avLst/>
          </a:prstGeom>
          <a:noFill/>
          <a:ln/>
        </p:spPr>
        <p:txBody>
          <a:bodyPr wrap="none" lIns="0" tIns="0" rIns="0" bIns="0" rtlCol="0" anchor="t"/>
          <a:lstStyle/>
          <a:p>
            <a:pPr algn="l">
              <a:lnSpc>
                <a:spcPct val="120000"/>
              </a:lnSpc>
            </a:pPr>
            <a:r>
              <a:rPr lang="en-US" sz="1800" b="1" dirty="0">
                <a:solidFill>
                  <a:srgbClr val="1B2F4A"/>
                </a:solidFill>
                <a:latin typeface="Liter" pitchFamily="34" charset="0"/>
                <a:ea typeface="Liter" pitchFamily="34" charset="-122"/>
                <a:cs typeface="Liter" pitchFamily="34" charset="-120"/>
              </a:rPr>
              <a:t>AI &amp; Power-Linked Components</a:t>
            </a:r>
            <a:endParaRPr lang="en-US" sz="1800" dirty="0"/>
          </a:p>
        </p:txBody>
      </p:sp>
      <p:sp>
        <p:nvSpPr>
          <p:cNvPr id="13" name="Text 11"/>
          <p:cNvSpPr/>
          <p:nvPr/>
        </p:nvSpPr>
        <p:spPr>
          <a:xfrm>
            <a:off x="8788400" y="1597892"/>
            <a:ext cx="6477000" cy="1676400"/>
          </a:xfrm>
          <a:prstGeom prst="rect">
            <a:avLst/>
          </a:prstGeom>
          <a:noFill/>
          <a:ln/>
        </p:spPr>
        <p:txBody>
          <a:bodyPr wrap="square" lIns="0" tIns="0" rIns="0" bIns="0" rtlCol="0" anchor="t"/>
          <a:lstStyle/>
          <a:p>
            <a:pPr>
              <a:lnSpc>
                <a:spcPct val="150000"/>
              </a:lnSpc>
            </a:pPr>
            <a:r>
              <a:rPr lang="en-US" sz="1500" dirty="0">
                <a:solidFill>
                  <a:srgbClr val="2D3748"/>
                </a:solidFill>
                <a:latin typeface="Liter" pitchFamily="34" charset="0"/>
                <a:ea typeface="Liter" pitchFamily="34" charset="-122"/>
                <a:cs typeface="Liter" pitchFamily="34" charset="-120"/>
              </a:rPr>
              <a:t>AI capex is moving beyond memory into power delivery and advanced packaging, creating a multi-year growth runway for component suppliers:</a:t>
            </a:r>
          </a:p>
          <a:p>
            <a:pPr marL="285750" indent="-285750">
              <a:lnSpc>
                <a:spcPct val="150000"/>
              </a:lnSpc>
              <a:buFont typeface="Arial" panose="020B0604020202020204" pitchFamily="34" charset="0"/>
              <a:buChar char="•"/>
            </a:pPr>
            <a:r>
              <a:rPr lang="en-US" sz="1500" b="1" dirty="0">
                <a:solidFill>
                  <a:srgbClr val="2D3748"/>
                </a:solidFill>
                <a:latin typeface="Liter" pitchFamily="34" charset="0"/>
                <a:ea typeface="Liter" pitchFamily="34" charset="-122"/>
                <a:cs typeface="Liter" pitchFamily="34" charset="-120"/>
              </a:rPr>
              <a:t>SEMCO AI-Server MLCC Revenue: </a:t>
            </a:r>
            <a:r>
              <a:rPr lang="en-US" sz="1500" dirty="0">
                <a:solidFill>
                  <a:srgbClr val="2D3748"/>
                </a:solidFill>
                <a:latin typeface="Liter" pitchFamily="34" charset="0"/>
                <a:ea typeface="Liter" pitchFamily="34" charset="-122"/>
                <a:cs typeface="Liter" pitchFamily="34" charset="-120"/>
              </a:rPr>
              <a:t>forecast to grow 6.4x from 2025–28E </a:t>
            </a:r>
          </a:p>
          <a:p>
            <a:pPr marL="285750" indent="-285750">
              <a:lnSpc>
                <a:spcPct val="150000"/>
              </a:lnSpc>
              <a:buFont typeface="Arial" panose="020B0604020202020204" pitchFamily="34" charset="0"/>
              <a:buChar char="•"/>
            </a:pPr>
            <a:r>
              <a:rPr lang="en-US" sz="1500" b="1" dirty="0">
                <a:solidFill>
                  <a:srgbClr val="2D3748"/>
                </a:solidFill>
                <a:latin typeface="Liter" pitchFamily="34" charset="0"/>
                <a:ea typeface="Liter" pitchFamily="34" charset="-122"/>
                <a:cs typeface="Liter" pitchFamily="34" charset="-120"/>
              </a:rPr>
              <a:t>ABF Supply-Demand:</a:t>
            </a:r>
            <a:r>
              <a:rPr lang="en-US" sz="1500" dirty="0">
                <a:solidFill>
                  <a:srgbClr val="2D3748"/>
                </a:solidFill>
                <a:latin typeface="Liter" pitchFamily="34" charset="0"/>
                <a:ea typeface="Liter" pitchFamily="34" charset="-122"/>
                <a:cs typeface="Liter" pitchFamily="34" charset="-120"/>
              </a:rPr>
              <a:t> </a:t>
            </a:r>
            <a:r>
              <a:rPr lang="en-US" sz="1500" dirty="0" err="1">
                <a:solidFill>
                  <a:srgbClr val="2D3748"/>
                </a:solidFill>
                <a:latin typeface="Liter" pitchFamily="34" charset="0"/>
                <a:ea typeface="Liter" pitchFamily="34" charset="-122"/>
                <a:cs typeface="Liter" pitchFamily="34" charset="-120"/>
              </a:rPr>
              <a:t>favourable</a:t>
            </a:r>
            <a:r>
              <a:rPr lang="en-US" sz="1500" dirty="0">
                <a:solidFill>
                  <a:srgbClr val="2D3748"/>
                </a:solidFill>
                <a:latin typeface="Liter" pitchFamily="34" charset="0"/>
                <a:ea typeface="Liter" pitchFamily="34" charset="-122"/>
                <a:cs typeface="Liter" pitchFamily="34" charset="-120"/>
              </a:rPr>
              <a:t> for 18–24 months</a:t>
            </a:r>
          </a:p>
          <a:p>
            <a:pPr marL="285750" indent="-285750">
              <a:lnSpc>
                <a:spcPct val="150000"/>
              </a:lnSpc>
              <a:buFont typeface="Arial" panose="020B0604020202020204" pitchFamily="34" charset="0"/>
              <a:buChar char="•"/>
            </a:pPr>
            <a:r>
              <a:rPr lang="en-US" sz="1500" b="1" dirty="0">
                <a:solidFill>
                  <a:srgbClr val="2D3748"/>
                </a:solidFill>
                <a:latin typeface="Liter" pitchFamily="34" charset="0"/>
                <a:ea typeface="Liter" pitchFamily="34" charset="-122"/>
                <a:cs typeface="Liter" pitchFamily="34" charset="-120"/>
              </a:rPr>
              <a:t>AI-Server Power Demand: </a:t>
            </a:r>
            <a:r>
              <a:rPr lang="en-US" sz="1500" dirty="0">
                <a:solidFill>
                  <a:srgbClr val="2D3748"/>
                </a:solidFill>
                <a:latin typeface="Liter" pitchFamily="34" charset="0"/>
                <a:ea typeface="Liter" pitchFamily="34" charset="-122"/>
                <a:cs typeface="Liter" pitchFamily="34" charset="-120"/>
              </a:rPr>
              <a:t>projected to reach 534 TWh by 2030E</a:t>
            </a:r>
          </a:p>
          <a:p>
            <a:pPr>
              <a:lnSpc>
                <a:spcPct val="150000"/>
              </a:lnSpc>
            </a:pPr>
            <a:endParaRPr lang="en-US" sz="1500" dirty="0">
              <a:solidFill>
                <a:srgbClr val="2D3748"/>
              </a:solidFill>
              <a:latin typeface="Liter" pitchFamily="34" charset="0"/>
              <a:ea typeface="Liter" pitchFamily="34" charset="-122"/>
              <a:cs typeface="Liter" pitchFamily="34" charset="-120"/>
            </a:endParaRPr>
          </a:p>
          <a:p>
            <a:pPr>
              <a:lnSpc>
                <a:spcPct val="150000"/>
              </a:lnSpc>
            </a:pPr>
            <a:endParaRPr lang="en-US" sz="1500" dirty="0"/>
          </a:p>
        </p:txBody>
      </p:sp>
      <p:sp>
        <p:nvSpPr>
          <p:cNvPr id="15" name="Shape 13"/>
          <p:cNvSpPr/>
          <p:nvPr/>
        </p:nvSpPr>
        <p:spPr>
          <a:xfrm>
            <a:off x="762000" y="3553692"/>
            <a:ext cx="508000" cy="508000"/>
          </a:xfrm>
          <a:prstGeom prst="rect">
            <a:avLst/>
          </a:prstGeom>
          <a:solidFill>
            <a:srgbClr val="C4963A"/>
          </a:solidFill>
          <a:ln/>
        </p:spPr>
        <p:txBody>
          <a:bodyPr/>
          <a:lstStyle/>
          <a:p>
            <a:endParaRPr lang="en-US"/>
          </a:p>
        </p:txBody>
      </p:sp>
      <p:sp>
        <p:nvSpPr>
          <p:cNvPr id="16" name="Text 14"/>
          <p:cNvSpPr/>
          <p:nvPr/>
        </p:nvSpPr>
        <p:spPr>
          <a:xfrm>
            <a:off x="762000" y="3553692"/>
            <a:ext cx="508000" cy="508000"/>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Liter" pitchFamily="34" charset="0"/>
                <a:ea typeface="Liter" pitchFamily="34" charset="-122"/>
                <a:cs typeface="Liter" pitchFamily="34" charset="-120"/>
              </a:rPr>
              <a:t>3</a:t>
            </a:r>
            <a:endParaRPr lang="en-US" sz="2000" dirty="0"/>
          </a:p>
        </p:txBody>
      </p:sp>
      <p:sp>
        <p:nvSpPr>
          <p:cNvPr id="17" name="Text 15"/>
          <p:cNvSpPr/>
          <p:nvPr/>
        </p:nvSpPr>
        <p:spPr>
          <a:xfrm>
            <a:off x="1422400" y="3579092"/>
            <a:ext cx="6350000" cy="355600"/>
          </a:xfrm>
          <a:prstGeom prst="rect">
            <a:avLst/>
          </a:prstGeom>
          <a:noFill/>
          <a:ln/>
        </p:spPr>
        <p:txBody>
          <a:bodyPr wrap="none" lIns="0" tIns="0" rIns="0" bIns="0" rtlCol="0" anchor="t"/>
          <a:lstStyle/>
          <a:p>
            <a:pPr algn="l">
              <a:lnSpc>
                <a:spcPct val="120000"/>
              </a:lnSpc>
            </a:pPr>
            <a:r>
              <a:rPr lang="en-US" sz="1800" b="1" dirty="0">
                <a:solidFill>
                  <a:srgbClr val="1B2F4A"/>
                </a:solidFill>
                <a:latin typeface="Liter" pitchFamily="34" charset="0"/>
                <a:ea typeface="Liter" pitchFamily="34" charset="-122"/>
                <a:cs typeface="Liter" pitchFamily="34" charset="-120"/>
              </a:rPr>
              <a:t>Industrials &amp; "Physical AI"</a:t>
            </a:r>
            <a:endParaRPr lang="en-US" sz="1800" dirty="0"/>
          </a:p>
        </p:txBody>
      </p:sp>
      <p:sp>
        <p:nvSpPr>
          <p:cNvPr id="18" name="Text 16"/>
          <p:cNvSpPr/>
          <p:nvPr/>
        </p:nvSpPr>
        <p:spPr>
          <a:xfrm>
            <a:off x="1422400" y="3960092"/>
            <a:ext cx="6477000" cy="1676400"/>
          </a:xfrm>
          <a:prstGeom prst="rect">
            <a:avLst/>
          </a:prstGeom>
          <a:noFill/>
          <a:ln/>
        </p:spPr>
        <p:txBody>
          <a:bodyPr wrap="square" lIns="0" tIns="0" rIns="0" bIns="0" rtlCol="0" anchor="t"/>
          <a:lstStyle/>
          <a:p>
            <a:pPr>
              <a:lnSpc>
                <a:spcPct val="150000"/>
              </a:lnSpc>
            </a:pPr>
            <a:r>
              <a:rPr lang="en-US" sz="1500" dirty="0">
                <a:solidFill>
                  <a:srgbClr val="2D3748"/>
                </a:solidFill>
                <a:latin typeface="Liter" pitchFamily="34" charset="0"/>
                <a:ea typeface="Liter" pitchFamily="34" charset="-122"/>
                <a:cs typeface="Liter" pitchFamily="34" charset="-120"/>
              </a:rPr>
              <a:t>Re-</a:t>
            </a:r>
            <a:r>
              <a:rPr lang="en-US" sz="1500" dirty="0" err="1">
                <a:solidFill>
                  <a:srgbClr val="2D3748"/>
                </a:solidFill>
                <a:latin typeface="Liter" pitchFamily="34" charset="0"/>
                <a:ea typeface="Liter" pitchFamily="34" charset="-122"/>
                <a:cs typeface="Liter" pitchFamily="34" charset="-120"/>
              </a:rPr>
              <a:t>industrialisation</a:t>
            </a:r>
            <a:r>
              <a:rPr lang="en-US" sz="1500" dirty="0">
                <a:solidFill>
                  <a:srgbClr val="2D3748"/>
                </a:solidFill>
                <a:latin typeface="Liter" pitchFamily="34" charset="0"/>
                <a:ea typeface="Liter" pitchFamily="34" charset="-122"/>
                <a:cs typeface="Liter" pitchFamily="34" charset="-120"/>
              </a:rPr>
              <a:t>, energy security and grid investment broaden the earnings cycle into </a:t>
            </a:r>
            <a:r>
              <a:rPr lang="en-US" sz="1500" dirty="0" err="1">
                <a:solidFill>
                  <a:srgbClr val="2D3748"/>
                </a:solidFill>
                <a:latin typeface="Liter" pitchFamily="34" charset="0"/>
                <a:ea typeface="Liter" pitchFamily="34" charset="-122"/>
                <a:cs typeface="Liter" pitchFamily="34" charset="-120"/>
              </a:rPr>
              <a:t>defence</a:t>
            </a:r>
            <a:r>
              <a:rPr lang="en-US" sz="1500" dirty="0">
                <a:solidFill>
                  <a:srgbClr val="2D3748"/>
                </a:solidFill>
                <a:latin typeface="Liter" pitchFamily="34" charset="0"/>
                <a:ea typeface="Liter" pitchFamily="34" charset="-122"/>
                <a:cs typeface="Liter" pitchFamily="34" charset="-120"/>
              </a:rPr>
              <a:t>, shipbuilding, electrical equipment and automation:</a:t>
            </a:r>
          </a:p>
          <a:p>
            <a:pPr marL="285750" indent="-285750">
              <a:lnSpc>
                <a:spcPct val="150000"/>
              </a:lnSpc>
              <a:buFont typeface="Arial" panose="020B0604020202020204" pitchFamily="34" charset="0"/>
              <a:buChar char="•"/>
            </a:pPr>
            <a:r>
              <a:rPr lang="en-US" sz="1500" b="1" dirty="0">
                <a:solidFill>
                  <a:srgbClr val="2D3748"/>
                </a:solidFill>
                <a:latin typeface="Liter" pitchFamily="34" charset="0"/>
                <a:ea typeface="Liter" pitchFamily="34" charset="-122"/>
                <a:cs typeface="Liter" pitchFamily="34" charset="-120"/>
              </a:rPr>
              <a:t>Foreign Flows: </a:t>
            </a:r>
            <a:r>
              <a:rPr lang="en-US" sz="1500" dirty="0">
                <a:solidFill>
                  <a:srgbClr val="2D3748"/>
                </a:solidFill>
                <a:latin typeface="Liter" pitchFamily="34" charset="0"/>
                <a:ea typeface="Liter" pitchFamily="34" charset="-122"/>
                <a:cs typeface="Liter" pitchFamily="34" charset="-120"/>
              </a:rPr>
              <a:t>rotated into broader industrial themes</a:t>
            </a:r>
          </a:p>
          <a:p>
            <a:pPr marL="285750" indent="-285750">
              <a:lnSpc>
                <a:spcPct val="150000"/>
              </a:lnSpc>
              <a:buFont typeface="Arial" panose="020B0604020202020204" pitchFamily="34" charset="0"/>
              <a:buChar char="•"/>
            </a:pPr>
            <a:r>
              <a:rPr lang="en-US" sz="1500" b="1" dirty="0">
                <a:solidFill>
                  <a:srgbClr val="2D3748"/>
                </a:solidFill>
                <a:latin typeface="Liter" pitchFamily="34" charset="0"/>
                <a:ea typeface="Liter" pitchFamily="34" charset="-122"/>
                <a:cs typeface="Liter" pitchFamily="34" charset="-120"/>
              </a:rPr>
              <a:t>Broadening Recovery: </a:t>
            </a:r>
            <a:r>
              <a:rPr lang="en-US" sz="1500" dirty="0">
                <a:solidFill>
                  <a:srgbClr val="2D3748"/>
                </a:solidFill>
                <a:latin typeface="Liter" pitchFamily="34" charset="0"/>
                <a:ea typeface="Liter" pitchFamily="34" charset="-122"/>
                <a:cs typeface="Liter" pitchFamily="34" charset="-120"/>
              </a:rPr>
              <a:t>Construction, shipbuilding, industrials, defense show strong earning growth / positive revisions</a:t>
            </a:r>
          </a:p>
          <a:p>
            <a:pPr marL="285750" indent="-285750">
              <a:lnSpc>
                <a:spcPct val="150000"/>
              </a:lnSpc>
              <a:buFont typeface="Arial" panose="020B0604020202020204" pitchFamily="34" charset="0"/>
              <a:buChar char="•"/>
            </a:pPr>
            <a:endParaRPr lang="en-US" sz="1500" dirty="0">
              <a:solidFill>
                <a:srgbClr val="2D3748"/>
              </a:solidFill>
              <a:latin typeface="Liter" pitchFamily="34" charset="0"/>
              <a:ea typeface="Liter" pitchFamily="34" charset="-122"/>
              <a:cs typeface="Liter" pitchFamily="34" charset="-120"/>
            </a:endParaRPr>
          </a:p>
          <a:p>
            <a:pPr>
              <a:lnSpc>
                <a:spcPct val="150000"/>
              </a:lnSpc>
            </a:pPr>
            <a:endParaRPr lang="en-US" sz="1500" dirty="0"/>
          </a:p>
        </p:txBody>
      </p:sp>
      <p:sp>
        <p:nvSpPr>
          <p:cNvPr id="20" name="Shape 18"/>
          <p:cNvSpPr/>
          <p:nvPr/>
        </p:nvSpPr>
        <p:spPr>
          <a:xfrm>
            <a:off x="8128000" y="3553692"/>
            <a:ext cx="508000" cy="508000"/>
          </a:xfrm>
          <a:prstGeom prst="rect">
            <a:avLst/>
          </a:prstGeom>
          <a:solidFill>
            <a:srgbClr val="C4963A"/>
          </a:solidFill>
          <a:ln/>
        </p:spPr>
        <p:txBody>
          <a:bodyPr/>
          <a:lstStyle/>
          <a:p>
            <a:endParaRPr lang="en-US"/>
          </a:p>
        </p:txBody>
      </p:sp>
      <p:sp>
        <p:nvSpPr>
          <p:cNvPr id="21" name="Text 19"/>
          <p:cNvSpPr/>
          <p:nvPr/>
        </p:nvSpPr>
        <p:spPr>
          <a:xfrm>
            <a:off x="8128000" y="3553692"/>
            <a:ext cx="508000" cy="508000"/>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Liter" pitchFamily="34" charset="0"/>
                <a:ea typeface="Liter" pitchFamily="34" charset="-122"/>
                <a:cs typeface="Liter" pitchFamily="34" charset="-120"/>
              </a:rPr>
              <a:t>4</a:t>
            </a:r>
            <a:endParaRPr lang="en-US" sz="2000" dirty="0"/>
          </a:p>
        </p:txBody>
      </p:sp>
      <p:sp>
        <p:nvSpPr>
          <p:cNvPr id="22" name="Text 20"/>
          <p:cNvSpPr/>
          <p:nvPr/>
        </p:nvSpPr>
        <p:spPr>
          <a:xfrm>
            <a:off x="8788400" y="3579092"/>
            <a:ext cx="6350000" cy="355600"/>
          </a:xfrm>
          <a:prstGeom prst="rect">
            <a:avLst/>
          </a:prstGeom>
          <a:noFill/>
          <a:ln/>
        </p:spPr>
        <p:txBody>
          <a:bodyPr wrap="none" lIns="0" tIns="0" rIns="0" bIns="0" rtlCol="0" anchor="t"/>
          <a:lstStyle/>
          <a:p>
            <a:pPr algn="l">
              <a:lnSpc>
                <a:spcPct val="120000"/>
              </a:lnSpc>
            </a:pPr>
            <a:r>
              <a:rPr lang="en-US" sz="1800" b="1" dirty="0">
                <a:solidFill>
                  <a:srgbClr val="1B2F4A"/>
                </a:solidFill>
                <a:latin typeface="Liter" pitchFamily="34" charset="0"/>
                <a:ea typeface="Liter" pitchFamily="34" charset="-122"/>
                <a:cs typeface="Liter" pitchFamily="34" charset="-120"/>
              </a:rPr>
              <a:t>Governance / Value-Up</a:t>
            </a:r>
            <a:endParaRPr lang="en-US" sz="1800" dirty="0"/>
          </a:p>
        </p:txBody>
      </p:sp>
      <p:sp>
        <p:nvSpPr>
          <p:cNvPr id="23" name="Text 21"/>
          <p:cNvSpPr/>
          <p:nvPr/>
        </p:nvSpPr>
        <p:spPr>
          <a:xfrm>
            <a:off x="8788400" y="3960092"/>
            <a:ext cx="6477000" cy="1676400"/>
          </a:xfrm>
          <a:prstGeom prst="rect">
            <a:avLst/>
          </a:prstGeom>
          <a:noFill/>
          <a:ln/>
        </p:spPr>
        <p:txBody>
          <a:bodyPr wrap="square" lIns="0" tIns="0" rIns="0" bIns="0" rtlCol="0" anchor="t"/>
          <a:lstStyle/>
          <a:p>
            <a:pPr>
              <a:lnSpc>
                <a:spcPct val="150000"/>
              </a:lnSpc>
            </a:pPr>
            <a:r>
              <a:rPr lang="en-US" sz="1500" dirty="0">
                <a:solidFill>
                  <a:srgbClr val="2D3748"/>
                </a:solidFill>
                <a:latin typeface="Liter" pitchFamily="34" charset="0"/>
                <a:ea typeface="Liter" pitchFamily="34" charset="-122"/>
                <a:cs typeface="Liter" pitchFamily="34" charset="-120"/>
              </a:rPr>
              <a:t>Governance reform creates a credible path to unlock Korea’s persistent valuation discount, </a:t>
            </a:r>
            <a:r>
              <a:rPr lang="en-US" sz="1500" dirty="0" err="1">
                <a:solidFill>
                  <a:srgbClr val="2D3748"/>
                </a:solidFill>
                <a:latin typeface="Liter" pitchFamily="34" charset="0"/>
                <a:ea typeface="Liter" pitchFamily="34" charset="-122"/>
                <a:cs typeface="Liter" pitchFamily="34" charset="-120"/>
              </a:rPr>
              <a:t>favouring</a:t>
            </a:r>
            <a:r>
              <a:rPr lang="en-US" sz="1500" dirty="0">
                <a:solidFill>
                  <a:srgbClr val="2D3748"/>
                </a:solidFill>
                <a:latin typeface="Liter" pitchFamily="34" charset="0"/>
                <a:ea typeface="Liter" pitchFamily="34" charset="-122"/>
                <a:cs typeface="Liter" pitchFamily="34" charset="-120"/>
              </a:rPr>
              <a:t> low-PBR financials and holding companies:</a:t>
            </a:r>
          </a:p>
          <a:p>
            <a:pPr marL="285750" indent="-285750">
              <a:lnSpc>
                <a:spcPct val="150000"/>
              </a:lnSpc>
              <a:buFont typeface="Arial" panose="020B0604020202020204" pitchFamily="34" charset="0"/>
              <a:buChar char="•"/>
            </a:pPr>
            <a:r>
              <a:rPr lang="en-US" sz="1500" b="1" dirty="0">
                <a:solidFill>
                  <a:srgbClr val="2D3748"/>
                </a:solidFill>
                <a:latin typeface="Liter" pitchFamily="34" charset="0"/>
                <a:ea typeface="Liter" pitchFamily="34" charset="-122"/>
                <a:cs typeface="Liter" pitchFamily="34" charset="-120"/>
              </a:rPr>
              <a:t>Valuation runway: </a:t>
            </a:r>
            <a:r>
              <a:rPr lang="en-US" sz="1500" dirty="0">
                <a:solidFill>
                  <a:srgbClr val="2D3748"/>
                </a:solidFill>
                <a:latin typeface="Liter" pitchFamily="34" charset="0"/>
                <a:ea typeface="Liter" pitchFamily="34" charset="-122"/>
                <a:cs typeface="Liter" pitchFamily="34" charset="-120"/>
              </a:rPr>
              <a:t>&gt;70% of KOSPI companies still trade below book value </a:t>
            </a:r>
          </a:p>
          <a:p>
            <a:pPr marL="285750" indent="-285750">
              <a:lnSpc>
                <a:spcPct val="150000"/>
              </a:lnSpc>
              <a:buFont typeface="Arial" panose="020B0604020202020204" pitchFamily="34" charset="0"/>
              <a:buChar char="•"/>
            </a:pPr>
            <a:r>
              <a:rPr lang="en-US" sz="1500" b="1" dirty="0">
                <a:solidFill>
                  <a:srgbClr val="2D3748"/>
                </a:solidFill>
                <a:latin typeface="Liter" pitchFamily="34" charset="0"/>
                <a:ea typeface="Liter" pitchFamily="34" charset="-122"/>
                <a:cs typeface="Liter" pitchFamily="34" charset="-120"/>
              </a:rPr>
              <a:t>Policy catalysts: </a:t>
            </a:r>
            <a:r>
              <a:rPr lang="en-US" sz="1500" dirty="0">
                <a:solidFill>
                  <a:srgbClr val="2D3748"/>
                </a:solidFill>
                <a:latin typeface="Liter" pitchFamily="34" charset="0"/>
                <a:ea typeface="Liter" pitchFamily="34" charset="-122"/>
                <a:cs typeface="Liter" pitchFamily="34" charset="-120"/>
              </a:rPr>
              <a:t>Phase II Commercial Act reform, July 2026 low-PBR disclosure regime, and anti-stock-price-suppression measures</a:t>
            </a:r>
          </a:p>
          <a:p>
            <a:pPr>
              <a:lnSpc>
                <a:spcPct val="150000"/>
              </a:lnSpc>
            </a:pPr>
            <a:endParaRPr lang="en-US" sz="1500" dirty="0"/>
          </a:p>
        </p:txBody>
      </p:sp>
      <p:sp>
        <p:nvSpPr>
          <p:cNvPr id="27" name="Text 25"/>
          <p:cNvSpPr/>
          <p:nvPr/>
        </p:nvSpPr>
        <p:spPr>
          <a:xfrm>
            <a:off x="762000" y="8509000"/>
            <a:ext cx="8890000" cy="279400"/>
          </a:xfrm>
          <a:prstGeom prst="rect">
            <a:avLst/>
          </a:prstGeom>
          <a:noFill/>
          <a:ln/>
        </p:spPr>
        <p:txBody>
          <a:bodyPr wrap="square" lIns="0" tIns="0" rIns="0" bIns="0" rtlCol="0" anchor="t"/>
          <a:lstStyle/>
          <a:p>
            <a:pPr algn="l">
              <a:lnSpc>
                <a:spcPct val="140000"/>
              </a:lnSpc>
            </a:pPr>
            <a:r>
              <a:rPr lang="en-US" sz="1200" dirty="0">
                <a:solidFill>
                  <a:srgbClr val="718096"/>
                </a:solidFill>
                <a:latin typeface="Liter" pitchFamily="34" charset="0"/>
                <a:ea typeface="Liter" pitchFamily="34" charset="-122"/>
                <a:cs typeface="Liter" pitchFamily="34" charset="-120"/>
              </a:rPr>
              <a:t>Source: Goldman Sachs, UBS, J.P. Morgan Research.</a:t>
            </a:r>
            <a:endParaRPr lang="en-US" sz="1200" dirty="0"/>
          </a:p>
        </p:txBody>
      </p:sp>
      <p:sp>
        <p:nvSpPr>
          <p:cNvPr id="28" name="Text 26"/>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rPr>
              <a:t>32</a:t>
            </a:r>
            <a:endParaRPr lang="en-US" sz="1200" dirty="0"/>
          </a:p>
        </p:txBody>
      </p:sp>
      <p:sp>
        <p:nvSpPr>
          <p:cNvPr id="14" name="Shape 3">
            <a:extLst>
              <a:ext uri="{FF2B5EF4-FFF2-40B4-BE49-F238E27FC236}">
                <a16:creationId xmlns:a16="http://schemas.microsoft.com/office/drawing/2014/main" id="{799C9C7F-63A0-731A-B1AE-D075EC9CF04B}"/>
              </a:ext>
            </a:extLst>
          </p:cNvPr>
          <p:cNvSpPr/>
          <p:nvPr/>
        </p:nvSpPr>
        <p:spPr>
          <a:xfrm>
            <a:off x="762000" y="6033322"/>
            <a:ext cx="7239000" cy="1919186"/>
          </a:xfrm>
          <a:prstGeom prst="rect">
            <a:avLst/>
          </a:prstGeom>
          <a:solidFill>
            <a:srgbClr val="F7F8FA"/>
          </a:solidFill>
          <a:ln/>
        </p:spPr>
        <p:txBody>
          <a:bodyPr/>
          <a:lstStyle/>
          <a:p>
            <a:endParaRPr lang="en-US"/>
          </a:p>
        </p:txBody>
      </p:sp>
      <p:sp>
        <p:nvSpPr>
          <p:cNvPr id="24" name="Shape 4">
            <a:extLst>
              <a:ext uri="{FF2B5EF4-FFF2-40B4-BE49-F238E27FC236}">
                <a16:creationId xmlns:a16="http://schemas.microsoft.com/office/drawing/2014/main" id="{D0D24B10-9387-517E-41A6-CE9EEB2F5308}"/>
              </a:ext>
            </a:extLst>
          </p:cNvPr>
          <p:cNvSpPr/>
          <p:nvPr/>
        </p:nvSpPr>
        <p:spPr>
          <a:xfrm>
            <a:off x="762000" y="6033322"/>
            <a:ext cx="45719" cy="1919186"/>
          </a:xfrm>
          <a:prstGeom prst="rect">
            <a:avLst/>
          </a:prstGeom>
          <a:solidFill>
            <a:srgbClr val="C44A4A"/>
          </a:solidFill>
          <a:ln/>
        </p:spPr>
        <p:txBody>
          <a:bodyPr/>
          <a:lstStyle/>
          <a:p>
            <a:endParaRPr lang="en-US"/>
          </a:p>
        </p:txBody>
      </p:sp>
      <p:sp>
        <p:nvSpPr>
          <p:cNvPr id="26" name="Text 5">
            <a:extLst>
              <a:ext uri="{FF2B5EF4-FFF2-40B4-BE49-F238E27FC236}">
                <a16:creationId xmlns:a16="http://schemas.microsoft.com/office/drawing/2014/main" id="{9AFC5074-6E75-B7EB-0AFE-295118FFD426}"/>
              </a:ext>
            </a:extLst>
          </p:cNvPr>
          <p:cNvSpPr/>
          <p:nvPr/>
        </p:nvSpPr>
        <p:spPr>
          <a:xfrm>
            <a:off x="1016000" y="6134922"/>
            <a:ext cx="6731000" cy="304800"/>
          </a:xfrm>
          <a:prstGeom prst="rect">
            <a:avLst/>
          </a:prstGeom>
          <a:noFill/>
          <a:ln/>
        </p:spPr>
        <p:txBody>
          <a:bodyPr wrap="none" lIns="0" tIns="0" rIns="0" bIns="0" rtlCol="0" anchor="t"/>
          <a:lstStyle/>
          <a:p>
            <a:pPr algn="l">
              <a:lnSpc>
                <a:spcPct val="120000"/>
              </a:lnSpc>
            </a:pPr>
            <a:r>
              <a:rPr lang="en-US" sz="1600" b="1" dirty="0">
                <a:solidFill>
                  <a:srgbClr val="C44A4A"/>
                </a:solidFill>
                <a:latin typeface="Liter" pitchFamily="34" charset="0"/>
                <a:ea typeface="Liter" pitchFamily="34" charset="-122"/>
                <a:cs typeface="Liter" pitchFamily="34" charset="-120"/>
              </a:rPr>
              <a:t>Priced for Perfection</a:t>
            </a:r>
            <a:endParaRPr lang="en-US" sz="1600" dirty="0"/>
          </a:p>
        </p:txBody>
      </p:sp>
      <p:sp>
        <p:nvSpPr>
          <p:cNvPr id="30" name="Text 6">
            <a:extLst>
              <a:ext uri="{FF2B5EF4-FFF2-40B4-BE49-F238E27FC236}">
                <a16:creationId xmlns:a16="http://schemas.microsoft.com/office/drawing/2014/main" id="{570E0546-B81E-5589-5BC5-0FFFE5E4D3CA}"/>
              </a:ext>
            </a:extLst>
          </p:cNvPr>
          <p:cNvSpPr/>
          <p:nvPr/>
        </p:nvSpPr>
        <p:spPr>
          <a:xfrm>
            <a:off x="1016000" y="6477822"/>
            <a:ext cx="6731000" cy="1206500"/>
          </a:xfrm>
          <a:prstGeom prst="rect">
            <a:avLst/>
          </a:prstGeom>
          <a:noFill/>
          <a:ln/>
        </p:spPr>
        <p:txBody>
          <a:bodyPr wrap="square" lIns="0" tIns="0" rIns="0" bIns="0" rtlCol="0" anchor="t"/>
          <a:lstStyle/>
          <a:p>
            <a:pPr>
              <a:lnSpc>
                <a:spcPct val="150000"/>
              </a:lnSpc>
            </a:pPr>
            <a:r>
              <a:rPr lang="en-US" sz="1500" b="1" dirty="0">
                <a:solidFill>
                  <a:srgbClr val="2D3748"/>
                </a:solidFill>
                <a:latin typeface="Liter" pitchFamily="34" charset="0"/>
                <a:ea typeface="Liter" pitchFamily="34" charset="-122"/>
                <a:cs typeface="Liter" pitchFamily="34" charset="-120"/>
              </a:rPr>
              <a:t>Record earnings are increasingly priced in; the forward hurdle is now sustained AI capex, memory pricing and peak-cycle margin durability:</a:t>
            </a:r>
          </a:p>
          <a:p>
            <a:pPr marL="285750" indent="-285750">
              <a:lnSpc>
                <a:spcPct val="150000"/>
              </a:lnSpc>
              <a:buFont typeface="Arial" panose="020B0604020202020204" pitchFamily="34" charset="0"/>
              <a:buChar char="•"/>
            </a:pPr>
            <a:r>
              <a:rPr lang="en-US" sz="1500" dirty="0">
                <a:solidFill>
                  <a:srgbClr val="2D3748"/>
                </a:solidFill>
                <a:latin typeface="Liter" pitchFamily="34" charset="0"/>
                <a:ea typeface="Liter" pitchFamily="34" charset="-122"/>
                <a:cs typeface="Liter" pitchFamily="34" charset="-120"/>
              </a:rPr>
              <a:t>Samsung fell 7% despite record Q2 earnings (19x YoY in operating profit), shifting focus to peak growth and forward margin durability.</a:t>
            </a:r>
          </a:p>
        </p:txBody>
      </p:sp>
      <p:sp>
        <p:nvSpPr>
          <p:cNvPr id="32" name="Shape 15">
            <a:extLst>
              <a:ext uri="{FF2B5EF4-FFF2-40B4-BE49-F238E27FC236}">
                <a16:creationId xmlns:a16="http://schemas.microsoft.com/office/drawing/2014/main" id="{00EC831E-D0F3-1D7C-4209-71BAC468A11A}"/>
              </a:ext>
            </a:extLst>
          </p:cNvPr>
          <p:cNvSpPr/>
          <p:nvPr/>
        </p:nvSpPr>
        <p:spPr>
          <a:xfrm>
            <a:off x="8255000" y="6042606"/>
            <a:ext cx="7239000" cy="1909902"/>
          </a:xfrm>
          <a:prstGeom prst="rect">
            <a:avLst/>
          </a:prstGeom>
          <a:solidFill>
            <a:srgbClr val="F7F8FA"/>
          </a:solidFill>
          <a:ln/>
        </p:spPr>
        <p:txBody>
          <a:bodyPr/>
          <a:lstStyle/>
          <a:p>
            <a:endParaRPr lang="en-US"/>
          </a:p>
        </p:txBody>
      </p:sp>
      <p:sp>
        <p:nvSpPr>
          <p:cNvPr id="34" name="Shape 16">
            <a:extLst>
              <a:ext uri="{FF2B5EF4-FFF2-40B4-BE49-F238E27FC236}">
                <a16:creationId xmlns:a16="http://schemas.microsoft.com/office/drawing/2014/main" id="{37E41420-952A-F577-7E4E-984431EEDF7F}"/>
              </a:ext>
            </a:extLst>
          </p:cNvPr>
          <p:cNvSpPr/>
          <p:nvPr/>
        </p:nvSpPr>
        <p:spPr>
          <a:xfrm flipH="1">
            <a:off x="8221807" y="6042606"/>
            <a:ext cx="45719" cy="1909902"/>
          </a:xfrm>
          <a:prstGeom prst="rect">
            <a:avLst/>
          </a:prstGeom>
          <a:solidFill>
            <a:srgbClr val="C44A4A"/>
          </a:solidFill>
          <a:ln/>
        </p:spPr>
        <p:txBody>
          <a:bodyPr/>
          <a:lstStyle/>
          <a:p>
            <a:endParaRPr lang="en-US"/>
          </a:p>
        </p:txBody>
      </p:sp>
      <p:sp>
        <p:nvSpPr>
          <p:cNvPr id="36" name="Text 17">
            <a:extLst>
              <a:ext uri="{FF2B5EF4-FFF2-40B4-BE49-F238E27FC236}">
                <a16:creationId xmlns:a16="http://schemas.microsoft.com/office/drawing/2014/main" id="{C819F348-F8B5-727A-8AE5-F5C51FDB903B}"/>
              </a:ext>
            </a:extLst>
          </p:cNvPr>
          <p:cNvSpPr/>
          <p:nvPr/>
        </p:nvSpPr>
        <p:spPr>
          <a:xfrm>
            <a:off x="8509000" y="6144206"/>
            <a:ext cx="6731000" cy="304800"/>
          </a:xfrm>
          <a:prstGeom prst="rect">
            <a:avLst/>
          </a:prstGeom>
          <a:noFill/>
          <a:ln/>
        </p:spPr>
        <p:txBody>
          <a:bodyPr wrap="none" lIns="0" tIns="0" rIns="0" bIns="0" rtlCol="0" anchor="t"/>
          <a:lstStyle/>
          <a:p>
            <a:pPr>
              <a:lnSpc>
                <a:spcPct val="120000"/>
              </a:lnSpc>
            </a:pPr>
            <a:r>
              <a:rPr lang="en-US" sz="1600" b="1" dirty="0">
                <a:solidFill>
                  <a:srgbClr val="C44A4A"/>
                </a:solidFill>
                <a:latin typeface="Liter" pitchFamily="34" charset="0"/>
                <a:ea typeface="Liter" pitchFamily="34" charset="-122"/>
                <a:cs typeface="Liter" pitchFamily="34" charset="-120"/>
              </a:rPr>
              <a:t>Crowding Can Unwind Quickly</a:t>
            </a:r>
            <a:endParaRPr lang="en-US" sz="1600" dirty="0"/>
          </a:p>
        </p:txBody>
      </p:sp>
      <p:sp>
        <p:nvSpPr>
          <p:cNvPr id="38" name="Text 18">
            <a:extLst>
              <a:ext uri="{FF2B5EF4-FFF2-40B4-BE49-F238E27FC236}">
                <a16:creationId xmlns:a16="http://schemas.microsoft.com/office/drawing/2014/main" id="{71549303-D483-8099-8376-4E128014E572}"/>
              </a:ext>
            </a:extLst>
          </p:cNvPr>
          <p:cNvSpPr/>
          <p:nvPr/>
        </p:nvSpPr>
        <p:spPr>
          <a:xfrm>
            <a:off x="8509000" y="6487106"/>
            <a:ext cx="6731000" cy="1206500"/>
          </a:xfrm>
          <a:prstGeom prst="rect">
            <a:avLst/>
          </a:prstGeom>
          <a:noFill/>
          <a:ln/>
        </p:spPr>
        <p:txBody>
          <a:bodyPr wrap="square" lIns="0" tIns="0" rIns="0" bIns="0" rtlCol="0" anchor="t"/>
          <a:lstStyle/>
          <a:p>
            <a:pPr>
              <a:lnSpc>
                <a:spcPct val="150000"/>
              </a:lnSpc>
            </a:pPr>
            <a:r>
              <a:rPr lang="en-US" sz="1500" b="1" dirty="0">
                <a:solidFill>
                  <a:srgbClr val="2D3748"/>
                </a:solidFill>
                <a:latin typeface="Liter" pitchFamily="34" charset="0"/>
                <a:ea typeface="Liter" pitchFamily="34" charset="-122"/>
                <a:cs typeface="Liter" pitchFamily="34" charset="-120"/>
              </a:rPr>
              <a:t>Fundamentally, the AI-memory thesis remains intact, but extreme positioning raises the probability of sharp technical corrections:</a:t>
            </a:r>
          </a:p>
          <a:p>
            <a:pPr marL="285750" indent="-285750">
              <a:lnSpc>
                <a:spcPct val="150000"/>
              </a:lnSpc>
              <a:buFont typeface="Arial" panose="020B0604020202020204" pitchFamily="34" charset="0"/>
              <a:buChar char="•"/>
            </a:pPr>
            <a:r>
              <a:rPr lang="en-US" sz="1500" dirty="0">
                <a:solidFill>
                  <a:srgbClr val="2D3748"/>
                </a:solidFill>
                <a:latin typeface="Liter" pitchFamily="34" charset="0"/>
                <a:ea typeface="Liter" pitchFamily="34" charset="-122"/>
                <a:cs typeface="Liter" pitchFamily="34" charset="-120"/>
              </a:rPr>
              <a:t>KOSPI fell more than 20% from its June peak in early July; profit-taking in Samsung and SK Hynix triggered circuit breakers.</a:t>
            </a:r>
          </a:p>
          <a:p>
            <a:pPr>
              <a:lnSpc>
                <a:spcPct val="150000"/>
              </a:lnSpc>
            </a:pPr>
            <a:endParaRPr lang="en-US" sz="1500" dirty="0"/>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EBEAC71-0AB9-3D46-9B05-BA0A48F4EBC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367FDE-E3AE-D6EC-72CB-9F455226EF1B}"/>
              </a:ext>
            </a:extLst>
          </p:cNvPr>
          <p:cNvSpPr/>
          <p:nvPr/>
        </p:nvSpPr>
        <p:spPr>
          <a:xfrm>
            <a:off x="762000" y="279400"/>
            <a:ext cx="50800" cy="508000"/>
          </a:xfrm>
          <a:prstGeom prst="rect">
            <a:avLst/>
          </a:prstGeom>
          <a:solidFill>
            <a:srgbClr val="C4963A"/>
          </a:solidFill>
          <a:ln/>
        </p:spPr>
        <p:txBody>
          <a:bodyPr/>
          <a:lstStyle/>
          <a:p>
            <a:endParaRPr lang="en-US"/>
          </a:p>
        </p:txBody>
      </p:sp>
      <p:sp>
        <p:nvSpPr>
          <p:cNvPr id="3" name="Text 1">
            <a:extLst>
              <a:ext uri="{FF2B5EF4-FFF2-40B4-BE49-F238E27FC236}">
                <a16:creationId xmlns:a16="http://schemas.microsoft.com/office/drawing/2014/main" id="{90D001B6-1123-2DC6-7D30-F0D049EFCA7E}"/>
              </a:ext>
            </a:extLst>
          </p:cNvPr>
          <p:cNvSpPr/>
          <p:nvPr/>
        </p:nvSpPr>
        <p:spPr>
          <a:xfrm>
            <a:off x="965200" y="254000"/>
            <a:ext cx="14478000" cy="533400"/>
          </a:xfrm>
          <a:prstGeom prst="rect">
            <a:avLst/>
          </a:prstGeom>
          <a:noFill/>
          <a:ln/>
        </p:spPr>
        <p:txBody>
          <a:bodyPr wrap="none" lIns="0" tIns="0" rIns="0" bIns="0" rtlCol="0" anchor="t"/>
          <a:lstStyle/>
          <a:p>
            <a:pPr algn="l">
              <a:lnSpc>
                <a:spcPct val="130000"/>
              </a:lnSpc>
            </a:pPr>
            <a:r>
              <a:rPr lang="zh-CN" altLang="en-US" sz="2400" b="1" dirty="0">
                <a:solidFill>
                  <a:srgbClr val="1B2F4A"/>
                </a:solidFill>
                <a:latin typeface="Liter" pitchFamily="34" charset="0"/>
                <a:ea typeface="SimHei" pitchFamily="34" charset="-122"/>
                <a:cs typeface="SimHei" pitchFamily="34" charset="-120"/>
              </a:rPr>
              <a:t>核心结论与关键要点：2026年韩国市场速览</a:t>
            </a:r>
            <a:endParaRPr lang="en-US" sz="2400" dirty="0"/>
          </a:p>
        </p:txBody>
      </p:sp>
      <p:sp>
        <p:nvSpPr>
          <p:cNvPr id="4" name="Shape 2">
            <a:extLst>
              <a:ext uri="{FF2B5EF4-FFF2-40B4-BE49-F238E27FC236}">
                <a16:creationId xmlns:a16="http://schemas.microsoft.com/office/drawing/2014/main" id="{AD013D8A-3384-0B67-D288-4195F1609A0E}"/>
              </a:ext>
            </a:extLst>
          </p:cNvPr>
          <p:cNvSpPr/>
          <p:nvPr/>
        </p:nvSpPr>
        <p:spPr>
          <a:xfrm>
            <a:off x="762000" y="838200"/>
            <a:ext cx="14732000" cy="12700"/>
          </a:xfrm>
          <a:prstGeom prst="rect">
            <a:avLst/>
          </a:prstGeom>
          <a:solidFill>
            <a:srgbClr val="E2E8F0"/>
          </a:solidFill>
          <a:ln/>
        </p:spPr>
        <p:txBody>
          <a:bodyPr/>
          <a:lstStyle/>
          <a:p>
            <a:endParaRPr lang="en-US"/>
          </a:p>
        </p:txBody>
      </p:sp>
      <p:sp>
        <p:nvSpPr>
          <p:cNvPr id="28" name="Text 26">
            <a:extLst>
              <a:ext uri="{FF2B5EF4-FFF2-40B4-BE49-F238E27FC236}">
                <a16:creationId xmlns:a16="http://schemas.microsoft.com/office/drawing/2014/main" id="{8A1C7F66-CC67-3581-C0D8-C55FB99246A4}"/>
              </a:ext>
            </a:extLst>
          </p:cNvPr>
          <p:cNvSpPr/>
          <p:nvPr/>
        </p:nvSpPr>
        <p:spPr>
          <a:xfrm>
            <a:off x="15240000" y="8509000"/>
            <a:ext cx="508000" cy="279400"/>
          </a:xfrm>
          <a:prstGeom prst="rect">
            <a:avLst/>
          </a:prstGeom>
          <a:noFill/>
          <a:ln/>
        </p:spPr>
        <p:txBody>
          <a:bodyPr wrap="none" lIns="0" tIns="0" rIns="0" bIns="0" rtlCol="0" anchor="ctr"/>
          <a:lstStyle/>
          <a:p>
            <a:pPr algn="r">
              <a:lnSpc>
                <a:spcPct val="140000"/>
              </a:lnSpc>
            </a:pPr>
            <a:r>
              <a:rPr lang="en-US" sz="1200" dirty="0">
                <a:solidFill>
                  <a:srgbClr val="718096"/>
                </a:solidFill>
                <a:latin typeface="Liter" pitchFamily="34" charset="0"/>
              </a:rPr>
              <a:t>33</a:t>
            </a:r>
            <a:endParaRPr lang="en-US" sz="1200" dirty="0"/>
          </a:p>
        </p:txBody>
      </p:sp>
      <p:sp>
        <p:nvSpPr>
          <p:cNvPr id="110" name="Card BG 1"/>
          <p:cNvSpPr/>
          <p:nvPr/>
        </p:nvSpPr>
        <p:spPr>
          <a:xfrm>
            <a:off x="762000" y="1000000"/>
            <a:ext cx="7216000" cy="3600000"/>
          </a:xfrm>
          <a:prstGeom prst="roundRect">
            <a:avLst>
              <a:gd name="adj" fmla="val 3500"/>
            </a:avLst>
          </a:prstGeom>
          <a:solidFill>
            <a:srgbClr val="F7F8FA"/>
          </a:solidFill>
          <a:ln w="12700">
            <a:solidFill>
              <a:srgbClr val="E2E8F0"/>
            </a:solidFill>
          </a:ln>
        </p:spPr>
        <p:txBody>
          <a:bodyPr/>
          <a:lstStyle/>
          <a:p>
            <a:endParaRPr lang="en-US"/>
          </a:p>
        </p:txBody>
      </p:sp>
      <p:sp>
        <p:nvSpPr>
          <p:cNvPr id="111" name="Card Accent 1"/>
          <p:cNvSpPr/>
          <p:nvPr/>
        </p:nvSpPr>
        <p:spPr>
          <a:xfrm>
            <a:off x="892000" y="1130000"/>
            <a:ext cx="6956000" cy="60000"/>
          </a:xfrm>
          <a:prstGeom prst="roundRect">
            <a:avLst>
              <a:gd name="adj" fmla="val 50000"/>
            </a:avLst>
          </a:prstGeom>
          <a:solidFill>
            <a:srgbClr val="1B2F4A"/>
          </a:solidFill>
          <a:ln/>
        </p:spPr>
        <p:txBody>
          <a:bodyPr/>
          <a:lstStyle/>
          <a:p>
            <a:endParaRPr lang="en-US"/>
          </a:p>
        </p:txBody>
      </p:sp>
      <p:sp>
        <p:nvSpPr>
          <p:cNvPr id="112" name="Badge 1"/>
          <p:cNvSpPr/>
          <p:nvPr/>
        </p:nvSpPr>
        <p:spPr>
          <a:xfrm>
            <a:off x="1022000" y="1250000"/>
            <a:ext cx="480000" cy="480000"/>
          </a:xfrm>
          <a:prstGeom prst="roundRect">
            <a:avLst>
              <a:gd name="adj" fmla="val 18000"/>
            </a:avLst>
          </a:prstGeom>
          <a:solidFill>
            <a:srgbClr val="1B2F4A"/>
          </a:solidFill>
          <a:ln/>
        </p:spPr>
        <p:txBody>
          <a:bodyPr wrap="square" lIns="0" tIns="0" rIns="0" bIns="0" anchor="ctr"/>
          <a:lstStyle/>
          <a:p>
            <a:pPr algn="ctr"/>
            <a:r>
              <a:rPr lang="en-US" sz="1800" b="1">
                <a:solidFill>
                  <a:srgbClr val="FFFFFF"/>
                </a:solidFill>
                <a:latin typeface="Liter" pitchFamily="34" charset="0"/>
              </a:rPr>
              <a:t>1</a:t>
            </a:r>
          </a:p>
        </p:txBody>
      </p:sp>
      <p:sp>
        <p:nvSpPr>
          <p:cNvPr id="113" name="Header 1"/>
          <p:cNvSpPr/>
          <p:nvPr/>
        </p:nvSpPr>
        <p:spPr>
          <a:xfrm>
            <a:off x="1682000" y="1250000"/>
            <a:ext cx="6036000" cy="480000"/>
          </a:xfrm>
          <a:prstGeom prst="rect">
            <a:avLst/>
          </a:prstGeom>
          <a:noFill/>
          <a:ln/>
        </p:spPr>
        <p:txBody>
          <a:bodyPr wrap="square" lIns="0" tIns="0" rIns="0" bIns="0" anchor="ctr"/>
          <a:lstStyle/>
          <a:p>
            <a:pPr algn="l"/>
            <a:r>
              <a:rPr lang="zh-CN" altLang="en-US" sz="1400" b="1">
                <a:solidFill>
                  <a:srgbClr val="1B2F4A"/>
                </a:solidFill>
                <a:latin typeface="Liter" pitchFamily="34" charset="0"/>
                <a:ea typeface="SimHei" pitchFamily="34" charset="-122"/>
                <a:cs typeface="SimHei" pitchFamily="34" charset="-120"/>
              </a:rPr>
              <a:t>上半年回顾：盈利驱动与极端分化</a:t>
            </a:r>
          </a:p>
        </p:txBody>
      </p:sp>
      <p:sp>
        <p:nvSpPr>
          <p:cNvPr id="114" name="Body 1"/>
          <p:cNvSpPr/>
          <p:nvPr/>
        </p:nvSpPr>
        <p:spPr>
          <a:xfrm>
            <a:off x="1022000" y="1880000"/>
            <a:ext cx="6696000" cy="2560000"/>
          </a:xfrm>
          <a:prstGeom prst="rect">
            <a:avLst/>
          </a:prstGeom>
          <a:noFill/>
          <a:ln/>
        </p:spPr>
        <p:txBody>
          <a:bodyPr wrap="square" lIns="0" tIns="0" rIns="0" bIns="0" anchor="t"/>
          <a:lstStyle/>
          <a:p>
            <a:pPr marL="242888" indent="-242888">
              <a:lnSpc>
                <a:spcPct val="138000"/>
              </a:lnSpc>
              <a:spcBef>
                <a:spcPts val="900"/>
              </a:spcBef>
              <a:buClr>
                <a:srgbClr val="1B2F4A"/>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KOSPI 年内累计上涨</a:t>
            </a:r>
            <a:r>
              <a:rPr lang="zh-CN" altLang="en-US" sz="1400" b="1" dirty="0">
                <a:solidFill>
                  <a:srgbClr val="2D3748"/>
                </a:solidFill>
                <a:latin typeface="Liter" pitchFamily="34" charset="0"/>
                <a:ea typeface="SimHei" pitchFamily="34" charset="-122"/>
                <a:cs typeface="SimHei" pitchFamily="34" charset="-120"/>
              </a:rPr>
              <a:t>约90%</a:t>
            </a:r>
            <a:r>
              <a:rPr lang="zh-CN" altLang="en-US" sz="1400" dirty="0">
                <a:solidFill>
                  <a:srgbClr val="2D3748"/>
                </a:solidFill>
                <a:latin typeface="Liter" pitchFamily="34" charset="0"/>
                <a:ea typeface="SimHei" pitchFamily="34" charset="-122"/>
                <a:cs typeface="SimHei" pitchFamily="34" charset="-120"/>
              </a:rPr>
              <a:t>，但涨势极度狭窄——科技与半导体贡献了</a:t>
            </a:r>
            <a:r>
              <a:rPr lang="zh-CN" altLang="en-US" sz="1400" b="1" dirty="0">
                <a:solidFill>
                  <a:srgbClr val="2D3748"/>
                </a:solidFill>
                <a:latin typeface="Liter" pitchFamily="34" charset="0"/>
                <a:ea typeface="SimHei" pitchFamily="34" charset="-122"/>
                <a:cs typeface="SimHei" pitchFamily="34" charset="-120"/>
              </a:rPr>
              <a:t>约</a:t>
            </a:r>
            <a:r>
              <a:rPr lang="en-US" altLang="zh-CN" sz="1400" b="1" dirty="0">
                <a:solidFill>
                  <a:srgbClr val="2D3748"/>
                </a:solidFill>
                <a:latin typeface="Liter" pitchFamily="34" charset="0"/>
                <a:ea typeface="SimHei" pitchFamily="34" charset="-122"/>
                <a:cs typeface="SimHei" pitchFamily="34" charset="-120"/>
              </a:rPr>
              <a:t>87</a:t>
            </a:r>
            <a:r>
              <a:rPr lang="zh-CN" altLang="en-US" sz="1400" b="1" dirty="0">
                <a:solidFill>
                  <a:srgbClr val="2D3748"/>
                </a:solidFill>
                <a:latin typeface="Liter" pitchFamily="34" charset="0"/>
                <a:ea typeface="SimHei" pitchFamily="34" charset="-122"/>
                <a:cs typeface="SimHei" pitchFamily="34" charset="-120"/>
              </a:rPr>
              <a:t>%</a:t>
            </a:r>
            <a:r>
              <a:rPr lang="zh-CN" altLang="en-US" sz="1400" dirty="0">
                <a:solidFill>
                  <a:srgbClr val="2D3748"/>
                </a:solidFill>
                <a:latin typeface="Liter" pitchFamily="34" charset="0"/>
                <a:ea typeface="SimHei" pitchFamily="34" charset="-122"/>
                <a:cs typeface="SimHei" pitchFamily="34" charset="-120"/>
              </a:rPr>
              <a:t>的指数涨幅，市场广度严重不足，为疫情以来最弱。</a:t>
            </a:r>
          </a:p>
          <a:p>
            <a:pPr marL="242888" indent="-242888" algn="l">
              <a:lnSpc>
                <a:spcPct val="138000"/>
              </a:lnSpc>
              <a:spcBef>
                <a:spcPts val="900"/>
              </a:spcBef>
              <a:buClr>
                <a:srgbClr val="1B2F4A"/>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本轮为典型的</a:t>
            </a:r>
            <a:r>
              <a:rPr lang="zh-CN" altLang="en-US" sz="1400" b="1" dirty="0">
                <a:solidFill>
                  <a:srgbClr val="2D3748"/>
                </a:solidFill>
                <a:latin typeface="Liter" pitchFamily="34" charset="0"/>
                <a:ea typeface="SimHei" pitchFamily="34" charset="-122"/>
                <a:cs typeface="SimHei" pitchFamily="34" charset="-120"/>
              </a:rPr>
              <a:t>盈利驱动</a:t>
            </a:r>
            <a:r>
              <a:rPr lang="zh-CN" altLang="en-US" sz="1400" dirty="0">
                <a:solidFill>
                  <a:srgbClr val="2D3748"/>
                </a:solidFill>
                <a:latin typeface="Liter" pitchFamily="34" charset="0"/>
                <a:ea typeface="SimHei" pitchFamily="34" charset="-122"/>
                <a:cs typeface="SimHei" pitchFamily="34" charset="-120"/>
              </a:rPr>
              <a:t>行情：</a:t>
            </a:r>
            <a:r>
              <a:rPr lang="zh-CN" altLang="en-US" sz="1400" b="1" dirty="0">
                <a:solidFill>
                  <a:srgbClr val="2D3748"/>
                </a:solidFill>
                <a:latin typeface="Liter" pitchFamily="34" charset="0"/>
                <a:ea typeface="SimHei" pitchFamily="34" charset="-122"/>
                <a:cs typeface="SimHei" pitchFamily="34" charset="-120"/>
              </a:rPr>
              <a:t>EPS 增长超250%</a:t>
            </a:r>
            <a:r>
              <a:rPr lang="zh-CN" altLang="en-US" sz="1400" dirty="0">
                <a:solidFill>
                  <a:srgbClr val="2D3748"/>
                </a:solidFill>
                <a:latin typeface="Liter" pitchFamily="34" charset="0"/>
                <a:ea typeface="SimHei" pitchFamily="34" charset="-122"/>
                <a:cs typeface="SimHei" pitchFamily="34" charset="-120"/>
              </a:rPr>
              <a:t>，而非估值扩张推动。</a:t>
            </a:r>
          </a:p>
          <a:p>
            <a:pPr marL="242888" indent="-242888" algn="l">
              <a:lnSpc>
                <a:spcPct val="138000"/>
              </a:lnSpc>
              <a:spcBef>
                <a:spcPts val="900"/>
              </a:spcBef>
              <a:buClr>
                <a:srgbClr val="1B2F4A"/>
              </a:buClr>
              <a:buFont typeface="Arial" pitchFamily="34" charset="0"/>
              <a:buChar char="•"/>
            </a:pPr>
            <a:r>
              <a:rPr lang="zh-CN" altLang="en-US" sz="1400" b="1" dirty="0">
                <a:solidFill>
                  <a:srgbClr val="2D3748"/>
                </a:solidFill>
                <a:latin typeface="Liter" pitchFamily="34" charset="0"/>
                <a:ea typeface="SimHei" pitchFamily="34" charset="-122"/>
                <a:cs typeface="SimHei" pitchFamily="34" charset="-120"/>
              </a:rPr>
              <a:t>“韩国折价”依旧存在</a:t>
            </a:r>
            <a:r>
              <a:rPr lang="zh-CN" altLang="en-US" sz="1400" dirty="0">
                <a:solidFill>
                  <a:srgbClr val="2D3748"/>
                </a:solidFill>
                <a:latin typeface="Liter" pitchFamily="34" charset="0"/>
                <a:ea typeface="SimHei" pitchFamily="34" charset="-122"/>
                <a:cs typeface="SimHei" pitchFamily="34" charset="-120"/>
              </a:rPr>
              <a:t>：前瞻市盈率不升反降，压缩至</a:t>
            </a:r>
            <a:r>
              <a:rPr lang="zh-CN" altLang="en-US" sz="1400" b="1" dirty="0">
                <a:solidFill>
                  <a:srgbClr val="2D3748"/>
                </a:solidFill>
                <a:latin typeface="Liter" pitchFamily="34" charset="0"/>
                <a:ea typeface="SimHei" pitchFamily="34" charset="-122"/>
                <a:cs typeface="SimHei" pitchFamily="34" charset="-120"/>
              </a:rPr>
              <a:t>约6.6倍</a:t>
            </a:r>
            <a:r>
              <a:rPr lang="zh-CN" altLang="en-US" sz="1400" dirty="0">
                <a:solidFill>
                  <a:srgbClr val="2D3748"/>
                </a:solidFill>
                <a:latin typeface="Liter" pitchFamily="34" charset="0"/>
                <a:ea typeface="SimHei" pitchFamily="34" charset="-122"/>
                <a:cs typeface="SimHei" pitchFamily="34" charset="-120"/>
              </a:rPr>
              <a:t>，估值并未泡沫化。</a:t>
            </a:r>
          </a:p>
          <a:p>
            <a:pPr marL="242888" indent="-242888" algn="l">
              <a:lnSpc>
                <a:spcPct val="138000"/>
              </a:lnSpc>
              <a:spcBef>
                <a:spcPts val="900"/>
              </a:spcBef>
              <a:buClr>
                <a:srgbClr val="1B2F4A"/>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涨幅高度集中于少数龙头，景气一旦反转，易引发获利了结与踩踏式抛售。</a:t>
            </a:r>
          </a:p>
        </p:txBody>
      </p:sp>
      <p:sp>
        <p:nvSpPr>
          <p:cNvPr id="120" name="Card BG 2"/>
          <p:cNvSpPr/>
          <p:nvPr/>
        </p:nvSpPr>
        <p:spPr>
          <a:xfrm>
            <a:off x="8278000" y="1000000"/>
            <a:ext cx="7216000" cy="3600000"/>
          </a:xfrm>
          <a:prstGeom prst="roundRect">
            <a:avLst>
              <a:gd name="adj" fmla="val 3500"/>
            </a:avLst>
          </a:prstGeom>
          <a:solidFill>
            <a:srgbClr val="F7F8FA"/>
          </a:solidFill>
          <a:ln w="12700">
            <a:solidFill>
              <a:srgbClr val="E2E8F0"/>
            </a:solidFill>
          </a:ln>
        </p:spPr>
        <p:txBody>
          <a:bodyPr/>
          <a:lstStyle/>
          <a:p>
            <a:endParaRPr lang="en-US"/>
          </a:p>
        </p:txBody>
      </p:sp>
      <p:sp>
        <p:nvSpPr>
          <p:cNvPr id="121" name="Card Accent 2"/>
          <p:cNvSpPr/>
          <p:nvPr/>
        </p:nvSpPr>
        <p:spPr>
          <a:xfrm>
            <a:off x="8408000" y="1130000"/>
            <a:ext cx="6956000" cy="60000"/>
          </a:xfrm>
          <a:prstGeom prst="roundRect">
            <a:avLst>
              <a:gd name="adj" fmla="val 50000"/>
            </a:avLst>
          </a:prstGeom>
          <a:solidFill>
            <a:srgbClr val="C4963A"/>
          </a:solidFill>
          <a:ln/>
        </p:spPr>
        <p:txBody>
          <a:bodyPr/>
          <a:lstStyle/>
          <a:p>
            <a:endParaRPr lang="en-US"/>
          </a:p>
        </p:txBody>
      </p:sp>
      <p:sp>
        <p:nvSpPr>
          <p:cNvPr id="122" name="Badge 2"/>
          <p:cNvSpPr/>
          <p:nvPr/>
        </p:nvSpPr>
        <p:spPr>
          <a:xfrm>
            <a:off x="8538000" y="1250000"/>
            <a:ext cx="480000" cy="480000"/>
          </a:xfrm>
          <a:prstGeom prst="roundRect">
            <a:avLst>
              <a:gd name="adj" fmla="val 18000"/>
            </a:avLst>
          </a:prstGeom>
          <a:solidFill>
            <a:srgbClr val="C4963A"/>
          </a:solidFill>
          <a:ln/>
        </p:spPr>
        <p:txBody>
          <a:bodyPr wrap="square" lIns="0" tIns="0" rIns="0" bIns="0" anchor="ctr"/>
          <a:lstStyle/>
          <a:p>
            <a:pPr algn="ctr"/>
            <a:r>
              <a:rPr lang="en-US" sz="1800" b="1">
                <a:solidFill>
                  <a:srgbClr val="FFFFFF"/>
                </a:solidFill>
                <a:latin typeface="Liter" pitchFamily="34" charset="0"/>
              </a:rPr>
              <a:t>2</a:t>
            </a:r>
          </a:p>
        </p:txBody>
      </p:sp>
      <p:sp>
        <p:nvSpPr>
          <p:cNvPr id="123" name="Header 2"/>
          <p:cNvSpPr/>
          <p:nvPr/>
        </p:nvSpPr>
        <p:spPr>
          <a:xfrm>
            <a:off x="9198000" y="1250000"/>
            <a:ext cx="6036000" cy="480000"/>
          </a:xfrm>
          <a:prstGeom prst="rect">
            <a:avLst/>
          </a:prstGeom>
          <a:noFill/>
          <a:ln/>
        </p:spPr>
        <p:txBody>
          <a:bodyPr wrap="square" lIns="0" tIns="0" rIns="0" bIns="0" anchor="ctr"/>
          <a:lstStyle/>
          <a:p>
            <a:pPr algn="l"/>
            <a:r>
              <a:rPr lang="zh-CN" altLang="en-US" sz="1400" b="1">
                <a:solidFill>
                  <a:srgbClr val="C4963A"/>
                </a:solidFill>
                <a:latin typeface="Liter" pitchFamily="34" charset="0"/>
                <a:ea typeface="SimHei" pitchFamily="34" charset="-122"/>
                <a:cs typeface="SimHei" pitchFamily="34" charset="-120"/>
              </a:rPr>
              <a:t>杠杆风险可控与波动性机制</a:t>
            </a:r>
          </a:p>
        </p:txBody>
      </p:sp>
      <p:sp>
        <p:nvSpPr>
          <p:cNvPr id="124" name="Body 2"/>
          <p:cNvSpPr/>
          <p:nvPr/>
        </p:nvSpPr>
        <p:spPr>
          <a:xfrm>
            <a:off x="8538000" y="1880000"/>
            <a:ext cx="6696000" cy="2560000"/>
          </a:xfrm>
          <a:prstGeom prst="rect">
            <a:avLst/>
          </a:prstGeom>
          <a:noFill/>
          <a:ln/>
        </p:spPr>
        <p:txBody>
          <a:bodyPr wrap="square" lIns="0" tIns="0" rIns="0" bIns="0" anchor="t"/>
          <a:lstStyle/>
          <a:p>
            <a:pPr marL="242888" indent="-242888" algn="l">
              <a:lnSpc>
                <a:spcPct val="138000"/>
              </a:lnSpc>
              <a:spcBef>
                <a:spcPts val="900"/>
              </a:spcBef>
              <a:buClr>
                <a:srgbClr val="C4963A"/>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绝对杠杆升至历史高位（</a:t>
            </a:r>
            <a:r>
              <a:rPr lang="zh-CN" altLang="en-US" sz="1400" b="1" dirty="0">
                <a:solidFill>
                  <a:srgbClr val="2D3748"/>
                </a:solidFill>
                <a:latin typeface="Liter" pitchFamily="34" charset="0"/>
                <a:ea typeface="SimHei" pitchFamily="34" charset="-122"/>
                <a:cs typeface="SimHei" pitchFamily="34" charset="-120"/>
              </a:rPr>
              <a:t>约270万亿韩元</a:t>
            </a:r>
            <a:r>
              <a:rPr lang="zh-CN" altLang="en-US" sz="1400" dirty="0">
                <a:solidFill>
                  <a:srgbClr val="2D3748"/>
                </a:solidFill>
                <a:latin typeface="Liter" pitchFamily="34" charset="0"/>
                <a:ea typeface="SimHei" pitchFamily="34" charset="-122"/>
                <a:cs typeface="SimHei" pitchFamily="34" charset="-120"/>
              </a:rPr>
              <a:t>），但相对杠杆仅为自由流通市值的</a:t>
            </a:r>
            <a:r>
              <a:rPr lang="zh-CN" altLang="en-US" sz="1400" b="1" dirty="0">
                <a:solidFill>
                  <a:srgbClr val="2D3748"/>
                </a:solidFill>
                <a:latin typeface="Liter" pitchFamily="34" charset="0"/>
                <a:ea typeface="SimHei" pitchFamily="34" charset="-122"/>
                <a:cs typeface="SimHei" pitchFamily="34" charset="-120"/>
              </a:rPr>
              <a:t>约6.2%。</a:t>
            </a:r>
            <a:endParaRPr lang="en-US" altLang="zh-CN" sz="1400" b="1" dirty="0">
              <a:solidFill>
                <a:srgbClr val="2D3748"/>
              </a:solidFill>
              <a:latin typeface="Liter" pitchFamily="34" charset="0"/>
              <a:ea typeface="SimHei" pitchFamily="34" charset="-122"/>
              <a:cs typeface="SimHei" pitchFamily="34" charset="-120"/>
            </a:endParaRPr>
          </a:p>
          <a:p>
            <a:pPr marL="242888" indent="-242888" algn="l">
              <a:lnSpc>
                <a:spcPct val="138000"/>
              </a:lnSpc>
              <a:spcBef>
                <a:spcPts val="900"/>
              </a:spcBef>
              <a:buClr>
                <a:srgbClr val="C4963A"/>
              </a:buClr>
              <a:buFont typeface="Arial" pitchFamily="34" charset="0"/>
              <a:buChar char="•"/>
            </a:pPr>
            <a:r>
              <a:rPr lang="zh-CN" altLang="en-US" sz="1400" b="1" dirty="0">
                <a:solidFill>
                  <a:srgbClr val="2D3748"/>
                </a:solidFill>
                <a:latin typeface="Liter" pitchFamily="34" charset="0"/>
                <a:ea typeface="SimHei" pitchFamily="34" charset="-122"/>
                <a:cs typeface="SimHei" pitchFamily="34" charset="-120"/>
              </a:rPr>
              <a:t>保证金贷款</a:t>
            </a:r>
            <a:r>
              <a:rPr lang="en-US" altLang="zh-CN" sz="1400" b="1" dirty="0">
                <a:solidFill>
                  <a:srgbClr val="2D3748"/>
                </a:solidFill>
                <a:latin typeface="Liter" pitchFamily="34" charset="0"/>
                <a:ea typeface="SimHei" pitchFamily="34" charset="-122"/>
                <a:cs typeface="SimHei" pitchFamily="34" charset="-120"/>
              </a:rPr>
              <a:t>/</a:t>
            </a:r>
            <a:r>
              <a:rPr lang="zh-CN" altLang="en-US" sz="1400" b="1" dirty="0">
                <a:solidFill>
                  <a:srgbClr val="2D3748"/>
                </a:solidFill>
                <a:latin typeface="Liter" pitchFamily="34" charset="0"/>
                <a:ea typeface="SimHei" pitchFamily="34" charset="-122"/>
                <a:cs typeface="SimHei" pitchFamily="34" charset="-120"/>
              </a:rPr>
              <a:t>存款</a:t>
            </a:r>
            <a:r>
              <a:rPr lang="zh-CN" altLang="en-US" sz="1400" dirty="0">
                <a:solidFill>
                  <a:srgbClr val="2D3748"/>
                </a:solidFill>
                <a:latin typeface="Liter" pitchFamily="34" charset="0"/>
                <a:ea typeface="SimHei" pitchFamily="34" charset="-122"/>
                <a:cs typeface="SimHei" pitchFamily="34" charset="-120"/>
              </a:rPr>
              <a:t>比率实际在</a:t>
            </a:r>
            <a:r>
              <a:rPr lang="zh-CN" altLang="en-US" sz="1400" b="1" dirty="0">
                <a:solidFill>
                  <a:srgbClr val="2D3748"/>
                </a:solidFill>
                <a:latin typeface="Liter" pitchFamily="34" charset="0"/>
                <a:ea typeface="SimHei" pitchFamily="34" charset="-122"/>
                <a:cs typeface="SimHei" pitchFamily="34" charset="-120"/>
              </a:rPr>
              <a:t>下降， </a:t>
            </a:r>
            <a:r>
              <a:rPr lang="zh-CN" altLang="en-US" sz="1400" dirty="0">
                <a:solidFill>
                  <a:srgbClr val="2D3748"/>
                </a:solidFill>
                <a:latin typeface="Liter" pitchFamily="34" charset="0"/>
                <a:ea typeface="SimHei" pitchFamily="34" charset="-122"/>
                <a:cs typeface="SimHei" pitchFamily="34" charset="-120"/>
              </a:rPr>
              <a:t>系统性风险有限，主要风险为波动放大。</a:t>
            </a:r>
          </a:p>
          <a:p>
            <a:pPr marL="242888" indent="-242888" algn="l">
              <a:lnSpc>
                <a:spcPct val="138000"/>
              </a:lnSpc>
              <a:spcBef>
                <a:spcPts val="900"/>
              </a:spcBef>
              <a:buClr>
                <a:srgbClr val="C4963A"/>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两大波动放大器：散户融资</a:t>
            </a:r>
            <a:r>
              <a:rPr lang="zh-CN" altLang="en-US" sz="1400" b="1" dirty="0">
                <a:solidFill>
                  <a:srgbClr val="2D3748"/>
                </a:solidFill>
                <a:latin typeface="Liter" pitchFamily="34" charset="0"/>
                <a:ea typeface="SimHei" pitchFamily="34" charset="-122"/>
                <a:cs typeface="SimHei" pitchFamily="34" charset="-120"/>
              </a:rPr>
              <a:t>强制平仓</a:t>
            </a:r>
            <a:r>
              <a:rPr lang="zh-CN" altLang="en-US" sz="1400" dirty="0">
                <a:solidFill>
                  <a:srgbClr val="2D3748"/>
                </a:solidFill>
                <a:latin typeface="Liter" pitchFamily="34" charset="0"/>
                <a:ea typeface="SimHei" pitchFamily="34" charset="-122"/>
                <a:cs typeface="SimHei" pitchFamily="34" charset="-120"/>
              </a:rPr>
              <a:t>与杠杆ETF的</a:t>
            </a:r>
            <a:r>
              <a:rPr lang="zh-CN" altLang="en-US" sz="1400" b="1" dirty="0">
                <a:solidFill>
                  <a:srgbClr val="2D3748"/>
                </a:solidFill>
                <a:latin typeface="Liter" pitchFamily="34" charset="0"/>
                <a:ea typeface="SimHei" pitchFamily="34" charset="-122"/>
                <a:cs typeface="SimHei" pitchFamily="34" charset="-120"/>
              </a:rPr>
              <a:t>“做空</a:t>
            </a:r>
            <a:r>
              <a:rPr lang="en-US" altLang="zh-CN" sz="1400" b="1" dirty="0">
                <a:solidFill>
                  <a:srgbClr val="2D3748"/>
                </a:solidFill>
                <a:latin typeface="Liter" pitchFamily="34" charset="0"/>
                <a:ea typeface="SimHei" pitchFamily="34" charset="-122"/>
                <a:cs typeface="SimHei" pitchFamily="34" charset="-120"/>
              </a:rPr>
              <a:t>gamma</a:t>
            </a:r>
            <a:r>
              <a:rPr lang="zh-CN" altLang="en-US" sz="1400" b="1" dirty="0">
                <a:solidFill>
                  <a:srgbClr val="2D3748"/>
                </a:solidFill>
                <a:latin typeface="Liter" pitchFamily="34" charset="0"/>
                <a:ea typeface="SimHei" pitchFamily="34" charset="-122"/>
                <a:cs typeface="SimHei" pitchFamily="34" charset="-120"/>
              </a:rPr>
              <a:t>效应”</a:t>
            </a:r>
            <a:r>
              <a:rPr lang="zh-CN" altLang="en-US" sz="1400" dirty="0">
                <a:solidFill>
                  <a:srgbClr val="2D3748"/>
                </a:solidFill>
                <a:latin typeface="Liter" pitchFamily="34" charset="0"/>
                <a:ea typeface="SimHei" pitchFamily="34" charset="-122"/>
                <a:cs typeface="SimHei" pitchFamily="34" charset="-120"/>
              </a:rPr>
              <a:t>相互叠加，加剧单边波动。</a:t>
            </a:r>
          </a:p>
          <a:p>
            <a:pPr marL="242888" indent="-242888" algn="l">
              <a:lnSpc>
                <a:spcPct val="138000"/>
              </a:lnSpc>
              <a:spcBef>
                <a:spcPts val="900"/>
              </a:spcBef>
              <a:buClr>
                <a:srgbClr val="C4963A"/>
              </a:buClr>
              <a:buFont typeface="Arial" pitchFamily="34" charset="0"/>
              <a:buChar char="•"/>
            </a:pPr>
            <a:r>
              <a:rPr lang="zh-CN" altLang="en-US" sz="1400" b="1" dirty="0">
                <a:solidFill>
                  <a:srgbClr val="2D3748"/>
                </a:solidFill>
                <a:latin typeface="Liter" pitchFamily="34" charset="0"/>
                <a:ea typeface="SimHei" pitchFamily="34" charset="-122"/>
                <a:cs typeface="SimHei" pitchFamily="34" charset="-120"/>
              </a:rPr>
              <a:t>2026年7月FSC监管收紧</a:t>
            </a:r>
            <a:r>
              <a:rPr lang="zh-CN" altLang="en-US" sz="1400" dirty="0">
                <a:solidFill>
                  <a:srgbClr val="2D3748"/>
                </a:solidFill>
                <a:latin typeface="Liter" pitchFamily="34" charset="0"/>
                <a:ea typeface="SimHei" pitchFamily="34" charset="-122"/>
                <a:cs typeface="SimHei" pitchFamily="34" charset="-120"/>
              </a:rPr>
              <a:t>：重点整顿单一个股杠杆型ETF（三星电子、SK海力士相关产品）。现金保证金门槛由1,000万韩元大幅上调至</a:t>
            </a:r>
            <a:r>
              <a:rPr lang="zh-CN" altLang="en-US" sz="1400" b="1" dirty="0">
                <a:solidFill>
                  <a:srgbClr val="2D3748"/>
                </a:solidFill>
                <a:latin typeface="Liter" pitchFamily="34" charset="0"/>
                <a:ea typeface="SimHei" pitchFamily="34" charset="-122"/>
                <a:cs typeface="SimHei" pitchFamily="34" charset="-120"/>
              </a:rPr>
              <a:t>3,000万韩元（须全额现金）</a:t>
            </a:r>
            <a:r>
              <a:rPr lang="zh-CN" altLang="en-US" sz="1400" dirty="0">
                <a:solidFill>
                  <a:srgbClr val="2D3748"/>
                </a:solidFill>
                <a:latin typeface="Liter" pitchFamily="34" charset="0"/>
                <a:ea typeface="SimHei" pitchFamily="34" charset="-122"/>
                <a:cs typeface="SimHei" pitchFamily="34" charset="-120"/>
              </a:rPr>
              <a:t>，并提高最小交易单位。</a:t>
            </a:r>
          </a:p>
        </p:txBody>
      </p:sp>
      <p:sp>
        <p:nvSpPr>
          <p:cNvPr id="130" name="Card BG 3"/>
          <p:cNvSpPr/>
          <p:nvPr/>
        </p:nvSpPr>
        <p:spPr>
          <a:xfrm>
            <a:off x="762000" y="4720000"/>
            <a:ext cx="7216000" cy="3600000"/>
          </a:xfrm>
          <a:prstGeom prst="roundRect">
            <a:avLst>
              <a:gd name="adj" fmla="val 3500"/>
            </a:avLst>
          </a:prstGeom>
          <a:solidFill>
            <a:srgbClr val="F7F8FA"/>
          </a:solidFill>
          <a:ln w="12700">
            <a:solidFill>
              <a:srgbClr val="E2E8F0"/>
            </a:solidFill>
          </a:ln>
        </p:spPr>
        <p:txBody>
          <a:bodyPr/>
          <a:lstStyle/>
          <a:p>
            <a:endParaRPr lang="en-US"/>
          </a:p>
        </p:txBody>
      </p:sp>
      <p:sp>
        <p:nvSpPr>
          <p:cNvPr id="131" name="Card Accent 3"/>
          <p:cNvSpPr/>
          <p:nvPr/>
        </p:nvSpPr>
        <p:spPr>
          <a:xfrm>
            <a:off x="892000" y="4850000"/>
            <a:ext cx="6956000" cy="60000"/>
          </a:xfrm>
          <a:prstGeom prst="roundRect">
            <a:avLst>
              <a:gd name="adj" fmla="val 50000"/>
            </a:avLst>
          </a:prstGeom>
          <a:solidFill>
            <a:srgbClr val="2C7A5B"/>
          </a:solidFill>
          <a:ln/>
        </p:spPr>
        <p:txBody>
          <a:bodyPr/>
          <a:lstStyle/>
          <a:p>
            <a:endParaRPr lang="en-US"/>
          </a:p>
        </p:txBody>
      </p:sp>
      <p:sp>
        <p:nvSpPr>
          <p:cNvPr id="132" name="Badge 3"/>
          <p:cNvSpPr/>
          <p:nvPr/>
        </p:nvSpPr>
        <p:spPr>
          <a:xfrm>
            <a:off x="1022000" y="4970000"/>
            <a:ext cx="480000" cy="480000"/>
          </a:xfrm>
          <a:prstGeom prst="roundRect">
            <a:avLst>
              <a:gd name="adj" fmla="val 18000"/>
            </a:avLst>
          </a:prstGeom>
          <a:solidFill>
            <a:srgbClr val="2C7A5B"/>
          </a:solidFill>
          <a:ln/>
        </p:spPr>
        <p:txBody>
          <a:bodyPr wrap="square" lIns="0" tIns="0" rIns="0" bIns="0" anchor="ctr"/>
          <a:lstStyle/>
          <a:p>
            <a:pPr algn="ctr"/>
            <a:r>
              <a:rPr lang="en-US" sz="1800" b="1">
                <a:solidFill>
                  <a:srgbClr val="FFFFFF"/>
                </a:solidFill>
                <a:latin typeface="Liter" pitchFamily="34" charset="0"/>
              </a:rPr>
              <a:t>3</a:t>
            </a:r>
          </a:p>
        </p:txBody>
      </p:sp>
      <p:sp>
        <p:nvSpPr>
          <p:cNvPr id="133" name="Header 3"/>
          <p:cNvSpPr/>
          <p:nvPr/>
        </p:nvSpPr>
        <p:spPr>
          <a:xfrm>
            <a:off x="1682000" y="4970000"/>
            <a:ext cx="6036000" cy="480000"/>
          </a:xfrm>
          <a:prstGeom prst="rect">
            <a:avLst/>
          </a:prstGeom>
          <a:noFill/>
          <a:ln/>
        </p:spPr>
        <p:txBody>
          <a:bodyPr wrap="square" lIns="0" tIns="0" rIns="0" bIns="0" anchor="ctr"/>
          <a:lstStyle/>
          <a:p>
            <a:pPr algn="l"/>
            <a:r>
              <a:rPr lang="zh-CN" altLang="en-US" sz="1400" b="1">
                <a:solidFill>
                  <a:srgbClr val="2C7A5B"/>
                </a:solidFill>
                <a:latin typeface="Liter" pitchFamily="34" charset="0"/>
                <a:ea typeface="SimHei" pitchFamily="34" charset="-122"/>
                <a:cs typeface="SimHei" pitchFamily="34" charset="-120"/>
              </a:rPr>
              <a:t>下半年展望：曲折向上与核心催化剂</a:t>
            </a:r>
          </a:p>
        </p:txBody>
      </p:sp>
      <p:sp>
        <p:nvSpPr>
          <p:cNvPr id="134" name="Body 3"/>
          <p:cNvSpPr/>
          <p:nvPr/>
        </p:nvSpPr>
        <p:spPr>
          <a:xfrm>
            <a:off x="1022000" y="5600000"/>
            <a:ext cx="6696000" cy="2705800"/>
          </a:xfrm>
          <a:prstGeom prst="rect">
            <a:avLst/>
          </a:prstGeom>
          <a:noFill/>
          <a:ln/>
        </p:spPr>
        <p:txBody>
          <a:bodyPr wrap="square" lIns="0" tIns="0" rIns="0" bIns="0" anchor="t"/>
          <a:lstStyle/>
          <a:p>
            <a:pPr marL="242888" indent="-242888">
              <a:lnSpc>
                <a:spcPct val="138000"/>
              </a:lnSpc>
              <a:spcBef>
                <a:spcPts val="900"/>
              </a:spcBef>
              <a:buClr>
                <a:srgbClr val="2C7A5B"/>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核心多头逻辑不变，指数“</a:t>
            </a:r>
            <a:r>
              <a:rPr lang="zh-CN" altLang="en-US" sz="1400" b="1" dirty="0">
                <a:solidFill>
                  <a:srgbClr val="2D3748"/>
                </a:solidFill>
                <a:latin typeface="Liter" pitchFamily="34" charset="0"/>
                <a:ea typeface="SimHei" pitchFamily="34" charset="-122"/>
                <a:cs typeface="SimHei" pitchFamily="34" charset="-120"/>
              </a:rPr>
              <a:t>曲折向上</a:t>
            </a:r>
            <a:r>
              <a:rPr lang="zh-CN" altLang="en-US" sz="1400" dirty="0">
                <a:solidFill>
                  <a:srgbClr val="2D3748"/>
                </a:solidFill>
                <a:latin typeface="Liter" pitchFamily="34" charset="0"/>
                <a:ea typeface="SimHei" pitchFamily="34" charset="-122"/>
                <a:cs typeface="SimHei" pitchFamily="34" charset="-120"/>
              </a:rPr>
              <a:t>”：存储周期强劲，</a:t>
            </a:r>
            <a:r>
              <a:rPr lang="en-US" altLang="zh-CN" sz="1400" b="1" dirty="0">
                <a:solidFill>
                  <a:srgbClr val="2D3748"/>
                </a:solidFill>
                <a:latin typeface="Liter" pitchFamily="34" charset="0"/>
                <a:ea typeface="SimHei" pitchFamily="34" charset="-122"/>
                <a:cs typeface="SimHei" pitchFamily="34" charset="-120"/>
              </a:rPr>
              <a:t>HBM</a:t>
            </a:r>
            <a:r>
              <a:rPr lang="zh-CN" altLang="en-US" sz="1400" b="1" dirty="0">
                <a:solidFill>
                  <a:srgbClr val="2D3748"/>
                </a:solidFill>
                <a:latin typeface="Liter" pitchFamily="34" charset="0"/>
                <a:ea typeface="SimHei" pitchFamily="34" charset="-122"/>
                <a:cs typeface="SimHei" pitchFamily="34" charset="-120"/>
              </a:rPr>
              <a:t>产能挤压传统</a:t>
            </a:r>
            <a:r>
              <a:rPr lang="en-US" altLang="zh-CN" sz="1400" b="1" dirty="0">
                <a:solidFill>
                  <a:srgbClr val="2D3748"/>
                </a:solidFill>
                <a:latin typeface="Liter" pitchFamily="34" charset="0"/>
                <a:ea typeface="SimHei" pitchFamily="34" charset="-122"/>
                <a:cs typeface="SimHei" pitchFamily="34" charset="-120"/>
              </a:rPr>
              <a:t>DRAM</a:t>
            </a:r>
            <a:r>
              <a:rPr lang="zh-CN" altLang="en-US" sz="1400" b="1" dirty="0">
                <a:solidFill>
                  <a:srgbClr val="2D3748"/>
                </a:solidFill>
                <a:latin typeface="Liter" pitchFamily="34" charset="0"/>
                <a:ea typeface="SimHei" pitchFamily="34" charset="-122"/>
                <a:cs typeface="SimHei" pitchFamily="34" charset="-120"/>
              </a:rPr>
              <a:t>供给</a:t>
            </a:r>
            <a:r>
              <a:rPr lang="zh-CN" altLang="en-US" sz="1400" dirty="0">
                <a:solidFill>
                  <a:srgbClr val="2D3748"/>
                </a:solidFill>
                <a:latin typeface="Liter" pitchFamily="34" charset="0"/>
                <a:ea typeface="SimHei" pitchFamily="34" charset="-122"/>
                <a:cs typeface="SimHei" pitchFamily="34" charset="-120"/>
              </a:rPr>
              <a:t>，从而提供</a:t>
            </a:r>
            <a:r>
              <a:rPr lang="zh-CN" altLang="en-US" sz="1400" b="1" dirty="0">
                <a:solidFill>
                  <a:srgbClr val="2D3748"/>
                </a:solidFill>
                <a:latin typeface="Liter" pitchFamily="34" charset="0"/>
                <a:ea typeface="SimHei" pitchFamily="34" charset="-122"/>
                <a:cs typeface="SimHei" pitchFamily="34" charset="-120"/>
              </a:rPr>
              <a:t>更强的定价权、更优的产品组合及更高的利润空间</a:t>
            </a:r>
            <a:r>
              <a:rPr lang="zh-CN" altLang="en-US" sz="1400" dirty="0">
                <a:solidFill>
                  <a:srgbClr val="2D3748"/>
                </a:solidFill>
                <a:latin typeface="Liter" pitchFamily="34" charset="0"/>
                <a:ea typeface="SimHei" pitchFamily="34" charset="-122"/>
                <a:cs typeface="SimHei" pitchFamily="34" charset="-120"/>
              </a:rPr>
              <a:t>。</a:t>
            </a:r>
            <a:endParaRPr lang="en-US" altLang="zh-CN" sz="1400" dirty="0">
              <a:solidFill>
                <a:srgbClr val="2D3748"/>
              </a:solidFill>
              <a:latin typeface="Liter" pitchFamily="34" charset="0"/>
              <a:ea typeface="SimHei" pitchFamily="34" charset="-122"/>
              <a:cs typeface="SimHei" pitchFamily="34" charset="-120"/>
            </a:endParaRPr>
          </a:p>
          <a:p>
            <a:pPr marL="242888" indent="-242888">
              <a:lnSpc>
                <a:spcPct val="138000"/>
              </a:lnSpc>
              <a:spcBef>
                <a:spcPts val="900"/>
              </a:spcBef>
              <a:buClr>
                <a:srgbClr val="2C7A5B"/>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景气兑现于出口— </a:t>
            </a:r>
            <a:r>
              <a:rPr lang="zh-CN" altLang="en-US" sz="1400" b="1" dirty="0">
                <a:solidFill>
                  <a:srgbClr val="2D3748"/>
                </a:solidFill>
                <a:latin typeface="Liter" pitchFamily="34" charset="0"/>
                <a:ea typeface="SimHei" pitchFamily="34" charset="-122"/>
                <a:cs typeface="SimHei" pitchFamily="34" charset="-120"/>
              </a:rPr>
              <a:t>6月出口同比激增约71%</a:t>
            </a:r>
            <a:r>
              <a:rPr lang="zh-CN" altLang="en-US" sz="1400" dirty="0">
                <a:solidFill>
                  <a:srgbClr val="2D3748"/>
                </a:solidFill>
                <a:latin typeface="Liter" pitchFamily="34" charset="0"/>
                <a:ea typeface="SimHei" pitchFamily="34" charset="-122"/>
                <a:cs typeface="SimHei" pitchFamily="34" charset="-120"/>
              </a:rPr>
              <a:t>，创历史新高。</a:t>
            </a:r>
          </a:p>
          <a:p>
            <a:pPr marL="242888" indent="-242888" algn="l">
              <a:lnSpc>
                <a:spcPct val="138000"/>
              </a:lnSpc>
              <a:spcBef>
                <a:spcPts val="900"/>
              </a:spcBef>
              <a:buClr>
                <a:srgbClr val="2C7A5B"/>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AI需求向电源与零部件扩散：三星电机（SEMCO）</a:t>
            </a:r>
            <a:r>
              <a:rPr lang="zh-CN" altLang="en-US" sz="1400" b="1" dirty="0">
                <a:solidFill>
                  <a:srgbClr val="2D3748"/>
                </a:solidFill>
                <a:latin typeface="Liter" pitchFamily="34" charset="0"/>
                <a:ea typeface="SimHei" pitchFamily="34" charset="-122"/>
                <a:cs typeface="SimHei" pitchFamily="34" charset="-120"/>
              </a:rPr>
              <a:t>MLCC</a:t>
            </a:r>
            <a:r>
              <a:rPr lang="zh-CN" altLang="en-US" sz="1400" dirty="0">
                <a:solidFill>
                  <a:srgbClr val="2D3748"/>
                </a:solidFill>
                <a:latin typeface="Liter" pitchFamily="34" charset="0"/>
                <a:ea typeface="SimHei" pitchFamily="34" charset="-122"/>
                <a:cs typeface="SimHei" pitchFamily="34" charset="-120"/>
              </a:rPr>
              <a:t>、</a:t>
            </a:r>
            <a:r>
              <a:rPr lang="zh-CN" altLang="en-US" sz="1400" b="1" dirty="0">
                <a:solidFill>
                  <a:srgbClr val="2D3748"/>
                </a:solidFill>
                <a:latin typeface="Liter" pitchFamily="34" charset="0"/>
                <a:ea typeface="SimHei" pitchFamily="34" charset="-122"/>
                <a:cs typeface="SimHei" pitchFamily="34" charset="-120"/>
              </a:rPr>
              <a:t>ABF载板</a:t>
            </a:r>
            <a:r>
              <a:rPr lang="zh-CN" altLang="en-US" sz="1400" dirty="0">
                <a:solidFill>
                  <a:srgbClr val="2D3748"/>
                </a:solidFill>
                <a:latin typeface="Liter" pitchFamily="34" charset="0"/>
                <a:ea typeface="SimHei" pitchFamily="34" charset="-122"/>
                <a:cs typeface="SimHei" pitchFamily="34" charset="-120"/>
              </a:rPr>
              <a:t>等持续受益。</a:t>
            </a:r>
            <a:endParaRPr lang="en-US" altLang="zh-CN" sz="1400" dirty="0">
              <a:solidFill>
                <a:srgbClr val="2D3748"/>
              </a:solidFill>
              <a:latin typeface="Liter" pitchFamily="34" charset="0"/>
              <a:ea typeface="SimHei" pitchFamily="34" charset="-122"/>
              <a:cs typeface="SimHei" pitchFamily="34" charset="-120"/>
            </a:endParaRPr>
          </a:p>
          <a:p>
            <a:pPr marL="242888" indent="-242888">
              <a:lnSpc>
                <a:spcPct val="138000"/>
              </a:lnSpc>
              <a:spcBef>
                <a:spcPts val="900"/>
              </a:spcBef>
              <a:buClr>
                <a:srgbClr val="2C7A5B"/>
              </a:buClr>
              <a:buFont typeface="Arial" pitchFamily="34" charset="0"/>
              <a:buChar char="•"/>
            </a:pPr>
            <a:r>
              <a:rPr lang="en-US" altLang="zh-CN" sz="1400" dirty="0">
                <a:solidFill>
                  <a:srgbClr val="2D3748"/>
                </a:solidFill>
                <a:latin typeface="Liter" pitchFamily="34" charset="0"/>
                <a:ea typeface="SimHei" pitchFamily="34" charset="-122"/>
                <a:cs typeface="SimHei" pitchFamily="34" charset="-120"/>
              </a:rPr>
              <a:t>2026</a:t>
            </a:r>
            <a:r>
              <a:rPr lang="zh-CN" altLang="en-US" sz="1400" dirty="0">
                <a:solidFill>
                  <a:srgbClr val="2D3748"/>
                </a:solidFill>
                <a:latin typeface="Liter" pitchFamily="34" charset="0"/>
                <a:ea typeface="SimHei" pitchFamily="34" charset="-122"/>
                <a:cs typeface="SimHei" pitchFamily="34" charset="-120"/>
              </a:rPr>
              <a:t>年韩国</a:t>
            </a:r>
            <a:r>
              <a:rPr lang="en-US" altLang="zh-CN" sz="1400" dirty="0">
                <a:solidFill>
                  <a:srgbClr val="2D3748"/>
                </a:solidFill>
                <a:latin typeface="Liter" pitchFamily="34" charset="0"/>
                <a:ea typeface="SimHei" pitchFamily="34" charset="-122"/>
                <a:cs typeface="SimHei" pitchFamily="34" charset="-120"/>
              </a:rPr>
              <a:t>EPS</a:t>
            </a:r>
            <a:r>
              <a:rPr lang="zh-CN" altLang="en-US" sz="1400" dirty="0">
                <a:solidFill>
                  <a:srgbClr val="2D3748"/>
                </a:solidFill>
                <a:latin typeface="Liter" pitchFamily="34" charset="0"/>
                <a:ea typeface="SimHei" pitchFamily="34" charset="-122"/>
                <a:cs typeface="SimHei" pitchFamily="34" charset="-120"/>
              </a:rPr>
              <a:t>增长预期</a:t>
            </a:r>
            <a:r>
              <a:rPr lang="en-US" altLang="zh-CN" sz="1400" dirty="0">
                <a:solidFill>
                  <a:srgbClr val="2D3748"/>
                </a:solidFill>
                <a:latin typeface="Liter" pitchFamily="34" charset="0"/>
                <a:ea typeface="SimHei" pitchFamily="34" charset="-122"/>
                <a:cs typeface="SimHei" pitchFamily="34" charset="-120"/>
              </a:rPr>
              <a:t>258–320%</a:t>
            </a:r>
            <a:r>
              <a:rPr lang="zh-CN" altLang="en-US" sz="1400" dirty="0">
                <a:solidFill>
                  <a:srgbClr val="2D3748"/>
                </a:solidFill>
                <a:latin typeface="Liter" pitchFamily="34" charset="0"/>
                <a:ea typeface="SimHei" pitchFamily="34" charset="-122"/>
                <a:cs typeface="SimHei" pitchFamily="34" charset="-120"/>
              </a:rPr>
              <a:t> 。</a:t>
            </a:r>
          </a:p>
          <a:p>
            <a:pPr marL="242888" indent="-242888">
              <a:lnSpc>
                <a:spcPct val="138000"/>
              </a:lnSpc>
              <a:spcBef>
                <a:spcPts val="900"/>
              </a:spcBef>
              <a:buClr>
                <a:srgbClr val="2C7A5B"/>
              </a:buClr>
              <a:buFont typeface="Arial" pitchFamily="34" charset="0"/>
              <a:buChar char="•"/>
            </a:pPr>
            <a:r>
              <a:rPr lang="zh-CN" altLang="en-US" sz="1400" b="1" dirty="0">
                <a:solidFill>
                  <a:srgbClr val="2D3748"/>
                </a:solidFill>
                <a:latin typeface="Liter" pitchFamily="34" charset="0"/>
                <a:ea typeface="SimHei" pitchFamily="34" charset="-122"/>
                <a:cs typeface="SimHei" pitchFamily="34" charset="-120"/>
              </a:rPr>
              <a:t>“价值提升计划”（Value-Up）</a:t>
            </a:r>
            <a:r>
              <a:rPr lang="zh-CN" altLang="en-US" sz="1400" dirty="0">
                <a:solidFill>
                  <a:srgbClr val="2D3748"/>
                </a:solidFill>
                <a:latin typeface="Liter" pitchFamily="34" charset="0"/>
                <a:ea typeface="SimHei" pitchFamily="34" charset="-122"/>
                <a:cs typeface="SimHei" pitchFamily="34" charset="-120"/>
              </a:rPr>
              <a:t>持续推进：超</a:t>
            </a:r>
            <a:r>
              <a:rPr lang="zh-CN" altLang="en-US" sz="1400" b="1" dirty="0">
                <a:solidFill>
                  <a:srgbClr val="2D3748"/>
                </a:solidFill>
                <a:latin typeface="Liter" pitchFamily="34" charset="0"/>
                <a:ea typeface="SimHei" pitchFamily="34" charset="-122"/>
                <a:cs typeface="SimHei" pitchFamily="34" charset="-120"/>
              </a:rPr>
              <a:t>70%的KOSPI公司仍破净</a:t>
            </a:r>
            <a:r>
              <a:rPr lang="zh-CN" altLang="en-US" sz="1400" dirty="0">
                <a:solidFill>
                  <a:srgbClr val="2D3748"/>
                </a:solidFill>
                <a:latin typeface="Liter" pitchFamily="34" charset="0"/>
                <a:ea typeface="SimHei" pitchFamily="34" charset="-122"/>
                <a:cs typeface="SimHei" pitchFamily="34" charset="-120"/>
              </a:rPr>
              <a:t>。</a:t>
            </a:r>
            <a:endParaRPr lang="en-US" altLang="zh-CN" sz="1400" b="1" dirty="0">
              <a:solidFill>
                <a:srgbClr val="2D3748"/>
              </a:solidFill>
              <a:latin typeface="Liter" pitchFamily="34" charset="0"/>
              <a:ea typeface="SimHei" pitchFamily="34" charset="-122"/>
              <a:cs typeface="SimHei" pitchFamily="34" charset="-120"/>
            </a:endParaRPr>
          </a:p>
          <a:p>
            <a:pPr marL="242888" indent="-242888">
              <a:lnSpc>
                <a:spcPct val="138000"/>
              </a:lnSpc>
              <a:spcBef>
                <a:spcPts val="900"/>
              </a:spcBef>
              <a:buClr>
                <a:srgbClr val="2C7A5B"/>
              </a:buClr>
              <a:buFont typeface="Arial" pitchFamily="34" charset="0"/>
              <a:buChar char="•"/>
            </a:pPr>
            <a:r>
              <a:rPr lang="zh-CN" altLang="en-US" sz="1400" b="1" dirty="0">
                <a:solidFill>
                  <a:srgbClr val="2D3748"/>
                </a:solidFill>
                <a:latin typeface="Liter" pitchFamily="34" charset="0"/>
                <a:ea typeface="SimHei" pitchFamily="34" charset="-122"/>
                <a:cs typeface="SimHei" pitchFamily="34" charset="-120"/>
              </a:rPr>
              <a:t>公司治理改革</a:t>
            </a:r>
            <a:r>
              <a:rPr lang="zh-CN" altLang="en-US" sz="1400" dirty="0">
                <a:solidFill>
                  <a:srgbClr val="2D3748"/>
                </a:solidFill>
                <a:latin typeface="Liter" pitchFamily="34" charset="0"/>
                <a:ea typeface="SimHei" pitchFamily="34" charset="-122"/>
                <a:cs typeface="SimHei" pitchFamily="34" charset="-120"/>
              </a:rPr>
              <a:t>（</a:t>
            </a:r>
            <a:r>
              <a:rPr lang="en-US" altLang="zh-CN" sz="1400" dirty="0">
                <a:solidFill>
                  <a:srgbClr val="2D3748"/>
                </a:solidFill>
                <a:latin typeface="Liter" pitchFamily="34" charset="0"/>
                <a:ea typeface="SimHei" pitchFamily="34" charset="-122"/>
                <a:cs typeface="SimHei" pitchFamily="34" charset="-120"/>
              </a:rPr>
              <a:t>KRX</a:t>
            </a:r>
            <a:r>
              <a:rPr lang="zh-CN" altLang="en-US" sz="1400" dirty="0">
                <a:solidFill>
                  <a:srgbClr val="2D3748"/>
                </a:solidFill>
                <a:latin typeface="Liter" pitchFamily="34" charset="0"/>
                <a:ea typeface="SimHei" pitchFamily="34" charset="-122"/>
                <a:cs typeface="SimHei" pitchFamily="34" charset="-120"/>
              </a:rPr>
              <a:t>低</a:t>
            </a:r>
            <a:r>
              <a:rPr lang="en-US" altLang="zh-CN" sz="1400" dirty="0">
                <a:solidFill>
                  <a:srgbClr val="2D3748"/>
                </a:solidFill>
                <a:latin typeface="Liter" pitchFamily="34" charset="0"/>
                <a:ea typeface="SimHei" pitchFamily="34" charset="-122"/>
                <a:cs typeface="SimHei" pitchFamily="34" charset="-120"/>
              </a:rPr>
              <a:t>PBR</a:t>
            </a:r>
            <a:r>
              <a:rPr lang="zh-CN" altLang="en-US" sz="1400" dirty="0">
                <a:solidFill>
                  <a:srgbClr val="2D3748"/>
                </a:solidFill>
                <a:latin typeface="Liter" pitchFamily="34" charset="0"/>
                <a:ea typeface="SimHei" pitchFamily="34" charset="-122"/>
                <a:cs typeface="SimHei" pitchFamily="34" charset="-120"/>
              </a:rPr>
              <a:t>披露制度、商法修订）有望</a:t>
            </a:r>
            <a:r>
              <a:rPr lang="zh-CN" altLang="en-US" sz="1400" b="1" dirty="0">
                <a:solidFill>
                  <a:srgbClr val="2D3748"/>
                </a:solidFill>
                <a:latin typeface="Liter" pitchFamily="34" charset="0"/>
                <a:ea typeface="SimHei" pitchFamily="34" charset="-122"/>
                <a:cs typeface="SimHei" pitchFamily="34" charset="-120"/>
              </a:rPr>
              <a:t>推动估值修复</a:t>
            </a:r>
            <a:r>
              <a:rPr lang="zh-CN" altLang="en-US" sz="1400" dirty="0">
                <a:solidFill>
                  <a:srgbClr val="2D3748"/>
                </a:solidFill>
                <a:latin typeface="Liter" pitchFamily="34" charset="0"/>
                <a:ea typeface="SimHei" pitchFamily="34" charset="-122"/>
                <a:cs typeface="SimHei" pitchFamily="34" charset="-120"/>
              </a:rPr>
              <a:t>。</a:t>
            </a:r>
            <a:endParaRPr lang="en-US" altLang="zh-CN" sz="1400" b="1" dirty="0">
              <a:solidFill>
                <a:srgbClr val="2D3748"/>
              </a:solidFill>
              <a:latin typeface="Liter" pitchFamily="34" charset="0"/>
              <a:ea typeface="SimHei" pitchFamily="34" charset="-122"/>
              <a:cs typeface="SimHei" pitchFamily="34" charset="-120"/>
            </a:endParaRPr>
          </a:p>
          <a:p>
            <a:pPr marL="242888" indent="-242888" algn="l">
              <a:lnSpc>
                <a:spcPct val="138000"/>
              </a:lnSpc>
              <a:spcBef>
                <a:spcPts val="900"/>
              </a:spcBef>
              <a:buClr>
                <a:srgbClr val="2C7A5B"/>
              </a:buClr>
              <a:buFont typeface="Arial" pitchFamily="34" charset="0"/>
              <a:buChar char="•"/>
            </a:pPr>
            <a:endParaRPr lang="en-US" altLang="zh-CN" sz="1400" dirty="0">
              <a:solidFill>
                <a:srgbClr val="2D3748"/>
              </a:solidFill>
              <a:latin typeface="Liter" pitchFamily="34" charset="0"/>
              <a:ea typeface="SimHei" pitchFamily="34" charset="-122"/>
              <a:cs typeface="SimHei" pitchFamily="34" charset="-120"/>
            </a:endParaRPr>
          </a:p>
          <a:p>
            <a:pPr algn="l">
              <a:lnSpc>
                <a:spcPct val="138000"/>
              </a:lnSpc>
              <a:spcBef>
                <a:spcPts val="900"/>
              </a:spcBef>
              <a:buClr>
                <a:srgbClr val="2C7A5B"/>
              </a:buClr>
            </a:pPr>
            <a:endParaRPr lang="zh-CN" altLang="en-US" sz="1400" dirty="0">
              <a:solidFill>
                <a:srgbClr val="2D3748"/>
              </a:solidFill>
              <a:latin typeface="Liter" pitchFamily="34" charset="0"/>
              <a:ea typeface="SimHei" pitchFamily="34" charset="-122"/>
              <a:cs typeface="SimHei" pitchFamily="34" charset="-120"/>
            </a:endParaRPr>
          </a:p>
        </p:txBody>
      </p:sp>
      <p:sp>
        <p:nvSpPr>
          <p:cNvPr id="140" name="Card BG 4"/>
          <p:cNvSpPr/>
          <p:nvPr/>
        </p:nvSpPr>
        <p:spPr>
          <a:xfrm>
            <a:off x="8278000" y="4720000"/>
            <a:ext cx="7216000" cy="3600000"/>
          </a:xfrm>
          <a:prstGeom prst="roundRect">
            <a:avLst>
              <a:gd name="adj" fmla="val 3500"/>
            </a:avLst>
          </a:prstGeom>
          <a:solidFill>
            <a:srgbClr val="F7F8FA"/>
          </a:solidFill>
          <a:ln w="12700">
            <a:solidFill>
              <a:srgbClr val="E2E8F0"/>
            </a:solidFill>
          </a:ln>
        </p:spPr>
        <p:txBody>
          <a:bodyPr/>
          <a:lstStyle/>
          <a:p>
            <a:endParaRPr lang="en-US"/>
          </a:p>
        </p:txBody>
      </p:sp>
      <p:sp>
        <p:nvSpPr>
          <p:cNvPr id="141" name="Card Accent 4"/>
          <p:cNvSpPr/>
          <p:nvPr/>
        </p:nvSpPr>
        <p:spPr>
          <a:xfrm>
            <a:off x="8408000" y="4850000"/>
            <a:ext cx="6956000" cy="60000"/>
          </a:xfrm>
          <a:prstGeom prst="roundRect">
            <a:avLst>
              <a:gd name="adj" fmla="val 50000"/>
            </a:avLst>
          </a:prstGeom>
          <a:solidFill>
            <a:srgbClr val="C44A4A"/>
          </a:solidFill>
          <a:ln/>
        </p:spPr>
        <p:txBody>
          <a:bodyPr/>
          <a:lstStyle/>
          <a:p>
            <a:endParaRPr lang="en-US"/>
          </a:p>
        </p:txBody>
      </p:sp>
      <p:sp>
        <p:nvSpPr>
          <p:cNvPr id="142" name="Badge 4"/>
          <p:cNvSpPr/>
          <p:nvPr/>
        </p:nvSpPr>
        <p:spPr>
          <a:xfrm>
            <a:off x="8538000" y="4970000"/>
            <a:ext cx="480000" cy="480000"/>
          </a:xfrm>
          <a:prstGeom prst="roundRect">
            <a:avLst>
              <a:gd name="adj" fmla="val 18000"/>
            </a:avLst>
          </a:prstGeom>
          <a:solidFill>
            <a:srgbClr val="C44A4A"/>
          </a:solidFill>
          <a:ln/>
        </p:spPr>
        <p:txBody>
          <a:bodyPr wrap="square" lIns="0" tIns="0" rIns="0" bIns="0" anchor="ctr"/>
          <a:lstStyle/>
          <a:p>
            <a:pPr algn="ctr"/>
            <a:r>
              <a:rPr lang="en-US" sz="1800" b="1">
                <a:solidFill>
                  <a:srgbClr val="FFFFFF"/>
                </a:solidFill>
                <a:latin typeface="Liter" pitchFamily="34" charset="0"/>
              </a:rPr>
              <a:t>4</a:t>
            </a:r>
          </a:p>
        </p:txBody>
      </p:sp>
      <p:sp>
        <p:nvSpPr>
          <p:cNvPr id="143" name="Header 4"/>
          <p:cNvSpPr/>
          <p:nvPr/>
        </p:nvSpPr>
        <p:spPr>
          <a:xfrm>
            <a:off x="9198000" y="4970000"/>
            <a:ext cx="6036000" cy="480000"/>
          </a:xfrm>
          <a:prstGeom prst="rect">
            <a:avLst/>
          </a:prstGeom>
          <a:noFill/>
          <a:ln/>
        </p:spPr>
        <p:txBody>
          <a:bodyPr wrap="square" lIns="0" tIns="0" rIns="0" bIns="0" anchor="ctr"/>
          <a:lstStyle/>
          <a:p>
            <a:pPr algn="l"/>
            <a:r>
              <a:rPr lang="zh-CN" altLang="en-US" sz="1400" b="1">
                <a:solidFill>
                  <a:srgbClr val="C44A4A"/>
                </a:solidFill>
                <a:latin typeface="Liter" pitchFamily="34" charset="0"/>
                <a:ea typeface="SimHei" pitchFamily="34" charset="-122"/>
                <a:cs typeface="SimHei" pitchFamily="34" charset="-120"/>
              </a:rPr>
              <a:t>宏观逆风与“双重挤压”风险</a:t>
            </a:r>
          </a:p>
        </p:txBody>
      </p:sp>
      <p:sp>
        <p:nvSpPr>
          <p:cNvPr id="144" name="Body 4"/>
          <p:cNvSpPr/>
          <p:nvPr/>
        </p:nvSpPr>
        <p:spPr>
          <a:xfrm>
            <a:off x="8538000" y="5600000"/>
            <a:ext cx="6696000" cy="2560000"/>
          </a:xfrm>
          <a:prstGeom prst="rect">
            <a:avLst/>
          </a:prstGeom>
          <a:noFill/>
          <a:ln/>
        </p:spPr>
        <p:txBody>
          <a:bodyPr wrap="square" lIns="0" tIns="0" rIns="0" bIns="0" anchor="t"/>
          <a:lstStyle/>
          <a:p>
            <a:pPr marL="242888" indent="-242888" algn="l">
              <a:lnSpc>
                <a:spcPct val="138000"/>
              </a:lnSpc>
              <a:spcBef>
                <a:spcPts val="900"/>
              </a:spcBef>
              <a:buClr>
                <a:srgbClr val="C44A4A"/>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拥挤的</a:t>
            </a:r>
            <a:r>
              <a:rPr lang="zh-CN" altLang="en-US" sz="1400" b="1" dirty="0">
                <a:solidFill>
                  <a:srgbClr val="2D3748"/>
                </a:solidFill>
                <a:latin typeface="Liter" pitchFamily="34" charset="0"/>
                <a:ea typeface="SimHei" pitchFamily="34" charset="-122"/>
                <a:cs typeface="SimHei" pitchFamily="34" charset="-120"/>
              </a:rPr>
              <a:t>“AI—存储”多头仓位</a:t>
            </a:r>
            <a:r>
              <a:rPr lang="zh-CN" altLang="en-US" sz="1400" dirty="0">
                <a:solidFill>
                  <a:srgbClr val="2D3748"/>
                </a:solidFill>
                <a:latin typeface="Liter" pitchFamily="34" charset="0"/>
                <a:ea typeface="SimHei" pitchFamily="34" charset="-122"/>
                <a:cs typeface="SimHei" pitchFamily="34" charset="-120"/>
              </a:rPr>
              <a:t>叠加7月美伊冲突油价冲击，</a:t>
            </a:r>
            <a:r>
              <a:rPr lang="zh-CN" altLang="en-US" sz="1400" b="1" dirty="0">
                <a:solidFill>
                  <a:srgbClr val="2D3748"/>
                </a:solidFill>
                <a:latin typeface="Liter" pitchFamily="34" charset="0"/>
                <a:ea typeface="SimHei" pitchFamily="34" charset="-122"/>
                <a:cs typeface="SimHei" pitchFamily="34" charset="-120"/>
              </a:rPr>
              <a:t>布伦特原油升至约85美元/桶</a:t>
            </a:r>
            <a:r>
              <a:rPr lang="zh-CN" altLang="en-US" sz="1400" dirty="0">
                <a:solidFill>
                  <a:srgbClr val="2D3748"/>
                </a:solidFill>
                <a:latin typeface="Liter" pitchFamily="34" charset="0"/>
                <a:ea typeface="SimHei" pitchFamily="34" charset="-122"/>
                <a:cs typeface="SimHei" pitchFamily="34" charset="-120"/>
              </a:rPr>
              <a:t>，压制风险偏好。</a:t>
            </a:r>
          </a:p>
          <a:p>
            <a:pPr marL="242888" indent="-242888" algn="l">
              <a:lnSpc>
                <a:spcPct val="138000"/>
              </a:lnSpc>
              <a:spcBef>
                <a:spcPts val="900"/>
              </a:spcBef>
              <a:buClr>
                <a:srgbClr val="C44A4A"/>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全球利率</a:t>
            </a:r>
            <a:r>
              <a:rPr lang="zh-CN" altLang="en-US" sz="1400" b="1" dirty="0">
                <a:solidFill>
                  <a:srgbClr val="2D3748"/>
                </a:solidFill>
                <a:latin typeface="Liter" pitchFamily="34" charset="0"/>
                <a:ea typeface="SimHei" pitchFamily="34" charset="-122"/>
                <a:cs typeface="SimHei" pitchFamily="34" charset="-120"/>
              </a:rPr>
              <a:t>“更高更久”</a:t>
            </a:r>
            <a:r>
              <a:rPr lang="zh-CN" altLang="en-US" sz="1400" dirty="0">
                <a:solidFill>
                  <a:srgbClr val="2D3748"/>
                </a:solidFill>
                <a:latin typeface="Liter" pitchFamily="34" charset="0"/>
                <a:ea typeface="SimHei" pitchFamily="34" charset="-122"/>
                <a:cs typeface="SimHei" pitchFamily="34" charset="-120"/>
              </a:rPr>
              <a:t>重新定价：</a:t>
            </a:r>
            <a:r>
              <a:rPr lang="zh-CN" altLang="en-US" sz="1400" b="1" dirty="0">
                <a:solidFill>
                  <a:srgbClr val="2D3748"/>
                </a:solidFill>
                <a:latin typeface="Liter" pitchFamily="34" charset="0"/>
                <a:ea typeface="SimHei" pitchFamily="34" charset="-122"/>
                <a:cs typeface="SimHei" pitchFamily="34" charset="-120"/>
              </a:rPr>
              <a:t>美联储、欧洲央行、英国央行</a:t>
            </a:r>
            <a:r>
              <a:rPr lang="zh-CN" altLang="en-US" sz="1400" dirty="0">
                <a:solidFill>
                  <a:srgbClr val="2D3748"/>
                </a:solidFill>
                <a:latin typeface="Liter" pitchFamily="34" charset="0"/>
                <a:ea typeface="SimHei" pitchFamily="34" charset="-122"/>
                <a:cs typeface="SimHei" pitchFamily="34" charset="-120"/>
              </a:rPr>
              <a:t>政策趋鹰，压制成长股估值。</a:t>
            </a:r>
          </a:p>
          <a:p>
            <a:pPr marL="242888" indent="-242888" algn="l">
              <a:lnSpc>
                <a:spcPct val="138000"/>
              </a:lnSpc>
              <a:spcBef>
                <a:spcPts val="900"/>
              </a:spcBef>
              <a:buClr>
                <a:srgbClr val="C44A4A"/>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国内</a:t>
            </a:r>
            <a:r>
              <a:rPr lang="zh-CN" altLang="en-US" sz="1400" b="1" dirty="0">
                <a:solidFill>
                  <a:srgbClr val="2D3748"/>
                </a:solidFill>
                <a:latin typeface="Liter" pitchFamily="34" charset="0"/>
                <a:ea typeface="SimHei" pitchFamily="34" charset="-122"/>
                <a:cs typeface="SimHei" pitchFamily="34" charset="-120"/>
              </a:rPr>
              <a:t>“双重挤压”</a:t>
            </a:r>
            <a:r>
              <a:rPr lang="zh-CN" altLang="en-US" sz="1400" dirty="0">
                <a:solidFill>
                  <a:srgbClr val="2D3748"/>
                </a:solidFill>
                <a:latin typeface="Liter" pitchFamily="34" charset="0"/>
                <a:ea typeface="SimHei" pitchFamily="34" charset="-122"/>
                <a:cs typeface="SimHei" pitchFamily="34" charset="-120"/>
              </a:rPr>
              <a:t>：韩元走弱至</a:t>
            </a:r>
            <a:r>
              <a:rPr lang="zh-CN" altLang="en-US" sz="1400" b="1" dirty="0">
                <a:solidFill>
                  <a:srgbClr val="2D3748"/>
                </a:solidFill>
                <a:latin typeface="Liter" pitchFamily="34" charset="0"/>
                <a:ea typeface="SimHei" pitchFamily="34" charset="-122"/>
                <a:cs typeface="SimHei" pitchFamily="34" charset="-120"/>
              </a:rPr>
              <a:t>约1,500</a:t>
            </a:r>
            <a:r>
              <a:rPr lang="zh-CN" altLang="en-US" sz="1400" dirty="0">
                <a:solidFill>
                  <a:srgbClr val="2D3748"/>
                </a:solidFill>
                <a:latin typeface="Liter" pitchFamily="34" charset="0"/>
                <a:ea typeface="SimHei" pitchFamily="34" charset="-122"/>
                <a:cs typeface="SimHei" pitchFamily="34" charset="-120"/>
              </a:rPr>
              <a:t>，迫使韩国央行（BOK）加息至</a:t>
            </a:r>
            <a:r>
              <a:rPr lang="zh-CN" altLang="en-US" sz="1400" b="1" dirty="0">
                <a:solidFill>
                  <a:srgbClr val="2D3748"/>
                </a:solidFill>
                <a:latin typeface="Liter" pitchFamily="34" charset="0"/>
                <a:ea typeface="SimHei" pitchFamily="34" charset="-122"/>
                <a:cs typeface="SimHei" pitchFamily="34" charset="-120"/>
              </a:rPr>
              <a:t>2.75%</a:t>
            </a:r>
            <a:r>
              <a:rPr lang="zh-CN" altLang="en-US" sz="1400" dirty="0">
                <a:solidFill>
                  <a:srgbClr val="2D3748"/>
                </a:solidFill>
                <a:latin typeface="Liter" pitchFamily="34" charset="0"/>
                <a:ea typeface="SimHei" pitchFamily="34" charset="-122"/>
                <a:cs typeface="SimHei" pitchFamily="34" charset="-120"/>
              </a:rPr>
              <a:t>以对抗输入型通胀。</a:t>
            </a:r>
          </a:p>
          <a:p>
            <a:pPr marL="242888" indent="-242888" algn="l">
              <a:lnSpc>
                <a:spcPct val="138000"/>
              </a:lnSpc>
              <a:spcBef>
                <a:spcPts val="900"/>
              </a:spcBef>
              <a:buClr>
                <a:srgbClr val="C44A4A"/>
              </a:buClr>
              <a:buFont typeface="Arial" pitchFamily="34" charset="0"/>
              <a:buChar char="•"/>
            </a:pPr>
            <a:r>
              <a:rPr lang="zh-CN" altLang="en-US" sz="1400" dirty="0">
                <a:solidFill>
                  <a:srgbClr val="2D3748"/>
                </a:solidFill>
                <a:latin typeface="Liter" pitchFamily="34" charset="0"/>
                <a:ea typeface="SimHei" pitchFamily="34" charset="-122"/>
                <a:cs typeface="SimHei" pitchFamily="34" charset="-120"/>
              </a:rPr>
              <a:t>汇率贬值与被动加息并存，构成</a:t>
            </a:r>
            <a:r>
              <a:rPr lang="zh-CN" altLang="en-US" sz="1400" b="1" dirty="0">
                <a:solidFill>
                  <a:srgbClr val="2D3748"/>
                </a:solidFill>
                <a:latin typeface="Liter" pitchFamily="34" charset="0"/>
                <a:ea typeface="SimHei" pitchFamily="34" charset="-122"/>
                <a:cs typeface="SimHei" pitchFamily="34" charset="-120"/>
              </a:rPr>
              <a:t>“宏观双重挤压”</a:t>
            </a:r>
            <a:r>
              <a:rPr lang="zh-CN" altLang="en-US" sz="1400" dirty="0">
                <a:solidFill>
                  <a:srgbClr val="2D3748"/>
                </a:solidFill>
                <a:latin typeface="Liter" pitchFamily="34" charset="0"/>
                <a:ea typeface="SimHei" pitchFamily="34" charset="-122"/>
                <a:cs typeface="SimHei" pitchFamily="34" charset="-120"/>
              </a:rPr>
              <a:t>，是下半年</a:t>
            </a:r>
            <a:r>
              <a:rPr lang="zh-CN" altLang="en-US" sz="1400" b="1" dirty="0">
                <a:solidFill>
                  <a:srgbClr val="2D3748"/>
                </a:solidFill>
                <a:latin typeface="Liter" pitchFamily="34" charset="0"/>
                <a:ea typeface="SimHei" pitchFamily="34" charset="-122"/>
                <a:cs typeface="SimHei" pitchFamily="34" charset="-120"/>
              </a:rPr>
              <a:t>估值压缩</a:t>
            </a:r>
            <a:r>
              <a:rPr lang="zh-CN" altLang="en-US" sz="1400" dirty="0">
                <a:solidFill>
                  <a:srgbClr val="2D3748"/>
                </a:solidFill>
                <a:latin typeface="Liter" pitchFamily="34" charset="0"/>
                <a:ea typeface="SimHei" pitchFamily="34" charset="-122"/>
                <a:cs typeface="SimHei" pitchFamily="34" charset="-120"/>
              </a:rPr>
              <a:t>的最大尾部风险。</a:t>
            </a:r>
          </a:p>
        </p:txBody>
      </p:sp>
    </p:spTree>
    <p:extLst>
      <p:ext uri="{BB962C8B-B14F-4D97-AF65-F5344CB8AC3E}">
        <p14:creationId xmlns:p14="http://schemas.microsoft.com/office/powerpoint/2010/main" val="284221352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9B878-E034-571C-BA7C-E5F6CF6733E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88B2F9F-A2FE-2DD1-F8BA-C647E6B593D2}"/>
              </a:ext>
            </a:extLst>
          </p:cNvPr>
          <p:cNvSpPr/>
          <p:nvPr/>
        </p:nvSpPr>
        <p:spPr>
          <a:xfrm>
            <a:off x="0" y="0"/>
            <a:ext cx="16256000" cy="9144000"/>
          </a:xfrm>
          <a:prstGeom prst="rect">
            <a:avLst/>
          </a:prstGeom>
          <a:gradFill flip="none" rotWithShape="1">
            <a:gsLst>
              <a:gs pos="39000">
                <a:schemeClr val="accent1">
                  <a:lumMod val="5000"/>
                  <a:lumOff val="95000"/>
                </a:schemeClr>
              </a:gs>
              <a:gs pos="100000">
                <a:schemeClr val="bg1">
                  <a:alpha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zh-CN" altLang="en-US" sz="2400">
              <a:solidFill>
                <a:prstClr val="white"/>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10" name="Picture 9" descr="Logo&#10;&#10;Description automatically generated">
            <a:extLst>
              <a:ext uri="{FF2B5EF4-FFF2-40B4-BE49-F238E27FC236}">
                <a16:creationId xmlns:a16="http://schemas.microsoft.com/office/drawing/2014/main" id="{088A6EC2-52C1-C715-92DE-B7FC9504DF70}"/>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12976" y="1102043"/>
            <a:ext cx="4469264" cy="1097244"/>
          </a:xfrm>
          <a:prstGeom prst="rect">
            <a:avLst/>
          </a:prstGeom>
        </p:spPr>
      </p:pic>
      <p:sp>
        <p:nvSpPr>
          <p:cNvPr id="7" name="Title 1">
            <a:extLst>
              <a:ext uri="{FF2B5EF4-FFF2-40B4-BE49-F238E27FC236}">
                <a16:creationId xmlns:a16="http://schemas.microsoft.com/office/drawing/2014/main" id="{6797D648-2E00-1763-E439-848FF9182F5E}"/>
              </a:ext>
            </a:extLst>
          </p:cNvPr>
          <p:cNvSpPr>
            <a:spLocks noGrp="1"/>
          </p:cNvSpPr>
          <p:nvPr>
            <p:ph type="ctrTitle"/>
          </p:nvPr>
        </p:nvSpPr>
        <p:spPr>
          <a:xfrm>
            <a:off x="1545939" y="-548640"/>
            <a:ext cx="13164121" cy="10241280"/>
          </a:xfrm>
        </p:spPr>
        <p:txBody>
          <a:bodyPr wrap="square" anchor="ctr">
            <a:spAutoFit/>
          </a:bodyPr>
          <a:lstStyle/>
          <a:p>
            <a:pPr lvl="0">
              <a:lnSpc>
                <a:spcPct val="100000"/>
              </a:lnSpc>
              <a:defRPr/>
            </a:pPr>
            <a:r>
              <a:rPr lang="en-HK" altLang="zh-TW" sz="6600" b="1" dirty="0">
                <a:solidFill>
                  <a:srgbClr val="2660AD"/>
                </a:solidFill>
                <a:ea typeface="Microsoft YaHei" panose="020B0503020204020204" pitchFamily="34" charset="-122"/>
                <a:cs typeface="Times New Roman" panose="02020603050405020304" pitchFamily="18" charset="0"/>
              </a:rPr>
              <a:t>Thank You</a:t>
            </a:r>
            <a:br>
              <a:rPr lang="en-HK" altLang="zh-TW" sz="6600" b="1" dirty="0">
                <a:solidFill>
                  <a:srgbClr val="2660AD"/>
                </a:solidFill>
                <a:ea typeface="Microsoft YaHei" panose="020B0503020204020204" pitchFamily="34" charset="-122"/>
                <a:cs typeface="Times New Roman" panose="02020603050405020304" pitchFamily="18" charset="0"/>
              </a:rPr>
            </a:br>
            <a:r>
              <a:rPr lang="en-HK" altLang="zh-TW" sz="4000" b="1" dirty="0">
                <a:solidFill>
                  <a:schemeClr val="tx1">
                    <a:lumMod val="50000"/>
                    <a:lumOff val="50000"/>
                  </a:schemeClr>
                </a:solidFill>
                <a:ea typeface="Microsoft YaHei" panose="020B0503020204020204" pitchFamily="34" charset="-122"/>
                <a:cs typeface="Times New Roman" panose="02020603050405020304" pitchFamily="18" charset="0"/>
              </a:rPr>
              <a:t>Korea Market Outlook 2H26</a:t>
            </a:r>
            <a:endParaRPr lang="zh-CN" altLang="en-US" sz="4000" b="1" dirty="0">
              <a:solidFill>
                <a:schemeClr val="tx1">
                  <a:lumMod val="50000"/>
                  <a:lumOff val="50000"/>
                </a:schemeClr>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extLst>
      <p:ext uri="{BB962C8B-B14F-4D97-AF65-F5344CB8AC3E}">
        <p14:creationId xmlns:p14="http://schemas.microsoft.com/office/powerpoint/2010/main" val="24647164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ICON" val="#52562;"/>
</p:tagLst>
</file>

<file path=ppt/tags/tag2.xml><?xml version="1.0" encoding="utf-8"?>
<p:tagLst xmlns:a="http://schemas.openxmlformats.org/drawingml/2006/main" xmlns:r="http://schemas.openxmlformats.org/officeDocument/2006/relationships" xmlns:p="http://schemas.openxmlformats.org/presentationml/2006/main">
  <p:tag name="ISLIDE.ICON" val="#52562;"/>
</p:tagLst>
</file>

<file path=ppt/tags/tag3.xml><?xml version="1.0" encoding="utf-8"?>
<p:tagLst xmlns:a="http://schemas.openxmlformats.org/drawingml/2006/main" xmlns:r="http://schemas.openxmlformats.org/officeDocument/2006/relationships" xmlns:p="http://schemas.openxmlformats.org/presentationml/2006/main">
  <p:tag name="ISLIDE.ICON" val="#52562;"/>
</p:tagLst>
</file>

<file path=ppt/tags/tag4.xml><?xml version="1.0" encoding="utf-8"?>
<p:tagLst xmlns:a="http://schemas.openxmlformats.org/drawingml/2006/main" xmlns:r="http://schemas.openxmlformats.org/officeDocument/2006/relationships" xmlns:p="http://schemas.openxmlformats.org/presentationml/2006/main">
  <p:tag name="ISLIDE.ICON" val="#52562;"/>
</p:tagLst>
</file>

<file path=ppt/tags/tag5.xml><?xml version="1.0" encoding="utf-8"?>
<p:tagLst xmlns:a="http://schemas.openxmlformats.org/drawingml/2006/main" xmlns:r="http://schemas.openxmlformats.org/officeDocument/2006/relationships" xmlns:p="http://schemas.openxmlformats.org/presentationml/2006/main">
  <p:tag name="ISLIDE.ICON" val="#52562;"/>
</p:tagLst>
</file>

<file path=ppt/tags/tag6.xml><?xml version="1.0" encoding="utf-8"?>
<p:tagLst xmlns:a="http://schemas.openxmlformats.org/drawingml/2006/main" xmlns:r="http://schemas.openxmlformats.org/officeDocument/2006/relationships" xmlns:p="http://schemas.openxmlformats.org/presentationml/2006/main">
  <p:tag name="ISLIDE.ICON" val="#52562;"/>
</p:tagLst>
</file>

<file path=ppt/tags/tag7.xml><?xml version="1.0" encoding="utf-8"?>
<p:tagLst xmlns:a="http://schemas.openxmlformats.org/drawingml/2006/main" xmlns:r="http://schemas.openxmlformats.org/officeDocument/2006/relationships" xmlns:p="http://schemas.openxmlformats.org/presentationml/2006/main">
  <p:tag name="ISLIDE.ICON" val="#52562;"/>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3717</TotalTime>
  <Words>5801</Words>
  <Application>Microsoft Macintosh PowerPoint</Application>
  <PresentationFormat>自定义</PresentationFormat>
  <Paragraphs>544</Paragraphs>
  <Slides>34</Slides>
  <Notes>34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34</vt:i4>
      </vt:variant>
    </vt:vector>
  </HeadingPairs>
  <TitlesOfParts>
    <vt:vector size="43" baseType="lpstr">
      <vt:lpstr>Calibri</vt:lpstr>
      <vt:lpstr>Liter</vt:lpstr>
      <vt:lpstr>微软雅黑</vt:lpstr>
      <vt:lpstr>Calibri Light</vt:lpstr>
      <vt:lpstr>Aptos</vt:lpstr>
      <vt:lpstr>微软雅黑</vt:lpstr>
      <vt:lpstr>Arial</vt:lpstr>
      <vt:lpstr>Microsoft JhengHei</vt:lpstr>
      <vt:lpstr>Office Theme</vt:lpstr>
      <vt:lpstr>Korea Market Outlook 2H26 Bumpy but Higher — Earnings-Driven Rally with Manageable Leverage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Korea Market Outlook 2H26</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Korea Market Outlook 2H26</dc:title>
  <dc:subject>Korea Market Outlook 2H26</dc:subject>
  <dc:creator>Kimi</dc:creator>
  <cp:lastModifiedBy>生 陆</cp:lastModifiedBy>
  <cp:revision>60</cp:revision>
  <dcterms:created xsi:type="dcterms:W3CDTF">2026-07-13T14:49:27Z</dcterms:created>
  <dcterms:modified xsi:type="dcterms:W3CDTF">2026-07-21T21:44:48Z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{"Label":"Korea Market Outlook 2H26","ContentProducer":"001191110108MACG2KBH8F10000","ProduceID":"19f5b977-1842-8376-8000-0000eeb5c686","ReservedCode1":"","ContentPropagator":"001191110108MACG2KBH8F20000","PropagateID":"19f5b905-6f42-891b-8000-098ba14e7029","ReservedCode2":""}</vt:lpwstr>
  </property>
  <property fmtid="{D5CDD505-2E9C-101B-9397-08002B2CF9AE}" pid="3" name="MSIP_Label_ce487ca1-3ae9-46d9-9f4f-bccbf4ee90d6_Enabled">
    <vt:lpwstr>true</vt:lpwstr>
  </property>
  <property fmtid="{D5CDD505-2E9C-101B-9397-08002B2CF9AE}" pid="4" name="MSIP_Label_ce487ca1-3ae9-46d9-9f4f-bccbf4ee90d6_SetDate">
    <vt:lpwstr>2026-07-16T03:09:58Z</vt:lpwstr>
  </property>
  <property fmtid="{D5CDD505-2E9C-101B-9397-08002B2CF9AE}" pid="5" name="MSIP_Label_ce487ca1-3ae9-46d9-9f4f-bccbf4ee90d6_Method">
    <vt:lpwstr>Standard</vt:lpwstr>
  </property>
  <property fmtid="{D5CDD505-2E9C-101B-9397-08002B2CF9AE}" pid="6" name="MSIP_Label_ce487ca1-3ae9-46d9-9f4f-bccbf4ee90d6_Name">
    <vt:lpwstr>defa4170-0d19-0005-0004-bc88714345d2</vt:lpwstr>
  </property>
  <property fmtid="{D5CDD505-2E9C-101B-9397-08002B2CF9AE}" pid="7" name="MSIP_Label_ce487ca1-3ae9-46d9-9f4f-bccbf4ee90d6_SiteId">
    <vt:lpwstr>912c1411-7216-4f78-a1e1-a38aea5c33fd</vt:lpwstr>
  </property>
  <property fmtid="{D5CDD505-2E9C-101B-9397-08002B2CF9AE}" pid="8" name="MSIP_Label_ce487ca1-3ae9-46d9-9f4f-bccbf4ee90d6_ActionId">
    <vt:lpwstr>b2f010eb-8ce4-47b3-8972-0fc3be3ac761</vt:lpwstr>
  </property>
  <property fmtid="{D5CDD505-2E9C-101B-9397-08002B2CF9AE}" pid="9" name="MSIP_Label_ce487ca1-3ae9-46d9-9f4f-bccbf4ee90d6_ContentBits">
    <vt:lpwstr>0</vt:lpwstr>
  </property>
  <property fmtid="{D5CDD505-2E9C-101B-9397-08002B2CF9AE}" pid="10" name="MSIP_Label_ce487ca1-3ae9-46d9-9f4f-bccbf4ee90d6_Tag">
    <vt:lpwstr>10, 3, 0, 1</vt:lpwstr>
  </property>
</Properties>
</file>