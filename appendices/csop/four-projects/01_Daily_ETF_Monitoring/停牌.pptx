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48" r:id="rId2"/>
  </p:sldMasterIdLst>
  <p:notesMasterIdLst>
    <p:notesMasterId r:id="rId8"/>
  </p:notesMasterIdLst>
  <p:sldIdLst>
    <p:sldId id="2257" r:id="rId3"/>
    <p:sldId id="2673" r:id="rId4"/>
    <p:sldId id="2677" r:id="rId5"/>
    <p:sldId id="2678" r:id="rId6"/>
    <p:sldId id="2641" r:id="rId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A91B400-038A-4DE2-A4C4-9412DA61AFAC}">
          <p14:sldIdLst>
            <p14:sldId id="2257"/>
            <p14:sldId id="2673"/>
            <p14:sldId id="2677"/>
            <p14:sldId id="2678"/>
            <p14:sldId id="264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8F274C-CBFE-FB9A-26BB-FAA298294DAB}" name="Mia He" initials="MH" userId="S::mia.he@csopasset.com::b34bc824-8729-47c7-b001-48d61de0fdc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629DD1"/>
    <a:srgbClr val="2660AD"/>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DEEDF5-C882-48AC-948A-853D4F4D36B1}" v="107" dt="2025-07-21T09:55:05.7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877" autoAdjust="0"/>
  </p:normalViewPr>
  <p:slideViewPr>
    <p:cSldViewPr snapToGrid="0">
      <p:cViewPr varScale="1">
        <p:scale>
          <a:sx n="95" d="100"/>
          <a:sy n="95" d="100"/>
        </p:scale>
        <p:origin x="11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 Id="rId1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971DAF93-536D-4CDA-BB2D-EFD70DB950C3}" type="datetimeFigureOut">
              <a:t>7/17/2026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CA51E732-A336-4BBA-A94E-67DC52C2E76A}" type="slidenum">
              <a:t>‹#›</a:t>
            </a:fld>
            <a:endParaRPr lang="en-US"/>
          </a:p>
        </p:txBody>
      </p:sp>
    </p:spTree>
    <p:extLst>
      <p:ext uri="{BB962C8B-B14F-4D97-AF65-F5344CB8AC3E}">
        <p14:creationId xmlns:p14="http://schemas.microsoft.com/office/powerpoint/2010/main" val="1893616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A51E732-A336-4BBA-A94E-67DC52C2E76A}" type="slidenum">
              <a:rPr lang="en-US" smtClean="0"/>
              <a:t>1</a:t>
            </a:fld>
            <a:endParaRPr lang="en-US"/>
          </a:p>
        </p:txBody>
      </p:sp>
    </p:spTree>
    <p:extLst>
      <p:ext uri="{BB962C8B-B14F-4D97-AF65-F5344CB8AC3E}">
        <p14:creationId xmlns:p14="http://schemas.microsoft.com/office/powerpoint/2010/main" val="4257325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2A90B-53B6-59FA-559A-7EB88101D5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774422-40E9-FA7A-5822-D930A915A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533DA8-5F90-7408-0991-895C88749A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0603E2-AF24-B735-B319-42A79839CD65}"/>
              </a:ext>
            </a:extLst>
          </p:cNvPr>
          <p:cNvSpPr>
            <a:spLocks noGrp="1"/>
          </p:cNvSpPr>
          <p:nvPr>
            <p:ph type="sldNum" sz="quarter" idx="5"/>
          </p:nvPr>
        </p:nvSpPr>
        <p:spPr/>
        <p:txBody>
          <a:bodyPr/>
          <a:lstStyle/>
          <a:p>
            <a:fld id="{CA51E732-A336-4BBA-A94E-67DC52C2E76A}" type="slidenum">
              <a:rPr lang="en-US" smtClean="0"/>
              <a:t>2</a:t>
            </a:fld>
            <a:endParaRPr lang="en-US"/>
          </a:p>
        </p:txBody>
      </p:sp>
    </p:spTree>
    <p:extLst>
      <p:ext uri="{BB962C8B-B14F-4D97-AF65-F5344CB8AC3E}">
        <p14:creationId xmlns:p14="http://schemas.microsoft.com/office/powerpoint/2010/main" val="3980349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FBC41-9B10-F42C-1499-E72E0BA76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BA1AF-030B-C29B-AB0D-9C6910E5F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6AA29D-C9CA-D61B-0235-F2289699BA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5D795F-4F42-CA1E-897A-26639661B41F}"/>
              </a:ext>
            </a:extLst>
          </p:cNvPr>
          <p:cNvSpPr>
            <a:spLocks noGrp="1"/>
          </p:cNvSpPr>
          <p:nvPr>
            <p:ph type="sldNum" sz="quarter" idx="5"/>
          </p:nvPr>
        </p:nvSpPr>
        <p:spPr/>
        <p:txBody>
          <a:bodyPr/>
          <a:lstStyle/>
          <a:p>
            <a:fld id="{CA51E732-A336-4BBA-A94E-67DC52C2E76A}" type="slidenum">
              <a:rPr lang="en-US" smtClean="0"/>
              <a:t>3</a:t>
            </a:fld>
            <a:endParaRPr lang="en-US"/>
          </a:p>
        </p:txBody>
      </p:sp>
    </p:spTree>
    <p:extLst>
      <p:ext uri="{BB962C8B-B14F-4D97-AF65-F5344CB8AC3E}">
        <p14:creationId xmlns:p14="http://schemas.microsoft.com/office/powerpoint/2010/main" val="1859967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5EE5D-1E42-8B31-4C82-CEE1C871E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452BD-E419-B9E5-D4C8-C921A63F96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A111AF-729C-53EE-8894-A72C15D4B9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4D9EF4-0FF0-8784-041B-07CD7AED0E3C}"/>
              </a:ext>
            </a:extLst>
          </p:cNvPr>
          <p:cNvSpPr>
            <a:spLocks noGrp="1"/>
          </p:cNvSpPr>
          <p:nvPr>
            <p:ph type="sldNum" sz="quarter" idx="5"/>
          </p:nvPr>
        </p:nvSpPr>
        <p:spPr/>
        <p:txBody>
          <a:bodyPr/>
          <a:lstStyle/>
          <a:p>
            <a:fld id="{CA51E732-A336-4BBA-A94E-67DC52C2E76A}" type="slidenum">
              <a:rPr lang="en-US" smtClean="0"/>
              <a:t>4</a:t>
            </a:fld>
            <a:endParaRPr lang="en-US"/>
          </a:p>
        </p:txBody>
      </p:sp>
    </p:spTree>
    <p:extLst>
      <p:ext uri="{BB962C8B-B14F-4D97-AF65-F5344CB8AC3E}">
        <p14:creationId xmlns:p14="http://schemas.microsoft.com/office/powerpoint/2010/main" val="17401519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2FA9D-9E4D-4AC5-A9E5-8688F5C3CA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473365-D148-495C-BF8F-4AB3186CB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3AA1E6-AB54-4887-9760-5015DF9CC959}"/>
              </a:ext>
            </a:extLst>
          </p:cNvPr>
          <p:cNvSpPr>
            <a:spLocks noGrp="1"/>
          </p:cNvSpPr>
          <p:nvPr>
            <p:ph type="dt" sz="half" idx="10"/>
          </p:nvPr>
        </p:nvSpPr>
        <p:spPr/>
        <p:txBody>
          <a:bodyPr/>
          <a:lstStyle/>
          <a:p>
            <a:fld id="{473B5470-04B4-4713-9DAD-6A7C4628FB26}" type="datetime1">
              <a:rPr lang="en-US" smtClean="0"/>
              <a:t>7/17/2026</a:t>
            </a:fld>
            <a:endParaRPr lang="en-US"/>
          </a:p>
        </p:txBody>
      </p:sp>
      <p:sp>
        <p:nvSpPr>
          <p:cNvPr id="5" name="Footer Placeholder 4">
            <a:extLst>
              <a:ext uri="{FF2B5EF4-FFF2-40B4-BE49-F238E27FC236}">
                <a16:creationId xmlns:a16="http://schemas.microsoft.com/office/drawing/2014/main" id="{C29AE6FE-8AA8-470B-B8B2-8EB1E564EEA2}"/>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3561829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75F39FC7-5D40-462A-AAB4-A9DC6AB7CE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ABE0AF-7B5A-44CA-9F9C-55A4128206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18B290-FB1F-442D-B218-B0E55B8F874C}"/>
              </a:ext>
            </a:extLst>
          </p:cNvPr>
          <p:cNvSpPr>
            <a:spLocks noGrp="1"/>
          </p:cNvSpPr>
          <p:nvPr>
            <p:ph type="dt" sz="half" idx="10"/>
          </p:nvPr>
        </p:nvSpPr>
        <p:spPr/>
        <p:txBody>
          <a:bodyPr/>
          <a:lstStyle/>
          <a:p>
            <a:fld id="{D19F4184-50DE-4593-A55C-102097AF577A}" type="datetime1">
              <a:rPr lang="en-US" smtClean="0"/>
              <a:t>7/17/2026</a:t>
            </a:fld>
            <a:endParaRPr lang="en-US"/>
          </a:p>
        </p:txBody>
      </p:sp>
      <p:sp>
        <p:nvSpPr>
          <p:cNvPr id="5" name="Footer Placeholder 4">
            <a:extLst>
              <a:ext uri="{FF2B5EF4-FFF2-40B4-BE49-F238E27FC236}">
                <a16:creationId xmlns:a16="http://schemas.microsoft.com/office/drawing/2014/main" id="{BB18DE60-482C-4610-9E91-20B7D516DAC0}"/>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3859179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3071F-9589-49F7-91AB-8436568FB4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240DCE-10B6-4EB3-BEF1-ECE0EEDBA8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ED936E-F08F-4207-95D0-913671708F65}"/>
              </a:ext>
            </a:extLst>
          </p:cNvPr>
          <p:cNvSpPr>
            <a:spLocks noGrp="1"/>
          </p:cNvSpPr>
          <p:nvPr>
            <p:ph type="dt" sz="half" idx="10"/>
          </p:nvPr>
        </p:nvSpPr>
        <p:spPr/>
        <p:txBody>
          <a:bodyPr/>
          <a:lstStyle/>
          <a:p>
            <a:fld id="{01295929-8D0A-444E-B4B3-C07EAFBCC243}" type="datetime1">
              <a:rPr lang="en-US" smtClean="0"/>
              <a:t>7/17/2026</a:t>
            </a:fld>
            <a:endParaRPr lang="en-US"/>
          </a:p>
        </p:txBody>
      </p:sp>
      <p:sp>
        <p:nvSpPr>
          <p:cNvPr id="5" name="Footer Placeholder 4">
            <a:extLst>
              <a:ext uri="{FF2B5EF4-FFF2-40B4-BE49-F238E27FC236}">
                <a16:creationId xmlns:a16="http://schemas.microsoft.com/office/drawing/2014/main" id="{F4DC22E0-4149-43E7-B10F-CDB81E73B965}"/>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2824622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086002-385B-40C6-A8AA-D5DA4F6B4964}"/>
              </a:ext>
            </a:extLst>
          </p:cNvPr>
          <p:cNvSpPr>
            <a:spLocks noGrp="1"/>
          </p:cNvSpPr>
          <p:nvPr>
            <p:ph type="dt" sz="half" idx="10"/>
          </p:nvPr>
        </p:nvSpPr>
        <p:spPr/>
        <p:txBody>
          <a:bodyPr/>
          <a:lstStyle/>
          <a:p>
            <a:fld id="{65CB792C-F636-46FD-B14C-1367ECE109D5}" type="datetime1">
              <a:rPr lang="en-US" smtClean="0"/>
              <a:t>7/17/2026</a:t>
            </a:fld>
            <a:endParaRPr lang="en-US"/>
          </a:p>
        </p:txBody>
      </p:sp>
      <p:sp>
        <p:nvSpPr>
          <p:cNvPr id="6" name="Footer Placeholder 5">
            <a:extLst>
              <a:ext uri="{FF2B5EF4-FFF2-40B4-BE49-F238E27FC236}">
                <a16:creationId xmlns:a16="http://schemas.microsoft.com/office/drawing/2014/main" id="{253E54D9-2439-4AFC-8FED-8E1C18216247}"/>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388357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2"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933FF121-5058-4CFA-8178-6D1288C583F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A136F1-1176-41AD-998E-C13A637441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40C1F0-BF85-446F-91F2-67A8F4C1B3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5FD74D-7664-4CDF-9BBF-7168CACC8B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46B394-5E6F-40A5-A7F8-A2E5DF1FD2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FE2A17-0A6C-477C-8FBC-FC63E7C9BEB8}"/>
              </a:ext>
            </a:extLst>
          </p:cNvPr>
          <p:cNvSpPr>
            <a:spLocks noGrp="1"/>
          </p:cNvSpPr>
          <p:nvPr>
            <p:ph type="dt" sz="half" idx="10"/>
          </p:nvPr>
        </p:nvSpPr>
        <p:spPr/>
        <p:txBody>
          <a:bodyPr/>
          <a:lstStyle/>
          <a:p>
            <a:fld id="{220F066A-90A2-4575-9742-9045E56E57CB}" type="datetime1">
              <a:rPr lang="en-US" smtClean="0"/>
              <a:t>7/17/2026</a:t>
            </a:fld>
            <a:endParaRPr lang="en-US"/>
          </a:p>
        </p:txBody>
      </p:sp>
      <p:sp>
        <p:nvSpPr>
          <p:cNvPr id="8" name="Footer Placeholder 7">
            <a:extLst>
              <a:ext uri="{FF2B5EF4-FFF2-40B4-BE49-F238E27FC236}">
                <a16:creationId xmlns:a16="http://schemas.microsoft.com/office/drawing/2014/main" id="{D87A8E6D-4D14-4F85-9108-096836A1AA04}"/>
              </a:ext>
            </a:extLst>
          </p:cNvPr>
          <p:cNvSpPr>
            <a:spLocks noGrp="1"/>
          </p:cNvSpPr>
          <p:nvPr>
            <p:ph type="ftr" sz="quarter" idx="11"/>
          </p:nvPr>
        </p:nvSpPr>
        <p:spPr/>
        <p:txBody>
          <a:bodyPr/>
          <a:lstStyle/>
          <a:p>
            <a:endParaRPr lang="en-US"/>
          </a:p>
        </p:txBody>
      </p:sp>
      <p:sp>
        <p:nvSpPr>
          <p:cNvPr id="11" name="Slide Number Placeholder 1"/>
          <p:cNvSpPr>
            <a:spLocks noGrp="1"/>
          </p:cNvSpPr>
          <p:nvPr>
            <p:ph type="sldNum" sz="quarter" idx="12"/>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428361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8"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E7E9B8-6786-4BEB-A198-1D1F7DEACDFE}"/>
              </a:ext>
            </a:extLst>
          </p:cNvPr>
          <p:cNvSpPr>
            <a:spLocks noGrp="1"/>
          </p:cNvSpPr>
          <p:nvPr>
            <p:ph type="dt" sz="half" idx="10"/>
          </p:nvPr>
        </p:nvSpPr>
        <p:spPr/>
        <p:txBody>
          <a:bodyPr/>
          <a:lstStyle/>
          <a:p>
            <a:fld id="{44362B1B-5CEA-4702-8C37-A12B945AE274}" type="datetime1">
              <a:rPr lang="en-US" smtClean="0"/>
              <a:t>7/17/2026</a:t>
            </a:fld>
            <a:endParaRPr lang="en-US"/>
          </a:p>
        </p:txBody>
      </p:sp>
      <p:sp>
        <p:nvSpPr>
          <p:cNvPr id="4" name="Footer Placeholder 3">
            <a:extLst>
              <a:ext uri="{FF2B5EF4-FFF2-40B4-BE49-F238E27FC236}">
                <a16:creationId xmlns:a16="http://schemas.microsoft.com/office/drawing/2014/main" id="{71F6CEEB-EEF8-44AB-B973-876828F9B9B6}"/>
              </a:ext>
            </a:extLst>
          </p:cNvPr>
          <p:cNvSpPr>
            <a:spLocks noGrp="1"/>
          </p:cNvSpPr>
          <p:nvPr>
            <p:ph type="ftr" sz="quarter" idx="11"/>
          </p:nvPr>
        </p:nvSpPr>
        <p:spPr/>
        <p:txBody>
          <a:bodyPr/>
          <a:lstStyle/>
          <a:p>
            <a:endParaRPr lang="en-US"/>
          </a:p>
        </p:txBody>
      </p:sp>
      <p:sp>
        <p:nvSpPr>
          <p:cNvPr id="7"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91451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7"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Date Placeholder 1">
            <a:extLst>
              <a:ext uri="{FF2B5EF4-FFF2-40B4-BE49-F238E27FC236}">
                <a16:creationId xmlns:a16="http://schemas.microsoft.com/office/drawing/2014/main" id="{0642D6CC-44F9-41EA-A189-AB3804A0418F}"/>
              </a:ext>
            </a:extLst>
          </p:cNvPr>
          <p:cNvSpPr>
            <a:spLocks noGrp="1"/>
          </p:cNvSpPr>
          <p:nvPr>
            <p:ph type="dt" sz="half" idx="10"/>
          </p:nvPr>
        </p:nvSpPr>
        <p:spPr/>
        <p:txBody>
          <a:bodyPr/>
          <a:lstStyle/>
          <a:p>
            <a:fld id="{A5D14E78-706F-4625-BFD8-7CFFFB8EC967}" type="datetime1">
              <a:rPr lang="en-US" smtClean="0"/>
              <a:t>7/17/2026</a:t>
            </a:fld>
            <a:endParaRPr lang="en-US"/>
          </a:p>
        </p:txBody>
      </p:sp>
      <p:sp>
        <p:nvSpPr>
          <p:cNvPr id="3" name="Footer Placeholder 2">
            <a:extLst>
              <a:ext uri="{FF2B5EF4-FFF2-40B4-BE49-F238E27FC236}">
                <a16:creationId xmlns:a16="http://schemas.microsoft.com/office/drawing/2014/main" id="{86EEB58B-C8A0-44DA-9A35-332A56DE197C}"/>
              </a:ext>
            </a:extLst>
          </p:cNvPr>
          <p:cNvSpPr>
            <a:spLocks noGrp="1"/>
          </p:cNvSpPr>
          <p:nvPr>
            <p:ph type="ftr" sz="quarter" idx="11"/>
          </p:nvPr>
        </p:nvSpPr>
        <p:spPr/>
        <p:txBody>
          <a:bodyPr/>
          <a:lstStyle/>
          <a:p>
            <a:endParaRPr lang="en-US"/>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3486607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CF70B80C-E6BC-4F50-88C5-12C91E875B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064F85-9359-4123-B2BF-CD49C7E6C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6FE82A-E818-451C-9994-E75026B873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16435-5F3D-4B91-A3C2-A26579F4192F}"/>
              </a:ext>
            </a:extLst>
          </p:cNvPr>
          <p:cNvSpPr>
            <a:spLocks noGrp="1"/>
          </p:cNvSpPr>
          <p:nvPr>
            <p:ph type="dt" sz="half" idx="10"/>
          </p:nvPr>
        </p:nvSpPr>
        <p:spPr/>
        <p:txBody>
          <a:bodyPr/>
          <a:lstStyle/>
          <a:p>
            <a:fld id="{368D1606-4BF0-4879-ADE3-29BC45AFAD95}" type="datetime1">
              <a:rPr lang="en-US" smtClean="0"/>
              <a:t>7/17/2026</a:t>
            </a:fld>
            <a:endParaRPr lang="en-US"/>
          </a:p>
        </p:txBody>
      </p:sp>
      <p:sp>
        <p:nvSpPr>
          <p:cNvPr id="6" name="Footer Placeholder 5">
            <a:extLst>
              <a:ext uri="{FF2B5EF4-FFF2-40B4-BE49-F238E27FC236}">
                <a16:creationId xmlns:a16="http://schemas.microsoft.com/office/drawing/2014/main" id="{AA1149A4-1BE8-45CC-814B-2A83ABFE0C35}"/>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2362979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C0DFABD9-8C51-4078-A106-3BBEF6974C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8E8C82-AB85-454E-890C-86CB68BD15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B77540-6082-4295-94B1-869436ADC7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5B6A7-451B-4257-8A75-DC82424A70D9}"/>
              </a:ext>
            </a:extLst>
          </p:cNvPr>
          <p:cNvSpPr>
            <a:spLocks noGrp="1"/>
          </p:cNvSpPr>
          <p:nvPr>
            <p:ph type="dt" sz="half" idx="10"/>
          </p:nvPr>
        </p:nvSpPr>
        <p:spPr/>
        <p:txBody>
          <a:bodyPr/>
          <a:lstStyle/>
          <a:p>
            <a:fld id="{D2803E93-7DD5-4901-86AF-2283F238DE92}" type="datetime1">
              <a:rPr lang="en-US" smtClean="0"/>
              <a:t>7/17/2026</a:t>
            </a:fld>
            <a:endParaRPr lang="en-US"/>
          </a:p>
        </p:txBody>
      </p:sp>
      <p:sp>
        <p:nvSpPr>
          <p:cNvPr id="6" name="Footer Placeholder 5">
            <a:extLst>
              <a:ext uri="{FF2B5EF4-FFF2-40B4-BE49-F238E27FC236}">
                <a16:creationId xmlns:a16="http://schemas.microsoft.com/office/drawing/2014/main" id="{639D57F9-D75C-4107-BF6D-91847ABF93AF}"/>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254603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EAC5AF9A-2C97-4FA1-B7E3-8B096E0F28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552127-2DF7-49FC-87B8-A93A967296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CC6D91-B64C-44F6-90D7-CB19377C6FC3}"/>
              </a:ext>
            </a:extLst>
          </p:cNvPr>
          <p:cNvSpPr>
            <a:spLocks noGrp="1"/>
          </p:cNvSpPr>
          <p:nvPr>
            <p:ph type="dt" sz="half" idx="10"/>
          </p:nvPr>
        </p:nvSpPr>
        <p:spPr/>
        <p:txBody>
          <a:bodyPr/>
          <a:lstStyle/>
          <a:p>
            <a:fld id="{1955CE92-AA19-4377-81E2-1D4B088672AA}" type="datetime1">
              <a:rPr lang="en-US" smtClean="0"/>
              <a:t>7/17/2026</a:t>
            </a:fld>
            <a:endParaRPr lang="en-US"/>
          </a:p>
        </p:txBody>
      </p:sp>
      <p:sp>
        <p:nvSpPr>
          <p:cNvPr id="5" name="Footer Placeholder 4">
            <a:extLst>
              <a:ext uri="{FF2B5EF4-FFF2-40B4-BE49-F238E27FC236}">
                <a16:creationId xmlns:a16="http://schemas.microsoft.com/office/drawing/2014/main" id="{CCA74666-36FB-4026-B1C6-905288B1F703}"/>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2619941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Vertical Title 1">
            <a:extLst>
              <a:ext uri="{FF2B5EF4-FFF2-40B4-BE49-F238E27FC236}">
                <a16:creationId xmlns:a16="http://schemas.microsoft.com/office/drawing/2014/main" id="{FC3CFBF9-284F-4E21-9395-8C99E967807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EB7618-9FFB-40DC-BF1B-8594C478BB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E73B9C-C168-4F62-8339-6D6C075FDD41}"/>
              </a:ext>
            </a:extLst>
          </p:cNvPr>
          <p:cNvSpPr>
            <a:spLocks noGrp="1"/>
          </p:cNvSpPr>
          <p:nvPr>
            <p:ph type="dt" sz="half" idx="10"/>
          </p:nvPr>
        </p:nvSpPr>
        <p:spPr/>
        <p:txBody>
          <a:bodyPr/>
          <a:lstStyle/>
          <a:p>
            <a:fld id="{7C952145-DF40-41B5-A853-8358D7B7D7E3}" type="datetime1">
              <a:rPr lang="en-US" smtClean="0"/>
              <a:t>7/17/2026</a:t>
            </a:fld>
            <a:endParaRPr lang="en-US"/>
          </a:p>
        </p:txBody>
      </p:sp>
      <p:sp>
        <p:nvSpPr>
          <p:cNvPr id="5" name="Footer Placeholder 4">
            <a:extLst>
              <a:ext uri="{FF2B5EF4-FFF2-40B4-BE49-F238E27FC236}">
                <a16:creationId xmlns:a16="http://schemas.microsoft.com/office/drawing/2014/main" id="{B98CDA9B-63C4-4F39-BEAD-13CCCFCDAA74}"/>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958601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pic>
        <p:nvPicPr>
          <p:cNvPr id="3" name="Picture 2" descr="P:\branding guideline &amp; assets\logo\CSOP_Logo_Bilingual.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2271" y="6319907"/>
            <a:ext cx="1658544" cy="340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3097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Title 1"/>
          <p:cNvSpPr>
            <a:spLocks noGrp="1"/>
          </p:cNvSpPr>
          <p:nvPr>
            <p:ph type="ctrTitle"/>
          </p:nvPr>
        </p:nvSpPr>
        <p:spPr>
          <a:xfrm>
            <a:off x="201600" y="297135"/>
            <a:ext cx="7862400" cy="701731"/>
          </a:xfrm>
        </p:spPr>
        <p:txBody>
          <a:bodyPr/>
          <a:lstStyle/>
          <a:p>
            <a:r>
              <a:rPr lang="en-US"/>
              <a:t>Click to edit Master title style</a:t>
            </a:r>
          </a:p>
        </p:txBody>
      </p:sp>
    </p:spTree>
    <p:extLst>
      <p:ext uri="{BB962C8B-B14F-4D97-AF65-F5344CB8AC3E}">
        <p14:creationId xmlns:p14="http://schemas.microsoft.com/office/powerpoint/2010/main" val="17186791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2" name="Title 1"/>
          <p:cNvSpPr>
            <a:spLocks noGrp="1"/>
          </p:cNvSpPr>
          <p:nvPr>
            <p:ph type="ctrTitle"/>
          </p:nvPr>
        </p:nvSpPr>
        <p:spPr>
          <a:xfrm>
            <a:off x="201600" y="297135"/>
            <a:ext cx="7862400" cy="701731"/>
          </a:xfrm>
        </p:spPr>
        <p:txBody>
          <a:bodyPr/>
          <a:lstStyle/>
          <a:p>
            <a:r>
              <a:rPr lang="en-US"/>
              <a:t>Click to edit Master title style</a:t>
            </a:r>
          </a:p>
        </p:txBody>
      </p:sp>
    </p:spTree>
    <p:extLst>
      <p:ext uri="{BB962C8B-B14F-4D97-AF65-F5344CB8AC3E}">
        <p14:creationId xmlns:p14="http://schemas.microsoft.com/office/powerpoint/2010/main" val="27018832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2" name="Title 1"/>
          <p:cNvSpPr>
            <a:spLocks noGrp="1"/>
          </p:cNvSpPr>
          <p:nvPr>
            <p:ph type="ctrTitle"/>
          </p:nvPr>
        </p:nvSpPr>
        <p:spPr>
          <a:xfrm>
            <a:off x="201600" y="297135"/>
            <a:ext cx="7862400" cy="701731"/>
          </a:xfrm>
        </p:spPr>
        <p:txBody>
          <a:bodyPr/>
          <a:lstStyle/>
          <a:p>
            <a:r>
              <a:rPr lang="en-US"/>
              <a:t>Click to edit Master title style</a:t>
            </a:r>
          </a:p>
        </p:txBody>
      </p:sp>
    </p:spTree>
    <p:extLst>
      <p:ext uri="{BB962C8B-B14F-4D97-AF65-F5344CB8AC3E}">
        <p14:creationId xmlns:p14="http://schemas.microsoft.com/office/powerpoint/2010/main" val="1851192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2FA9D-9E4D-4AC5-A9E5-8688F5C3CA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473365-D148-495C-BF8F-4AB3186CB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3AA1E6-AB54-4887-9760-5015DF9CC959}"/>
              </a:ext>
            </a:extLst>
          </p:cNvPr>
          <p:cNvSpPr>
            <a:spLocks noGrp="1"/>
          </p:cNvSpPr>
          <p:nvPr>
            <p:ph type="dt" sz="half" idx="10"/>
          </p:nvPr>
        </p:nvSpPr>
        <p:spPr/>
        <p:txBody>
          <a:bodyPr/>
          <a:lstStyle/>
          <a:p>
            <a:fld id="{7DC7A84F-3319-48D7-BA39-876F197789A2}" type="datetime1">
              <a:rPr lang="en-US" smtClean="0"/>
              <a:t>7/17/2026</a:t>
            </a:fld>
            <a:endParaRPr lang="en-US"/>
          </a:p>
        </p:txBody>
      </p:sp>
      <p:sp>
        <p:nvSpPr>
          <p:cNvPr id="5" name="Footer Placeholder 4">
            <a:extLst>
              <a:ext uri="{FF2B5EF4-FFF2-40B4-BE49-F238E27FC236}">
                <a16:creationId xmlns:a16="http://schemas.microsoft.com/office/drawing/2014/main" id="{C29AE6FE-8AA8-470B-B8B2-8EB1E564EEA2}"/>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cxnSp>
        <p:nvCxnSpPr>
          <p:cNvPr id="6" name="Straight Connector 5">
            <a:extLst>
              <a:ext uri="{FF2B5EF4-FFF2-40B4-BE49-F238E27FC236}">
                <a16:creationId xmlns:a16="http://schemas.microsoft.com/office/drawing/2014/main" id="{D0E473CE-9116-548E-A2B3-D68750660028}"/>
              </a:ext>
            </a:extLst>
          </p:cNvPr>
          <p:cNvCxnSpPr/>
          <p:nvPr userDrawn="1"/>
        </p:nvCxnSpPr>
        <p:spPr>
          <a:xfrm>
            <a:off x="838199" y="996634"/>
            <a:ext cx="10509227" cy="0"/>
          </a:xfrm>
          <a:prstGeom prst="line">
            <a:avLst/>
          </a:prstGeom>
          <a:ln>
            <a:solidFill>
              <a:srgbClr val="3B6C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3627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39FC7-5D40-462A-AAB4-A9DC6AB7CE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ABE0AF-7B5A-44CA-9F9C-55A4128206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18B290-FB1F-442D-B218-B0E55B8F874C}"/>
              </a:ext>
            </a:extLst>
          </p:cNvPr>
          <p:cNvSpPr>
            <a:spLocks noGrp="1"/>
          </p:cNvSpPr>
          <p:nvPr>
            <p:ph type="dt" sz="half" idx="10"/>
          </p:nvPr>
        </p:nvSpPr>
        <p:spPr/>
        <p:txBody>
          <a:bodyPr/>
          <a:lstStyle/>
          <a:p>
            <a:fld id="{B786140F-56C9-4484-969F-1DA5135316FD}" type="datetime1">
              <a:rPr lang="en-US" smtClean="0"/>
              <a:t>7/17/2026</a:t>
            </a:fld>
            <a:endParaRPr lang="en-US"/>
          </a:p>
        </p:txBody>
      </p:sp>
      <p:sp>
        <p:nvSpPr>
          <p:cNvPr id="5" name="Footer Placeholder 4">
            <a:extLst>
              <a:ext uri="{FF2B5EF4-FFF2-40B4-BE49-F238E27FC236}">
                <a16:creationId xmlns:a16="http://schemas.microsoft.com/office/drawing/2014/main" id="{BB18DE60-482C-4610-9E91-20B7D516DAC0}"/>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11463471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3071F-9589-49F7-91AB-8436568FB4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240DCE-10B6-4EB3-BEF1-ECE0EEDBA8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ED936E-F08F-4207-95D0-913671708F65}"/>
              </a:ext>
            </a:extLst>
          </p:cNvPr>
          <p:cNvSpPr>
            <a:spLocks noGrp="1"/>
          </p:cNvSpPr>
          <p:nvPr>
            <p:ph type="dt" sz="half" idx="10"/>
          </p:nvPr>
        </p:nvSpPr>
        <p:spPr/>
        <p:txBody>
          <a:bodyPr/>
          <a:lstStyle/>
          <a:p>
            <a:fld id="{5B43C804-F633-45E2-B389-A3CA3741B9D8}" type="datetime1">
              <a:rPr lang="en-US" smtClean="0"/>
              <a:t>7/17/2026</a:t>
            </a:fld>
            <a:endParaRPr lang="en-US"/>
          </a:p>
        </p:txBody>
      </p:sp>
      <p:sp>
        <p:nvSpPr>
          <p:cNvPr id="5" name="Footer Placeholder 4">
            <a:extLst>
              <a:ext uri="{FF2B5EF4-FFF2-40B4-BE49-F238E27FC236}">
                <a16:creationId xmlns:a16="http://schemas.microsoft.com/office/drawing/2014/main" id="{F4DC22E0-4149-43E7-B10F-CDB81E73B965}"/>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23901748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086002-385B-40C6-A8AA-D5DA4F6B4964}"/>
              </a:ext>
            </a:extLst>
          </p:cNvPr>
          <p:cNvSpPr>
            <a:spLocks noGrp="1"/>
          </p:cNvSpPr>
          <p:nvPr>
            <p:ph type="dt" sz="half" idx="10"/>
          </p:nvPr>
        </p:nvSpPr>
        <p:spPr/>
        <p:txBody>
          <a:bodyPr/>
          <a:lstStyle/>
          <a:p>
            <a:fld id="{9270AB72-08E5-4F0E-8634-E02A10207959}" type="datetime1">
              <a:rPr lang="en-US" smtClean="0"/>
              <a:t>7/17/2026</a:t>
            </a:fld>
            <a:endParaRPr lang="en-US"/>
          </a:p>
        </p:txBody>
      </p:sp>
      <p:sp>
        <p:nvSpPr>
          <p:cNvPr id="6" name="Footer Placeholder 5">
            <a:extLst>
              <a:ext uri="{FF2B5EF4-FFF2-40B4-BE49-F238E27FC236}">
                <a16:creationId xmlns:a16="http://schemas.microsoft.com/office/drawing/2014/main" id="{253E54D9-2439-4AFC-8FED-8E1C18216247}"/>
              </a:ext>
            </a:extLst>
          </p:cNvPr>
          <p:cNvSpPr>
            <a:spLocks noGrp="1"/>
          </p:cNvSpPr>
          <p:nvPr>
            <p:ph type="ftr" sz="quarter" idx="11"/>
          </p:nvPr>
        </p:nvSpPr>
        <p:spPr/>
        <p:txBody>
          <a:bodyPr/>
          <a:lstStyle/>
          <a:p>
            <a:endParaRPr lang="en-US"/>
          </a:p>
        </p:txBody>
      </p:sp>
      <p:sp>
        <p:nvSpPr>
          <p:cNvPr id="10"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3578605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FF121-5058-4CFA-8178-6D1288C583F2}"/>
              </a:ext>
            </a:extLst>
          </p:cNvPr>
          <p:cNvSpPr>
            <a:spLocks noGrp="1"/>
          </p:cNvSpPr>
          <p:nvPr>
            <p:ph type="title"/>
          </p:nvPr>
        </p:nvSpPr>
        <p:spPr>
          <a:xfrm>
            <a:off x="839788" y="787841"/>
            <a:ext cx="10515600" cy="480131"/>
          </a:xfrm>
        </p:spPr>
        <p:txBody>
          <a:bodyPr/>
          <a:lstStyle>
            <a:lvl1pPr>
              <a:defRPr sz="2800"/>
            </a:lvl1pPr>
          </a:lstStyle>
          <a:p>
            <a:r>
              <a:rPr lang="en-US"/>
              <a:t>Click to edit Master title style</a:t>
            </a:r>
          </a:p>
        </p:txBody>
      </p:sp>
      <p:sp>
        <p:nvSpPr>
          <p:cNvPr id="3" name="Text Placeholder 2">
            <a:extLst>
              <a:ext uri="{FF2B5EF4-FFF2-40B4-BE49-F238E27FC236}">
                <a16:creationId xmlns:a16="http://schemas.microsoft.com/office/drawing/2014/main" id="{04A136F1-1176-41AD-998E-C13A637441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40C1F0-BF85-446F-91F2-67A8F4C1B3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5FD74D-7664-4CDF-9BBF-7168CACC8B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46B394-5E6F-40A5-A7F8-A2E5DF1FD2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FE2A17-0A6C-477C-8FBC-FC63E7C9BEB8}"/>
              </a:ext>
            </a:extLst>
          </p:cNvPr>
          <p:cNvSpPr>
            <a:spLocks noGrp="1"/>
          </p:cNvSpPr>
          <p:nvPr>
            <p:ph type="dt" sz="half" idx="10"/>
          </p:nvPr>
        </p:nvSpPr>
        <p:spPr/>
        <p:txBody>
          <a:bodyPr/>
          <a:lstStyle/>
          <a:p>
            <a:fld id="{7BD41753-D731-457E-8D2C-DD9DD0750D3D}" type="datetime1">
              <a:rPr lang="en-US" smtClean="0"/>
              <a:t>7/17/2026</a:t>
            </a:fld>
            <a:endParaRPr lang="en-US"/>
          </a:p>
        </p:txBody>
      </p:sp>
      <p:sp>
        <p:nvSpPr>
          <p:cNvPr id="8" name="Footer Placeholder 7">
            <a:extLst>
              <a:ext uri="{FF2B5EF4-FFF2-40B4-BE49-F238E27FC236}">
                <a16:creationId xmlns:a16="http://schemas.microsoft.com/office/drawing/2014/main" id="{D87A8E6D-4D14-4F85-9108-096836A1AA04}"/>
              </a:ext>
            </a:extLst>
          </p:cNvPr>
          <p:cNvSpPr>
            <a:spLocks noGrp="1"/>
          </p:cNvSpPr>
          <p:nvPr>
            <p:ph type="ftr" sz="quarter" idx="11"/>
          </p:nvPr>
        </p:nvSpPr>
        <p:spPr/>
        <p:txBody>
          <a:bodyPr/>
          <a:lstStyle/>
          <a:p>
            <a:endParaRPr lang="en-US"/>
          </a:p>
        </p:txBody>
      </p:sp>
      <p:sp>
        <p:nvSpPr>
          <p:cNvPr id="12" name="Slide Number Placeholder 1"/>
          <p:cNvSpPr>
            <a:spLocks noGrp="1"/>
          </p:cNvSpPr>
          <p:nvPr>
            <p:ph type="sldNum" sz="quarter" idx="12"/>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20645234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838200" y="787841"/>
            <a:ext cx="10515600" cy="480131"/>
          </a:xfrm>
        </p:spPr>
        <p:txBody>
          <a:bodyPr/>
          <a:lstStyle>
            <a:lvl1pPr>
              <a:defRPr sz="2800"/>
            </a:lvl1pPr>
          </a:lstStyle>
          <a:p>
            <a:r>
              <a:rPr lang="en-US"/>
              <a:t>Click to edit Master title style</a:t>
            </a:r>
          </a:p>
        </p:txBody>
      </p:sp>
      <p:sp>
        <p:nvSpPr>
          <p:cNvPr id="3" name="Date Placeholder 2">
            <a:extLst>
              <a:ext uri="{FF2B5EF4-FFF2-40B4-BE49-F238E27FC236}">
                <a16:creationId xmlns:a16="http://schemas.microsoft.com/office/drawing/2014/main" id="{39E7E9B8-6786-4BEB-A198-1D1F7DEACDFE}"/>
              </a:ext>
            </a:extLst>
          </p:cNvPr>
          <p:cNvSpPr>
            <a:spLocks noGrp="1"/>
          </p:cNvSpPr>
          <p:nvPr>
            <p:ph type="dt" sz="half" idx="10"/>
          </p:nvPr>
        </p:nvSpPr>
        <p:spPr/>
        <p:txBody>
          <a:bodyPr/>
          <a:lstStyle/>
          <a:p>
            <a:fld id="{65CA03D3-3B06-48B1-9A86-8AB7B57A3E28}" type="datetime1">
              <a:rPr lang="en-US" smtClean="0"/>
              <a:t>7/17/2026</a:t>
            </a:fld>
            <a:endParaRPr lang="en-US"/>
          </a:p>
        </p:txBody>
      </p:sp>
      <p:sp>
        <p:nvSpPr>
          <p:cNvPr id="4" name="Footer Placeholder 3">
            <a:extLst>
              <a:ext uri="{FF2B5EF4-FFF2-40B4-BE49-F238E27FC236}">
                <a16:creationId xmlns:a16="http://schemas.microsoft.com/office/drawing/2014/main" id="{71F6CEEB-EEF8-44AB-B973-876828F9B9B6}"/>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34872200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42D6CC-44F9-41EA-A189-AB3804A0418F}"/>
              </a:ext>
            </a:extLst>
          </p:cNvPr>
          <p:cNvSpPr>
            <a:spLocks noGrp="1"/>
          </p:cNvSpPr>
          <p:nvPr>
            <p:ph type="dt" sz="half" idx="10"/>
          </p:nvPr>
        </p:nvSpPr>
        <p:spPr/>
        <p:txBody>
          <a:bodyPr/>
          <a:lstStyle/>
          <a:p>
            <a:fld id="{C8801417-67FB-44A9-A832-29410182A011}" type="datetime1">
              <a:rPr lang="en-US" smtClean="0"/>
              <a:t>7/17/2026</a:t>
            </a:fld>
            <a:endParaRPr lang="en-US"/>
          </a:p>
        </p:txBody>
      </p:sp>
      <p:sp>
        <p:nvSpPr>
          <p:cNvPr id="3" name="Footer Placeholder 2">
            <a:extLst>
              <a:ext uri="{FF2B5EF4-FFF2-40B4-BE49-F238E27FC236}">
                <a16:creationId xmlns:a16="http://schemas.microsoft.com/office/drawing/2014/main" id="{86EEB58B-C8A0-44DA-9A35-332A56DE197C}"/>
              </a:ext>
            </a:extLst>
          </p:cNvPr>
          <p:cNvSpPr>
            <a:spLocks noGrp="1"/>
          </p:cNvSpPr>
          <p:nvPr>
            <p:ph type="ftr" sz="quarter" idx="11"/>
          </p:nvPr>
        </p:nvSpPr>
        <p:spPr/>
        <p:txBody>
          <a:bodyPr/>
          <a:lstStyle/>
          <a:p>
            <a:endParaRPr lang="en-US"/>
          </a:p>
        </p:txBody>
      </p:sp>
      <p:sp>
        <p:nvSpPr>
          <p:cNvPr id="7"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140795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0B80C-E6BC-4F50-88C5-12C91E875B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064F85-9359-4123-B2BF-CD49C7E6C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6FE82A-E818-451C-9994-E75026B873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16435-5F3D-4B91-A3C2-A26579F4192F}"/>
              </a:ext>
            </a:extLst>
          </p:cNvPr>
          <p:cNvSpPr>
            <a:spLocks noGrp="1"/>
          </p:cNvSpPr>
          <p:nvPr>
            <p:ph type="dt" sz="half" idx="10"/>
          </p:nvPr>
        </p:nvSpPr>
        <p:spPr/>
        <p:txBody>
          <a:bodyPr/>
          <a:lstStyle/>
          <a:p>
            <a:fld id="{8727D49A-EBDB-4B9C-A228-A70C10960D6B}" type="datetime1">
              <a:rPr lang="en-US" smtClean="0"/>
              <a:t>7/17/2026</a:t>
            </a:fld>
            <a:endParaRPr lang="en-US"/>
          </a:p>
        </p:txBody>
      </p:sp>
      <p:sp>
        <p:nvSpPr>
          <p:cNvPr id="6" name="Footer Placeholder 5">
            <a:extLst>
              <a:ext uri="{FF2B5EF4-FFF2-40B4-BE49-F238E27FC236}">
                <a16:creationId xmlns:a16="http://schemas.microsoft.com/office/drawing/2014/main" id="{AA1149A4-1BE8-45CC-814B-2A83ABFE0C35}"/>
              </a:ext>
            </a:extLst>
          </p:cNvPr>
          <p:cNvSpPr>
            <a:spLocks noGrp="1"/>
          </p:cNvSpPr>
          <p:nvPr>
            <p:ph type="ftr" sz="quarter" idx="11"/>
          </p:nvPr>
        </p:nvSpPr>
        <p:spPr/>
        <p:txBody>
          <a:bodyPr/>
          <a:lstStyle/>
          <a:p>
            <a:endParaRPr lang="en-US"/>
          </a:p>
        </p:txBody>
      </p:sp>
      <p:sp>
        <p:nvSpPr>
          <p:cNvPr id="10"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40074021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FABD9-8C51-4078-A106-3BBEF6974C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8E8C82-AB85-454E-890C-86CB68BD15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B77540-6082-4295-94B1-869436ADC7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5B6A7-451B-4257-8A75-DC82424A70D9}"/>
              </a:ext>
            </a:extLst>
          </p:cNvPr>
          <p:cNvSpPr>
            <a:spLocks noGrp="1"/>
          </p:cNvSpPr>
          <p:nvPr>
            <p:ph type="dt" sz="half" idx="10"/>
          </p:nvPr>
        </p:nvSpPr>
        <p:spPr/>
        <p:txBody>
          <a:bodyPr/>
          <a:lstStyle/>
          <a:p>
            <a:fld id="{A4BA01C1-EBF9-44B3-BCE0-FA541FFC99EC}" type="datetime1">
              <a:rPr lang="en-US" smtClean="0"/>
              <a:t>7/17/2026</a:t>
            </a:fld>
            <a:endParaRPr lang="en-US"/>
          </a:p>
        </p:txBody>
      </p:sp>
      <p:sp>
        <p:nvSpPr>
          <p:cNvPr id="6" name="Footer Placeholder 5">
            <a:extLst>
              <a:ext uri="{FF2B5EF4-FFF2-40B4-BE49-F238E27FC236}">
                <a16:creationId xmlns:a16="http://schemas.microsoft.com/office/drawing/2014/main" id="{639D57F9-D75C-4107-BF6D-91847ABF93AF}"/>
              </a:ext>
            </a:extLst>
          </p:cNvPr>
          <p:cNvSpPr>
            <a:spLocks noGrp="1"/>
          </p:cNvSpPr>
          <p:nvPr>
            <p:ph type="ftr" sz="quarter" idx="11"/>
          </p:nvPr>
        </p:nvSpPr>
        <p:spPr/>
        <p:txBody>
          <a:bodyPr/>
          <a:lstStyle/>
          <a:p>
            <a:endParaRPr lang="en-US"/>
          </a:p>
        </p:txBody>
      </p:sp>
      <p:sp>
        <p:nvSpPr>
          <p:cNvPr id="10"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35821748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5AF9A-2C97-4FA1-B7E3-8B096E0F28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552127-2DF7-49FC-87B8-A93A967296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CC6D91-B64C-44F6-90D7-CB19377C6FC3}"/>
              </a:ext>
            </a:extLst>
          </p:cNvPr>
          <p:cNvSpPr>
            <a:spLocks noGrp="1"/>
          </p:cNvSpPr>
          <p:nvPr>
            <p:ph type="dt" sz="half" idx="10"/>
          </p:nvPr>
        </p:nvSpPr>
        <p:spPr/>
        <p:txBody>
          <a:bodyPr/>
          <a:lstStyle/>
          <a:p>
            <a:fld id="{DDAA5A76-803F-4ADF-A93E-082E0CD244EC}" type="datetime1">
              <a:rPr lang="en-US" smtClean="0"/>
              <a:t>7/17/2026</a:t>
            </a:fld>
            <a:endParaRPr lang="en-US"/>
          </a:p>
        </p:txBody>
      </p:sp>
      <p:sp>
        <p:nvSpPr>
          <p:cNvPr id="5" name="Footer Placeholder 4">
            <a:extLst>
              <a:ext uri="{FF2B5EF4-FFF2-40B4-BE49-F238E27FC236}">
                <a16:creationId xmlns:a16="http://schemas.microsoft.com/office/drawing/2014/main" id="{CCA74666-36FB-4026-B1C6-905288B1F703}"/>
              </a:ext>
            </a:extLst>
          </p:cNvPr>
          <p:cNvSpPr>
            <a:spLocks noGrp="1"/>
          </p:cNvSpPr>
          <p:nvPr>
            <p:ph type="ftr" sz="quarter" idx="11"/>
          </p:nvPr>
        </p:nvSpPr>
        <p:spPr/>
        <p:txBody>
          <a:bodyPr/>
          <a:lstStyle/>
          <a:p>
            <a:endParaRPr lang="en-US"/>
          </a:p>
        </p:txBody>
      </p:sp>
      <p:sp>
        <p:nvSpPr>
          <p:cNvPr id="10"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20695389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3CFBF9-284F-4E21-9395-8C99E967807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EB7618-9FFB-40DC-BF1B-8594C478BB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E73B9C-C168-4F62-8339-6D6C075FDD41}"/>
              </a:ext>
            </a:extLst>
          </p:cNvPr>
          <p:cNvSpPr>
            <a:spLocks noGrp="1"/>
          </p:cNvSpPr>
          <p:nvPr>
            <p:ph type="dt" sz="half" idx="10"/>
          </p:nvPr>
        </p:nvSpPr>
        <p:spPr/>
        <p:txBody>
          <a:bodyPr/>
          <a:lstStyle/>
          <a:p>
            <a:fld id="{B068F94D-5620-42DA-A029-3126BE25CCB7}" type="datetime1">
              <a:rPr lang="en-US" smtClean="0"/>
              <a:t>7/17/2026</a:t>
            </a:fld>
            <a:endParaRPr lang="en-US"/>
          </a:p>
        </p:txBody>
      </p:sp>
      <p:sp>
        <p:nvSpPr>
          <p:cNvPr id="5" name="Footer Placeholder 4">
            <a:extLst>
              <a:ext uri="{FF2B5EF4-FFF2-40B4-BE49-F238E27FC236}">
                <a16:creationId xmlns:a16="http://schemas.microsoft.com/office/drawing/2014/main" id="{B98CDA9B-63C4-4F39-BEAD-13CCCFCDAA74}"/>
              </a:ext>
            </a:extLst>
          </p:cNvPr>
          <p:cNvSpPr>
            <a:spLocks noGrp="1"/>
          </p:cNvSpPr>
          <p:nvPr>
            <p:ph type="ftr" sz="quarter" idx="11"/>
          </p:nvPr>
        </p:nvSpPr>
        <p:spPr/>
        <p:txBody>
          <a:bodyPr/>
          <a:lstStyle/>
          <a:p>
            <a:endParaRPr lang="en-US"/>
          </a:p>
        </p:txBody>
      </p:sp>
      <p:sp>
        <p:nvSpPr>
          <p:cNvPr id="10"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3953066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1.pn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E52D3B-1640-43FA-A33B-870224C719F7}"/>
              </a:ext>
            </a:extLst>
          </p:cNvPr>
          <p:cNvSpPr>
            <a:spLocks noGrp="1"/>
          </p:cNvSpPr>
          <p:nvPr>
            <p:ph type="title"/>
          </p:nvPr>
        </p:nvSpPr>
        <p:spPr>
          <a:xfrm>
            <a:off x="838200" y="677041"/>
            <a:ext cx="10515600" cy="701731"/>
          </a:xfrm>
          <a:prstGeom prst="rect">
            <a:avLst/>
          </a:prstGeom>
        </p:spPr>
        <p:txBody>
          <a:bodyPr vert="horz" lIns="0" tIns="45720" rIns="0" bIns="45720" rtlCol="0" anchor="ctr">
            <a:spAutoFit/>
          </a:bodyPr>
          <a:lstStyle/>
          <a:p>
            <a:r>
              <a:rPr lang="en-US"/>
              <a:t>Click to edit Master title style</a:t>
            </a:r>
          </a:p>
        </p:txBody>
      </p:sp>
      <p:sp>
        <p:nvSpPr>
          <p:cNvPr id="3" name="Text Placeholder 2">
            <a:extLst>
              <a:ext uri="{FF2B5EF4-FFF2-40B4-BE49-F238E27FC236}">
                <a16:creationId xmlns:a16="http://schemas.microsoft.com/office/drawing/2014/main" id="{64D03963-46E1-4422-98B0-F8C00E7A8054}"/>
              </a:ext>
            </a:extLst>
          </p:cNvPr>
          <p:cNvSpPr>
            <a:spLocks noGrp="1"/>
          </p:cNvSpPr>
          <p:nvPr>
            <p:ph type="body" idx="1"/>
          </p:nvPr>
        </p:nvSpPr>
        <p:spPr>
          <a:xfrm>
            <a:off x="838200" y="1825625"/>
            <a:ext cx="10515600" cy="1844608"/>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91239-53F7-499D-9987-29D62F3E2A5E}"/>
              </a:ext>
            </a:extLst>
          </p:cNvPr>
          <p:cNvSpPr>
            <a:spLocks noGrp="1"/>
          </p:cNvSpPr>
          <p:nvPr>
            <p:ph type="dt" sz="half" idx="2"/>
          </p:nvPr>
        </p:nvSpPr>
        <p:spPr>
          <a:xfrm>
            <a:off x="838200" y="6400413"/>
            <a:ext cx="2743200" cy="276999"/>
          </a:xfrm>
          <a:prstGeom prst="rect">
            <a:avLst/>
          </a:prstGeom>
        </p:spPr>
        <p:txBody>
          <a:bodyPr vert="horz" lIns="0" tIns="45720" rIns="0" bIns="45720" rtlCol="0" anchor="ctr">
            <a:spAutoFit/>
          </a:bodyPr>
          <a:lstStyle>
            <a:lvl1pPr algn="l">
              <a:defRPr sz="1200">
                <a:solidFill>
                  <a:schemeClr val="tx1">
                    <a:tint val="75000"/>
                  </a:schemeClr>
                </a:solidFill>
              </a:defRPr>
            </a:lvl1pPr>
          </a:lstStyle>
          <a:p>
            <a:fld id="{F5273542-AE95-439F-83F4-D8754E60CE08}" type="datetime1">
              <a:rPr lang="en-US" smtClean="0"/>
              <a:t>7/17/2026</a:t>
            </a:fld>
            <a:endParaRPr lang="en-US"/>
          </a:p>
        </p:txBody>
      </p:sp>
      <p:sp>
        <p:nvSpPr>
          <p:cNvPr id="5" name="Footer Placeholder 4">
            <a:extLst>
              <a:ext uri="{FF2B5EF4-FFF2-40B4-BE49-F238E27FC236}">
                <a16:creationId xmlns:a16="http://schemas.microsoft.com/office/drawing/2014/main" id="{818FC6ED-0376-4286-B5C9-90D492627976}"/>
              </a:ext>
            </a:extLst>
          </p:cNvPr>
          <p:cNvSpPr>
            <a:spLocks noGrp="1"/>
          </p:cNvSpPr>
          <p:nvPr>
            <p:ph type="ftr" sz="quarter" idx="3"/>
          </p:nvPr>
        </p:nvSpPr>
        <p:spPr>
          <a:xfrm>
            <a:off x="4038600" y="6400413"/>
            <a:ext cx="4114800" cy="276999"/>
          </a:xfrm>
          <a:prstGeom prst="rect">
            <a:avLst/>
          </a:prstGeom>
        </p:spPr>
        <p:txBody>
          <a:bodyPr vert="horz" lIns="0" tIns="45720" rIns="0" bIns="45720" rtlCol="0" anchor="ctr">
            <a:spAutoFit/>
          </a:bodyPr>
          <a:lstStyle>
            <a:lvl1pPr algn="ctr">
              <a:defRPr sz="1200">
                <a:solidFill>
                  <a:schemeClr val="tx1">
                    <a:tint val="75000"/>
                  </a:schemeClr>
                </a:solidFill>
              </a:defRPr>
            </a:lvl1p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33117378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732" r:id="rId12"/>
    <p:sldLayoutId id="2147483733" r:id="rId13"/>
    <p:sldLayoutId id="2147483734" r:id="rId14"/>
    <p:sldLayoutId id="2147483735"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14"/>
              </a:ext>
            </a:extLst>
          </a:blip>
          <a:srcRect l="8591" t="32054" r="4677" b="40437"/>
          <a:stretch/>
        </p:blipFill>
        <p:spPr>
          <a:xfrm>
            <a:off x="0" y="6522721"/>
            <a:ext cx="7837402" cy="335280"/>
          </a:xfrm>
          <a:prstGeom prst="rect">
            <a:avLst/>
          </a:prstGeom>
        </p:spPr>
      </p:pic>
      <p:sp>
        <p:nvSpPr>
          <p:cNvPr id="2" name="Title Placeholder 1">
            <a:extLst>
              <a:ext uri="{FF2B5EF4-FFF2-40B4-BE49-F238E27FC236}">
                <a16:creationId xmlns:a16="http://schemas.microsoft.com/office/drawing/2014/main" id="{6EE52D3B-1640-43FA-A33B-870224C719F7}"/>
              </a:ext>
            </a:extLst>
          </p:cNvPr>
          <p:cNvSpPr>
            <a:spLocks noGrp="1"/>
          </p:cNvSpPr>
          <p:nvPr>
            <p:ph type="title"/>
          </p:nvPr>
        </p:nvSpPr>
        <p:spPr>
          <a:xfrm>
            <a:off x="838200" y="677041"/>
            <a:ext cx="10515600" cy="701731"/>
          </a:xfrm>
          <a:prstGeom prst="rect">
            <a:avLst/>
          </a:prstGeom>
        </p:spPr>
        <p:txBody>
          <a:bodyPr vert="horz" lIns="0" tIns="45720" rIns="0" bIns="45720" rtlCol="0" anchor="ctr">
            <a:spAutoFit/>
          </a:bodyPr>
          <a:lstStyle/>
          <a:p>
            <a:r>
              <a:rPr lang="en-US"/>
              <a:t>Click to edit Master title style</a:t>
            </a:r>
          </a:p>
        </p:txBody>
      </p:sp>
      <p:sp>
        <p:nvSpPr>
          <p:cNvPr id="3" name="Text Placeholder 2">
            <a:extLst>
              <a:ext uri="{FF2B5EF4-FFF2-40B4-BE49-F238E27FC236}">
                <a16:creationId xmlns:a16="http://schemas.microsoft.com/office/drawing/2014/main" id="{64D03963-46E1-4422-98B0-F8C00E7A8054}"/>
              </a:ext>
            </a:extLst>
          </p:cNvPr>
          <p:cNvSpPr>
            <a:spLocks noGrp="1"/>
          </p:cNvSpPr>
          <p:nvPr>
            <p:ph type="body" idx="1"/>
          </p:nvPr>
        </p:nvSpPr>
        <p:spPr>
          <a:xfrm>
            <a:off x="838200" y="1825625"/>
            <a:ext cx="10515600" cy="1844608"/>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91239-53F7-499D-9987-29D62F3E2A5E}"/>
              </a:ext>
            </a:extLst>
          </p:cNvPr>
          <p:cNvSpPr>
            <a:spLocks noGrp="1"/>
          </p:cNvSpPr>
          <p:nvPr>
            <p:ph type="dt" sz="half" idx="2"/>
          </p:nvPr>
        </p:nvSpPr>
        <p:spPr>
          <a:xfrm>
            <a:off x="838200" y="6400413"/>
            <a:ext cx="2743200" cy="276999"/>
          </a:xfrm>
          <a:prstGeom prst="rect">
            <a:avLst/>
          </a:prstGeom>
        </p:spPr>
        <p:txBody>
          <a:bodyPr vert="horz" lIns="0" tIns="45720" rIns="0" bIns="45720" rtlCol="0" anchor="ctr">
            <a:spAutoFit/>
          </a:bodyPr>
          <a:lstStyle>
            <a:lvl1pPr algn="l">
              <a:defRPr sz="1200">
                <a:solidFill>
                  <a:schemeClr val="tx1">
                    <a:tint val="75000"/>
                  </a:schemeClr>
                </a:solidFill>
              </a:defRPr>
            </a:lvl1pPr>
          </a:lstStyle>
          <a:p>
            <a:fld id="{2BD8F227-81EB-4A3F-9E78-919C0CF71D38}" type="datetime1">
              <a:rPr lang="en-US" smtClean="0"/>
              <a:t>7/17/2026</a:t>
            </a:fld>
            <a:endParaRPr lang="en-US"/>
          </a:p>
        </p:txBody>
      </p:sp>
      <p:sp>
        <p:nvSpPr>
          <p:cNvPr id="5" name="Footer Placeholder 4">
            <a:extLst>
              <a:ext uri="{FF2B5EF4-FFF2-40B4-BE49-F238E27FC236}">
                <a16:creationId xmlns:a16="http://schemas.microsoft.com/office/drawing/2014/main" id="{818FC6ED-0376-4286-B5C9-90D492627976}"/>
              </a:ext>
            </a:extLst>
          </p:cNvPr>
          <p:cNvSpPr>
            <a:spLocks noGrp="1"/>
          </p:cNvSpPr>
          <p:nvPr>
            <p:ph type="ftr" sz="quarter" idx="3"/>
          </p:nvPr>
        </p:nvSpPr>
        <p:spPr>
          <a:xfrm>
            <a:off x="4038600" y="6400413"/>
            <a:ext cx="4114800" cy="276999"/>
          </a:xfrm>
          <a:prstGeom prst="rect">
            <a:avLst/>
          </a:prstGeom>
        </p:spPr>
        <p:txBody>
          <a:bodyPr vert="horz" lIns="0" tIns="45720" rIns="0" bIns="45720" rtlCol="0" anchor="ctr">
            <a:spAutoFit/>
          </a:bodyPr>
          <a:lstStyle>
            <a:lvl1pPr algn="ctr">
              <a:defRPr sz="1200">
                <a:solidFill>
                  <a:schemeClr val="tx1">
                    <a:tint val="75000"/>
                  </a:schemeClr>
                </a:solidFill>
              </a:defRPr>
            </a:lvl1pPr>
          </a:lstStyle>
          <a:p>
            <a:endParaRPr lang="en-US"/>
          </a:p>
        </p:txBody>
      </p:sp>
      <p:sp>
        <p:nvSpPr>
          <p:cNvPr id="11"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2952832446"/>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1.xml"/><Relationship Id="rId5" Type="http://schemas.openxmlformats.org/officeDocument/2006/relationships/image" Target="../media/image9.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3A0E51A-1167-43F8-A683-43A7C784F791}"/>
              </a:ext>
            </a:extLst>
          </p:cNvPr>
          <p:cNvSpPr/>
          <p:nvPr/>
        </p:nvSpPr>
        <p:spPr>
          <a:xfrm>
            <a:off x="0" y="0"/>
            <a:ext cx="12192000" cy="6858000"/>
          </a:xfrm>
          <a:prstGeom prst="rect">
            <a:avLst/>
          </a:prstGeom>
          <a:gradFill flip="none" rotWithShape="1">
            <a:gsLst>
              <a:gs pos="39000">
                <a:schemeClr val="accent1">
                  <a:lumMod val="5000"/>
                  <a:lumOff val="95000"/>
                </a:schemeClr>
              </a:gs>
              <a:gs pos="100000">
                <a:schemeClr val="bg1">
                  <a:alpha val="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Picture 9" descr="Logo&#10;&#10;Description automatically generated">
            <a:extLst>
              <a:ext uri="{FF2B5EF4-FFF2-40B4-BE49-F238E27FC236}">
                <a16:creationId xmlns:a16="http://schemas.microsoft.com/office/drawing/2014/main" id="{35CE8992-D90B-4A0B-8A19-7212425778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
        <p:nvSpPr>
          <p:cNvPr id="8" name="Title 1">
            <a:extLst>
              <a:ext uri="{FF2B5EF4-FFF2-40B4-BE49-F238E27FC236}">
                <a16:creationId xmlns:a16="http://schemas.microsoft.com/office/drawing/2014/main" id="{66007BE5-B67F-47EA-9D4A-11CA60B431F0}"/>
              </a:ext>
            </a:extLst>
          </p:cNvPr>
          <p:cNvSpPr>
            <a:spLocks noGrp="1"/>
          </p:cNvSpPr>
          <p:nvPr>
            <p:ph type="ctrTitle"/>
          </p:nvPr>
        </p:nvSpPr>
        <p:spPr>
          <a:xfrm>
            <a:off x="575602" y="3515197"/>
            <a:ext cx="6102990" cy="1200329"/>
          </a:xfrm>
        </p:spPr>
        <p:txBody>
          <a:bodyPr wrap="square">
            <a:spAutoFit/>
          </a:bodyPr>
          <a:lstStyle/>
          <a:p>
            <a:pPr algn="l">
              <a:lnSpc>
                <a:spcPct val="100000"/>
              </a:lnSpc>
            </a:pPr>
            <a:br>
              <a:rPr lang="en-US" sz="4000" b="1">
                <a:solidFill>
                  <a:srgbClr val="2660AD"/>
                </a:solidFill>
              </a:rPr>
            </a:br>
            <a:r>
              <a:rPr lang="en-US" altLang="zh-HK" sz="3200" b="1" err="1">
                <a:solidFill>
                  <a:srgbClr val="2660AD"/>
                </a:solidFill>
                <a:latin typeface="Times New Roman" panose="02020603050405020304" pitchFamily="18" charset="0"/>
                <a:ea typeface="Microsoft YaHei" panose="020B0503020204020204" pitchFamily="34" charset="-122"/>
                <a:cs typeface="Times New Roman" panose="02020603050405020304" pitchFamily="18" charset="0"/>
              </a:rPr>
              <a:t>WeeklyETFFundFlowsUpdates</a:t>
            </a:r>
            <a:endParaRPr lang="en-US" sz="4000" b="1">
              <a:solidFill>
                <a:srgbClr val="2660AD"/>
              </a:solidFill>
            </a:endParaRPr>
          </a:p>
        </p:txBody>
      </p:sp>
      <p:sp>
        <p:nvSpPr>
          <p:cNvPr id="9" name="Subtitle 2">
            <a:extLst>
              <a:ext uri="{FF2B5EF4-FFF2-40B4-BE49-F238E27FC236}">
                <a16:creationId xmlns:a16="http://schemas.microsoft.com/office/drawing/2014/main" id="{3F5A776B-1C0B-4972-9900-E47843A517F0}"/>
              </a:ext>
            </a:extLst>
          </p:cNvPr>
          <p:cNvSpPr>
            <a:spLocks noGrp="1"/>
          </p:cNvSpPr>
          <p:nvPr>
            <p:ph type="subTitle" idx="1"/>
          </p:nvPr>
        </p:nvSpPr>
        <p:spPr>
          <a:xfrm>
            <a:off x="607876" y="4807601"/>
            <a:ext cx="4727918" cy="369332"/>
          </a:xfrm>
        </p:spPr>
        <p:txBody>
          <a:bodyPr wrap="square">
            <a:spAutoFit/>
          </a:bodyPr>
          <a:lstStyle/>
          <a:p>
            <a:pPr algn="l"/>
            <a:r>
              <a:rPr lang="en-US" altLang="zh-CN" sz="2000">
                <a:solidFill>
                  <a:schemeClr val="tx1">
                    <a:lumMod val="75000"/>
                  </a:schemeClr>
                </a:solidFill>
                <a:latin typeface="+mj-lt"/>
              </a:rPr>
              <a:t>8/8</a:t>
            </a:r>
            <a:r>
              <a:rPr lang="en-US" altLang="zh-HK" sz="2000">
                <a:solidFill>
                  <a:schemeClr val="tx1">
                    <a:lumMod val="75000"/>
                  </a:schemeClr>
                </a:solidFill>
                <a:latin typeface="+mj-lt"/>
              </a:rPr>
              <a:t>/202</a:t>
            </a:r>
            <a:r>
              <a:rPr lang="en-US" altLang="zh-CN" sz="2000">
                <a:solidFill>
                  <a:schemeClr val="tx1">
                    <a:lumMod val="75000"/>
                  </a:schemeClr>
                </a:solidFill>
                <a:latin typeface="+mj-lt"/>
              </a:rPr>
              <a:t>2</a:t>
            </a:r>
            <a:r>
              <a:rPr lang="en-US" altLang="zh-HK" sz="2000">
                <a:solidFill>
                  <a:schemeClr val="tx1">
                    <a:lumMod val="75000"/>
                  </a:schemeClr>
                </a:solidFill>
                <a:latin typeface="+mj-lt"/>
              </a:rPr>
              <a:t>–8</a:t>
            </a:r>
            <a:r>
              <a:rPr lang="en-US" altLang="zh-CN" sz="2000">
                <a:solidFill>
                  <a:schemeClr val="tx1">
                    <a:lumMod val="75000"/>
                  </a:schemeClr>
                </a:solidFill>
                <a:latin typeface="+mj-lt"/>
              </a:rPr>
              <a:t>/12</a:t>
            </a:r>
            <a:r>
              <a:rPr lang="en-US" altLang="zh-HK" sz="2000">
                <a:solidFill>
                  <a:schemeClr val="tx1">
                    <a:lumMod val="75000"/>
                  </a:schemeClr>
                </a:solidFill>
                <a:latin typeface="+mj-lt"/>
              </a:rPr>
              <a:t>/202</a:t>
            </a:r>
            <a:r>
              <a:rPr lang="en-US" altLang="zh-CN" sz="2000">
                <a:solidFill>
                  <a:schemeClr val="tx1">
                    <a:lumMod val="75000"/>
                  </a:schemeClr>
                </a:solidFill>
                <a:latin typeface="+mj-lt"/>
              </a:rPr>
              <a:t>2</a:t>
            </a:r>
            <a:endParaRPr lang="en-US" altLang="zh-HK" sz="2000">
              <a:solidFill>
                <a:schemeClr val="tx1">
                  <a:lumMod val="75000"/>
                </a:schemeClr>
              </a:solidFill>
              <a:latin typeface="+mj-lt"/>
            </a:endParaRPr>
          </a:p>
        </p:txBody>
      </p:sp>
      <p:pic>
        <p:nvPicPr>
          <p:cNvPr id="3" name="Picture 2" descr="A picture containing text, train, track, outdoor&#10;&#10;Description automatically generated">
            <a:extLst>
              <a:ext uri="{FF2B5EF4-FFF2-40B4-BE49-F238E27FC236}">
                <a16:creationId xmlns:a16="http://schemas.microsoft.com/office/drawing/2014/main" id="{C968AB3F-AE33-1888-0928-0E2C285AB9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3" y="0"/>
            <a:ext cx="12181854" cy="6858000"/>
          </a:xfrm>
          <a:prstGeom prst="rect">
            <a:avLst/>
          </a:prstGeom>
        </p:spPr>
      </p:pic>
      <p:sp>
        <p:nvSpPr>
          <p:cNvPr id="4" name="Rectangle 3">
            <a:extLst>
              <a:ext uri="{FF2B5EF4-FFF2-40B4-BE49-F238E27FC236}">
                <a16:creationId xmlns:a16="http://schemas.microsoft.com/office/drawing/2014/main" id="{A7E42135-72AC-64C2-E185-AC87602ED4B9}"/>
              </a:ext>
            </a:extLst>
          </p:cNvPr>
          <p:cNvSpPr/>
          <p:nvPr/>
        </p:nvSpPr>
        <p:spPr>
          <a:xfrm>
            <a:off x="-5073" y="0"/>
            <a:ext cx="12192000" cy="6858000"/>
          </a:xfrm>
          <a:prstGeom prst="rect">
            <a:avLst/>
          </a:prstGeom>
          <a:gradFill flip="none" rotWithShape="1">
            <a:gsLst>
              <a:gs pos="39000">
                <a:schemeClr val="accent1">
                  <a:lumMod val="5000"/>
                  <a:lumOff val="95000"/>
                </a:schemeClr>
              </a:gs>
              <a:gs pos="100000">
                <a:schemeClr val="bg1">
                  <a:alpha val="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5" name="Picture 4" descr="Logo&#10;&#10;Description automatically generated">
            <a:extLst>
              <a:ext uri="{FF2B5EF4-FFF2-40B4-BE49-F238E27FC236}">
                <a16:creationId xmlns:a16="http://schemas.microsoft.com/office/drawing/2014/main" id="{E5B1F526-EBE5-75F0-F36B-AA585999AD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2132" y="978932"/>
            <a:ext cx="3351948" cy="822933"/>
          </a:xfrm>
          <a:prstGeom prst="rect">
            <a:avLst/>
          </a:prstGeom>
        </p:spPr>
      </p:pic>
      <p:sp>
        <p:nvSpPr>
          <p:cNvPr id="7" name="Title 1">
            <a:extLst>
              <a:ext uri="{FF2B5EF4-FFF2-40B4-BE49-F238E27FC236}">
                <a16:creationId xmlns:a16="http://schemas.microsoft.com/office/drawing/2014/main" id="{CCBB2DB0-3322-7CDC-9039-B58A81BCDEEA}"/>
              </a:ext>
            </a:extLst>
          </p:cNvPr>
          <p:cNvSpPr txBox="1">
            <a:spLocks/>
          </p:cNvSpPr>
          <p:nvPr/>
        </p:nvSpPr>
        <p:spPr>
          <a:xfrm>
            <a:off x="637968" y="4152263"/>
            <a:ext cx="6635610" cy="646331"/>
          </a:xfrm>
          <a:prstGeom prst="rect">
            <a:avLst/>
          </a:prstGeom>
        </p:spPr>
        <p:txBody>
          <a:bodyPr vert="horz" wrap="square" lIns="0" tIns="45720" rIns="0" bIns="4572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rgbClr val="4472C4"/>
                </a:solidFill>
                <a:effectLst/>
                <a:uLnTx/>
                <a:uFillTx/>
                <a:latin typeface="微软雅黑"/>
                <a:ea typeface="微软雅黑"/>
              </a:rPr>
              <a:t>A</a:t>
            </a:r>
            <a:r>
              <a:rPr kumimoji="0" lang="zh-CN" altLang="en-US" sz="3600" b="1" i="0" u="none" strike="noStrike" kern="1200" cap="none" spc="0" normalizeH="0" baseline="0" noProof="0" dirty="0">
                <a:ln>
                  <a:noFill/>
                </a:ln>
                <a:solidFill>
                  <a:srgbClr val="4472C4"/>
                </a:solidFill>
                <a:effectLst/>
                <a:uLnTx/>
                <a:uFillTx/>
                <a:latin typeface="微软雅黑"/>
                <a:ea typeface="微软雅黑"/>
              </a:rPr>
              <a:t>股市场</a:t>
            </a:r>
            <a:r>
              <a:rPr kumimoji="0" lang="en-US" altLang="zh-CN" sz="3600" b="1" i="0" u="none" strike="noStrike" kern="1200" cap="none" spc="0" normalizeH="0" baseline="0" noProof="0" dirty="0">
                <a:ln>
                  <a:noFill/>
                </a:ln>
                <a:solidFill>
                  <a:srgbClr val="4472C4"/>
                </a:solidFill>
                <a:effectLst/>
                <a:uLnTx/>
                <a:uFillTx/>
                <a:latin typeface="微软雅黑"/>
                <a:ea typeface="微软雅黑"/>
              </a:rPr>
              <a:t>ETF</a:t>
            </a:r>
            <a:r>
              <a:rPr kumimoji="0" lang="zh-CN" altLang="en-US" sz="3600" b="1" i="0" u="none" strike="noStrike" kern="1200" cap="none" spc="0" normalizeH="0" baseline="0" noProof="0" dirty="0">
                <a:ln>
                  <a:noFill/>
                </a:ln>
                <a:solidFill>
                  <a:srgbClr val="4472C4"/>
                </a:solidFill>
                <a:effectLst/>
                <a:uLnTx/>
                <a:uFillTx/>
                <a:latin typeface="微软雅黑"/>
                <a:ea typeface="微软雅黑"/>
              </a:rPr>
              <a:t>停牌分析</a:t>
            </a:r>
            <a:endParaRPr kumimoji="0" lang="en-US" sz="3600" b="1" i="0" u="none" strike="noStrike" kern="1200" cap="none" spc="0" normalizeH="0" baseline="0" noProof="0" dirty="0">
              <a:ln>
                <a:noFill/>
              </a:ln>
              <a:solidFill>
                <a:srgbClr val="4472C4"/>
              </a:solidFill>
              <a:effectLst/>
              <a:uLnTx/>
              <a:uFillTx/>
              <a:latin typeface="微软雅黑"/>
              <a:ea typeface="微软雅黑"/>
            </a:endParaRPr>
          </a:p>
        </p:txBody>
      </p:sp>
      <p:sp>
        <p:nvSpPr>
          <p:cNvPr id="11" name="Subtitle 2">
            <a:extLst>
              <a:ext uri="{FF2B5EF4-FFF2-40B4-BE49-F238E27FC236}">
                <a16:creationId xmlns:a16="http://schemas.microsoft.com/office/drawing/2014/main" id="{C0DEF6EE-D68D-D2B8-C9D6-9F6BC811DFCB}"/>
              </a:ext>
            </a:extLst>
          </p:cNvPr>
          <p:cNvSpPr txBox="1">
            <a:spLocks/>
          </p:cNvSpPr>
          <p:nvPr/>
        </p:nvSpPr>
        <p:spPr>
          <a:xfrm>
            <a:off x="760276" y="4960001"/>
            <a:ext cx="4727918" cy="369332"/>
          </a:xfrm>
          <a:prstGeom prst="rect">
            <a:avLst/>
          </a:prstGeom>
        </p:spPr>
        <p:txBody>
          <a:bodyPr vert="horz" wrap="square" lIns="0" tIns="45720" rIns="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000" dirty="0">
                <a:solidFill>
                  <a:srgbClr val="4472C4"/>
                </a:solidFill>
                <a:latin typeface="Calibri Light" panose="020F0302020204030204"/>
                <a:ea typeface="等线" panose="02010600030101010101" pitchFamily="2" charset="-122"/>
              </a:rPr>
              <a:t>June</a:t>
            </a:r>
            <a:r>
              <a:rPr kumimoji="0" lang="en-US" altLang="zh-CN" sz="2000" b="0" i="0" u="none" strike="noStrike" kern="1200" cap="none" spc="0" normalizeH="0" baseline="0" noProof="0" dirty="0">
                <a:ln>
                  <a:noFill/>
                </a:ln>
                <a:solidFill>
                  <a:srgbClr val="4472C4"/>
                </a:solidFill>
                <a:effectLst/>
                <a:uLnTx/>
                <a:uFillTx/>
                <a:latin typeface="Calibri Light" panose="020F0302020204030204"/>
                <a:ea typeface="等线" panose="02010600030101010101" pitchFamily="2" charset="-122"/>
                <a:cs typeface="+mn-cs"/>
              </a:rPr>
              <a:t> 2026</a:t>
            </a:r>
            <a:endParaRPr kumimoji="0" lang="en-US" altLang="zh-HK" sz="2000" b="0" i="0" u="none" strike="noStrike" kern="1200" cap="none" spc="0" normalizeH="0" baseline="0" noProof="0" dirty="0">
              <a:ln>
                <a:noFill/>
              </a:ln>
              <a:solidFill>
                <a:srgbClr val="4472C4"/>
              </a:solidFill>
              <a:effectLst/>
              <a:uLnTx/>
              <a:uFillTx/>
              <a:latin typeface="Calibri Light" panose="020F0302020204030204"/>
              <a:ea typeface="新細明體" panose="02020500000000000000" pitchFamily="18" charset="-120"/>
              <a:cs typeface="+mn-cs"/>
            </a:endParaRPr>
          </a:p>
        </p:txBody>
      </p:sp>
      <p:sp>
        <p:nvSpPr>
          <p:cNvPr id="2" name="投影片編號版面配置區 1">
            <a:extLst>
              <a:ext uri="{FF2B5EF4-FFF2-40B4-BE49-F238E27FC236}">
                <a16:creationId xmlns:a16="http://schemas.microsoft.com/office/drawing/2014/main" id="{CCEBB0B9-E8D2-ECA7-EA4E-288020221FDA}"/>
              </a:ext>
            </a:extLst>
          </p:cNvPr>
          <p:cNvSpPr>
            <a:spLocks noGrp="1"/>
          </p:cNvSpPr>
          <p:nvPr>
            <p:ph type="sldNum" sz="quarter" idx="4"/>
          </p:nvPr>
        </p:nvSpPr>
        <p:spPr>
          <a:xfrm>
            <a:off x="9296905" y="6557574"/>
            <a:ext cx="2743200" cy="276999"/>
          </a:xfrm>
          <a:prstGeom prst="rect">
            <a:avLst/>
          </a:prstGeom>
        </p:spPr>
        <p:txBody>
          <a:bodyPr/>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1477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DBE3F-188A-60C3-1C3D-B9C4D1C1A920}"/>
            </a:ext>
          </a:extLst>
        </p:cNvPr>
        <p:cNvGrpSpPr/>
        <p:nvPr/>
      </p:nvGrpSpPr>
      <p:grpSpPr>
        <a:xfrm>
          <a:off x="0" y="0"/>
          <a:ext cx="0" cy="0"/>
          <a:chOff x="0" y="0"/>
          <a:chExt cx="0" cy="0"/>
        </a:xfrm>
      </p:grpSpPr>
      <p:sp>
        <p:nvSpPr>
          <p:cNvPr id="2" name="Title 12">
            <a:extLst>
              <a:ext uri="{FF2B5EF4-FFF2-40B4-BE49-F238E27FC236}">
                <a16:creationId xmlns:a16="http://schemas.microsoft.com/office/drawing/2014/main" id="{88FE3F56-6DAF-FD4F-9365-CA1C46775287}"/>
              </a:ext>
            </a:extLst>
          </p:cNvPr>
          <p:cNvSpPr txBox="1">
            <a:spLocks/>
          </p:cNvSpPr>
          <p:nvPr/>
        </p:nvSpPr>
        <p:spPr>
          <a:xfrm>
            <a:off x="723143" y="566361"/>
            <a:ext cx="10515600" cy="53553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solidFill>
                  <a:srgbClr val="306AB2"/>
                </a:solidFill>
                <a:latin typeface="微软雅黑" panose="020B0503020204020204" pitchFamily="34" charset="-122"/>
                <a:ea typeface="微软雅黑" panose="020B0503020204020204" pitchFamily="34" charset="-122"/>
              </a:rPr>
              <a:t>基金溢价风险提示、临时停牌的规则</a:t>
            </a:r>
            <a:endParaRPr lang="en-US" altLang="zh-CN" sz="3200" b="1" dirty="0">
              <a:solidFill>
                <a:srgbClr val="306AB2"/>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D125A3BF-A94F-BA95-2531-C5821F9A1ED0}"/>
              </a:ext>
            </a:extLst>
          </p:cNvPr>
          <p:cNvSpPr txBox="1"/>
          <p:nvPr/>
        </p:nvSpPr>
        <p:spPr>
          <a:xfrm>
            <a:off x="723143" y="1418604"/>
            <a:ext cx="9455838" cy="307777"/>
          </a:xfrm>
          <a:prstGeom prst="rect">
            <a:avLst/>
          </a:prstGeom>
          <a:noFill/>
        </p:spPr>
        <p:txBody>
          <a:bodyPr wrap="square" lIns="91440" tIns="45720" rIns="91440" bIns="45720" anchor="t">
            <a:spAutoFit/>
          </a:bodyPr>
          <a:lstStyle/>
          <a:p>
            <a:pPr marL="285750" indent="-285750" algn="just">
              <a:spcBef>
                <a:spcPts val="600"/>
              </a:spcBef>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基金公司通常会结合实时溢价率、市场热度、交易波动等多方面因素综合判断，分级采取差异化的降温调控措施。</a:t>
            </a:r>
          </a:p>
        </p:txBody>
      </p:sp>
      <p:graphicFrame>
        <p:nvGraphicFramePr>
          <p:cNvPr id="3" name="Table 2">
            <a:extLst>
              <a:ext uri="{FF2B5EF4-FFF2-40B4-BE49-F238E27FC236}">
                <a16:creationId xmlns:a16="http://schemas.microsoft.com/office/drawing/2014/main" id="{2622C593-68A6-0851-CB4C-0848FF6563DF}"/>
              </a:ext>
            </a:extLst>
          </p:cNvPr>
          <p:cNvGraphicFramePr>
            <a:graphicFrameLocks noGrp="1"/>
          </p:cNvGraphicFramePr>
          <p:nvPr>
            <p:extLst>
              <p:ext uri="{D42A27DB-BD31-4B8C-83A1-F6EECF244321}">
                <p14:modId xmlns:p14="http://schemas.microsoft.com/office/powerpoint/2010/main" val="3465132169"/>
              </p:ext>
            </p:extLst>
          </p:nvPr>
        </p:nvGraphicFramePr>
        <p:xfrm>
          <a:off x="2675852" y="2271329"/>
          <a:ext cx="6610182" cy="2860291"/>
        </p:xfrm>
        <a:graphic>
          <a:graphicData uri="http://schemas.openxmlformats.org/drawingml/2006/table">
            <a:tbl>
              <a:tblPr firstRow="1" firstCol="1">
                <a:tableStyleId>{1FECB4D8-DB02-4DC6-A0A2-4F2EBAE1DC90}</a:tableStyleId>
              </a:tblPr>
              <a:tblGrid>
                <a:gridCol w="2213641">
                  <a:extLst>
                    <a:ext uri="{9D8B030D-6E8A-4147-A177-3AD203B41FA5}">
                      <a16:colId xmlns:a16="http://schemas.microsoft.com/office/drawing/2014/main" val="1270910481"/>
                    </a:ext>
                  </a:extLst>
                </a:gridCol>
                <a:gridCol w="4396541">
                  <a:extLst>
                    <a:ext uri="{9D8B030D-6E8A-4147-A177-3AD203B41FA5}">
                      <a16:colId xmlns:a16="http://schemas.microsoft.com/office/drawing/2014/main" val="2705237566"/>
                    </a:ext>
                  </a:extLst>
                </a:gridCol>
              </a:tblGrid>
              <a:tr h="360148">
                <a:tc>
                  <a:txBody>
                    <a:bodyPr/>
                    <a:lstStyle/>
                    <a:p>
                      <a:pPr marL="0" algn="ctr" defTabSz="914400" rtl="0" eaLnBrk="1" fontAlgn="b" latinLnBrk="0" hangingPunct="1">
                        <a:buNone/>
                      </a:pPr>
                      <a:r>
                        <a:rPr lang="zh-CN" altLang="en-US" sz="1200" kern="1200" dirty="0">
                          <a:solidFill>
                            <a:schemeClr val="tx1"/>
                          </a:solidFill>
                          <a:latin typeface="微软雅黑" panose="020B0503020204020204" pitchFamily="34" charset="-122"/>
                          <a:ea typeface="微软雅黑" panose="020B0503020204020204" pitchFamily="34" charset="-122"/>
                          <a:cs typeface="+mn-cs"/>
                        </a:rPr>
                        <a:t>溢价率</a:t>
                      </a:r>
                      <a:r>
                        <a:rPr lang="zh-CN" altLang="en-US" sz="1200" b="1" kern="1200" dirty="0">
                          <a:solidFill>
                            <a:schemeClr val="bg1"/>
                          </a:solidFill>
                          <a:latin typeface="微软雅黑" panose="020B0503020204020204" pitchFamily="34" charset="-122"/>
                          <a:ea typeface="微软雅黑" panose="020B0503020204020204" pitchFamily="34" charset="-122"/>
                          <a:cs typeface="+mn-cs"/>
                        </a:rPr>
                        <a:t>情况</a:t>
                      </a:r>
                    </a:p>
                  </a:txBody>
                  <a:tcPr marL="9364" marR="9364" marT="9364" marB="0" anchor="ctr"/>
                </a:tc>
                <a:tc>
                  <a:txBody>
                    <a:bodyPr/>
                    <a:lstStyle/>
                    <a:p>
                      <a:pPr algn="ctr" fontAlgn="b">
                        <a:buNone/>
                      </a:pPr>
                      <a:r>
                        <a:rPr lang="zh-CN" altLang="en-US" sz="1200" kern="1200" dirty="0">
                          <a:solidFill>
                            <a:schemeClr val="bg1"/>
                          </a:solidFill>
                          <a:latin typeface="微软雅黑" panose="020B0503020204020204" pitchFamily="34" charset="-122"/>
                          <a:ea typeface="微软雅黑" panose="020B0503020204020204" pitchFamily="34" charset="-122"/>
                          <a:cs typeface="+mn-cs"/>
                        </a:rPr>
                        <a:t>规则</a:t>
                      </a:r>
                      <a:endParaRPr lang="en-US" sz="1200" kern="1200" dirty="0">
                        <a:solidFill>
                          <a:schemeClr val="bg1"/>
                        </a:solidFill>
                        <a:latin typeface="微软雅黑" panose="020B0503020204020204" pitchFamily="34" charset="-122"/>
                        <a:ea typeface="微软雅黑" panose="020B0503020204020204" pitchFamily="34" charset="-122"/>
                        <a:cs typeface="+mn-cs"/>
                      </a:endParaRPr>
                    </a:p>
                  </a:txBody>
                  <a:tcPr marL="9364" marR="9364" marT="9364" marB="0" anchor="ctr"/>
                </a:tc>
                <a:extLst>
                  <a:ext uri="{0D108BD9-81ED-4DB2-BD59-A6C34878D82A}">
                    <a16:rowId xmlns:a16="http://schemas.microsoft.com/office/drawing/2014/main" val="2307542731"/>
                  </a:ext>
                </a:extLst>
              </a:tr>
              <a:tr h="833381">
                <a:tc>
                  <a:txBody>
                    <a:bodyPr/>
                    <a:lstStyle/>
                    <a:p>
                      <a:pPr algn="ctr" fontAlgn="b">
                        <a:buNone/>
                      </a:pPr>
                      <a:r>
                        <a:rPr lang="zh-CN" altLang="en-US" sz="1200" kern="1200" dirty="0">
                          <a:solidFill>
                            <a:schemeClr val="tx1"/>
                          </a:solidFill>
                          <a:latin typeface="微软雅黑" panose="020B0503020204020204" pitchFamily="34" charset="-122"/>
                          <a:ea typeface="微软雅黑" panose="020B0503020204020204" pitchFamily="34" charset="-122"/>
                          <a:cs typeface="+mn-cs"/>
                        </a:rPr>
                        <a:t>溢价率 </a:t>
                      </a:r>
                      <a:r>
                        <a:rPr lang="en-US" altLang="zh-CN" sz="1200" kern="1200" dirty="0">
                          <a:solidFill>
                            <a:schemeClr val="tx1"/>
                          </a:solidFill>
                          <a:latin typeface="微软雅黑" panose="020B0503020204020204" pitchFamily="34" charset="-122"/>
                          <a:ea typeface="微软雅黑" panose="020B0503020204020204" pitchFamily="34" charset="-122"/>
                          <a:cs typeface="+mn-cs"/>
                        </a:rPr>
                        <a:t>&gt; 3%</a:t>
                      </a:r>
                      <a:endParaRPr lang="zh-CN" altLang="en-US" sz="1200" kern="1200" dirty="0">
                        <a:solidFill>
                          <a:schemeClr val="tx1"/>
                        </a:solidFill>
                        <a:latin typeface="微软雅黑" panose="020B0503020204020204" pitchFamily="34" charset="-122"/>
                        <a:ea typeface="微软雅黑" panose="020B0503020204020204" pitchFamily="34" charset="-122"/>
                        <a:cs typeface="+mn-cs"/>
                      </a:endParaRPr>
                    </a:p>
                  </a:txBody>
                  <a:tcPr marL="9364" marR="9364" marT="9364" marB="0" anchor="ctr"/>
                </a:tc>
                <a:tc>
                  <a:txBody>
                    <a:bodyPr/>
                    <a:lstStyle/>
                    <a:p>
                      <a:pPr algn="l" fontAlgn="b">
                        <a:buNone/>
                      </a:pPr>
                      <a:r>
                        <a:rPr lang="zh-CN" altLang="en-US" sz="1200" b="1" kern="1200" dirty="0">
                          <a:solidFill>
                            <a:schemeClr val="accent1"/>
                          </a:solidFill>
                          <a:latin typeface="+mn-lt"/>
                          <a:ea typeface="+mn-ea"/>
                          <a:cs typeface="+mn-cs"/>
                        </a:rPr>
                        <a:t>发布二级市场交易价格溢价风险提示公告</a:t>
                      </a:r>
                      <a:r>
                        <a:rPr lang="zh-CN" altLang="en-US" sz="1200" kern="1200" dirty="0">
                          <a:solidFill>
                            <a:schemeClr val="tx1"/>
                          </a:solidFill>
                        </a:rPr>
                        <a:t>，充分向投资者阐明二级市场交易价格与基金净值之间存在偏离的潜在投资风险，引导投资者理性审慎参与。</a:t>
                      </a:r>
                      <a:endParaRPr lang="zh-CN" altLang="en-US" sz="1200" kern="1200" dirty="0">
                        <a:solidFill>
                          <a:schemeClr val="tx1"/>
                        </a:solidFill>
                        <a:latin typeface="微软雅黑" panose="020B0503020204020204" pitchFamily="34" charset="-122"/>
                        <a:ea typeface="微软雅黑" panose="020B0503020204020204" pitchFamily="34" charset="-122"/>
                        <a:cs typeface="+mn-cs"/>
                      </a:endParaRPr>
                    </a:p>
                  </a:txBody>
                  <a:tcPr marL="9364" marR="9364" marT="9364" marB="0" anchor="ctr"/>
                </a:tc>
                <a:extLst>
                  <a:ext uri="{0D108BD9-81ED-4DB2-BD59-A6C34878D82A}">
                    <a16:rowId xmlns:a16="http://schemas.microsoft.com/office/drawing/2014/main" val="1317202743"/>
                  </a:ext>
                </a:extLst>
              </a:tr>
              <a:tr h="833381">
                <a:tc>
                  <a:txBody>
                    <a:bodyPr/>
                    <a:lstStyle/>
                    <a:p>
                      <a:pPr algn="ctr" fontAlgn="b">
                        <a:buNone/>
                      </a:pPr>
                      <a:r>
                        <a:rPr lang="zh-CN" altLang="en-US" sz="1200" kern="1200" dirty="0">
                          <a:solidFill>
                            <a:schemeClr val="tx1"/>
                          </a:solidFill>
                          <a:latin typeface="微软雅黑" panose="020B0503020204020204" pitchFamily="34" charset="-122"/>
                          <a:ea typeface="微软雅黑" panose="020B0503020204020204" pitchFamily="34" charset="-122"/>
                          <a:cs typeface="+mn-cs"/>
                        </a:rPr>
                        <a:t>溢价率</a:t>
                      </a:r>
                      <a:r>
                        <a:rPr lang="en-US" altLang="zh-CN" sz="1200" kern="1200" dirty="0">
                          <a:solidFill>
                            <a:schemeClr val="tx1"/>
                          </a:solidFill>
                          <a:latin typeface="微软雅黑" panose="020B0503020204020204" pitchFamily="34" charset="-122"/>
                          <a:ea typeface="微软雅黑" panose="020B0503020204020204" pitchFamily="34" charset="-122"/>
                          <a:cs typeface="+mn-cs"/>
                        </a:rPr>
                        <a:t>&gt; 10%</a:t>
                      </a:r>
                      <a:endParaRPr lang="zh-CN" altLang="en-US" sz="1200" kern="1200" dirty="0">
                        <a:solidFill>
                          <a:schemeClr val="tx1"/>
                        </a:solidFill>
                        <a:latin typeface="微软雅黑" panose="020B0503020204020204" pitchFamily="34" charset="-122"/>
                        <a:ea typeface="微软雅黑" panose="020B0503020204020204" pitchFamily="34" charset="-122"/>
                        <a:cs typeface="+mn-cs"/>
                      </a:endParaRPr>
                    </a:p>
                  </a:txBody>
                  <a:tcPr marL="9364" marR="9364" marT="9364" marB="0" anchor="ctr"/>
                </a:tc>
                <a:tc>
                  <a:txBody>
                    <a:bodyPr/>
                    <a:lstStyle/>
                    <a:p>
                      <a:pPr algn="l" fontAlgn="b">
                        <a:buNone/>
                      </a:pPr>
                      <a:r>
                        <a:rPr lang="zh-CN" altLang="en-US" sz="1200" kern="1200" dirty="0">
                          <a:solidFill>
                            <a:schemeClr val="tx1"/>
                          </a:solidFill>
                        </a:rPr>
                        <a:t>市场场非理性交易情绪明显升温，除持续强化风险提示引导外，将视实际市场交易态势，</a:t>
                      </a:r>
                      <a:r>
                        <a:rPr lang="zh-CN" altLang="en-US" sz="1200" b="1" kern="1200" dirty="0">
                          <a:solidFill>
                            <a:schemeClr val="accent1"/>
                          </a:solidFill>
                          <a:latin typeface="+mn-lt"/>
                          <a:ea typeface="+mn-ea"/>
                          <a:cs typeface="+mn-cs"/>
                        </a:rPr>
                        <a:t>酌情采取临时停牌等交易管控方式</a:t>
                      </a:r>
                    </a:p>
                  </a:txBody>
                  <a:tcPr marL="9364" marR="9364" marT="9364" marB="0" anchor="ctr"/>
                </a:tc>
                <a:extLst>
                  <a:ext uri="{0D108BD9-81ED-4DB2-BD59-A6C34878D82A}">
                    <a16:rowId xmlns:a16="http://schemas.microsoft.com/office/drawing/2014/main" val="2867559465"/>
                  </a:ext>
                </a:extLst>
              </a:tr>
              <a:tr h="833381">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微软雅黑" panose="020B0503020204020204" pitchFamily="34" charset="-122"/>
                          <a:ea typeface="微软雅黑" panose="020B0503020204020204" pitchFamily="34" charset="-122"/>
                          <a:cs typeface="+mn-cs"/>
                        </a:rPr>
                        <a:t>溢价率</a:t>
                      </a:r>
                      <a:r>
                        <a:rPr lang="en-US" altLang="zh-CN" sz="1200" kern="1200" dirty="0">
                          <a:solidFill>
                            <a:schemeClr val="tx1"/>
                          </a:solidFill>
                          <a:latin typeface="微软雅黑" panose="020B0503020204020204" pitchFamily="34" charset="-122"/>
                          <a:ea typeface="微软雅黑" panose="020B0503020204020204" pitchFamily="34" charset="-122"/>
                          <a:cs typeface="+mn-cs"/>
                        </a:rPr>
                        <a:t>&gt; 20%/30%</a:t>
                      </a:r>
                      <a:endParaRPr lang="zh-CN" altLang="en-US" sz="1200" kern="1200" dirty="0">
                        <a:solidFill>
                          <a:schemeClr val="tx1"/>
                        </a:solidFill>
                        <a:latin typeface="微软雅黑" panose="020B0503020204020204" pitchFamily="34" charset="-122"/>
                        <a:ea typeface="微软雅黑" panose="020B0503020204020204" pitchFamily="34" charset="-122"/>
                        <a:cs typeface="+mn-cs"/>
                      </a:endParaRPr>
                    </a:p>
                  </a:txBody>
                  <a:tcPr marL="9364" marR="9364" marT="9364" marB="0" anchor="ctr"/>
                </a:tc>
                <a:tc>
                  <a:txBody>
                    <a:bodyPr/>
                    <a:lstStyle/>
                    <a:p>
                      <a:pPr algn="l" fontAlgn="b">
                        <a:buNone/>
                      </a:pPr>
                      <a:r>
                        <a:rPr lang="zh-CN" altLang="en-US" sz="1200" kern="1200" dirty="0">
                          <a:solidFill>
                            <a:schemeClr val="tx1"/>
                          </a:solidFill>
                          <a:latin typeface="微软雅黑" panose="020B0503020204020204" pitchFamily="34" charset="-122"/>
                          <a:ea typeface="微软雅黑" panose="020B0503020204020204" pitchFamily="34" charset="-122"/>
                          <a:cs typeface="+mn-cs"/>
                        </a:rPr>
                        <a:t>高溢价风险区间，除常规风险提示、临时停牌举措外，还可能根据实际情况，灵活采取</a:t>
                      </a:r>
                      <a:r>
                        <a:rPr lang="zh-CN" altLang="en-US" sz="1200" b="1" kern="1200" dirty="0">
                          <a:solidFill>
                            <a:schemeClr val="accent1"/>
                          </a:solidFill>
                          <a:latin typeface="+mn-lt"/>
                          <a:ea typeface="+mn-ea"/>
                          <a:cs typeface="+mn-cs"/>
                        </a:rPr>
                        <a:t>延长临时停牌时长、加大风险提示频次</a:t>
                      </a:r>
                      <a:r>
                        <a:rPr lang="zh-CN" altLang="en-US" sz="1200" kern="1200" dirty="0">
                          <a:solidFill>
                            <a:schemeClr val="tx1"/>
                          </a:solidFill>
                          <a:latin typeface="微软雅黑" panose="020B0503020204020204" pitchFamily="34" charset="-122"/>
                          <a:ea typeface="微软雅黑" panose="020B0503020204020204" pitchFamily="34" charset="-122"/>
                          <a:cs typeface="+mn-cs"/>
                        </a:rPr>
                        <a:t>等调控手段</a:t>
                      </a:r>
                    </a:p>
                  </a:txBody>
                  <a:tcPr marL="9364" marR="9364" marT="9364" marB="0" anchor="ctr"/>
                </a:tc>
                <a:extLst>
                  <a:ext uri="{0D108BD9-81ED-4DB2-BD59-A6C34878D82A}">
                    <a16:rowId xmlns:a16="http://schemas.microsoft.com/office/drawing/2014/main" val="3800480057"/>
                  </a:ext>
                </a:extLst>
              </a:tr>
            </a:tbl>
          </a:graphicData>
        </a:graphic>
      </p:graphicFrame>
    </p:spTree>
    <p:extLst>
      <p:ext uri="{BB962C8B-B14F-4D97-AF65-F5344CB8AC3E}">
        <p14:creationId xmlns:p14="http://schemas.microsoft.com/office/powerpoint/2010/main" val="2983747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1C647-165D-6941-0432-BECB9A735EB2}"/>
            </a:ext>
          </a:extLst>
        </p:cNvPr>
        <p:cNvGrpSpPr/>
        <p:nvPr/>
      </p:nvGrpSpPr>
      <p:grpSpPr>
        <a:xfrm>
          <a:off x="0" y="0"/>
          <a:ext cx="0" cy="0"/>
          <a:chOff x="0" y="0"/>
          <a:chExt cx="0" cy="0"/>
        </a:xfrm>
      </p:grpSpPr>
      <p:sp>
        <p:nvSpPr>
          <p:cNvPr id="2" name="Title 12">
            <a:extLst>
              <a:ext uri="{FF2B5EF4-FFF2-40B4-BE49-F238E27FC236}">
                <a16:creationId xmlns:a16="http://schemas.microsoft.com/office/drawing/2014/main" id="{9BFBD3EC-B9BF-35FE-B054-8357E414DAED}"/>
              </a:ext>
            </a:extLst>
          </p:cNvPr>
          <p:cNvSpPr txBox="1">
            <a:spLocks/>
          </p:cNvSpPr>
          <p:nvPr/>
        </p:nvSpPr>
        <p:spPr>
          <a:xfrm>
            <a:off x="723143" y="566361"/>
            <a:ext cx="10515600" cy="53553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solidFill>
                  <a:srgbClr val="306AB2"/>
                </a:solidFill>
                <a:latin typeface="微软雅黑" panose="020B0503020204020204" pitchFamily="34" charset="-122"/>
                <a:ea typeface="微软雅黑" panose="020B0503020204020204" pitchFamily="34" charset="-122"/>
              </a:rPr>
              <a:t>停牌</a:t>
            </a:r>
            <a:r>
              <a:rPr lang="en-US" altLang="zh-CN" sz="3200" b="1" dirty="0">
                <a:solidFill>
                  <a:srgbClr val="306AB2"/>
                </a:solidFill>
                <a:latin typeface="微软雅黑" panose="020B0503020204020204" pitchFamily="34" charset="-122"/>
                <a:ea typeface="微软雅黑" panose="020B0503020204020204" pitchFamily="34" charset="-122"/>
              </a:rPr>
              <a:t>ETF/LOF</a:t>
            </a:r>
            <a:r>
              <a:rPr lang="zh-CN" altLang="en-US" sz="3200" b="1" dirty="0">
                <a:solidFill>
                  <a:srgbClr val="306AB2"/>
                </a:solidFill>
                <a:latin typeface="微软雅黑" panose="020B0503020204020204" pitchFamily="34" charset="-122"/>
                <a:ea typeface="微软雅黑" panose="020B0503020204020204" pitchFamily="34" charset="-122"/>
              </a:rPr>
              <a:t>一览</a:t>
            </a:r>
            <a:endParaRPr lang="en-US" altLang="zh-CN" sz="3200" b="1" dirty="0">
              <a:solidFill>
                <a:srgbClr val="306AB2"/>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4C2F0909-50B4-18A1-328C-6B020427C8CE}"/>
              </a:ext>
            </a:extLst>
          </p:cNvPr>
          <p:cNvSpPr txBox="1"/>
          <p:nvPr/>
        </p:nvSpPr>
        <p:spPr>
          <a:xfrm>
            <a:off x="562370" y="1254965"/>
            <a:ext cx="5533630" cy="538609"/>
          </a:xfrm>
          <a:prstGeom prst="rect">
            <a:avLst/>
          </a:prstGeom>
          <a:noFill/>
        </p:spPr>
        <p:txBody>
          <a:bodyPr wrap="square" lIns="91440" tIns="45720" rIns="91440" bIns="45720" anchor="t">
            <a:spAutoFit/>
          </a:bodyPr>
          <a:lstStyle/>
          <a:p>
            <a:pPr marL="285750" indent="-285750" algn="just">
              <a:spcBef>
                <a:spcPts val="600"/>
              </a:spcBef>
              <a:buFont typeface="Arial" panose="020B0604020202020204" pitchFamily="34" charset="0"/>
              <a:buChar char="•"/>
            </a:pPr>
            <a:endParaRPr lang="en-US" altLang="zh-CN" sz="1200" dirty="0">
              <a:latin typeface="微软雅黑" panose="020B0503020204020204" pitchFamily="34" charset="-122"/>
              <a:ea typeface="微软雅黑" panose="020B0503020204020204" pitchFamily="34" charset="-122"/>
            </a:endParaRPr>
          </a:p>
          <a:p>
            <a:pPr marL="285750" indent="-285750" algn="just">
              <a:spcBef>
                <a:spcPts val="600"/>
              </a:spcBef>
              <a:buFont typeface="Arial" panose="020B0604020202020204" pitchFamily="34" charset="0"/>
              <a:buChar char="•"/>
            </a:pPr>
            <a:endParaRPr lang="zh-CN" altLang="en-US" sz="1200" dirty="0">
              <a:latin typeface="微软雅黑" panose="020B0503020204020204" pitchFamily="34" charset="-122"/>
              <a:ea typeface="微软雅黑" panose="020B0503020204020204" pitchFamily="34" charset="-122"/>
            </a:endParaRPr>
          </a:p>
        </p:txBody>
      </p:sp>
      <p:graphicFrame>
        <p:nvGraphicFramePr>
          <p:cNvPr id="5" name="Table 4">
            <a:extLst>
              <a:ext uri="{FF2B5EF4-FFF2-40B4-BE49-F238E27FC236}">
                <a16:creationId xmlns:a16="http://schemas.microsoft.com/office/drawing/2014/main" id="{035B512E-4834-929F-1172-F00677E13F80}"/>
              </a:ext>
            </a:extLst>
          </p:cNvPr>
          <p:cNvGraphicFramePr>
            <a:graphicFrameLocks noGrp="1"/>
          </p:cNvGraphicFramePr>
          <p:nvPr>
            <p:extLst>
              <p:ext uri="{D42A27DB-BD31-4B8C-83A1-F6EECF244321}">
                <p14:modId xmlns:p14="http://schemas.microsoft.com/office/powerpoint/2010/main" val="688789474"/>
              </p:ext>
            </p:extLst>
          </p:nvPr>
        </p:nvGraphicFramePr>
        <p:xfrm>
          <a:off x="723140" y="1711305"/>
          <a:ext cx="10742029" cy="4639601"/>
        </p:xfrm>
        <a:graphic>
          <a:graphicData uri="http://schemas.openxmlformats.org/drawingml/2006/table">
            <a:tbl>
              <a:tblPr>
                <a:tableStyleId>{B301B821-A1FF-4177-AEE7-76D212191A09}</a:tableStyleId>
              </a:tblPr>
              <a:tblGrid>
                <a:gridCol w="1055417">
                  <a:extLst>
                    <a:ext uri="{9D8B030D-6E8A-4147-A177-3AD203B41FA5}">
                      <a16:colId xmlns:a16="http://schemas.microsoft.com/office/drawing/2014/main" val="450730453"/>
                    </a:ext>
                  </a:extLst>
                </a:gridCol>
                <a:gridCol w="2677795">
                  <a:extLst>
                    <a:ext uri="{9D8B030D-6E8A-4147-A177-3AD203B41FA5}">
                      <a16:colId xmlns:a16="http://schemas.microsoft.com/office/drawing/2014/main" val="1816864975"/>
                    </a:ext>
                  </a:extLst>
                </a:gridCol>
                <a:gridCol w="743204">
                  <a:extLst>
                    <a:ext uri="{9D8B030D-6E8A-4147-A177-3AD203B41FA5}">
                      <a16:colId xmlns:a16="http://schemas.microsoft.com/office/drawing/2014/main" val="853941629"/>
                    </a:ext>
                  </a:extLst>
                </a:gridCol>
                <a:gridCol w="743204">
                  <a:extLst>
                    <a:ext uri="{9D8B030D-6E8A-4147-A177-3AD203B41FA5}">
                      <a16:colId xmlns:a16="http://schemas.microsoft.com/office/drawing/2014/main" val="3038605828"/>
                    </a:ext>
                  </a:extLst>
                </a:gridCol>
                <a:gridCol w="1050892">
                  <a:extLst>
                    <a:ext uri="{9D8B030D-6E8A-4147-A177-3AD203B41FA5}">
                      <a16:colId xmlns:a16="http://schemas.microsoft.com/office/drawing/2014/main" val="1706753694"/>
                    </a:ext>
                  </a:extLst>
                </a:gridCol>
                <a:gridCol w="1044526">
                  <a:extLst>
                    <a:ext uri="{9D8B030D-6E8A-4147-A177-3AD203B41FA5}">
                      <a16:colId xmlns:a16="http://schemas.microsoft.com/office/drawing/2014/main" val="1360883865"/>
                    </a:ext>
                  </a:extLst>
                </a:gridCol>
                <a:gridCol w="743204">
                  <a:extLst>
                    <a:ext uri="{9D8B030D-6E8A-4147-A177-3AD203B41FA5}">
                      <a16:colId xmlns:a16="http://schemas.microsoft.com/office/drawing/2014/main" val="186591789"/>
                    </a:ext>
                  </a:extLst>
                </a:gridCol>
                <a:gridCol w="1128566">
                  <a:extLst>
                    <a:ext uri="{9D8B030D-6E8A-4147-A177-3AD203B41FA5}">
                      <a16:colId xmlns:a16="http://schemas.microsoft.com/office/drawing/2014/main" val="1723528750"/>
                    </a:ext>
                  </a:extLst>
                </a:gridCol>
                <a:gridCol w="812017">
                  <a:extLst>
                    <a:ext uri="{9D8B030D-6E8A-4147-A177-3AD203B41FA5}">
                      <a16:colId xmlns:a16="http://schemas.microsoft.com/office/drawing/2014/main" val="2111287736"/>
                    </a:ext>
                  </a:extLst>
                </a:gridCol>
                <a:gridCol w="743204">
                  <a:extLst>
                    <a:ext uri="{9D8B030D-6E8A-4147-A177-3AD203B41FA5}">
                      <a16:colId xmlns:a16="http://schemas.microsoft.com/office/drawing/2014/main" val="3972538357"/>
                    </a:ext>
                  </a:extLst>
                </a:gridCol>
              </a:tblGrid>
              <a:tr h="503201">
                <a:tc>
                  <a:txBody>
                    <a:bodyPr/>
                    <a:lstStyle/>
                    <a:p>
                      <a:pPr algn="ctr" fontAlgn="b">
                        <a:buNone/>
                      </a:pPr>
                      <a:r>
                        <a:rPr lang="zh-CN" sz="1100" b="1" u="none" strike="noStrike">
                          <a:effectLst/>
                          <a:latin typeface="微软雅黑" panose="020B0503020204020204" pitchFamily="34" charset="-122"/>
                          <a:ea typeface="微软雅黑" panose="020B0503020204020204" pitchFamily="34" charset="-122"/>
                        </a:rPr>
                        <a:t>代码</a:t>
                      </a:r>
                      <a:endParaRPr lang="zh-CN" sz="1100" b="1"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b="1" u="none" strike="noStrike">
                          <a:effectLst/>
                          <a:latin typeface="微软雅黑" panose="020B0503020204020204" pitchFamily="34" charset="-122"/>
                          <a:ea typeface="微软雅黑" panose="020B0503020204020204" pitchFamily="34" charset="-122"/>
                        </a:rPr>
                        <a:t>名称</a:t>
                      </a:r>
                      <a:endParaRPr lang="zh-CN" sz="1100" b="1"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b="1" u="none" strike="noStrike" dirty="0">
                          <a:effectLst/>
                          <a:latin typeface="微软雅黑" panose="020B0503020204020204" pitchFamily="34" charset="-122"/>
                          <a:ea typeface="微软雅黑" panose="020B0503020204020204" pitchFamily="34" charset="-122"/>
                        </a:rPr>
                        <a:t>收盘</a:t>
                      </a:r>
                      <a:r>
                        <a:rPr lang="zh-CN" altLang="en-US" sz="1100" b="1" u="none" strike="noStrike" dirty="0">
                          <a:effectLst/>
                          <a:latin typeface="微软雅黑" panose="020B0503020204020204" pitchFamily="34" charset="-122"/>
                          <a:ea typeface="微软雅黑" panose="020B0503020204020204" pitchFamily="34" charset="-122"/>
                        </a:rPr>
                        <a:t>价</a:t>
                      </a:r>
                      <a:r>
                        <a:rPr lang="zh-CN" altLang="zh-CN" sz="1100" b="1" u="none" strike="noStrike" dirty="0">
                          <a:effectLst/>
                          <a:latin typeface="微软雅黑" panose="020B0503020204020204" pitchFamily="34" charset="-122"/>
                          <a:ea typeface="微软雅黑" panose="020B0503020204020204" pitchFamily="34" charset="-122"/>
                        </a:rPr>
                        <a:t>（06/02）</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b="1" u="none" strike="noStrike" dirty="0">
                          <a:effectLst/>
                          <a:latin typeface="微软雅黑" panose="020B0503020204020204" pitchFamily="34" charset="-122"/>
                          <a:ea typeface="微软雅黑" panose="020B0503020204020204" pitchFamily="34" charset="-122"/>
                        </a:rPr>
                        <a:t>净值</a:t>
                      </a:r>
                      <a:r>
                        <a:rPr lang="zh-CN" altLang="zh-CN" sz="1100" b="1" u="none" strike="noStrike" dirty="0">
                          <a:effectLst/>
                          <a:latin typeface="微软雅黑" panose="020B0503020204020204" pitchFamily="34" charset="-122"/>
                          <a:ea typeface="微软雅黑" panose="020B0503020204020204" pitchFamily="34" charset="-122"/>
                        </a:rPr>
                        <a:t>（06/02）</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b="1" u="none" strike="noStrike" dirty="0">
                          <a:effectLst/>
                          <a:latin typeface="微软雅黑" panose="020B0503020204020204" pitchFamily="34" charset="-122"/>
                          <a:ea typeface="微软雅黑" panose="020B0503020204020204" pitchFamily="34" charset="-122"/>
                        </a:rPr>
                        <a:t>折溢价</a:t>
                      </a:r>
                      <a:endParaRPr lang="en-US" altLang="zh-CN" sz="1100" b="1" u="none" strike="noStrike" dirty="0">
                        <a:effectLst/>
                        <a:latin typeface="微软雅黑" panose="020B0503020204020204" pitchFamily="34" charset="-122"/>
                        <a:ea typeface="微软雅黑" panose="020B0503020204020204" pitchFamily="34" charset="-122"/>
                      </a:endParaRPr>
                    </a:p>
                    <a:p>
                      <a:pPr algn="ctr" fontAlgn="b">
                        <a:buNone/>
                      </a:pPr>
                      <a:r>
                        <a:rPr lang="zh-CN" sz="1100" b="1" u="none" strike="noStrike" dirty="0">
                          <a:effectLst/>
                          <a:latin typeface="微软雅黑" panose="020B0503020204020204" pitchFamily="34" charset="-122"/>
                          <a:ea typeface="微软雅黑" panose="020B0503020204020204" pitchFamily="34" charset="-122"/>
                        </a:rPr>
                        <a:t>（06/02）</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b="1" u="none" strike="noStrike" dirty="0">
                          <a:effectLst/>
                          <a:latin typeface="微软雅黑" panose="020B0503020204020204" pitchFamily="34" charset="-122"/>
                          <a:ea typeface="微软雅黑" panose="020B0503020204020204" pitchFamily="34" charset="-122"/>
                        </a:rPr>
                        <a:t>折溢价</a:t>
                      </a:r>
                      <a:endParaRPr lang="en-US" altLang="zh-CN" sz="1100" b="1" u="none" strike="noStrike" dirty="0">
                        <a:effectLst/>
                        <a:latin typeface="微软雅黑" panose="020B0503020204020204" pitchFamily="34" charset="-122"/>
                        <a:ea typeface="微软雅黑" panose="020B0503020204020204" pitchFamily="34" charset="-122"/>
                      </a:endParaRPr>
                    </a:p>
                    <a:p>
                      <a:pPr algn="ctr" fontAlgn="b">
                        <a:buNone/>
                      </a:pPr>
                      <a:r>
                        <a:rPr lang="zh-CN" sz="1100" b="1" u="none" strike="noStrike" dirty="0">
                          <a:effectLst/>
                          <a:latin typeface="微软雅黑" panose="020B0503020204020204" pitchFamily="34" charset="-122"/>
                          <a:ea typeface="微软雅黑" panose="020B0503020204020204" pitchFamily="34" charset="-122"/>
                        </a:rPr>
                        <a:t>（06-05)</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b="1" u="none" strike="noStrike" dirty="0">
                          <a:effectLst/>
                          <a:latin typeface="微软雅黑" panose="020B0503020204020204" pitchFamily="34" charset="-122"/>
                          <a:ea typeface="微软雅黑" panose="020B0503020204020204" pitchFamily="34" charset="-122"/>
                        </a:rPr>
                        <a:t>AUM</a:t>
                      </a:r>
                      <a:endParaRPr lang="en-US" altLang="zh-CN" sz="1100" b="1" u="none" strike="noStrike" dirty="0">
                        <a:effectLst/>
                        <a:latin typeface="微软雅黑" panose="020B0503020204020204" pitchFamily="34" charset="-122"/>
                        <a:ea typeface="微软雅黑" panose="020B0503020204020204" pitchFamily="34" charset="-122"/>
                      </a:endParaRPr>
                    </a:p>
                    <a:p>
                      <a:pPr algn="ctr" fontAlgn="b">
                        <a:buNone/>
                      </a:pPr>
                      <a:r>
                        <a:rPr lang="zh-CN" altLang="en-US" sz="1100" b="1" u="none" strike="noStrike" dirty="0">
                          <a:effectLst/>
                          <a:latin typeface="微软雅黑" panose="020B0503020204020204" pitchFamily="34" charset="-122"/>
                          <a:ea typeface="微软雅黑" panose="020B0503020204020204" pitchFamily="34" charset="-122"/>
                        </a:rPr>
                        <a:t>（亿元）</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b="1" u="none" strike="noStrike" dirty="0">
                          <a:effectLst/>
                          <a:latin typeface="微软雅黑" panose="020B0503020204020204" pitchFamily="34" charset="-122"/>
                          <a:ea typeface="微软雅黑" panose="020B0503020204020204" pitchFamily="34" charset="-122"/>
                        </a:rPr>
                        <a:t>申购份额上限</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b="1" u="none" strike="noStrike" dirty="0">
                          <a:effectLst/>
                          <a:latin typeface="微软雅黑" panose="020B0503020204020204" pitchFamily="34" charset="-122"/>
                          <a:ea typeface="微软雅黑" panose="020B0503020204020204" pitchFamily="34" charset="-122"/>
                        </a:rPr>
                        <a:t>申购金额</a:t>
                      </a:r>
                      <a:r>
                        <a:rPr lang="zh-CN" altLang="en-US" sz="1100" b="1" u="none" strike="noStrike" dirty="0">
                          <a:effectLst/>
                          <a:latin typeface="微软雅黑" panose="020B0503020204020204" pitchFamily="34" charset="-122"/>
                          <a:ea typeface="微软雅黑" panose="020B0503020204020204" pitchFamily="34" charset="-122"/>
                        </a:rPr>
                        <a:t>（万元</a:t>
                      </a:r>
                      <a:r>
                        <a:rPr lang="en-US" altLang="zh-CN" sz="1100" b="1" u="none" strike="noStrike" dirty="0">
                          <a:effectLst/>
                          <a:latin typeface="微软雅黑" panose="020B0503020204020204" pitchFamily="34" charset="-122"/>
                          <a:ea typeface="微软雅黑" panose="020B0503020204020204" pitchFamily="34" charset="-122"/>
                        </a:rPr>
                        <a:t>)</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b="1" u="none" strike="noStrike" dirty="0">
                          <a:effectLst/>
                          <a:latin typeface="微软雅黑" panose="020B0503020204020204" pitchFamily="34" charset="-122"/>
                          <a:ea typeface="微软雅黑" panose="020B0503020204020204" pitchFamily="34" charset="-122"/>
                        </a:rPr>
                        <a:t>日均成交</a:t>
                      </a:r>
                      <a:r>
                        <a:rPr lang="zh-CN" altLang="en-US" sz="1100" b="1" u="none" strike="noStrike" dirty="0">
                          <a:effectLst/>
                          <a:latin typeface="微软雅黑" panose="020B0503020204020204" pitchFamily="34" charset="-122"/>
                          <a:ea typeface="微软雅黑" panose="020B0503020204020204" pitchFamily="34" charset="-122"/>
                        </a:rPr>
                        <a:t>（亿元）</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342348066"/>
                  </a:ext>
                </a:extLst>
              </a:tr>
              <a:tr h="258525">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159509.SZ</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dirty="0">
                          <a:effectLst/>
                          <a:latin typeface="微软雅黑" panose="020B0503020204020204" pitchFamily="34" charset="-122"/>
                          <a:ea typeface="微软雅黑" panose="020B0503020204020204" pitchFamily="34" charset="-122"/>
                        </a:rPr>
                        <a:t>景顺长城纳斯达克科技市值加权ETF</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2.8450</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2.3585</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b="1" u="none" strike="noStrike" dirty="0">
                          <a:effectLst/>
                          <a:latin typeface="微软雅黑" panose="020B0503020204020204" pitchFamily="34" charset="-122"/>
                          <a:ea typeface="微软雅黑" panose="020B0503020204020204" pitchFamily="34" charset="-122"/>
                        </a:rPr>
                        <a:t>20.63%</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16.93%</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u="none" strike="noStrike" dirty="0">
                          <a:effectLst/>
                          <a:latin typeface="微软雅黑" panose="020B0503020204020204" pitchFamily="34" charset="-122"/>
                          <a:ea typeface="微软雅黑" panose="020B0503020204020204" pitchFamily="34" charset="-122"/>
                        </a:rPr>
                        <a:t>    188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dirty="0">
                          <a:effectLst/>
                          <a:latin typeface="微软雅黑" panose="020B0503020204020204" pitchFamily="34" charset="-122"/>
                          <a:ea typeface="微软雅黑" panose="020B0503020204020204" pitchFamily="34" charset="-122"/>
                        </a:rPr>
                        <a:t>                     -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14.29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801368046"/>
                  </a:ext>
                </a:extLst>
              </a:tr>
              <a:tr h="258525">
                <a:tc>
                  <a:txBody>
                    <a:bodyPr/>
                    <a:lstStyle/>
                    <a:p>
                      <a:pPr algn="l" fontAlgn="b">
                        <a:buNone/>
                      </a:pPr>
                      <a:r>
                        <a:rPr lang="zh-CN" sz="1100" u="none" strike="noStrike" dirty="0">
                          <a:effectLst/>
                          <a:latin typeface="微软雅黑" panose="020B0503020204020204" pitchFamily="34" charset="-122"/>
                          <a:ea typeface="微软雅黑" panose="020B0503020204020204" pitchFamily="34" charset="-122"/>
                        </a:rPr>
                        <a:t>513100.SH</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国泰纳斯达克100ETF</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2.3430</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2.0870</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b="1" u="none" strike="noStrike" dirty="0">
                          <a:effectLst/>
                          <a:latin typeface="微软雅黑" panose="020B0503020204020204" pitchFamily="34" charset="-122"/>
                          <a:ea typeface="微软雅黑" panose="020B0503020204020204" pitchFamily="34" charset="-122"/>
                        </a:rPr>
                        <a:t>12.27%</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6.49%</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u="none" strike="noStrike" dirty="0">
                          <a:effectLst/>
                          <a:latin typeface="微软雅黑" panose="020B0503020204020204" pitchFamily="34" charset="-122"/>
                          <a:ea typeface="微软雅黑" panose="020B0503020204020204" pitchFamily="34" charset="-122"/>
                        </a:rPr>
                        <a:t>    22</a:t>
                      </a:r>
                      <a:r>
                        <a:rPr lang="en-US" altLang="zh-CN" sz="1100" u="none" strike="noStrike" dirty="0">
                          <a:effectLst/>
                          <a:latin typeface="微软雅黑" panose="020B0503020204020204" pitchFamily="34" charset="-122"/>
                          <a:ea typeface="微软雅黑" panose="020B0503020204020204" pitchFamily="34" charset="-122"/>
                        </a:rPr>
                        <a:t>2</a:t>
                      </a:r>
                      <a:r>
                        <a:rPr lang="zh-CN" sz="1100" u="none" strike="noStrike" dirty="0">
                          <a:effectLst/>
                          <a:latin typeface="微软雅黑" panose="020B0503020204020204" pitchFamily="34" charset="-122"/>
                          <a:ea typeface="微软雅黑" panose="020B0503020204020204" pitchFamily="34" charset="-122"/>
                        </a:rPr>
                        <a:t>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dirty="0">
                          <a:effectLst/>
                          <a:latin typeface="微软雅黑" panose="020B0503020204020204" pitchFamily="34" charset="-122"/>
                          <a:ea typeface="微软雅黑" panose="020B0503020204020204" pitchFamily="34" charset="-122"/>
                        </a:rPr>
                        <a:t>         1,000,000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209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dirty="0">
                          <a:effectLst/>
                          <a:latin typeface="微软雅黑" panose="020B0503020204020204" pitchFamily="34" charset="-122"/>
                          <a:ea typeface="微软雅黑" panose="020B0503020204020204" pitchFamily="34" charset="-122"/>
                        </a:rPr>
                        <a:t>      11.91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3241678682"/>
                  </a:ext>
                </a:extLst>
              </a:tr>
              <a:tr h="258525">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159501.SZ</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dirty="0">
                          <a:effectLst/>
                          <a:latin typeface="微软雅黑" panose="020B0503020204020204" pitchFamily="34" charset="-122"/>
                          <a:ea typeface="微软雅黑" panose="020B0503020204020204" pitchFamily="34" charset="-122"/>
                        </a:rPr>
                        <a:t>嘉实纳斯达克100ETF</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2.1850</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1.9591</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b="1" u="none" strike="noStrike" dirty="0">
                          <a:effectLst/>
                          <a:latin typeface="微软雅黑" panose="020B0503020204020204" pitchFamily="34" charset="-122"/>
                          <a:ea typeface="微软雅黑" panose="020B0503020204020204" pitchFamily="34" charset="-122"/>
                        </a:rPr>
                        <a:t>11.53%</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7.37%</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u="none" strike="noStrike" dirty="0">
                          <a:effectLst/>
                          <a:latin typeface="微软雅黑" panose="020B0503020204020204" pitchFamily="34" charset="-122"/>
                          <a:ea typeface="微软雅黑" panose="020B0503020204020204" pitchFamily="34" charset="-122"/>
                        </a:rPr>
                        <a:t>    137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5,000,000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980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2.61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2302379472"/>
                  </a:ext>
                </a:extLst>
              </a:tr>
              <a:tr h="258525">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159941.SZ</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广发纳斯达克100ETF</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1.7350</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1.5657</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b="1" u="none" strike="noStrike" dirty="0">
                          <a:effectLst/>
                          <a:latin typeface="微软雅黑" panose="020B0503020204020204" pitchFamily="34" charset="-122"/>
                          <a:ea typeface="微软雅黑" panose="020B0503020204020204" pitchFamily="34" charset="-122"/>
                        </a:rPr>
                        <a:t>10.81%</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5.66%</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u="none" strike="noStrike" dirty="0">
                          <a:effectLst/>
                          <a:latin typeface="微软雅黑" panose="020B0503020204020204" pitchFamily="34" charset="-122"/>
                          <a:ea typeface="微软雅黑" panose="020B0503020204020204" pitchFamily="34" charset="-122"/>
                        </a:rPr>
                        <a:t>    3</a:t>
                      </a:r>
                      <a:r>
                        <a:rPr lang="en-US" altLang="zh-CN" sz="1100" u="none" strike="noStrike" dirty="0">
                          <a:effectLst/>
                          <a:latin typeface="微软雅黑" panose="020B0503020204020204" pitchFamily="34" charset="-122"/>
                          <a:ea typeface="微软雅黑" panose="020B0503020204020204" pitchFamily="34" charset="-122"/>
                        </a:rPr>
                        <a:t>90</a:t>
                      </a:r>
                      <a:r>
                        <a:rPr lang="zh-CN" sz="1100" u="none" strike="noStrike" dirty="0">
                          <a:effectLst/>
                          <a:latin typeface="微软雅黑" panose="020B0503020204020204" pitchFamily="34" charset="-122"/>
                          <a:ea typeface="微软雅黑" panose="020B0503020204020204" pitchFamily="34" charset="-122"/>
                        </a:rPr>
                        <a:t>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1,300,000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204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20.64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1415924997"/>
                  </a:ext>
                </a:extLst>
              </a:tr>
              <a:tr h="258525">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159696.SZ</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易方达纳斯达克100ETF</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2.1320</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1.9415</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b="1" u="none" strike="noStrike" dirty="0">
                          <a:effectLst/>
                          <a:latin typeface="微软雅黑" panose="020B0503020204020204" pitchFamily="34" charset="-122"/>
                          <a:ea typeface="微软雅黑" panose="020B0503020204020204" pitchFamily="34" charset="-122"/>
                        </a:rPr>
                        <a:t>9.81%</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10.49%</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u="none" strike="noStrike" dirty="0">
                          <a:effectLst/>
                          <a:latin typeface="微软雅黑" panose="020B0503020204020204" pitchFamily="34" charset="-122"/>
                          <a:ea typeface="微软雅黑" panose="020B0503020204020204" pitchFamily="34" charset="-122"/>
                        </a:rPr>
                        <a:t>      5</a:t>
                      </a:r>
                      <a:r>
                        <a:rPr lang="en-US" altLang="zh-CN" sz="1100" u="none" strike="noStrike" dirty="0">
                          <a:effectLst/>
                          <a:latin typeface="微软雅黑" panose="020B0503020204020204" pitchFamily="34" charset="-122"/>
                          <a:ea typeface="微软雅黑" panose="020B0503020204020204" pitchFamily="34" charset="-122"/>
                        </a:rPr>
                        <a:t>4</a:t>
                      </a:r>
                      <a:r>
                        <a:rPr lang="zh-CN" sz="1100" u="none" strike="noStrike" dirty="0">
                          <a:effectLst/>
                          <a:latin typeface="微软雅黑" panose="020B0503020204020204" pitchFamily="34" charset="-122"/>
                          <a:ea typeface="微软雅黑" panose="020B0503020204020204" pitchFamily="34" charset="-122"/>
                        </a:rPr>
                        <a:t>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5,000,000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971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1.41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61521569"/>
                  </a:ext>
                </a:extLst>
              </a:tr>
              <a:tr h="258525">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513300.SH</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华夏纳斯达克100ETF</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2.8300</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2.5835</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b="1" u="none" strike="noStrike">
                          <a:effectLst/>
                          <a:latin typeface="微软雅黑" panose="020B0503020204020204" pitchFamily="34" charset="-122"/>
                          <a:ea typeface="微软雅黑" panose="020B0503020204020204" pitchFamily="34" charset="-122"/>
                        </a:rPr>
                        <a:t>9.54%</a:t>
                      </a:r>
                      <a:endParaRPr lang="zh-CN" sz="1100" b="1"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4.64%</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u="none" strike="noStrike" dirty="0">
                          <a:effectLst/>
                          <a:latin typeface="微软雅黑" panose="020B0503020204020204" pitchFamily="34" charset="-122"/>
                          <a:ea typeface="微软雅黑" panose="020B0503020204020204" pitchFamily="34" charset="-122"/>
                        </a:rPr>
                        <a:t>    14</a:t>
                      </a:r>
                      <a:r>
                        <a:rPr lang="en-US" altLang="zh-CN" sz="1100" u="none" strike="noStrike" dirty="0">
                          <a:effectLst/>
                          <a:latin typeface="微软雅黑" panose="020B0503020204020204" pitchFamily="34" charset="-122"/>
                          <a:ea typeface="微软雅黑" panose="020B0503020204020204" pitchFamily="34" charset="-122"/>
                        </a:rPr>
                        <a:t>7</a:t>
                      </a:r>
                      <a:r>
                        <a:rPr lang="zh-CN" sz="1100" u="none" strike="noStrike" dirty="0">
                          <a:effectLst/>
                          <a:latin typeface="微软雅黑" panose="020B0503020204020204" pitchFamily="34" charset="-122"/>
                          <a:ea typeface="微软雅黑" panose="020B0503020204020204" pitchFamily="34" charset="-122"/>
                        </a:rPr>
                        <a:t>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500,000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129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7.85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2996251736"/>
                  </a:ext>
                </a:extLst>
              </a:tr>
              <a:tr h="258525">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513870.SH</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富国纳斯达克100ETF</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2.1740</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1.9870</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b="1" u="none" strike="noStrike" dirty="0">
                          <a:effectLst/>
                          <a:latin typeface="微软雅黑" panose="020B0503020204020204" pitchFamily="34" charset="-122"/>
                          <a:ea typeface="微软雅黑" panose="020B0503020204020204" pitchFamily="34" charset="-122"/>
                        </a:rPr>
                        <a:t>9.41%</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4.34%</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u="none" strike="noStrike" dirty="0">
                          <a:effectLst/>
                          <a:latin typeface="微软雅黑" panose="020B0503020204020204" pitchFamily="34" charset="-122"/>
                          <a:ea typeface="微软雅黑" panose="020B0503020204020204" pitchFamily="34" charset="-122"/>
                        </a:rPr>
                        <a:t>      2</a:t>
                      </a:r>
                      <a:r>
                        <a:rPr lang="en-US" altLang="zh-CN" sz="1100" u="none" strike="noStrike" dirty="0">
                          <a:effectLst/>
                          <a:latin typeface="微软雅黑" panose="020B0503020204020204" pitchFamily="34" charset="-122"/>
                          <a:ea typeface="微软雅黑" panose="020B0503020204020204" pitchFamily="34" charset="-122"/>
                        </a:rPr>
                        <a:t>7</a:t>
                      </a:r>
                      <a:r>
                        <a:rPr lang="zh-CN" sz="1100" u="none" strike="noStrike" dirty="0">
                          <a:effectLst/>
                          <a:latin typeface="微软雅黑" panose="020B0503020204020204" pitchFamily="34" charset="-122"/>
                          <a:ea typeface="微软雅黑" panose="020B0503020204020204" pitchFamily="34" charset="-122"/>
                        </a:rPr>
                        <a:t>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750,000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149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1.85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413231950"/>
                  </a:ext>
                </a:extLst>
              </a:tr>
              <a:tr h="258525">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159660.SZ</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汇添富纳斯达克100ETF</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2.4900</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2.2789</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b="1" u="none" strike="noStrike" dirty="0">
                          <a:effectLst/>
                          <a:latin typeface="微软雅黑" panose="020B0503020204020204" pitchFamily="34" charset="-122"/>
                          <a:ea typeface="微软雅黑" panose="020B0503020204020204" pitchFamily="34" charset="-122"/>
                        </a:rPr>
                        <a:t>9.26%</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4.51%</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u="none" strike="noStrike" dirty="0">
                          <a:effectLst/>
                          <a:latin typeface="微软雅黑" panose="020B0503020204020204" pitchFamily="34" charset="-122"/>
                          <a:ea typeface="微软雅黑" panose="020B0503020204020204" pitchFamily="34" charset="-122"/>
                        </a:rPr>
                        <a:t>      5</a:t>
                      </a:r>
                      <a:r>
                        <a:rPr lang="en-US" altLang="zh-CN" sz="1100" u="none" strike="noStrike" dirty="0">
                          <a:effectLst/>
                          <a:latin typeface="微软雅黑" panose="020B0503020204020204" pitchFamily="34" charset="-122"/>
                          <a:ea typeface="微软雅黑" panose="020B0503020204020204" pitchFamily="34" charset="-122"/>
                        </a:rPr>
                        <a:t>3</a:t>
                      </a:r>
                      <a:r>
                        <a:rPr lang="zh-CN" sz="1100" u="none" strike="noStrike" dirty="0">
                          <a:effectLst/>
                          <a:latin typeface="微软雅黑" panose="020B0503020204020204" pitchFamily="34" charset="-122"/>
                          <a:ea typeface="微软雅黑" panose="020B0503020204020204" pitchFamily="34" charset="-122"/>
                        </a:rPr>
                        <a:t>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1,000,000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228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2.15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3811894526"/>
                  </a:ext>
                </a:extLst>
              </a:tr>
              <a:tr h="258525">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159513.SZ</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大成纳斯达克100ETF</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1.8980</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1.7436</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b="1" u="none" strike="noStrike" dirty="0">
                          <a:effectLst/>
                          <a:latin typeface="微软雅黑" panose="020B0503020204020204" pitchFamily="34" charset="-122"/>
                          <a:ea typeface="微软雅黑" panose="020B0503020204020204" pitchFamily="34" charset="-122"/>
                        </a:rPr>
                        <a:t>8.86%</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4.28%</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u="none" strike="noStrike" dirty="0">
                          <a:effectLst/>
                          <a:latin typeface="微软雅黑" panose="020B0503020204020204" pitchFamily="34" charset="-122"/>
                          <a:ea typeface="微软雅黑" panose="020B0503020204020204" pitchFamily="34" charset="-122"/>
                        </a:rPr>
                        <a:t>      79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6,000,000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1,046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2.06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3133322719"/>
                  </a:ext>
                </a:extLst>
              </a:tr>
              <a:tr h="258525">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159659.SZ</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招商纳斯达克100ETF</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2.4410</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2.2466</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b="1" u="none" strike="noStrike" dirty="0">
                          <a:effectLst/>
                          <a:latin typeface="微软雅黑" panose="020B0503020204020204" pitchFamily="34" charset="-122"/>
                          <a:ea typeface="微软雅黑" panose="020B0503020204020204" pitchFamily="34" charset="-122"/>
                        </a:rPr>
                        <a:t>8.65%</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4.17%</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u="none" strike="noStrike" dirty="0">
                          <a:effectLst/>
                          <a:latin typeface="微软雅黑" panose="020B0503020204020204" pitchFamily="34" charset="-122"/>
                          <a:ea typeface="微软雅黑" panose="020B0503020204020204" pitchFamily="34" charset="-122"/>
                        </a:rPr>
                        <a:t>    105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1,000,000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225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4.84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2675280753"/>
                  </a:ext>
                </a:extLst>
              </a:tr>
              <a:tr h="258525">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513390.SH</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博时纳斯达克100ETF</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2.5430</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2.3406</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b="1" u="none" strike="noStrike" dirty="0">
                          <a:effectLst/>
                          <a:latin typeface="微软雅黑" panose="020B0503020204020204" pitchFamily="34" charset="-122"/>
                          <a:ea typeface="微软雅黑" panose="020B0503020204020204" pitchFamily="34" charset="-122"/>
                        </a:rPr>
                        <a:t>8.65%</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4.34%</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u="none" strike="noStrike" dirty="0">
                          <a:effectLst/>
                          <a:latin typeface="微软雅黑" panose="020B0503020204020204" pitchFamily="34" charset="-122"/>
                          <a:ea typeface="微软雅黑" panose="020B0503020204020204" pitchFamily="34" charset="-122"/>
                        </a:rPr>
                        <a:t>      4</a:t>
                      </a:r>
                      <a:r>
                        <a:rPr lang="en-US" altLang="zh-CN" sz="1100" u="none" strike="noStrike" dirty="0">
                          <a:effectLst/>
                          <a:latin typeface="微软雅黑" panose="020B0503020204020204" pitchFamily="34" charset="-122"/>
                          <a:ea typeface="微软雅黑" panose="020B0503020204020204" pitchFamily="34" charset="-122"/>
                        </a:rPr>
                        <a:t>7</a:t>
                      </a:r>
                      <a:r>
                        <a:rPr lang="zh-CN" sz="1100" u="none" strike="noStrike" dirty="0">
                          <a:effectLst/>
                          <a:latin typeface="微软雅黑" panose="020B0503020204020204" pitchFamily="34" charset="-122"/>
                          <a:ea typeface="微软雅黑" panose="020B0503020204020204" pitchFamily="34" charset="-122"/>
                        </a:rPr>
                        <a:t>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1,000,000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234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1.97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2047403265"/>
                  </a:ext>
                </a:extLst>
              </a:tr>
              <a:tr h="258525">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513110.SH</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华泰柏瑞纳斯达克100ETF</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2.6020</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2.3965</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b="1" u="none" strike="noStrike" dirty="0">
                          <a:effectLst/>
                          <a:latin typeface="微软雅黑" panose="020B0503020204020204" pitchFamily="34" charset="-122"/>
                          <a:ea typeface="微软雅黑" panose="020B0503020204020204" pitchFamily="34" charset="-122"/>
                        </a:rPr>
                        <a:t>8.58%</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3.59%</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u="none" strike="noStrike" dirty="0">
                          <a:effectLst/>
                          <a:latin typeface="微软雅黑" panose="020B0503020204020204" pitchFamily="34" charset="-122"/>
                          <a:ea typeface="微软雅黑" panose="020B0503020204020204" pitchFamily="34" charset="-122"/>
                        </a:rPr>
                        <a:t>      5</a:t>
                      </a:r>
                      <a:r>
                        <a:rPr lang="en-US" altLang="zh-CN" sz="1100" u="none" strike="noStrike" dirty="0">
                          <a:effectLst/>
                          <a:latin typeface="微软雅黑" panose="020B0503020204020204" pitchFamily="34" charset="-122"/>
                          <a:ea typeface="微软雅黑" panose="020B0503020204020204" pitchFamily="34" charset="-122"/>
                        </a:rPr>
                        <a:t>6</a:t>
                      </a:r>
                      <a:r>
                        <a:rPr lang="zh-CN" sz="1100" u="none" strike="noStrike" dirty="0">
                          <a:effectLst/>
                          <a:latin typeface="微软雅黑" panose="020B0503020204020204" pitchFamily="34" charset="-122"/>
                          <a:ea typeface="微软雅黑" panose="020B0503020204020204" pitchFamily="34" charset="-122"/>
                        </a:rPr>
                        <a:t>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dirty="0">
                          <a:effectLst/>
                          <a:latin typeface="微软雅黑" panose="020B0503020204020204" pitchFamily="34" charset="-122"/>
                          <a:ea typeface="微软雅黑" panose="020B0503020204020204" pitchFamily="34" charset="-122"/>
                        </a:rPr>
                        <a:t>         1,000,000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240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4.02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2522999019"/>
                  </a:ext>
                </a:extLst>
              </a:tr>
              <a:tr h="258525">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159632.SZ</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华安纳斯达克100ETF</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2.5710</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2.3681</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b="1" u="none" strike="noStrike" dirty="0">
                          <a:effectLst/>
                          <a:latin typeface="微软雅黑" panose="020B0503020204020204" pitchFamily="34" charset="-122"/>
                          <a:ea typeface="微软雅黑" panose="020B0503020204020204" pitchFamily="34" charset="-122"/>
                        </a:rPr>
                        <a:t>8.57%</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3.80%</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u="none" strike="noStrike" dirty="0">
                          <a:effectLst/>
                          <a:latin typeface="微软雅黑" panose="020B0503020204020204" pitchFamily="34" charset="-122"/>
                          <a:ea typeface="微软雅黑" panose="020B0503020204020204" pitchFamily="34" charset="-122"/>
                        </a:rPr>
                        <a:t>    12</a:t>
                      </a:r>
                      <a:r>
                        <a:rPr lang="en-US" altLang="zh-CN" sz="1100" u="none" strike="noStrike" dirty="0">
                          <a:effectLst/>
                          <a:latin typeface="微软雅黑" panose="020B0503020204020204" pitchFamily="34" charset="-122"/>
                          <a:ea typeface="微软雅黑" panose="020B0503020204020204" pitchFamily="34" charset="-122"/>
                        </a:rPr>
                        <a:t>4</a:t>
                      </a:r>
                      <a:r>
                        <a:rPr lang="zh-CN" sz="1100" u="none" strike="noStrike" dirty="0">
                          <a:effectLst/>
                          <a:latin typeface="微软雅黑" panose="020B0503020204020204" pitchFamily="34" charset="-122"/>
                          <a:ea typeface="微软雅黑" panose="020B0503020204020204" pitchFamily="34" charset="-122"/>
                        </a:rPr>
                        <a:t>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1,000,000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dirty="0">
                          <a:effectLst/>
                          <a:latin typeface="微软雅黑" panose="020B0503020204020204" pitchFamily="34" charset="-122"/>
                          <a:ea typeface="微软雅黑" panose="020B0503020204020204" pitchFamily="34" charset="-122"/>
                        </a:rPr>
                        <a:t>           237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4.52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4002286008"/>
                  </a:ext>
                </a:extLst>
              </a:tr>
              <a:tr h="258525">
                <a:tc>
                  <a:txBody>
                    <a:bodyPr/>
                    <a:lstStyle/>
                    <a:p>
                      <a:pPr algn="l" fontAlgn="b">
                        <a:buNone/>
                      </a:pP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solidFill>
                      <a:schemeClr val="tx1">
                        <a:lumMod val="20000"/>
                        <a:lumOff val="80000"/>
                      </a:schemeClr>
                    </a:solidFill>
                  </a:tcPr>
                </a:tc>
                <a:tc>
                  <a:txBody>
                    <a:bodyPr/>
                    <a:lstStyle/>
                    <a:p>
                      <a:pPr algn="l" fontAlgn="b">
                        <a:buNone/>
                      </a:pP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solidFill>
                      <a:schemeClr val="tx1">
                        <a:lumMod val="20000"/>
                        <a:lumOff val="80000"/>
                      </a:schemeClr>
                    </a:solidFill>
                  </a:tcPr>
                </a:tc>
                <a:tc>
                  <a:txBody>
                    <a:bodyPr/>
                    <a:lstStyle/>
                    <a:p>
                      <a:pPr algn="r" fontAlgn="b">
                        <a:buNone/>
                      </a:pP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solidFill>
                      <a:schemeClr val="tx1">
                        <a:lumMod val="20000"/>
                        <a:lumOff val="80000"/>
                      </a:schemeClr>
                    </a:solidFill>
                  </a:tcPr>
                </a:tc>
                <a:tc>
                  <a:txBody>
                    <a:bodyPr/>
                    <a:lstStyle/>
                    <a:p>
                      <a:pPr algn="r" fontAlgn="b">
                        <a:buNone/>
                      </a:pP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solidFill>
                      <a:schemeClr val="tx1">
                        <a:lumMod val="20000"/>
                        <a:lumOff val="80000"/>
                      </a:schemeClr>
                    </a:solidFill>
                  </a:tcPr>
                </a:tc>
                <a:tc>
                  <a:txBody>
                    <a:bodyPr/>
                    <a:lstStyle/>
                    <a:p>
                      <a:pPr algn="r" fontAlgn="b">
                        <a:buNone/>
                      </a:pP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solidFill>
                      <a:schemeClr val="tx1">
                        <a:lumMod val="20000"/>
                        <a:lumOff val="80000"/>
                      </a:schemeClr>
                    </a:solidFill>
                  </a:tcPr>
                </a:tc>
                <a:tc>
                  <a:txBody>
                    <a:bodyPr/>
                    <a:lstStyle/>
                    <a:p>
                      <a:pPr algn="r" fontAlgn="b">
                        <a:buNone/>
                      </a:pP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solidFill>
                      <a:schemeClr val="tx1">
                        <a:lumMod val="20000"/>
                        <a:lumOff val="80000"/>
                      </a:schemeClr>
                    </a:solidFill>
                  </a:tcPr>
                </a:tc>
                <a:tc>
                  <a:txBody>
                    <a:bodyPr/>
                    <a:lstStyle/>
                    <a:p>
                      <a:pPr algn="l" fontAlgn="b">
                        <a:buNone/>
                      </a:pP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solidFill>
                      <a:schemeClr val="tx1">
                        <a:lumMod val="20000"/>
                        <a:lumOff val="80000"/>
                      </a:schemeClr>
                    </a:solidFill>
                  </a:tcPr>
                </a:tc>
                <a:tc>
                  <a:txBody>
                    <a:bodyPr/>
                    <a:lstStyle/>
                    <a:p>
                      <a:pPr algn="ctr" fontAlgn="b">
                        <a:buNone/>
                      </a:pP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solidFill>
                      <a:schemeClr val="tx1">
                        <a:lumMod val="20000"/>
                        <a:lumOff val="80000"/>
                      </a:schemeClr>
                    </a:solidFill>
                  </a:tcPr>
                </a:tc>
                <a:tc>
                  <a:txBody>
                    <a:bodyPr/>
                    <a:lstStyle/>
                    <a:p>
                      <a:pPr algn="ctr" fontAlgn="b">
                        <a:buNone/>
                      </a:pP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solidFill>
                      <a:schemeClr val="tx1">
                        <a:lumMod val="20000"/>
                        <a:lumOff val="80000"/>
                      </a:schemeClr>
                    </a:solidFill>
                  </a:tcPr>
                </a:tc>
                <a:tc>
                  <a:txBody>
                    <a:bodyPr/>
                    <a:lstStyle/>
                    <a:p>
                      <a:pPr algn="l" fontAlgn="b">
                        <a:buNone/>
                      </a:pP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solidFill>
                      <a:schemeClr val="tx1">
                        <a:lumMod val="20000"/>
                        <a:lumOff val="80000"/>
                      </a:schemeClr>
                    </a:solidFill>
                  </a:tcPr>
                </a:tc>
                <a:extLst>
                  <a:ext uri="{0D108BD9-81ED-4DB2-BD59-A6C34878D82A}">
                    <a16:rowId xmlns:a16="http://schemas.microsoft.com/office/drawing/2014/main" val="2002691588"/>
                  </a:ext>
                </a:extLst>
              </a:tr>
              <a:tr h="258525">
                <a:tc>
                  <a:txBody>
                    <a:bodyPr/>
                    <a:lstStyle/>
                    <a:p>
                      <a:pPr algn="l" fontAlgn="b">
                        <a:buNone/>
                      </a:pPr>
                      <a:r>
                        <a:rPr lang="zh-CN" sz="1100" u="none" strike="noStrike" dirty="0">
                          <a:effectLst/>
                          <a:latin typeface="微软雅黑" panose="020B0503020204020204" pitchFamily="34" charset="-122"/>
                          <a:ea typeface="微软雅黑" panose="020B0503020204020204" pitchFamily="34" charset="-122"/>
                        </a:rPr>
                        <a:t>501225.SH</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景顺长城全球半导体芯片QDII-LOF</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4.3410</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3.3418</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b="1" u="none" strike="noStrike" dirty="0">
                          <a:effectLst/>
                          <a:latin typeface="微软雅黑" panose="020B0503020204020204" pitchFamily="34" charset="-122"/>
                          <a:ea typeface="微软雅黑" panose="020B0503020204020204" pitchFamily="34" charset="-122"/>
                        </a:rPr>
                        <a:t>29.90%</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26.19%</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a:effectLst/>
                          <a:latin typeface="微软雅黑" panose="020B0503020204020204" pitchFamily="34" charset="-122"/>
                          <a:ea typeface="微软雅黑" panose="020B0503020204020204" pitchFamily="34" charset="-122"/>
                        </a:rPr>
                        <a:t>      10.92 </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zh-CN" sz="1100" u="none" strike="noStrike" dirty="0">
                          <a:effectLst/>
                          <a:latin typeface="微软雅黑" panose="020B0503020204020204" pitchFamily="34" charset="-122"/>
                          <a:ea typeface="微软雅黑" panose="020B0503020204020204" pitchFamily="34" charset="-122"/>
                        </a:rPr>
                        <a:t> -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ctr" fontAlgn="b">
                        <a:buNone/>
                      </a:pPr>
                      <a:r>
                        <a:rPr lang="en-US" altLang="zh-CN" sz="1100" b="0" i="0" u="none" strike="noStrike" dirty="0">
                          <a:effectLst/>
                          <a:latin typeface="微软雅黑" panose="020B0503020204020204" pitchFamily="34" charset="-122"/>
                          <a:ea typeface="微软雅黑" panose="020B0503020204020204" pitchFamily="34" charset="-122"/>
                        </a:rPr>
                        <a:t>-</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dirty="0">
                          <a:effectLst/>
                          <a:latin typeface="微软雅黑" panose="020B0503020204020204" pitchFamily="34" charset="-122"/>
                          <a:ea typeface="微软雅黑" panose="020B0503020204020204" pitchFamily="34" charset="-122"/>
                        </a:rPr>
                        <a:t>        0.76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2779300261"/>
                  </a:ext>
                </a:extLst>
              </a:tr>
              <a:tr h="258525">
                <a:tc>
                  <a:txBody>
                    <a:bodyPr/>
                    <a:lstStyle/>
                    <a:p>
                      <a:pPr algn="l" fontAlgn="b">
                        <a:buNone/>
                      </a:pPr>
                      <a:r>
                        <a:rPr lang="zh-CN" sz="1100" u="none" strike="noStrike" dirty="0">
                          <a:effectLst/>
                          <a:latin typeface="微软雅黑" panose="020B0503020204020204" pitchFamily="34" charset="-122"/>
                          <a:ea typeface="微软雅黑" panose="020B0503020204020204" pitchFamily="34" charset="-122"/>
                        </a:rPr>
                        <a:t>513310.SH</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dirty="0">
                          <a:effectLst/>
                          <a:latin typeface="微软雅黑" panose="020B0503020204020204" pitchFamily="34" charset="-122"/>
                          <a:ea typeface="微软雅黑" panose="020B0503020204020204" pitchFamily="34" charset="-122"/>
                        </a:rPr>
                        <a:t>华泰柏瑞中证韩交所中韩半导体ETF</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5.9420</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a:effectLst/>
                          <a:latin typeface="微软雅黑" panose="020B0503020204020204" pitchFamily="34" charset="-122"/>
                          <a:ea typeface="微软雅黑" panose="020B0503020204020204" pitchFamily="34" charset="-122"/>
                        </a:rPr>
                        <a:t>4.9847</a:t>
                      </a:r>
                      <a:endParaRPr lang="zh-CN" sz="1100" b="0" i="0" u="none" strike="noStrike">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b="1" u="none" strike="noStrike" dirty="0">
                          <a:effectLst/>
                          <a:latin typeface="微软雅黑" panose="020B0503020204020204" pitchFamily="34" charset="-122"/>
                          <a:ea typeface="微软雅黑" panose="020B0503020204020204" pitchFamily="34" charset="-122"/>
                        </a:rPr>
                        <a:t>19.20%</a:t>
                      </a:r>
                      <a:endParaRPr lang="zh-CN" sz="1100" b="1"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r" fontAlgn="b">
                        <a:buNone/>
                      </a:pPr>
                      <a:r>
                        <a:rPr lang="zh-CN" sz="1100" u="none" strike="noStrike" dirty="0">
                          <a:effectLst/>
                          <a:latin typeface="微软雅黑" panose="020B0503020204020204" pitchFamily="34" charset="-122"/>
                          <a:ea typeface="微软雅黑" panose="020B0503020204020204" pitchFamily="34" charset="-122"/>
                        </a:rPr>
                        <a:t>18.08%</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dirty="0">
                          <a:effectLst/>
                          <a:latin typeface="微软雅黑" panose="020B0503020204020204" pitchFamily="34" charset="-122"/>
                          <a:ea typeface="微软雅黑" panose="020B0503020204020204" pitchFamily="34" charset="-122"/>
                        </a:rPr>
                        <a:t>    133.36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dirty="0">
                          <a:effectLst/>
                          <a:latin typeface="微软雅黑" panose="020B0503020204020204" pitchFamily="34" charset="-122"/>
                          <a:ea typeface="微软雅黑" panose="020B0503020204020204" pitchFamily="34" charset="-122"/>
                        </a:rPr>
                        <a:t>         3,000,000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dirty="0">
                          <a:effectLst/>
                          <a:latin typeface="微软雅黑" panose="020B0503020204020204" pitchFamily="34" charset="-122"/>
                          <a:ea typeface="微软雅黑" panose="020B0503020204020204" pitchFamily="34" charset="-122"/>
                        </a:rPr>
                        <a:t>        1,495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tc>
                  <a:txBody>
                    <a:bodyPr/>
                    <a:lstStyle/>
                    <a:p>
                      <a:pPr algn="l" fontAlgn="b">
                        <a:buNone/>
                      </a:pPr>
                      <a:r>
                        <a:rPr lang="zh-CN" sz="1100" u="none" strike="noStrike" dirty="0">
                          <a:effectLst/>
                          <a:latin typeface="微软雅黑" panose="020B0503020204020204" pitchFamily="34" charset="-122"/>
                          <a:ea typeface="微软雅黑" panose="020B0503020204020204" pitchFamily="34" charset="-122"/>
                        </a:rPr>
                        <a:t>    101.11 </a:t>
                      </a:r>
                      <a:endParaRPr lang="zh-CN" sz="1100" b="0" i="0" u="none" strike="noStrike" dirty="0">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3869699678"/>
                  </a:ext>
                </a:extLst>
              </a:tr>
            </a:tbl>
          </a:graphicData>
        </a:graphic>
      </p:graphicFrame>
      <p:sp>
        <p:nvSpPr>
          <p:cNvPr id="7" name="TextBox 6">
            <a:extLst>
              <a:ext uri="{FF2B5EF4-FFF2-40B4-BE49-F238E27FC236}">
                <a16:creationId xmlns:a16="http://schemas.microsoft.com/office/drawing/2014/main" id="{8695DEDB-F011-F999-99FB-C5F409BCFAEC}"/>
              </a:ext>
            </a:extLst>
          </p:cNvPr>
          <p:cNvSpPr txBox="1"/>
          <p:nvPr/>
        </p:nvSpPr>
        <p:spPr>
          <a:xfrm>
            <a:off x="723140" y="1268099"/>
            <a:ext cx="10906489" cy="276999"/>
          </a:xfrm>
          <a:prstGeom prst="rect">
            <a:avLst/>
          </a:prstGeom>
          <a:noFill/>
        </p:spPr>
        <p:txBody>
          <a:bodyPr wrap="square">
            <a:spAutoFit/>
          </a:bodyPr>
          <a:lstStyle/>
          <a:p>
            <a:pPr marL="285750" indent="-285750" algn="just">
              <a:spcBef>
                <a:spcPts val="600"/>
              </a:spcBef>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rPr>
              <a:t>2026</a:t>
            </a:r>
            <a:r>
              <a:rPr lang="zh-CN" altLang="en-US" sz="1200" dirty="0">
                <a:latin typeface="微软雅黑" panose="020B0503020204020204" pitchFamily="34" charset="-122"/>
                <a:ea typeface="微软雅黑" panose="020B0503020204020204" pitchFamily="34" charset="-122"/>
              </a:rPr>
              <a:t>年</a:t>
            </a:r>
            <a:r>
              <a:rPr lang="en-US" altLang="zh-CN" sz="1200" dirty="0">
                <a:latin typeface="微软雅黑" panose="020B0503020204020204" pitchFamily="34" charset="-122"/>
                <a:ea typeface="微软雅黑" panose="020B0503020204020204" pitchFamily="34" charset="-122"/>
              </a:rPr>
              <a:t>6</a:t>
            </a:r>
            <a:r>
              <a:rPr lang="zh-CN" altLang="en-US" sz="1200" dirty="0">
                <a:latin typeface="微软雅黑" panose="020B0503020204020204" pitchFamily="34" charset="-122"/>
                <a:ea typeface="微软雅黑" panose="020B0503020204020204" pitchFamily="34" charset="-122"/>
              </a:rPr>
              <a:t>月</a:t>
            </a:r>
            <a:r>
              <a:rPr lang="en-US" altLang="zh-CN" sz="12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日收盘后，全部纳斯达克</a:t>
            </a:r>
            <a:r>
              <a:rPr lang="en-US" altLang="zh-CN" sz="1200" dirty="0">
                <a:latin typeface="微软雅黑" panose="020B0503020204020204" pitchFamily="34" charset="-122"/>
                <a:ea typeface="微软雅黑" panose="020B0503020204020204" pitchFamily="34" charset="-122"/>
              </a:rPr>
              <a:t>ETF</a:t>
            </a:r>
            <a:r>
              <a:rPr lang="zh-CN" altLang="en-US" sz="1200" dirty="0">
                <a:latin typeface="微软雅黑" panose="020B0503020204020204" pitchFamily="34" charset="-122"/>
                <a:ea typeface="微软雅黑" panose="020B0503020204020204" pitchFamily="34" charset="-122"/>
              </a:rPr>
              <a:t>公告称次日停牌</a:t>
            </a: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小时。提示溢价风险、启动临时停牌，为过热的市场情绪降温，保护投资者的切身利益。</a:t>
            </a:r>
          </a:p>
        </p:txBody>
      </p:sp>
    </p:spTree>
    <p:extLst>
      <p:ext uri="{BB962C8B-B14F-4D97-AF65-F5344CB8AC3E}">
        <p14:creationId xmlns:p14="http://schemas.microsoft.com/office/powerpoint/2010/main" val="696236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EEA91-8B4A-3935-1BE1-0ABB8CA8A605}"/>
            </a:ext>
          </a:extLst>
        </p:cNvPr>
        <p:cNvGrpSpPr/>
        <p:nvPr/>
      </p:nvGrpSpPr>
      <p:grpSpPr>
        <a:xfrm>
          <a:off x="0" y="0"/>
          <a:ext cx="0" cy="0"/>
          <a:chOff x="0" y="0"/>
          <a:chExt cx="0" cy="0"/>
        </a:xfrm>
      </p:grpSpPr>
      <p:sp>
        <p:nvSpPr>
          <p:cNvPr id="2" name="Title 12">
            <a:extLst>
              <a:ext uri="{FF2B5EF4-FFF2-40B4-BE49-F238E27FC236}">
                <a16:creationId xmlns:a16="http://schemas.microsoft.com/office/drawing/2014/main" id="{FDEC73F6-082C-53D2-5B9B-2EB13377F1BC}"/>
              </a:ext>
            </a:extLst>
          </p:cNvPr>
          <p:cNvSpPr txBox="1">
            <a:spLocks/>
          </p:cNvSpPr>
          <p:nvPr/>
        </p:nvSpPr>
        <p:spPr>
          <a:xfrm>
            <a:off x="723143" y="566361"/>
            <a:ext cx="10515600" cy="53553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solidFill>
                  <a:srgbClr val="306AB2"/>
                </a:solidFill>
                <a:latin typeface="微软雅黑" panose="020B0503020204020204" pitchFamily="34" charset="-122"/>
                <a:ea typeface="微软雅黑" panose="020B0503020204020204" pitchFamily="34" charset="-122"/>
              </a:rPr>
              <a:t>停牌</a:t>
            </a:r>
            <a:r>
              <a:rPr lang="en-US" altLang="zh-CN" sz="3200" b="1" dirty="0">
                <a:solidFill>
                  <a:srgbClr val="306AB2"/>
                </a:solidFill>
                <a:latin typeface="微软雅黑" panose="020B0503020204020204" pitchFamily="34" charset="-122"/>
                <a:ea typeface="微软雅黑" panose="020B0503020204020204" pitchFamily="34" charset="-122"/>
              </a:rPr>
              <a:t>ETF/LOF</a:t>
            </a:r>
            <a:r>
              <a:rPr lang="zh-CN" altLang="en-US" sz="3200" b="1" dirty="0">
                <a:solidFill>
                  <a:srgbClr val="306AB2"/>
                </a:solidFill>
                <a:latin typeface="微软雅黑" panose="020B0503020204020204" pitchFamily="34" charset="-122"/>
                <a:ea typeface="微软雅黑" panose="020B0503020204020204" pitchFamily="34" charset="-122"/>
              </a:rPr>
              <a:t>详情</a:t>
            </a:r>
            <a:endParaRPr lang="en-US" altLang="zh-CN" sz="3200" b="1" dirty="0">
              <a:solidFill>
                <a:srgbClr val="306AB2"/>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78160876-2737-7548-BF36-BEF6A78AB124}"/>
              </a:ext>
            </a:extLst>
          </p:cNvPr>
          <p:cNvSpPr txBox="1"/>
          <p:nvPr/>
        </p:nvSpPr>
        <p:spPr>
          <a:xfrm>
            <a:off x="562370" y="1254965"/>
            <a:ext cx="5533630" cy="538609"/>
          </a:xfrm>
          <a:prstGeom prst="rect">
            <a:avLst/>
          </a:prstGeom>
          <a:noFill/>
        </p:spPr>
        <p:txBody>
          <a:bodyPr wrap="square" lIns="91440" tIns="45720" rIns="91440" bIns="45720" anchor="t">
            <a:spAutoFit/>
          </a:bodyPr>
          <a:lstStyle/>
          <a:p>
            <a:pPr marL="285750" indent="-285750" algn="just">
              <a:spcBef>
                <a:spcPts val="600"/>
              </a:spcBef>
              <a:buFont typeface="Arial" panose="020B0604020202020204" pitchFamily="34" charset="0"/>
              <a:buChar char="•"/>
            </a:pPr>
            <a:endParaRPr lang="en-US" altLang="zh-CN" sz="1200" dirty="0">
              <a:latin typeface="微软雅黑" panose="020B0503020204020204" pitchFamily="34" charset="-122"/>
              <a:ea typeface="微软雅黑" panose="020B0503020204020204" pitchFamily="34" charset="-122"/>
            </a:endParaRPr>
          </a:p>
          <a:p>
            <a:pPr marL="285750" indent="-285750" algn="just">
              <a:spcBef>
                <a:spcPts val="600"/>
              </a:spcBef>
              <a:buFont typeface="Arial" panose="020B0604020202020204" pitchFamily="34" charset="0"/>
              <a:buChar char="•"/>
            </a:pPr>
            <a:endParaRPr lang="zh-CN" altLang="en-US" sz="1200" dirty="0">
              <a:latin typeface="微软雅黑" panose="020B0503020204020204" pitchFamily="34" charset="-122"/>
              <a:ea typeface="微软雅黑" panose="020B0503020204020204" pitchFamily="34" charset="-122"/>
            </a:endParaRPr>
          </a:p>
        </p:txBody>
      </p:sp>
      <p:sp>
        <p:nvSpPr>
          <p:cNvPr id="7" name="TextBox 6">
            <a:extLst>
              <a:ext uri="{FF2B5EF4-FFF2-40B4-BE49-F238E27FC236}">
                <a16:creationId xmlns:a16="http://schemas.microsoft.com/office/drawing/2014/main" id="{AD4D1F6C-F53A-1A5F-1F4E-2B0AB81120F4}"/>
              </a:ext>
            </a:extLst>
          </p:cNvPr>
          <p:cNvSpPr txBox="1"/>
          <p:nvPr/>
        </p:nvSpPr>
        <p:spPr>
          <a:xfrm>
            <a:off x="723140" y="1268099"/>
            <a:ext cx="10906489" cy="461665"/>
          </a:xfrm>
          <a:prstGeom prst="rect">
            <a:avLst/>
          </a:prstGeom>
          <a:noFill/>
        </p:spPr>
        <p:txBody>
          <a:bodyPr wrap="square">
            <a:spAutoFit/>
          </a:bodyPr>
          <a:lstStyle/>
          <a:p>
            <a:pPr marL="285750" indent="-285750" algn="just">
              <a:spcBef>
                <a:spcPts val="600"/>
              </a:spcBef>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景顺长城纳斯达克科技市值加权</a:t>
            </a:r>
            <a:r>
              <a:rPr lang="en-US" altLang="zh-CN" sz="1200" dirty="0">
                <a:latin typeface="微软雅黑" panose="020B0503020204020204" pitchFamily="34" charset="-122"/>
                <a:ea typeface="微软雅黑" panose="020B0503020204020204" pitchFamily="34" charset="-122"/>
              </a:rPr>
              <a:t>ETF</a:t>
            </a:r>
            <a:r>
              <a:rPr lang="zh-CN" altLang="en-US" sz="1200" dirty="0">
                <a:latin typeface="微软雅黑" panose="020B0503020204020204" pitchFamily="34" charset="-122"/>
                <a:ea typeface="微软雅黑" panose="020B0503020204020204" pitchFamily="34" charset="-122"/>
              </a:rPr>
              <a:t>。持仓为纳斯达克市值加权，前十大持股占比集中度更高，</a:t>
            </a:r>
            <a:r>
              <a:rPr lang="en-US" altLang="zh-CN" sz="1200" dirty="0">
                <a:latin typeface="微软雅黑" panose="020B0503020204020204" pitchFamily="34" charset="-122"/>
                <a:ea typeface="微软雅黑" panose="020B0503020204020204" pitchFamily="34" charset="-122"/>
              </a:rPr>
              <a:t>75%</a:t>
            </a:r>
            <a:r>
              <a:rPr lang="zh-CN" altLang="en-US" sz="1200" dirty="0">
                <a:latin typeface="微软雅黑" panose="020B0503020204020204" pitchFamily="34" charset="-122"/>
                <a:ea typeface="微软雅黑" panose="020B0503020204020204" pitchFamily="34" charset="-122"/>
              </a:rPr>
              <a:t>，美光、超微半导体等成分股也在前十大成分股名列。</a:t>
            </a:r>
            <a:r>
              <a:rPr lang="en-US" altLang="zh-CN" sz="1200" dirty="0">
                <a:latin typeface="微软雅黑" panose="020B0503020204020204" pitchFamily="34" charset="-122"/>
                <a:ea typeface="微软雅黑" panose="020B0503020204020204" pitchFamily="34" charset="-122"/>
              </a:rPr>
              <a:t>2026</a:t>
            </a:r>
            <a:r>
              <a:rPr lang="zh-CN" altLang="en-US" sz="1200" dirty="0">
                <a:latin typeface="微软雅黑" panose="020B0503020204020204" pitchFamily="34" charset="-122"/>
                <a:ea typeface="微软雅黑" panose="020B0503020204020204" pitchFamily="34" charset="-122"/>
              </a:rPr>
              <a:t>年至今每日均发布了溢价风险提示，每日开市均停牌</a:t>
            </a: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小时，同时自四月底开始暂停申购，仅允许赎回。</a:t>
            </a:r>
            <a:endParaRPr lang="en-US" altLang="zh-CN" sz="1200" dirty="0">
              <a:latin typeface="微软雅黑" panose="020B0503020204020204" pitchFamily="34" charset="-122"/>
              <a:ea typeface="微软雅黑" panose="020B0503020204020204" pitchFamily="34" charset="-122"/>
            </a:endParaRPr>
          </a:p>
        </p:txBody>
      </p:sp>
      <p:graphicFrame>
        <p:nvGraphicFramePr>
          <p:cNvPr id="3" name="Table 2">
            <a:extLst>
              <a:ext uri="{FF2B5EF4-FFF2-40B4-BE49-F238E27FC236}">
                <a16:creationId xmlns:a16="http://schemas.microsoft.com/office/drawing/2014/main" id="{10B7EACB-A214-CC99-B277-57A397ECAC81}"/>
              </a:ext>
            </a:extLst>
          </p:cNvPr>
          <p:cNvGraphicFramePr>
            <a:graphicFrameLocks noGrp="1"/>
          </p:cNvGraphicFramePr>
          <p:nvPr>
            <p:extLst>
              <p:ext uri="{D42A27DB-BD31-4B8C-83A1-F6EECF244321}">
                <p14:modId xmlns:p14="http://schemas.microsoft.com/office/powerpoint/2010/main" val="808301370"/>
              </p:ext>
            </p:extLst>
          </p:nvPr>
        </p:nvGraphicFramePr>
        <p:xfrm>
          <a:off x="3557543" y="3336270"/>
          <a:ext cx="8494116" cy="3060702"/>
        </p:xfrm>
        <a:graphic>
          <a:graphicData uri="http://schemas.openxmlformats.org/drawingml/2006/table">
            <a:tbl>
              <a:tblPr>
                <a:tableStyleId>{C083E6E3-FA7D-4D7B-A595-EF9225AFEA82}</a:tableStyleId>
              </a:tblPr>
              <a:tblGrid>
                <a:gridCol w="843634">
                  <a:extLst>
                    <a:ext uri="{9D8B030D-6E8A-4147-A177-3AD203B41FA5}">
                      <a16:colId xmlns:a16="http://schemas.microsoft.com/office/drawing/2014/main" val="2583277716"/>
                    </a:ext>
                  </a:extLst>
                </a:gridCol>
                <a:gridCol w="2954216">
                  <a:extLst>
                    <a:ext uri="{9D8B030D-6E8A-4147-A177-3AD203B41FA5}">
                      <a16:colId xmlns:a16="http://schemas.microsoft.com/office/drawing/2014/main" val="1993521948"/>
                    </a:ext>
                  </a:extLst>
                </a:gridCol>
                <a:gridCol w="1180463">
                  <a:extLst>
                    <a:ext uri="{9D8B030D-6E8A-4147-A177-3AD203B41FA5}">
                      <a16:colId xmlns:a16="http://schemas.microsoft.com/office/drawing/2014/main" val="3633069676"/>
                    </a:ext>
                  </a:extLst>
                </a:gridCol>
                <a:gridCol w="904351">
                  <a:extLst>
                    <a:ext uri="{9D8B030D-6E8A-4147-A177-3AD203B41FA5}">
                      <a16:colId xmlns:a16="http://schemas.microsoft.com/office/drawing/2014/main" val="519231595"/>
                    </a:ext>
                  </a:extLst>
                </a:gridCol>
                <a:gridCol w="2611452">
                  <a:extLst>
                    <a:ext uri="{9D8B030D-6E8A-4147-A177-3AD203B41FA5}">
                      <a16:colId xmlns:a16="http://schemas.microsoft.com/office/drawing/2014/main" val="810431535"/>
                    </a:ext>
                  </a:extLst>
                </a:gridCol>
              </a:tblGrid>
              <a:tr h="340078">
                <a:tc>
                  <a:txBody>
                    <a:bodyPr/>
                    <a:lstStyle/>
                    <a:p>
                      <a:pPr algn="ctr" fontAlgn="ctr">
                        <a:buNone/>
                      </a:pPr>
                      <a:r>
                        <a:rPr lang="zh-CN" sz="1100" b="1" u="none" strike="noStrike" dirty="0">
                          <a:effectLst/>
                          <a:latin typeface="微软雅黑" panose="020B0503020204020204" pitchFamily="34" charset="-122"/>
                          <a:ea typeface="微软雅黑" panose="020B0503020204020204" pitchFamily="34" charset="-122"/>
                        </a:rPr>
                        <a:t>基金代码</a:t>
                      </a:r>
                      <a:endParaRPr lang="zh-CN"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ctr" fontAlgn="ctr">
                        <a:buNone/>
                      </a:pPr>
                      <a:r>
                        <a:rPr lang="zh-CN" sz="1100" b="1" u="none" strike="noStrike" dirty="0">
                          <a:effectLst/>
                          <a:latin typeface="微软雅黑" panose="020B0503020204020204" pitchFamily="34" charset="-122"/>
                          <a:ea typeface="微软雅黑" panose="020B0503020204020204" pitchFamily="34" charset="-122"/>
                        </a:rPr>
                        <a:t>基金简称</a:t>
                      </a:r>
                      <a:endParaRPr lang="zh-CN"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ctr" fontAlgn="ctr">
                        <a:buNone/>
                      </a:pPr>
                      <a:r>
                        <a:rPr lang="zh-CN" altLang="en-US" sz="1100" b="1" u="none" strike="noStrike" dirty="0">
                          <a:effectLst/>
                          <a:latin typeface="微软雅黑" panose="020B0503020204020204" pitchFamily="34" charset="-122"/>
                          <a:ea typeface="微软雅黑" panose="020B0503020204020204" pitchFamily="34" charset="-122"/>
                        </a:rPr>
                        <a:t>持有市值（亿元）</a:t>
                      </a:r>
                      <a:endParaRPr lang="zh-CN"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ctr" fontAlgn="ctr">
                        <a:buNone/>
                      </a:pPr>
                      <a:r>
                        <a:rPr lang="zh-CN" sz="1100" b="1" u="none" strike="noStrike" dirty="0">
                          <a:effectLst/>
                          <a:latin typeface="微软雅黑" panose="020B0503020204020204" pitchFamily="34" charset="-122"/>
                          <a:ea typeface="微软雅黑" panose="020B0503020204020204" pitchFamily="34" charset="-122"/>
                        </a:rPr>
                        <a:t>占净值比(%)</a:t>
                      </a:r>
                      <a:endParaRPr lang="zh-CN"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ctr" fontAlgn="ctr">
                        <a:buNone/>
                      </a:pPr>
                      <a:r>
                        <a:rPr lang="zh-CN" sz="1100" b="1" u="none" strike="noStrike" dirty="0">
                          <a:effectLst/>
                          <a:latin typeface="微软雅黑" panose="020B0503020204020204" pitchFamily="34" charset="-122"/>
                          <a:ea typeface="微软雅黑" panose="020B0503020204020204" pitchFamily="34" charset="-122"/>
                        </a:rPr>
                        <a:t>基金管理人</a:t>
                      </a:r>
                      <a:endParaRPr lang="zh-CN"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extLst>
                  <a:ext uri="{0D108BD9-81ED-4DB2-BD59-A6C34878D82A}">
                    <a16:rowId xmlns:a16="http://schemas.microsoft.com/office/drawing/2014/main" val="1728624847"/>
                  </a:ext>
                </a:extLst>
              </a:tr>
              <a:tr h="340078">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PSI.P</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INVESCO DYNAMIC SEMICONDUCTORS</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               1.30 </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ctr" fontAlgn="ctr">
                        <a:buNone/>
                      </a:pPr>
                      <a:r>
                        <a:rPr lang="zh-CN" sz="1100" u="none" strike="noStrike" dirty="0">
                          <a:effectLst/>
                          <a:latin typeface="微软雅黑" panose="020B0503020204020204" pitchFamily="34" charset="-122"/>
                          <a:ea typeface="微软雅黑" panose="020B0503020204020204" pitchFamily="34" charset="-122"/>
                        </a:rPr>
                        <a:t>18.32 </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INVESCO CAPITAL MANAGEMENT LLC</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extLst>
                  <a:ext uri="{0D108BD9-81ED-4DB2-BD59-A6C34878D82A}">
                    <a16:rowId xmlns:a16="http://schemas.microsoft.com/office/drawing/2014/main" val="1066752421"/>
                  </a:ext>
                </a:extLst>
              </a:tr>
              <a:tr h="340078">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SOXQ.O</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INVESCO PHLXSEMICONDUCTOR ETF</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a:effectLst/>
                          <a:latin typeface="微软雅黑" panose="020B0503020204020204" pitchFamily="34" charset="-122"/>
                          <a:ea typeface="微软雅黑" panose="020B0503020204020204" pitchFamily="34" charset="-122"/>
                        </a:rPr>
                        <a:t>               1.30 </a:t>
                      </a:r>
                      <a:endParaRPr 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ctr" fontAlgn="ctr">
                        <a:buNone/>
                      </a:pPr>
                      <a:r>
                        <a:rPr lang="zh-CN" sz="1100" u="none" strike="noStrike" dirty="0">
                          <a:effectLst/>
                          <a:latin typeface="微软雅黑" panose="020B0503020204020204" pitchFamily="34" charset="-122"/>
                          <a:ea typeface="微软雅黑" panose="020B0503020204020204" pitchFamily="34" charset="-122"/>
                        </a:rPr>
                        <a:t>18.25 </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INVESCOCAPITAL MANAGEMENT LLC</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extLst>
                  <a:ext uri="{0D108BD9-81ED-4DB2-BD59-A6C34878D82A}">
                    <a16:rowId xmlns:a16="http://schemas.microsoft.com/office/drawing/2014/main" val="4291440571"/>
                  </a:ext>
                </a:extLst>
              </a:tr>
              <a:tr h="340078">
                <a:tc>
                  <a:txBody>
                    <a:bodyPr/>
                    <a:lstStyle/>
                    <a:p>
                      <a:pPr algn="l" fontAlgn="ctr">
                        <a:buNone/>
                      </a:pPr>
                      <a:r>
                        <a:rPr lang="zh-CN" sz="1100" u="none" strike="noStrike">
                          <a:effectLst/>
                          <a:latin typeface="微软雅黑" panose="020B0503020204020204" pitchFamily="34" charset="-122"/>
                          <a:ea typeface="微软雅黑" panose="020B0503020204020204" pitchFamily="34" charset="-122"/>
                        </a:rPr>
                        <a:t>SOXX.O</a:t>
                      </a:r>
                      <a:endParaRPr 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a:effectLst/>
                          <a:latin typeface="微软雅黑" panose="020B0503020204020204" pitchFamily="34" charset="-122"/>
                          <a:ea typeface="微软雅黑" panose="020B0503020204020204" pitchFamily="34" charset="-122"/>
                        </a:rPr>
                        <a:t>ISHARES SEMICONDUCTOR ETF</a:t>
                      </a:r>
                      <a:endParaRPr 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a:effectLst/>
                          <a:latin typeface="微软雅黑" panose="020B0503020204020204" pitchFamily="34" charset="-122"/>
                          <a:ea typeface="微软雅黑" panose="020B0503020204020204" pitchFamily="34" charset="-122"/>
                        </a:rPr>
                        <a:t>               1.29 </a:t>
                      </a:r>
                      <a:endParaRPr 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ctr" fontAlgn="ctr">
                        <a:buNone/>
                      </a:pPr>
                      <a:r>
                        <a:rPr lang="zh-CN" sz="1100" u="none" strike="noStrike" dirty="0">
                          <a:effectLst/>
                          <a:latin typeface="微软雅黑" panose="020B0503020204020204" pitchFamily="34" charset="-122"/>
                          <a:ea typeface="微软雅黑" panose="020B0503020204020204" pitchFamily="34" charset="-122"/>
                        </a:rPr>
                        <a:t>18.23 </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BLACKROCK FUND ADVISORS</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extLst>
                  <a:ext uri="{0D108BD9-81ED-4DB2-BD59-A6C34878D82A}">
                    <a16:rowId xmlns:a16="http://schemas.microsoft.com/office/drawing/2014/main" val="2343974420"/>
                  </a:ext>
                </a:extLst>
              </a:tr>
              <a:tr h="340078">
                <a:tc>
                  <a:txBody>
                    <a:bodyPr/>
                    <a:lstStyle/>
                    <a:p>
                      <a:pPr algn="l" fontAlgn="ctr">
                        <a:buNone/>
                      </a:pPr>
                      <a:r>
                        <a:rPr lang="zh-CN" sz="1100" u="none" strike="noStrike">
                          <a:effectLst/>
                          <a:latin typeface="微软雅黑" panose="020B0503020204020204" pitchFamily="34" charset="-122"/>
                          <a:ea typeface="微软雅黑" panose="020B0503020204020204" pitchFamily="34" charset="-122"/>
                        </a:rPr>
                        <a:t>SMH.O</a:t>
                      </a:r>
                      <a:endParaRPr 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VANECK SEMICONDUCTOR ETF</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a:effectLst/>
                          <a:latin typeface="微软雅黑" panose="020B0503020204020204" pitchFamily="34" charset="-122"/>
                          <a:ea typeface="微软雅黑" panose="020B0503020204020204" pitchFamily="34" charset="-122"/>
                        </a:rPr>
                        <a:t>               1.29 </a:t>
                      </a:r>
                      <a:endParaRPr 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ctr" fontAlgn="ctr">
                        <a:buNone/>
                      </a:pPr>
                      <a:r>
                        <a:rPr lang="zh-CN" sz="1100" u="none" strike="noStrike" dirty="0">
                          <a:effectLst/>
                          <a:latin typeface="微软雅黑" panose="020B0503020204020204" pitchFamily="34" charset="-122"/>
                          <a:ea typeface="微软雅黑" panose="020B0503020204020204" pitchFamily="34" charset="-122"/>
                        </a:rPr>
                        <a:t>18.17 </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VAN ECK ASSOCIATES CORPORATION</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extLst>
                  <a:ext uri="{0D108BD9-81ED-4DB2-BD59-A6C34878D82A}">
                    <a16:rowId xmlns:a16="http://schemas.microsoft.com/office/drawing/2014/main" val="432967149"/>
                  </a:ext>
                </a:extLst>
              </a:tr>
              <a:tr h="340078">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159560.SZ</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a:effectLst/>
                          <a:latin typeface="微软雅黑" panose="020B0503020204020204" pitchFamily="34" charset="-122"/>
                          <a:ea typeface="微软雅黑" panose="020B0503020204020204" pitchFamily="34" charset="-122"/>
                        </a:rPr>
                        <a:t>景顺长城中证芯片产业ETF</a:t>
                      </a:r>
                      <a:endParaRPr 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               0.47 </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ctr" fontAlgn="ctr">
                        <a:buNone/>
                      </a:pPr>
                      <a:r>
                        <a:rPr lang="zh-CN" sz="1100" u="none" strike="noStrike" dirty="0">
                          <a:effectLst/>
                          <a:latin typeface="微软雅黑" panose="020B0503020204020204" pitchFamily="34" charset="-122"/>
                          <a:ea typeface="微软雅黑" panose="020B0503020204020204" pitchFamily="34" charset="-122"/>
                        </a:rPr>
                        <a:t>6.62 </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a:effectLst/>
                          <a:latin typeface="微软雅黑" panose="020B0503020204020204" pitchFamily="34" charset="-122"/>
                          <a:ea typeface="微软雅黑" panose="020B0503020204020204" pitchFamily="34" charset="-122"/>
                        </a:rPr>
                        <a:t>景顺长城基金管理有限公司</a:t>
                      </a:r>
                      <a:endParaRPr 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extLst>
                  <a:ext uri="{0D108BD9-81ED-4DB2-BD59-A6C34878D82A}">
                    <a16:rowId xmlns:a16="http://schemas.microsoft.com/office/drawing/2014/main" val="1783368932"/>
                  </a:ext>
                </a:extLst>
              </a:tr>
              <a:tr h="340078">
                <a:tc>
                  <a:txBody>
                    <a:bodyPr/>
                    <a:lstStyle/>
                    <a:p>
                      <a:pPr algn="l" fontAlgn="ctr">
                        <a:buNone/>
                      </a:pPr>
                      <a:r>
                        <a:rPr lang="zh-CN" sz="1100" u="none" strike="noStrike">
                          <a:effectLst/>
                          <a:latin typeface="微软雅黑" panose="020B0503020204020204" pitchFamily="34" charset="-122"/>
                          <a:ea typeface="微软雅黑" panose="020B0503020204020204" pitchFamily="34" charset="-122"/>
                        </a:rPr>
                        <a:t>159995.SZ</a:t>
                      </a:r>
                      <a:endParaRPr 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a:effectLst/>
                          <a:latin typeface="微软雅黑" panose="020B0503020204020204" pitchFamily="34" charset="-122"/>
                          <a:ea typeface="微软雅黑" panose="020B0503020204020204" pitchFamily="34" charset="-122"/>
                        </a:rPr>
                        <a:t>华夏国证半导体芯片ETF</a:t>
                      </a:r>
                      <a:endParaRPr 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               0.47 </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ctr" fontAlgn="ctr">
                        <a:buNone/>
                      </a:pPr>
                      <a:r>
                        <a:rPr lang="zh-CN" sz="1100" u="none" strike="noStrike" dirty="0">
                          <a:effectLst/>
                          <a:latin typeface="微软雅黑" panose="020B0503020204020204" pitchFamily="34" charset="-122"/>
                          <a:ea typeface="微软雅黑" panose="020B0503020204020204" pitchFamily="34" charset="-122"/>
                        </a:rPr>
                        <a:t>6.62 </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a:effectLst/>
                          <a:latin typeface="微软雅黑" panose="020B0503020204020204" pitchFamily="34" charset="-122"/>
                          <a:ea typeface="微软雅黑" panose="020B0503020204020204" pitchFamily="34" charset="-122"/>
                        </a:rPr>
                        <a:t>华夏基金管理有限公司</a:t>
                      </a:r>
                      <a:endParaRPr 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extLst>
                  <a:ext uri="{0D108BD9-81ED-4DB2-BD59-A6C34878D82A}">
                    <a16:rowId xmlns:a16="http://schemas.microsoft.com/office/drawing/2014/main" val="2311138024"/>
                  </a:ext>
                </a:extLst>
              </a:tr>
              <a:tr h="340078">
                <a:tc>
                  <a:txBody>
                    <a:bodyPr/>
                    <a:lstStyle/>
                    <a:p>
                      <a:pPr algn="l" fontAlgn="ctr">
                        <a:buNone/>
                      </a:pPr>
                      <a:r>
                        <a:rPr lang="zh-CN" sz="1100" u="none" strike="noStrike">
                          <a:effectLst/>
                          <a:latin typeface="微软雅黑" panose="020B0503020204020204" pitchFamily="34" charset="-122"/>
                          <a:ea typeface="微软雅黑" panose="020B0503020204020204" pitchFamily="34" charset="-122"/>
                        </a:rPr>
                        <a:t>512760.SH</a:t>
                      </a:r>
                      <a:endParaRPr 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a:effectLst/>
                          <a:latin typeface="微软雅黑" panose="020B0503020204020204" pitchFamily="34" charset="-122"/>
                          <a:ea typeface="微软雅黑" panose="020B0503020204020204" pitchFamily="34" charset="-122"/>
                        </a:rPr>
                        <a:t>国泰CES半导体芯片行业ETF</a:t>
                      </a:r>
                      <a:endParaRPr 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               0.47 </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ctr" fontAlgn="ctr">
                        <a:buNone/>
                      </a:pPr>
                      <a:r>
                        <a:rPr lang="zh-CN" sz="1100" u="none" strike="noStrike" dirty="0">
                          <a:effectLst/>
                          <a:latin typeface="微软雅黑" panose="020B0503020204020204" pitchFamily="34" charset="-122"/>
                          <a:ea typeface="微软雅黑" panose="020B0503020204020204" pitchFamily="34" charset="-122"/>
                        </a:rPr>
                        <a:t>6.56 </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a:effectLst/>
                          <a:latin typeface="微软雅黑" panose="020B0503020204020204" pitchFamily="34" charset="-122"/>
                          <a:ea typeface="微软雅黑" panose="020B0503020204020204" pitchFamily="34" charset="-122"/>
                        </a:rPr>
                        <a:t>国泰基金管理有限公司</a:t>
                      </a:r>
                      <a:endParaRPr 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extLst>
                  <a:ext uri="{0D108BD9-81ED-4DB2-BD59-A6C34878D82A}">
                    <a16:rowId xmlns:a16="http://schemas.microsoft.com/office/drawing/2014/main" val="1626804453"/>
                  </a:ext>
                </a:extLst>
              </a:tr>
              <a:tr h="340078">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2243.T</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a:effectLst/>
                          <a:latin typeface="微软雅黑" panose="020B0503020204020204" pitchFamily="34" charset="-122"/>
                          <a:ea typeface="微软雅黑" panose="020B0503020204020204" pitchFamily="34" charset="-122"/>
                        </a:rPr>
                        <a:t>GLOBAL X SEMICONDUCTOR ETF/JAP</a:t>
                      </a:r>
                      <a:endParaRPr 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               0.11 </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ctr" fontAlgn="ctr">
                        <a:buNone/>
                      </a:pPr>
                      <a:r>
                        <a:rPr lang="zh-CN" sz="1100" u="none" strike="noStrike" dirty="0">
                          <a:effectLst/>
                          <a:latin typeface="微软雅黑" panose="020B0503020204020204" pitchFamily="34" charset="-122"/>
                          <a:ea typeface="微软雅黑" panose="020B0503020204020204" pitchFamily="34" charset="-122"/>
                        </a:rPr>
                        <a:t>1.56 </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tc>
                  <a:txBody>
                    <a:bodyPr/>
                    <a:lstStyle/>
                    <a:p>
                      <a:pPr algn="l" fontAlgn="ctr">
                        <a:buNone/>
                      </a:pPr>
                      <a:r>
                        <a:rPr lang="zh-CN" sz="1100" u="none" strike="noStrike" dirty="0">
                          <a:effectLst/>
                          <a:latin typeface="微软雅黑" panose="020B0503020204020204" pitchFamily="34" charset="-122"/>
                          <a:ea typeface="微软雅黑" panose="020B0503020204020204" pitchFamily="34" charset="-122"/>
                        </a:rPr>
                        <a:t>GLOBAL X JAPAN CO LTD</a:t>
                      </a:r>
                      <a:endParaRPr 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775" marR="3775" marT="3775" marB="0" anchor="ctr"/>
                </a:tc>
                <a:extLst>
                  <a:ext uri="{0D108BD9-81ED-4DB2-BD59-A6C34878D82A}">
                    <a16:rowId xmlns:a16="http://schemas.microsoft.com/office/drawing/2014/main" val="3182210386"/>
                  </a:ext>
                </a:extLst>
              </a:tr>
            </a:tbl>
          </a:graphicData>
        </a:graphic>
      </p:graphicFrame>
      <p:sp>
        <p:nvSpPr>
          <p:cNvPr id="6" name="TextBox 5">
            <a:extLst>
              <a:ext uri="{FF2B5EF4-FFF2-40B4-BE49-F238E27FC236}">
                <a16:creationId xmlns:a16="http://schemas.microsoft.com/office/drawing/2014/main" id="{77BF0177-3D32-D5CE-8752-2D09B62ABC8E}"/>
              </a:ext>
            </a:extLst>
          </p:cNvPr>
          <p:cNvSpPr txBox="1"/>
          <p:nvPr/>
        </p:nvSpPr>
        <p:spPr>
          <a:xfrm>
            <a:off x="723140" y="3587099"/>
            <a:ext cx="2411946" cy="2015936"/>
          </a:xfrm>
          <a:prstGeom prst="rect">
            <a:avLst/>
          </a:prstGeom>
          <a:noFill/>
        </p:spPr>
        <p:txBody>
          <a:bodyPr wrap="square">
            <a:spAutoFit/>
          </a:bodyPr>
          <a:lstStyle/>
          <a:p>
            <a:pPr marL="285750" indent="-285750" algn="just">
              <a:spcBef>
                <a:spcPts val="600"/>
              </a:spcBef>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景顺长城基金旗下另一只</a:t>
            </a:r>
            <a:r>
              <a:rPr lang="en-US" altLang="zh-CN" sz="1200" dirty="0">
                <a:latin typeface="微软雅黑" panose="020B0503020204020204" pitchFamily="34" charset="-122"/>
                <a:ea typeface="微软雅黑" panose="020B0503020204020204" pitchFamily="34" charset="-122"/>
              </a:rPr>
              <a:t>QDII</a:t>
            </a:r>
            <a:r>
              <a:rPr lang="zh-CN" altLang="en-US" sz="1200" dirty="0">
                <a:latin typeface="微软雅黑" panose="020B0503020204020204" pitchFamily="34" charset="-122"/>
                <a:ea typeface="微软雅黑" panose="020B0503020204020204" pitchFamily="34" charset="-122"/>
              </a:rPr>
              <a:t>基金，全球芯片</a:t>
            </a:r>
            <a:r>
              <a:rPr lang="en-US" altLang="zh-CN" sz="1200" dirty="0">
                <a:latin typeface="微软雅黑" panose="020B0503020204020204" pitchFamily="34" charset="-122"/>
                <a:ea typeface="微软雅黑" panose="020B0503020204020204" pitchFamily="34" charset="-122"/>
              </a:rPr>
              <a:t>LOF</a:t>
            </a:r>
            <a:r>
              <a:rPr lang="zh-CN" altLang="en-US" sz="1200" dirty="0">
                <a:latin typeface="微软雅黑" panose="020B0503020204020204" pitchFamily="34" charset="-122"/>
                <a:ea typeface="微软雅黑" panose="020B0503020204020204" pitchFamily="34" charset="-122"/>
              </a:rPr>
              <a:t>多次提示溢价风险，近两周因溢价过高每日停牌小时，自</a:t>
            </a:r>
            <a:r>
              <a:rPr lang="en-US" altLang="zh-CN" sz="1200" dirty="0">
                <a:latin typeface="微软雅黑" panose="020B0503020204020204" pitchFamily="34" charset="-122"/>
                <a:ea typeface="微软雅黑" panose="020B0503020204020204" pitchFamily="34" charset="-122"/>
              </a:rPr>
              <a:t>2026</a:t>
            </a:r>
            <a:r>
              <a:rPr lang="zh-CN" altLang="en-US" sz="1200" dirty="0">
                <a:latin typeface="微软雅黑" panose="020B0503020204020204" pitchFamily="34" charset="-122"/>
                <a:ea typeface="微软雅黑" panose="020B0503020204020204" pitchFamily="34" charset="-122"/>
              </a:rPr>
              <a:t>年</a:t>
            </a: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月起暂停认购。</a:t>
            </a:r>
            <a:endParaRPr lang="en-US" altLang="zh-CN" sz="1200" dirty="0">
              <a:latin typeface="微软雅黑" panose="020B0503020204020204" pitchFamily="34" charset="-122"/>
              <a:ea typeface="微软雅黑" panose="020B0503020204020204" pitchFamily="34" charset="-122"/>
            </a:endParaRPr>
          </a:p>
          <a:p>
            <a:pPr marL="285750" indent="-285750" algn="just">
              <a:spcBef>
                <a:spcPts val="600"/>
              </a:spcBef>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业绩比较基准</a:t>
            </a:r>
            <a:r>
              <a:rPr lang="zh-CN" altLang="en-US" sz="1200" b="1" dirty="0">
                <a:latin typeface="微软雅黑" panose="020B0503020204020204" pitchFamily="34" charset="-122"/>
                <a:ea typeface="微软雅黑" panose="020B0503020204020204" pitchFamily="34" charset="-122"/>
              </a:rPr>
              <a:t>降低境外指数占比</a:t>
            </a:r>
            <a:r>
              <a:rPr lang="zh-CN" altLang="en-US" sz="1200" dirty="0">
                <a:latin typeface="微软雅黑" panose="020B0503020204020204" pitchFamily="34" charset="-122"/>
                <a:ea typeface="微软雅黑" panose="020B0503020204020204" pitchFamily="34" charset="-122"/>
              </a:rPr>
              <a:t>，其中费城半导体指数收益率占比由</a:t>
            </a:r>
            <a:r>
              <a:rPr lang="en-US" altLang="zh-CN" sz="1200" dirty="0">
                <a:latin typeface="微软雅黑" panose="020B0503020204020204" pitchFamily="34" charset="-122"/>
                <a:ea typeface="微软雅黑" panose="020B0503020204020204" pitchFamily="34" charset="-122"/>
              </a:rPr>
              <a:t>75%</a:t>
            </a:r>
            <a:r>
              <a:rPr lang="zh-CN" altLang="en-US" sz="1200" dirty="0">
                <a:latin typeface="微软雅黑" panose="020B0503020204020204" pitchFamily="34" charset="-122"/>
                <a:ea typeface="微软雅黑" panose="020B0503020204020204" pitchFamily="34" charset="-122"/>
              </a:rPr>
              <a:t>降至</a:t>
            </a:r>
            <a:r>
              <a:rPr lang="en-US" altLang="zh-CN" sz="1200" dirty="0">
                <a:latin typeface="微软雅黑" panose="020B0503020204020204" pitchFamily="34" charset="-122"/>
                <a:ea typeface="微软雅黑" panose="020B0503020204020204" pitchFamily="34" charset="-122"/>
              </a:rPr>
              <a:t>70%</a:t>
            </a:r>
            <a:r>
              <a:rPr lang="zh-CN" altLang="en-US" sz="1200" dirty="0">
                <a:latin typeface="微软雅黑" panose="020B0503020204020204" pitchFamily="34" charset="-122"/>
                <a:ea typeface="微软雅黑" panose="020B0503020204020204" pitchFamily="34" charset="-122"/>
              </a:rPr>
              <a:t>；中证芯片产业指数收益率占比</a:t>
            </a:r>
            <a:r>
              <a:rPr lang="en-US" altLang="zh-CN" sz="1200" dirty="0">
                <a:latin typeface="微软雅黑" panose="020B0503020204020204" pitchFamily="34" charset="-122"/>
                <a:ea typeface="微软雅黑" panose="020B0503020204020204" pitchFamily="34" charset="-122"/>
              </a:rPr>
              <a:t>15%</a:t>
            </a:r>
            <a:r>
              <a:rPr lang="zh-CN" altLang="en-US" sz="1200" dirty="0">
                <a:latin typeface="微软雅黑" panose="020B0503020204020204" pitchFamily="34" charset="-122"/>
                <a:ea typeface="微软雅黑" panose="020B0503020204020204" pitchFamily="34" charset="-122"/>
              </a:rPr>
              <a:t>提升至</a:t>
            </a:r>
            <a:r>
              <a:rPr lang="en-US" altLang="zh-CN" sz="1200" dirty="0">
                <a:latin typeface="微软雅黑" panose="020B0503020204020204" pitchFamily="34" charset="-122"/>
                <a:ea typeface="微软雅黑" panose="020B0503020204020204" pitchFamily="34" charset="-122"/>
              </a:rPr>
              <a:t>20%</a:t>
            </a:r>
            <a:endParaRPr lang="zh-CN" altLang="en-US" sz="1200" dirty="0">
              <a:latin typeface="微软雅黑" panose="020B0503020204020204" pitchFamily="34" charset="-122"/>
              <a:ea typeface="微软雅黑" panose="020B0503020204020204" pitchFamily="34" charset="-122"/>
            </a:endParaRPr>
          </a:p>
        </p:txBody>
      </p:sp>
      <p:sp>
        <p:nvSpPr>
          <p:cNvPr id="8" name="TextBox 7">
            <a:extLst>
              <a:ext uri="{FF2B5EF4-FFF2-40B4-BE49-F238E27FC236}">
                <a16:creationId xmlns:a16="http://schemas.microsoft.com/office/drawing/2014/main" id="{1789B197-8159-F711-F14F-F9459D0702EE}"/>
              </a:ext>
            </a:extLst>
          </p:cNvPr>
          <p:cNvSpPr txBox="1"/>
          <p:nvPr/>
        </p:nvSpPr>
        <p:spPr>
          <a:xfrm>
            <a:off x="723140" y="2246733"/>
            <a:ext cx="6752835" cy="461665"/>
          </a:xfrm>
          <a:prstGeom prst="rect">
            <a:avLst/>
          </a:prstGeom>
          <a:noFill/>
        </p:spPr>
        <p:txBody>
          <a:bodyPr wrap="square">
            <a:spAutoFit/>
          </a:bodyPr>
          <a:lstStyle/>
          <a:p>
            <a:pPr marL="285750" indent="-285750" algn="just">
              <a:spcBef>
                <a:spcPts val="600"/>
              </a:spcBef>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中韩半导体。</a:t>
            </a:r>
            <a:r>
              <a:rPr lang="en-US" altLang="zh-CN" sz="1200" dirty="0">
                <a:latin typeface="微软雅黑" panose="020B0503020204020204" pitchFamily="34" charset="-122"/>
                <a:ea typeface="微软雅黑" panose="020B0503020204020204" pitchFamily="34" charset="-122"/>
              </a:rPr>
              <a:t> 2026</a:t>
            </a:r>
            <a:r>
              <a:rPr lang="zh-CN" altLang="en-US" sz="1200" dirty="0">
                <a:latin typeface="微软雅黑" panose="020B0503020204020204" pitchFamily="34" charset="-122"/>
                <a:ea typeface="微软雅黑" panose="020B0503020204020204" pitchFamily="34" charset="-122"/>
              </a:rPr>
              <a:t>年至今已因溢价较高停牌</a:t>
            </a:r>
            <a:r>
              <a:rPr lang="en-US" altLang="zh-CN" sz="1200" dirty="0">
                <a:latin typeface="微软雅黑" panose="020B0503020204020204" pitchFamily="34" charset="-122"/>
                <a:ea typeface="微软雅黑" panose="020B0503020204020204" pitchFamily="34" charset="-122"/>
              </a:rPr>
              <a:t>75</a:t>
            </a:r>
            <a:r>
              <a:rPr lang="zh-CN" altLang="en-US" sz="1200" dirty="0">
                <a:latin typeface="微软雅黑" panose="020B0503020204020204" pitchFamily="34" charset="-122"/>
                <a:ea typeface="微软雅黑" panose="020B0503020204020204" pitchFamily="34" charset="-122"/>
              </a:rPr>
              <a:t>次，除开市停牌</a:t>
            </a: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小时外，还存在多次上午或下午停牌半天的情形。</a:t>
            </a:r>
            <a:endParaRPr lang="en-US" altLang="zh-CN" sz="1200" dirty="0">
              <a:latin typeface="微软雅黑" panose="020B0503020204020204" pitchFamily="34" charset="-122"/>
              <a:ea typeface="微软雅黑" panose="020B0503020204020204" pitchFamily="34" charset="-122"/>
            </a:endParaRPr>
          </a:p>
        </p:txBody>
      </p:sp>
      <p:graphicFrame>
        <p:nvGraphicFramePr>
          <p:cNvPr id="9" name="Table 8">
            <a:extLst>
              <a:ext uri="{FF2B5EF4-FFF2-40B4-BE49-F238E27FC236}">
                <a16:creationId xmlns:a16="http://schemas.microsoft.com/office/drawing/2014/main" id="{AEF489A6-873B-5313-1F60-C5F15B3DFF35}"/>
              </a:ext>
            </a:extLst>
          </p:cNvPr>
          <p:cNvGraphicFramePr>
            <a:graphicFrameLocks noGrp="1"/>
          </p:cNvGraphicFramePr>
          <p:nvPr>
            <p:extLst>
              <p:ext uri="{D42A27DB-BD31-4B8C-83A1-F6EECF244321}">
                <p14:modId xmlns:p14="http://schemas.microsoft.com/office/powerpoint/2010/main" val="1279954495"/>
              </p:ext>
            </p:extLst>
          </p:nvPr>
        </p:nvGraphicFramePr>
        <p:xfrm>
          <a:off x="7614277" y="1895971"/>
          <a:ext cx="3624466" cy="1185706"/>
        </p:xfrm>
        <a:graphic>
          <a:graphicData uri="http://schemas.openxmlformats.org/drawingml/2006/table">
            <a:tbl>
              <a:tblPr firstRow="1" firstCol="1">
                <a:tableStyleId>{1FECB4D8-DB02-4DC6-A0A2-4F2EBAE1DC90}</a:tableStyleId>
              </a:tblPr>
              <a:tblGrid>
                <a:gridCol w="2213011">
                  <a:extLst>
                    <a:ext uri="{9D8B030D-6E8A-4147-A177-3AD203B41FA5}">
                      <a16:colId xmlns:a16="http://schemas.microsoft.com/office/drawing/2014/main" val="1270910481"/>
                    </a:ext>
                  </a:extLst>
                </a:gridCol>
                <a:gridCol w="1411455">
                  <a:extLst>
                    <a:ext uri="{9D8B030D-6E8A-4147-A177-3AD203B41FA5}">
                      <a16:colId xmlns:a16="http://schemas.microsoft.com/office/drawing/2014/main" val="2705237566"/>
                    </a:ext>
                  </a:extLst>
                </a:gridCol>
              </a:tblGrid>
              <a:tr h="282451">
                <a:tc>
                  <a:txBody>
                    <a:bodyPr/>
                    <a:lstStyle/>
                    <a:p>
                      <a:pPr marL="0" algn="ctr" defTabSz="914400" rtl="0" eaLnBrk="1" fontAlgn="b" latinLnBrk="0" hangingPunct="1">
                        <a:buNone/>
                      </a:pPr>
                      <a:r>
                        <a:rPr lang="zh-CN" altLang="en-US" sz="1200" b="1" kern="1200" dirty="0">
                          <a:solidFill>
                            <a:schemeClr val="bg1"/>
                          </a:solidFill>
                          <a:latin typeface="微软雅黑" panose="020B0503020204020204" pitchFamily="34" charset="-122"/>
                          <a:ea typeface="微软雅黑" panose="020B0503020204020204" pitchFamily="34" charset="-122"/>
                          <a:cs typeface="+mn-cs"/>
                        </a:rPr>
                        <a:t>停牌情况</a:t>
                      </a:r>
                    </a:p>
                  </a:txBody>
                  <a:tcPr marL="9364" marR="9364" marT="9364" marB="0" anchor="ctr"/>
                </a:tc>
                <a:tc>
                  <a:txBody>
                    <a:bodyPr/>
                    <a:lstStyle/>
                    <a:p>
                      <a:pPr algn="ctr" fontAlgn="b">
                        <a:buNone/>
                      </a:pPr>
                      <a:r>
                        <a:rPr lang="zh-CN" altLang="en-US" sz="1200" kern="1200" dirty="0">
                          <a:solidFill>
                            <a:schemeClr val="bg1"/>
                          </a:solidFill>
                          <a:latin typeface="微软雅黑" panose="020B0503020204020204" pitchFamily="34" charset="-122"/>
                          <a:ea typeface="微软雅黑" panose="020B0503020204020204" pitchFamily="34" charset="-122"/>
                          <a:cs typeface="+mn-cs"/>
                        </a:rPr>
                        <a:t>次数</a:t>
                      </a:r>
                      <a:endParaRPr lang="en-US" sz="1200" kern="1200" dirty="0">
                        <a:solidFill>
                          <a:schemeClr val="bg1"/>
                        </a:solidFill>
                        <a:latin typeface="微软雅黑" panose="020B0503020204020204" pitchFamily="34" charset="-122"/>
                        <a:ea typeface="微软雅黑" panose="020B0503020204020204" pitchFamily="34" charset="-122"/>
                        <a:cs typeface="+mn-cs"/>
                      </a:endParaRPr>
                    </a:p>
                  </a:txBody>
                  <a:tcPr marL="9364" marR="9364" marT="9364" marB="0" anchor="ctr"/>
                </a:tc>
                <a:extLst>
                  <a:ext uri="{0D108BD9-81ED-4DB2-BD59-A6C34878D82A}">
                    <a16:rowId xmlns:a16="http://schemas.microsoft.com/office/drawing/2014/main" val="2307542731"/>
                  </a:ext>
                </a:extLst>
              </a:tr>
              <a:tr h="310402">
                <a:tc>
                  <a:txBody>
                    <a:bodyPr/>
                    <a:lstStyle/>
                    <a:p>
                      <a:pPr algn="ctr" fontAlgn="b">
                        <a:buNone/>
                      </a:pPr>
                      <a:r>
                        <a:rPr lang="zh-CN" sz="1200" b="0" i="0" u="none" strike="noStrike" dirty="0">
                          <a:solidFill>
                            <a:srgbClr val="000000"/>
                          </a:solidFill>
                          <a:effectLst/>
                          <a:latin typeface="Calibri" panose="020F0502020204030204" pitchFamily="34" charset="0"/>
                        </a:rPr>
                        <a:t>停牌1小时</a:t>
                      </a:r>
                      <a:r>
                        <a:rPr lang="zh-CN" altLang="en-US" sz="1200" b="0" i="0" u="none" strike="noStrike" dirty="0">
                          <a:solidFill>
                            <a:srgbClr val="000000"/>
                          </a:solidFill>
                          <a:effectLst/>
                          <a:latin typeface="Calibri" panose="020F0502020204030204" pitchFamily="34" charset="0"/>
                        </a:rPr>
                        <a:t>（</a:t>
                      </a:r>
                      <a:r>
                        <a:rPr lang="en-US" altLang="zh-CN" sz="1200" b="0" i="0" u="none" strike="noStrike" dirty="0">
                          <a:solidFill>
                            <a:srgbClr val="000000"/>
                          </a:solidFill>
                          <a:effectLst/>
                          <a:latin typeface="Calibri" panose="020F0502020204030204" pitchFamily="34" charset="0"/>
                        </a:rPr>
                        <a:t>9</a:t>
                      </a:r>
                      <a:r>
                        <a:rPr lang="zh-CN" altLang="en-US" sz="1200" b="0" i="0" u="none" strike="noStrike" dirty="0">
                          <a:solidFill>
                            <a:srgbClr val="000000"/>
                          </a:solidFill>
                          <a:effectLst/>
                          <a:latin typeface="Calibri" panose="020F0502020204030204" pitchFamily="34" charset="0"/>
                        </a:rPr>
                        <a:t>：</a:t>
                      </a:r>
                      <a:r>
                        <a:rPr lang="en-US" altLang="zh-CN" sz="1200" b="0" i="0" u="none" strike="noStrike" dirty="0">
                          <a:solidFill>
                            <a:srgbClr val="000000"/>
                          </a:solidFill>
                          <a:effectLst/>
                          <a:latin typeface="Calibri" panose="020F0502020204030204" pitchFamily="34" charset="0"/>
                        </a:rPr>
                        <a:t>30-10</a:t>
                      </a:r>
                      <a:r>
                        <a:rPr lang="zh-CN" altLang="en-US" sz="1200" b="0" i="0" u="none" strike="noStrike" dirty="0">
                          <a:solidFill>
                            <a:srgbClr val="000000"/>
                          </a:solidFill>
                          <a:effectLst/>
                          <a:latin typeface="Calibri" panose="020F0502020204030204" pitchFamily="34" charset="0"/>
                        </a:rPr>
                        <a:t>：</a:t>
                      </a:r>
                      <a:r>
                        <a:rPr lang="en-US" altLang="zh-CN" sz="1200" b="0" i="0" u="none" strike="noStrike" dirty="0">
                          <a:solidFill>
                            <a:srgbClr val="000000"/>
                          </a:solidFill>
                          <a:effectLst/>
                          <a:latin typeface="Calibri" panose="020F0502020204030204" pitchFamily="34" charset="0"/>
                        </a:rPr>
                        <a:t>30</a:t>
                      </a:r>
                      <a:r>
                        <a:rPr lang="zh-CN" altLang="en-US" sz="1200" b="0" i="0" u="none" strike="noStrike" dirty="0">
                          <a:solidFill>
                            <a:srgbClr val="000000"/>
                          </a:solidFill>
                          <a:effectLst/>
                          <a:latin typeface="Calibri" panose="020F0502020204030204" pitchFamily="34" charset="0"/>
                        </a:rPr>
                        <a:t>）</a:t>
                      </a:r>
                      <a:endParaRPr lang="zh-CN" sz="1200" b="0" i="0" u="none" strike="noStrike" dirty="0">
                        <a:solidFill>
                          <a:srgbClr val="000000"/>
                        </a:solidFill>
                        <a:effectLst/>
                        <a:latin typeface="Calibri" panose="020F0502020204030204" pitchFamily="34" charset="0"/>
                      </a:endParaRPr>
                    </a:p>
                  </a:txBody>
                  <a:tcPr marL="114300" marR="0" marT="0" marB="0" anchor="ctr"/>
                </a:tc>
                <a:tc>
                  <a:txBody>
                    <a:bodyPr/>
                    <a:lstStyle/>
                    <a:p>
                      <a:pPr algn="ctr" fontAlgn="b">
                        <a:buNone/>
                      </a:pPr>
                      <a:r>
                        <a:rPr lang="zh-CN" sz="1200" b="0" i="0" u="none" strike="noStrike" dirty="0">
                          <a:solidFill>
                            <a:srgbClr val="000000"/>
                          </a:solidFill>
                          <a:effectLst/>
                          <a:latin typeface="Calibri" panose="020F0502020204030204" pitchFamily="34" charset="0"/>
                        </a:rPr>
                        <a:t>63</a:t>
                      </a:r>
                    </a:p>
                  </a:txBody>
                  <a:tcPr marL="0" marR="0" marT="0" marB="0" anchor="ctr"/>
                </a:tc>
                <a:extLst>
                  <a:ext uri="{0D108BD9-81ED-4DB2-BD59-A6C34878D82A}">
                    <a16:rowId xmlns:a16="http://schemas.microsoft.com/office/drawing/2014/main" val="1317202743"/>
                  </a:ext>
                </a:extLst>
              </a:tr>
              <a:tr h="301451">
                <a:tc>
                  <a:txBody>
                    <a:bodyPr/>
                    <a:lstStyle/>
                    <a:p>
                      <a:pPr algn="ctr" fontAlgn="b">
                        <a:buNone/>
                      </a:pPr>
                      <a:r>
                        <a:rPr lang="zh-CN" sz="1200" b="0" i="0" u="none" strike="noStrike" dirty="0">
                          <a:solidFill>
                            <a:srgbClr val="000000"/>
                          </a:solidFill>
                          <a:effectLst/>
                          <a:latin typeface="Calibri" panose="020F0502020204030204" pitchFamily="34" charset="0"/>
                        </a:rPr>
                        <a:t>下午停牌</a:t>
                      </a:r>
                    </a:p>
                  </a:txBody>
                  <a:tcPr marL="114300" marR="0" marT="0" marB="0" anchor="ctr"/>
                </a:tc>
                <a:tc>
                  <a:txBody>
                    <a:bodyPr/>
                    <a:lstStyle/>
                    <a:p>
                      <a:pPr algn="ctr" fontAlgn="b">
                        <a:buNone/>
                      </a:pPr>
                      <a:r>
                        <a:rPr lang="zh-CN" sz="1200" b="0" i="0" u="none" strike="noStrike" dirty="0">
                          <a:solidFill>
                            <a:srgbClr val="000000"/>
                          </a:solidFill>
                          <a:effectLst/>
                          <a:latin typeface="Calibri" panose="020F0502020204030204" pitchFamily="34" charset="0"/>
                        </a:rPr>
                        <a:t>10</a:t>
                      </a:r>
                    </a:p>
                  </a:txBody>
                  <a:tcPr marL="0" marR="0" marT="0" marB="0" anchor="ctr"/>
                </a:tc>
                <a:extLst>
                  <a:ext uri="{0D108BD9-81ED-4DB2-BD59-A6C34878D82A}">
                    <a16:rowId xmlns:a16="http://schemas.microsoft.com/office/drawing/2014/main" val="2867559465"/>
                  </a:ext>
                </a:extLst>
              </a:tr>
              <a:tr h="291402">
                <a:tc>
                  <a:txBody>
                    <a:bodyPr/>
                    <a:lstStyle/>
                    <a:p>
                      <a:pPr algn="ctr" fontAlgn="b">
                        <a:buNone/>
                      </a:pPr>
                      <a:r>
                        <a:rPr lang="zh-CN" sz="1200" b="0" i="0" u="none" strike="noStrike" dirty="0">
                          <a:solidFill>
                            <a:srgbClr val="000000"/>
                          </a:solidFill>
                          <a:effectLst/>
                          <a:latin typeface="Calibri" panose="020F0502020204030204" pitchFamily="34" charset="0"/>
                        </a:rPr>
                        <a:t>上午停牌</a:t>
                      </a:r>
                    </a:p>
                  </a:txBody>
                  <a:tcPr marL="114300" marR="0" marT="0" marB="0" anchor="ctr"/>
                </a:tc>
                <a:tc>
                  <a:txBody>
                    <a:bodyPr/>
                    <a:lstStyle/>
                    <a:p>
                      <a:pPr algn="ctr" fontAlgn="b">
                        <a:buNone/>
                      </a:pPr>
                      <a:r>
                        <a:rPr lang="zh-CN" sz="1200" b="0" i="0" u="none" strike="noStrike" dirty="0">
                          <a:solidFill>
                            <a:srgbClr val="000000"/>
                          </a:solidFill>
                          <a:effectLst/>
                          <a:latin typeface="Calibri" panose="020F0502020204030204" pitchFamily="34" charset="0"/>
                        </a:rPr>
                        <a:t>2</a:t>
                      </a:r>
                    </a:p>
                  </a:txBody>
                  <a:tcPr marL="0" marR="0" marT="0" marB="0" anchor="ctr"/>
                </a:tc>
                <a:extLst>
                  <a:ext uri="{0D108BD9-81ED-4DB2-BD59-A6C34878D82A}">
                    <a16:rowId xmlns:a16="http://schemas.microsoft.com/office/drawing/2014/main" val="3800480057"/>
                  </a:ext>
                </a:extLst>
              </a:tr>
            </a:tbl>
          </a:graphicData>
        </a:graphic>
      </p:graphicFrame>
    </p:spTree>
    <p:extLst>
      <p:ext uri="{BB962C8B-B14F-4D97-AF65-F5344CB8AC3E}">
        <p14:creationId xmlns:p14="http://schemas.microsoft.com/office/powerpoint/2010/main" val="1284573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 name="Picture 82" descr="Background pattern&#10;&#10;Description automatically generated">
            <a:extLst>
              <a:ext uri="{FF2B5EF4-FFF2-40B4-BE49-F238E27FC236}">
                <a16:creationId xmlns:a16="http://schemas.microsoft.com/office/drawing/2014/main" id="{62662E42-1AA6-4162-94C3-FD14A2B4911D}"/>
              </a:ext>
            </a:extLst>
          </p:cNvPr>
          <p:cNvPicPr>
            <a:picLocks noChangeAspect="1"/>
          </p:cNvPicPr>
          <p:nvPr/>
        </p:nvPicPr>
        <p:blipFill rotWithShape="1">
          <a:blip r:embed="rId2">
            <a:alphaModFix amt="51000"/>
            <a:extLst>
              <a:ext uri="{28A0092B-C50C-407E-A947-70E740481C1C}">
                <a14:useLocalDpi xmlns:a14="http://schemas.microsoft.com/office/drawing/2010/main" val="0"/>
              </a:ext>
            </a:extLst>
          </a:blip>
          <a:srcRect t="7813" b="7813"/>
          <a:stretch/>
        </p:blipFill>
        <p:spPr>
          <a:xfrm>
            <a:off x="0" y="0"/>
            <a:ext cx="12192000" cy="6858000"/>
          </a:xfrm>
          <a:prstGeom prst="rect">
            <a:avLst/>
          </a:prstGeom>
        </p:spPr>
      </p:pic>
      <p:sp>
        <p:nvSpPr>
          <p:cNvPr id="76" name="Rectangle 75">
            <a:extLst>
              <a:ext uri="{FF2B5EF4-FFF2-40B4-BE49-F238E27FC236}">
                <a16:creationId xmlns:a16="http://schemas.microsoft.com/office/drawing/2014/main" id="{12C74360-E956-4867-A914-BE426D372320}"/>
              </a:ext>
            </a:extLst>
          </p:cNvPr>
          <p:cNvSpPr/>
          <p:nvPr/>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7" name="Group 76">
            <a:extLst>
              <a:ext uri="{FF2B5EF4-FFF2-40B4-BE49-F238E27FC236}">
                <a16:creationId xmlns:a16="http://schemas.microsoft.com/office/drawing/2014/main" id="{F3E684B6-4620-47DA-B961-604047B86065}"/>
              </a:ext>
            </a:extLst>
          </p:cNvPr>
          <p:cNvGrpSpPr/>
          <p:nvPr/>
        </p:nvGrpSpPr>
        <p:grpSpPr>
          <a:xfrm>
            <a:off x="9160590" y="6562572"/>
            <a:ext cx="2550106" cy="255578"/>
            <a:chOff x="9160590" y="6563831"/>
            <a:chExt cx="2550106" cy="255578"/>
          </a:xfrm>
        </p:grpSpPr>
        <p:pic>
          <p:nvPicPr>
            <p:cNvPr id="78" name="Picture 77" descr="Logo&#10;&#10;Description automatically generated">
              <a:extLst>
                <a:ext uri="{FF2B5EF4-FFF2-40B4-BE49-F238E27FC236}">
                  <a16:creationId xmlns:a16="http://schemas.microsoft.com/office/drawing/2014/main" id="{756BDAC2-2B84-49DF-99AD-F929E06F03B4}"/>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80" name="Rectangle 19">
              <a:extLst>
                <a:ext uri="{FF2B5EF4-FFF2-40B4-BE49-F238E27FC236}">
                  <a16:creationId xmlns:a16="http://schemas.microsoft.com/office/drawing/2014/main" id="{BF8591F5-C85A-43D7-AF42-761DD4BBB643}"/>
                </a:ext>
              </a:extLst>
            </p:cNvPr>
            <p:cNvSpPr/>
            <p:nvPr/>
          </p:nvSpPr>
          <p:spPr>
            <a:xfrm>
              <a:off x="9160590" y="6614676"/>
              <a:ext cx="2265443" cy="153888"/>
            </a:xfrm>
            <a:prstGeom prst="rect">
              <a:avLst/>
            </a:prstGeom>
          </p:spPr>
          <p:txBody>
            <a:bodyPr wrap="square" lIns="0" tIns="0" rIns="0" bIns="0">
              <a:spAutoFit/>
            </a:bodyPr>
            <a:lstStyle/>
            <a:p>
              <a:pPr algn="r"/>
              <a:r>
                <a:rPr lang="en-US" altLang="zh-CN" sz="1000" spc="-30" err="1">
                  <a:solidFill>
                    <a:schemeClr val="bg1"/>
                  </a:solidFill>
                </a:rPr>
                <a:t>CSOPAssetManagementLimited</a:t>
              </a:r>
              <a:endParaRPr lang="zh-CN" altLang="en-US" sz="1000">
                <a:solidFill>
                  <a:schemeClr val="bg1"/>
                </a:solidFill>
              </a:endParaRPr>
            </a:p>
          </p:txBody>
        </p:sp>
      </p:grpSp>
      <p:pic>
        <p:nvPicPr>
          <p:cNvPr id="81" name="Graphic 80">
            <a:extLst>
              <a:ext uri="{FF2B5EF4-FFF2-40B4-BE49-F238E27FC236}">
                <a16:creationId xmlns:a16="http://schemas.microsoft.com/office/drawing/2014/main" id="{7D46E6C6-BDE6-4A54-AF2E-14C6AC0B2682}"/>
              </a:ext>
            </a:extLst>
          </p:cNvPr>
          <p:cNvPicPr>
            <a:picLocks noChangeAspect="1"/>
          </p:cNvPicPr>
          <p:nvPr/>
        </p:nvPicPr>
        <p:blipFill rotWithShape="1">
          <a:blip>
            <a:extLst>
              <a:ext uri="{96DAC541-7B7A-43D3-8B79-37D633B846F1}">
                <asvg:svgBlip xmlns:asvg="http://schemas.microsoft.com/office/drawing/2016/SVG/main" r:embed="rId4"/>
              </a:ext>
            </a:extLst>
          </a:blip>
          <a:srcRect l="8591" t="32054" r="4677" b="40437"/>
          <a:stretch/>
        </p:blipFill>
        <p:spPr>
          <a:xfrm>
            <a:off x="0" y="6522721"/>
            <a:ext cx="7837402" cy="335280"/>
          </a:xfrm>
          <a:prstGeom prst="rect">
            <a:avLst/>
          </a:prstGeom>
        </p:spPr>
      </p:pic>
      <p:pic>
        <p:nvPicPr>
          <p:cNvPr id="36" name="Picture 35" descr="Logo&#10;&#10;Description automatically generated">
            <a:extLst>
              <a:ext uri="{FF2B5EF4-FFF2-40B4-BE49-F238E27FC236}">
                <a16:creationId xmlns:a16="http://schemas.microsoft.com/office/drawing/2014/main" id="{35CE8992-D90B-4A0B-8A19-72124257782F}"/>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8519761" y="5375827"/>
            <a:ext cx="3351948" cy="822933"/>
          </a:xfrm>
          <a:prstGeom prst="rect">
            <a:avLst/>
          </a:prstGeom>
        </p:spPr>
      </p:pic>
      <p:sp>
        <p:nvSpPr>
          <p:cNvPr id="3" name="Slide Number Placeholder 2"/>
          <p:cNvSpPr>
            <a:spLocks noGrp="1"/>
          </p:cNvSpPr>
          <p:nvPr>
            <p:ph type="sldNum" sz="quarter" idx="4"/>
          </p:nvPr>
        </p:nvSpPr>
        <p:spPr/>
        <p:txBody>
          <a:bodyPr/>
          <a:lstStyle/>
          <a:p>
            <a:fld id="{CC7D48C0-AA79-46F3-BF6F-F82B468F2D98}" type="slidenum">
              <a:rPr lang="en-US" sz="1000" smtClean="0"/>
              <a:pPr/>
              <a:t>5</a:t>
            </a:fld>
            <a:endParaRPr lang="en-US" sz="1000"/>
          </a:p>
        </p:txBody>
      </p:sp>
      <p:sp>
        <p:nvSpPr>
          <p:cNvPr id="10" name="TextBox 9"/>
          <p:cNvSpPr txBox="1"/>
          <p:nvPr/>
        </p:nvSpPr>
        <p:spPr>
          <a:xfrm>
            <a:off x="4524703" y="2491919"/>
            <a:ext cx="3142593" cy="769441"/>
          </a:xfrm>
          <a:prstGeom prst="rect">
            <a:avLst/>
          </a:prstGeom>
          <a:noFill/>
        </p:spPr>
        <p:txBody>
          <a:bodyPr wrap="square" rtlCol="0">
            <a:spAutoFit/>
          </a:bodyPr>
          <a:lstStyle/>
          <a:p>
            <a:pPr algn="ctr"/>
            <a:r>
              <a:rPr lang="en-US" sz="4400" i="1">
                <a:latin typeface="Times New Roman" panose="02020603050405020304" pitchFamily="18" charset="0"/>
                <a:cs typeface="Times New Roman" panose="02020603050405020304" pitchFamily="18" charset="0"/>
              </a:rPr>
              <a:t>Thankyou</a:t>
            </a:r>
          </a:p>
        </p:txBody>
      </p:sp>
    </p:spTree>
    <p:extLst>
      <p:ext uri="{BB962C8B-B14F-4D97-AF65-F5344CB8AC3E}">
        <p14:creationId xmlns:p14="http://schemas.microsoft.com/office/powerpoint/2010/main" val="832432688"/>
      </p:ext>
    </p:extLst>
  </p:cSld>
  <p:clrMapOvr>
    <a:masterClrMapping/>
  </p:clrMapOvr>
</p:sld>
</file>

<file path=ppt/theme/theme1.xml><?xml version="1.0" encoding="utf-8"?>
<a:theme xmlns:a="http://schemas.openxmlformats.org/drawingml/2006/main" name="1_Office Theme">
  <a:themeElements>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fontScheme name="Custom 70">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fontScheme name="Custom 70">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27586</TotalTime>
  <Words>1207</Words>
  <Application>Microsoft Office PowerPoint</Application>
  <PresentationFormat>Widescreen</PresentationFormat>
  <Paragraphs>245</Paragraphs>
  <Slides>5</Slides>
  <Notes>4</Notes>
  <HiddenSlides>0</HiddenSlides>
  <MMClips>0</MMClips>
  <ScaleCrop>false</ScaleCrop>
  <HeadingPairs>
    <vt:vector size="4" baseType="variant">
      <vt:variant>
        <vt:lpstr>Theme</vt:lpstr>
      </vt:variant>
      <vt:variant>
        <vt:i4>2</vt:i4>
      </vt:variant>
      <vt:variant>
        <vt:lpstr>Slide Titles</vt:lpstr>
      </vt:variant>
      <vt:variant>
        <vt:i4>5</vt:i4>
      </vt:variant>
    </vt:vector>
  </HeadingPairs>
  <TitlesOfParts>
    <vt:vector size="7" baseType="lpstr">
      <vt:lpstr>1_Office Theme</vt:lpstr>
      <vt:lpstr>2_Office Theme</vt:lpstr>
      <vt:lpstr> WeeklyETFFundFlowsUpdates</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Bo Zhang</dc:creator>
  <cp:lastModifiedBy>Jeffrey Fang</cp:lastModifiedBy>
  <cp:revision>12</cp:revision>
  <cp:lastPrinted>2023-06-15T09:50:29Z</cp:lastPrinted>
  <dcterms:created xsi:type="dcterms:W3CDTF">2023-05-30T03:17:22Z</dcterms:created>
  <dcterms:modified xsi:type="dcterms:W3CDTF">2026-07-17T09:01:37Z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e487ca1-3ae9-46d9-9f4f-bccbf4ee90d6_Enabled">
    <vt:lpwstr>true</vt:lpwstr>
  </property>
  <property fmtid="{D5CDD505-2E9C-101B-9397-08002B2CF9AE}" pid="3" name="MSIP_Label_ce487ca1-3ae9-46d9-9f4f-bccbf4ee90d6_SetDate">
    <vt:lpwstr>2023-05-30T07:15:48Z</vt:lpwstr>
  </property>
  <property fmtid="{D5CDD505-2E9C-101B-9397-08002B2CF9AE}" pid="4" name="MSIP_Label_ce487ca1-3ae9-46d9-9f4f-bccbf4ee90d6_Method">
    <vt:lpwstr>Standard</vt:lpwstr>
  </property>
  <property fmtid="{D5CDD505-2E9C-101B-9397-08002B2CF9AE}" pid="5" name="MSIP_Label_ce487ca1-3ae9-46d9-9f4f-bccbf4ee90d6_Name">
    <vt:lpwstr>defa4170-0d19-0005-0004-bc88714345d2</vt:lpwstr>
  </property>
  <property fmtid="{D5CDD505-2E9C-101B-9397-08002B2CF9AE}" pid="6" name="MSIP_Label_ce487ca1-3ae9-46d9-9f4f-bccbf4ee90d6_SiteId">
    <vt:lpwstr>912c1411-7216-4f78-a1e1-a38aea5c33fd</vt:lpwstr>
  </property>
  <property fmtid="{D5CDD505-2E9C-101B-9397-08002B2CF9AE}" pid="7" name="MSIP_Label_ce487ca1-3ae9-46d9-9f4f-bccbf4ee90d6_ActionId">
    <vt:lpwstr>7b8c8af6-09bd-48a1-abae-998fe6348e7d</vt:lpwstr>
  </property>
  <property fmtid="{D5CDD505-2E9C-101B-9397-08002B2CF9AE}" pid="8" name="MSIP_Label_ce487ca1-3ae9-46d9-9f4f-bccbf4ee90d6_ContentBits">
    <vt:lpwstr>0</vt:lpwstr>
  </property>
</Properties>
</file>