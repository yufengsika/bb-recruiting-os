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8" r:id="rId2"/>
  </p:sldMasterIdLst>
  <p:notesMasterIdLst>
    <p:notesMasterId r:id="rId19"/>
  </p:notesMasterIdLst>
  <p:sldIdLst>
    <p:sldId id="2257" r:id="rId3"/>
    <p:sldId id="2690" r:id="rId4"/>
    <p:sldId id="2689" r:id="rId5"/>
    <p:sldId id="2673" r:id="rId6"/>
    <p:sldId id="2683" r:id="rId7"/>
    <p:sldId id="2684" r:id="rId8"/>
    <p:sldId id="2691" r:id="rId9"/>
    <p:sldId id="2694" r:id="rId10"/>
    <p:sldId id="2692" r:id="rId11"/>
    <p:sldId id="2695" r:id="rId12"/>
    <p:sldId id="2697" r:id="rId13"/>
    <p:sldId id="2698" r:id="rId14"/>
    <p:sldId id="2699" r:id="rId15"/>
    <p:sldId id="2701" r:id="rId16"/>
    <p:sldId id="2685" r:id="rId17"/>
    <p:sldId id="2641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91B400-038A-4DE2-A4C4-9412DA61AFAC}">
          <p14:sldIdLst>
            <p14:sldId id="2257"/>
            <p14:sldId id="2690"/>
            <p14:sldId id="2689"/>
            <p14:sldId id="2673"/>
            <p14:sldId id="2683"/>
            <p14:sldId id="2684"/>
            <p14:sldId id="2691"/>
            <p14:sldId id="2694"/>
            <p14:sldId id="2692"/>
            <p14:sldId id="2695"/>
            <p14:sldId id="2697"/>
            <p14:sldId id="2698"/>
            <p14:sldId id="2699"/>
            <p14:sldId id="2701"/>
            <p14:sldId id="2685"/>
            <p14:sldId id="26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8F274C-CBFE-FB9A-26BB-FAA298294DAB}" name="Mia He" initials="MH" userId="S::mia.he@csopasset.com::b34bc824-8729-47c7-b001-48d61de0fd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60AD"/>
    <a:srgbClr val="FFFFFF"/>
    <a:srgbClr val="629DD1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04970C-7ADC-4D7D-A635-0BAA5F585526}" v="1" dt="2026-06-29T10:50:05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72" autoAdjust="0"/>
    <p:restoredTop sz="96106" autoAdjust="0"/>
  </p:normalViewPr>
  <p:slideViewPr>
    <p:cSldViewPr snapToGrid="0">
      <p:cViewPr varScale="1">
        <p:scale>
          <a:sx n="103" d="100"/>
          <a:sy n="103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71DAF93-536D-4CDA-BB2D-EFD70DB950C3}" type="datetimeFigureOut"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A51E732-A336-4BBA-A94E-67DC52C2E7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1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25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B04E0-B0D6-8E61-97FB-792D890B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1B1F2-49C1-8F55-ABFF-6A447F4A5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5C59E-ECB2-D608-E581-28CA63A10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DBE1A-24CC-DFA0-9870-AC3EB5E6D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89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25277-1A51-3EEA-6D19-42E3E27F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12E0E-F793-5CB2-7E2D-2C8E3B009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CCCC3-F1A5-DB2C-D467-A431256AF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上海</a:t>
            </a:r>
          </a:p>
          <a:p>
            <a:r>
              <a:rPr lang="zh-CN" altLang="en-US" dirty="0"/>
              <a:t>华夏</a:t>
            </a:r>
          </a:p>
          <a:p>
            <a:r>
              <a:rPr lang="zh-CN" altLang="en-US" dirty="0"/>
              <a:t>易方达</a:t>
            </a:r>
          </a:p>
          <a:p>
            <a:r>
              <a:rPr lang="zh-CN" altLang="en-US" dirty="0"/>
              <a:t>摩根</a:t>
            </a:r>
          </a:p>
          <a:p>
            <a:r>
              <a:rPr lang="zh-CN" altLang="en-US" dirty="0"/>
              <a:t>华泰柏瑞</a:t>
            </a:r>
          </a:p>
          <a:p>
            <a:endParaRPr lang="zh-CN" altLang="en-US" dirty="0"/>
          </a:p>
          <a:p>
            <a:r>
              <a:rPr lang="zh-CN" altLang="en-US" dirty="0"/>
              <a:t>深圳</a:t>
            </a:r>
          </a:p>
          <a:p>
            <a:r>
              <a:rPr lang="zh-CN" altLang="en-US" dirty="0"/>
              <a:t>南方</a:t>
            </a:r>
          </a:p>
          <a:p>
            <a:r>
              <a:rPr lang="zh-CN" altLang="en-US" dirty="0"/>
              <a:t>富国</a:t>
            </a:r>
          </a:p>
          <a:p>
            <a:r>
              <a:rPr lang="zh-CN" altLang="en-US" dirty="0"/>
              <a:t>景顺</a:t>
            </a:r>
          </a:p>
          <a:p>
            <a:r>
              <a:rPr lang="zh-CN" altLang="en-US" dirty="0"/>
              <a:t>国泰</a:t>
            </a:r>
          </a:p>
          <a:p>
            <a:r>
              <a:rPr lang="zh-CN" altLang="en-US" dirty="0"/>
              <a:t>嘉实</a:t>
            </a:r>
          </a:p>
          <a:p>
            <a:r>
              <a:rPr lang="zh-CN" altLang="en-US" dirty="0"/>
              <a:t>汇添富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A0189-5569-0F5B-817B-CA4254E89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86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A90B-53B6-59FA-559A-7EB88101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74422-40E9-FA7A-5822-D930A915A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33DA8-5F90-7408-0991-895C88749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上海</a:t>
            </a:r>
          </a:p>
          <a:p>
            <a:r>
              <a:rPr lang="zh-CN" altLang="en-US" dirty="0"/>
              <a:t>华夏</a:t>
            </a:r>
          </a:p>
          <a:p>
            <a:r>
              <a:rPr lang="zh-CN" altLang="en-US" dirty="0"/>
              <a:t>易方达</a:t>
            </a:r>
          </a:p>
          <a:p>
            <a:r>
              <a:rPr lang="zh-CN" altLang="en-US" dirty="0"/>
              <a:t>摩根</a:t>
            </a:r>
          </a:p>
          <a:p>
            <a:r>
              <a:rPr lang="zh-CN" altLang="en-US" dirty="0"/>
              <a:t>华泰柏瑞</a:t>
            </a:r>
          </a:p>
          <a:p>
            <a:endParaRPr lang="zh-CN" altLang="en-US" dirty="0"/>
          </a:p>
          <a:p>
            <a:r>
              <a:rPr lang="zh-CN" altLang="en-US" dirty="0"/>
              <a:t>深圳</a:t>
            </a:r>
          </a:p>
          <a:p>
            <a:r>
              <a:rPr lang="zh-CN" altLang="en-US" dirty="0"/>
              <a:t>南方</a:t>
            </a:r>
          </a:p>
          <a:p>
            <a:r>
              <a:rPr lang="zh-CN" altLang="en-US" dirty="0"/>
              <a:t>富国</a:t>
            </a:r>
          </a:p>
          <a:p>
            <a:r>
              <a:rPr lang="zh-CN" altLang="en-US" dirty="0"/>
              <a:t>景顺</a:t>
            </a:r>
          </a:p>
          <a:p>
            <a:r>
              <a:rPr lang="zh-CN" altLang="en-US" dirty="0"/>
              <a:t>国泰</a:t>
            </a:r>
          </a:p>
          <a:p>
            <a:r>
              <a:rPr lang="zh-CN" altLang="en-US" dirty="0"/>
              <a:t>嘉实</a:t>
            </a:r>
          </a:p>
          <a:p>
            <a:r>
              <a:rPr lang="zh-CN" altLang="en-US" dirty="0"/>
              <a:t>汇添富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603E2-AF24-B735-B319-42A79839C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49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42D09-59D4-8E61-0119-D945783E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D8613-2CD4-9DCA-39CC-9E0DD8F04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9FD5F-58B9-F24A-BAD0-31F9AA897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1CEE2-7372-E3E5-6F21-9E6DD1CA2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13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C8C7-AC5D-AD8B-918F-B5DB2525C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85D67-95F7-E462-140A-6D0840EA8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F7A31-72A0-D580-3312-EBBC4AC57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76947-7DB8-D8AE-99AF-8838494EA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71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0ABA4-C7AF-C6A0-E85F-42A121EE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6E250-555F-216D-537E-A94A5F4C6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FACDB-FEF2-5120-51C1-C93FB8861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496FB-BE33-C737-3CE3-3F72B8936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73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F0F8-9636-B1AA-5271-32D9C230E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62D46-8E73-6D21-6C85-74F86C71B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DB76D-9A91-2315-1845-DA0EE41F5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9623-F0F5-A1A2-A383-3C13F8687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94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376D-E2DF-0221-ED65-C5E151E6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427CB-C1AC-5514-DA0A-A1464B3CD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07B4F-2552-3532-1A42-A9A128BC3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5D8FD-D435-0196-C200-67C9464A1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42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99E36-FEFD-121D-E224-CF0956FF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7E10A-195D-3427-B8E8-30AC5DBC3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987A2-7914-4931-30E5-A2859B907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D10CF-759B-5D1F-1079-D0DBBEC56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84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DEC4-00BC-312E-3109-9EFE6D59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FB1E6-13A2-9D50-56CA-EFDDF5673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C2DD0-4A53-B6C8-76B5-996BA65E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45EA2-FA14-8846-D27D-5306BE5BC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51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25CD-74E5-29F7-3D7B-8CDEC55C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426F6-26C9-F9CF-DE55-E5A6B27DD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D9C5B-4444-146B-B61D-060E88BBA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90E03-4DFE-6669-66A7-3DCF43C58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06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F65B6-23CE-B703-1D88-259539BF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CCDE9-2B0C-D2FF-04A3-5FE7CD47C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0604A-E49B-578B-2EA9-D83575A79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当前美国规模靠前的主动共同基金中， 传统大盘成长风格的权益基金和配置型基金占比较高， 主要依靠分析师主观选股。相对而言， 美国主动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ETF 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中规模较大的产品相对共同基金投资策略更加多元化， 量化和含衍生品的产品数量较多。由于国内衍生品市场仍在发展期， 目前发行以衍生品策略为主的主动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ETF 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的可能性不大。对比来看， 当前我国主动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ETF 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市场仅有指增产品， 且市场规模相对较小， 但管理指增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ETF 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为基金公司开发其他量化选股类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ETF 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积累了一定资源和经验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44C76-DFCA-0E5A-5237-0A993D581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90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D6A-CA12-EADF-9D53-560EB7F1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C9F71-D5E3-DD93-EE3D-87DFC65BF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3138B-3BA9-BA2F-088D-74D2B7C91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457D9-1C83-B866-D7BA-365084F5D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32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4CF6F-97FB-5CEB-2105-7AD91F87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15D09-B003-B595-2A10-864F391DB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14654-C88E-9986-827B-7BB5384A1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82A5A-0412-0498-F9B8-F6025DDC4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1E732-A336-4BBA-A94E-67DC52C2E76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FA9D-9E4D-4AC5-A9E5-8688F5C3C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73365-D148-495C-BF8F-4AB3186CB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AA1E6-AB54-4887-9760-5015DF9C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B5470-04B4-4713-9DAD-6A7C4628FB26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AE6FE-8AA8-470B-B8B2-8EB1E564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6182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9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F39FC7-5D40-462A-AAB4-A9DC6AB7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BE0AF-7B5A-44CA-9F9C-55A412820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8B290-FB1F-442D-B218-B0E55B8F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4184-50DE-4593-A55C-102097AF577A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8DE60-482C-4610-9E91-20B7D516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5917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071F-9589-49F7-91AB-8436568F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40DCE-10B6-4EB3-BEF1-ECE0EEDBA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D936E-F08F-4207-95D0-91367170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5929-8D0A-444E-B4B3-C07EAFBCC243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22E0-4149-43E7-B10F-CDB81E73B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2462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0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FDB3C-3C0D-4A67-AA7D-A13C54277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357D-FEE2-4154-9C5F-580779336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27D22-26B1-48D7-B7AA-90279E0BF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86002-385B-40C6-A8AA-D5DA4F6B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792C-F636-46FD-B14C-1367ECE109D5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E54D9-2439-4AFC-8FED-8E1C1821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835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3FF121-5058-4CFA-8178-6D1288C5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136F1-1176-41AD-998E-C13A63744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0C1F0-BF85-446F-91F2-67A8F4C1B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FD74D-7664-4CDF-9BBF-7168CACC8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B394-5E6F-40A5-A7F8-A2E5DF1FD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FE2A17-0A6C-477C-8FBC-FC63E7C9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F066A-90A2-4575-9742-9045E56E57CB}" type="datetime1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A8E6D-4D14-4F85-9108-096836A1A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2836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8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041C07-56AB-4AD6-ACD0-02FB4A05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7E9B8-6786-4BEB-A198-1D1F7DEA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62B1B-5CEA-4702-8C37-A12B945AE274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6CEEB-EEF8-44AB-B973-876828F9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145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7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2D6CC-44F9-41EA-A189-AB3804A0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14E78-706F-4625-BFD8-7CFFFB8EC967}" type="datetime1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EB58B-C8A0-44DA-9A35-332A56DE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8660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0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70B80C-E6BC-4F50-88C5-12C91E87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64F85-9359-4123-B2BF-CD49C7E6C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FE82A-E818-451C-9994-E75026B87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16435-5F3D-4B91-A3C2-A26579F4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D1606-4BF0-4879-ADE3-29BC45AFAD95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149A4-1BE8-45CC-814B-2A83ABFE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6297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0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DFABD9-8C51-4078-A106-3BBEF697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E8C82-AB85-454E-890C-86CB68BD1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77540-6082-4295-94B1-869436ADC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5B6A7-451B-4257-8A75-DC82424A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3E93-7DD5-4901-86AF-2283F238DE92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D57F9-D75C-4107-BF6D-91847ABF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460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9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C5AF9A-2C97-4FA1-B7E3-8B096E0F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52127-2DF7-49FC-87B8-A93A96729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6D91-B64C-44F6-90D7-CB19377C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5CE92-AA19-4377-81E2-1D4B088672AA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74666-36FB-4026-B1C6-905288B1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61994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9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CFBF9-284F-4E21-9395-8C99E9678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B7618-9FFB-40DC-BF1B-8594C478B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73B9C-C168-4F62-8339-6D6C075F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52145-DF40-41B5-A853-8358D7B7D7E3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CDA9B-63C4-4F39-BEAD-13CCCFCD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5860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:\branding guideline &amp; assets\logo\CSOP_Logo_Bilingua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71" y="6319907"/>
            <a:ext cx="1658544" cy="34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097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00" y="297135"/>
            <a:ext cx="7862400" cy="701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8679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00" y="297135"/>
            <a:ext cx="7862400" cy="701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1883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00" y="297135"/>
            <a:ext cx="7862400" cy="701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1192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FA9D-9E4D-4AC5-A9E5-8688F5C3C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73365-D148-495C-BF8F-4AB3186CB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AA1E6-AB54-4887-9760-5015DF9C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7A84F-3319-48D7-BA39-876F197789A2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AE6FE-8AA8-470B-B8B2-8EB1E564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E473CE-9116-548E-A2B3-D68750660028}"/>
              </a:ext>
            </a:extLst>
          </p:cNvPr>
          <p:cNvCxnSpPr/>
          <p:nvPr userDrawn="1"/>
        </p:nvCxnSpPr>
        <p:spPr>
          <a:xfrm>
            <a:off x="838199" y="996634"/>
            <a:ext cx="10509227" cy="0"/>
          </a:xfrm>
          <a:prstGeom prst="line">
            <a:avLst/>
          </a:prstGeom>
          <a:ln>
            <a:solidFill>
              <a:srgbClr val="3B6C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627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9FC7-5D40-462A-AAB4-A9DC6AB7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BE0AF-7B5A-44CA-9F9C-55A412820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8B290-FB1F-442D-B218-B0E55B8F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140F-56C9-4484-969F-1DA5135316FD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8DE60-482C-4610-9E91-20B7D516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146347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071F-9589-49F7-91AB-8436568F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40DCE-10B6-4EB3-BEF1-ECE0EEDBA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D936E-F08F-4207-95D0-91367170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C804-F633-45E2-B389-A3CA3741B9D8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22E0-4149-43E7-B10F-CDB81E73B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90174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DB3C-3C0D-4A67-AA7D-A13C54277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357D-FEE2-4154-9C5F-580779336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27D22-26B1-48D7-B7AA-90279E0BF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86002-385B-40C6-A8AA-D5DA4F6B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AB72-08E5-4F0E-8634-E02A10207959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E54D9-2439-4AFC-8FED-8E1C1821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7860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F121-5058-4CFA-8178-6D1288C5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87841"/>
            <a:ext cx="10515600" cy="480131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136F1-1176-41AD-998E-C13A63744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0C1F0-BF85-446F-91F2-67A8F4C1B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FD74D-7664-4CDF-9BBF-7168CACC8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B394-5E6F-40A5-A7F8-A2E5DF1FD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FE2A17-0A6C-477C-8FBC-FC63E7C9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1753-D731-457E-8D2C-DD9DD0750D3D}" type="datetime1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A8E6D-4D14-4F85-9108-096836A1A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64523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1C07-56AB-4AD6-ACD0-02FB4A05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841"/>
            <a:ext cx="10515600" cy="480131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7E9B8-6786-4BEB-A198-1D1F7DEA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A03D3-3B06-48B1-9A86-8AB7B57A3E28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6CEEB-EEF8-44AB-B973-876828F9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872200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2D6CC-44F9-41EA-A189-AB3804A0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1417-67FB-44A9-A832-29410182A011}" type="datetime1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EB58B-C8A0-44DA-9A35-332A56DE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0795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B80C-E6BC-4F50-88C5-12C91E87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64F85-9359-4123-B2BF-CD49C7E6C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FE82A-E818-451C-9994-E75026B87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16435-5F3D-4B91-A3C2-A26579F4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D49A-EBDB-4B9C-A228-A70C10960D6B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149A4-1BE8-45CC-814B-2A83ABFE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0074021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ABD9-8C51-4078-A106-3BBEF697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E8C82-AB85-454E-890C-86CB68BD1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77540-6082-4295-94B1-869436ADC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5B6A7-451B-4257-8A75-DC82424A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A01C1-EBF9-44B3-BCE0-FA541FFC99EC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D57F9-D75C-4107-BF6D-91847ABF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821748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AF9A-2C97-4FA1-B7E3-8B096E0F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52127-2DF7-49FC-87B8-A93A96729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6D91-B64C-44F6-90D7-CB19377C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A5A76-803F-4ADF-A93E-082E0CD244EC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74666-36FB-4026-B1C6-905288B1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695389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CFBF9-284F-4E21-9395-8C99E9678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B7618-9FFB-40DC-BF1B-8594C478B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73B9C-C168-4F62-8339-6D6C075FD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F94D-5620-42DA-A029-3126BE25CCB7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CDA9B-63C4-4F39-BEAD-13CCCFCD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95306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E52D3B-1640-43FA-A33B-870224C7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041"/>
            <a:ext cx="10515600" cy="7017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03963-46E1-4422-98B0-F8C00E7A8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844608"/>
          </a:xfrm>
          <a:prstGeom prst="rect">
            <a:avLst/>
          </a:prstGeom>
        </p:spPr>
        <p:txBody>
          <a:bodyPr vert="horz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91239-53F7-499D-9987-29D62F3E2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413"/>
            <a:ext cx="2743200" cy="276999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73542-AE95-439F-83F4-D8754E60CE08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FC6ED-0376-4286-B5C9-90D492627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413"/>
            <a:ext cx="4114800" cy="276999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31173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2" r:id="rId12"/>
    <p:sldLayoutId id="2147483733" r:id="rId13"/>
    <p:sldLayoutId id="2147483734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44A87A-4638-49CD-A7C2-871337C23C2D}"/>
              </a:ext>
            </a:extLst>
          </p:cNvPr>
          <p:cNvSpPr/>
          <p:nvPr userDrawn="1"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9" name="Graphic 11">
            <a:extLst>
              <a:ext uri="{FF2B5EF4-FFF2-40B4-BE49-F238E27FC236}">
                <a16:creationId xmlns:a16="http://schemas.microsoft.com/office/drawing/2014/main" id="{43B3D79A-9F40-4F47-A540-7111E9EFC45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E52D3B-1640-43FA-A33B-870224C7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041"/>
            <a:ext cx="10515600" cy="701731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03963-46E1-4422-98B0-F8C00E7A8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844608"/>
          </a:xfrm>
          <a:prstGeom prst="rect">
            <a:avLst/>
          </a:prstGeom>
        </p:spPr>
        <p:txBody>
          <a:bodyPr vert="horz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91239-53F7-499D-9987-29D62F3E2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413"/>
            <a:ext cx="2743200" cy="276999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8F227-81EB-4A3F-9E78-919C0CF71D38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FC6ED-0376-4286-B5C9-90D492627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413"/>
            <a:ext cx="4114800" cy="276999"/>
          </a:xfrm>
          <a:prstGeom prst="rect">
            <a:avLst/>
          </a:prstGeom>
        </p:spPr>
        <p:txBody>
          <a:bodyPr vert="horz" lIns="0" tIns="45720" rIns="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7D48C0-AA79-46F3-BF6F-F82B468F2D98}" type="slidenum">
              <a:rPr lang="en-US" sz="1000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95283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8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A0E51A-1167-43F8-A683-43A7C784F7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35CE8992-D90B-4A0B-8A19-7212425778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32" y="826532"/>
            <a:ext cx="3351948" cy="82293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6007BE5-B67F-47EA-9D4A-11CA60B43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602" y="3515197"/>
            <a:ext cx="6102990" cy="1200329"/>
          </a:xfr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br>
              <a:rPr lang="en-US" sz="4000" b="1">
                <a:solidFill>
                  <a:srgbClr val="2660AD"/>
                </a:solidFill>
              </a:rPr>
            </a:br>
            <a:r>
              <a:rPr lang="en-US" altLang="zh-HK" sz="3200" b="1" err="1">
                <a:solidFill>
                  <a:srgbClr val="2660A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WeeklyETFFundFlowsUpdates</a:t>
            </a:r>
            <a:endParaRPr lang="en-US" sz="4000" b="1">
              <a:solidFill>
                <a:srgbClr val="2660AD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F5A776B-1C0B-4972-9900-E47843A51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76" y="4807601"/>
            <a:ext cx="4727918" cy="369332"/>
          </a:xfrm>
        </p:spPr>
        <p:txBody>
          <a:bodyPr wrap="square">
            <a:spAutoFit/>
          </a:bodyPr>
          <a:lstStyle/>
          <a:p>
            <a:pPr algn="l"/>
            <a:r>
              <a:rPr lang="en-US" altLang="zh-CN" sz="2000">
                <a:solidFill>
                  <a:schemeClr val="tx1">
                    <a:lumMod val="75000"/>
                  </a:schemeClr>
                </a:solidFill>
                <a:latin typeface="+mj-lt"/>
              </a:rPr>
              <a:t>8/8</a:t>
            </a:r>
            <a:r>
              <a:rPr lang="en-US" altLang="zh-HK" sz="2000">
                <a:solidFill>
                  <a:schemeClr val="tx1">
                    <a:lumMod val="75000"/>
                  </a:schemeClr>
                </a:solidFill>
                <a:latin typeface="+mj-lt"/>
              </a:rPr>
              <a:t>/202</a:t>
            </a:r>
            <a:r>
              <a:rPr lang="en-US" altLang="zh-CN" sz="2000">
                <a:solidFill>
                  <a:schemeClr val="tx1">
                    <a:lumMod val="75000"/>
                  </a:schemeClr>
                </a:solidFill>
                <a:latin typeface="+mj-lt"/>
              </a:rPr>
              <a:t>2</a:t>
            </a:r>
            <a:r>
              <a:rPr lang="en-US" altLang="zh-HK" sz="2000">
                <a:solidFill>
                  <a:schemeClr val="tx1">
                    <a:lumMod val="75000"/>
                  </a:schemeClr>
                </a:solidFill>
                <a:latin typeface="+mj-lt"/>
              </a:rPr>
              <a:t>–8</a:t>
            </a:r>
            <a:r>
              <a:rPr lang="en-US" altLang="zh-CN" sz="2000">
                <a:solidFill>
                  <a:schemeClr val="tx1">
                    <a:lumMod val="75000"/>
                  </a:schemeClr>
                </a:solidFill>
                <a:latin typeface="+mj-lt"/>
              </a:rPr>
              <a:t>/12</a:t>
            </a:r>
            <a:r>
              <a:rPr lang="en-US" altLang="zh-HK" sz="2000">
                <a:solidFill>
                  <a:schemeClr val="tx1">
                    <a:lumMod val="75000"/>
                  </a:schemeClr>
                </a:solidFill>
                <a:latin typeface="+mj-lt"/>
              </a:rPr>
              <a:t>/202</a:t>
            </a:r>
            <a:r>
              <a:rPr lang="en-US" altLang="zh-CN" sz="2000">
                <a:solidFill>
                  <a:schemeClr val="tx1">
                    <a:lumMod val="75000"/>
                  </a:schemeClr>
                </a:solidFill>
                <a:latin typeface="+mj-lt"/>
              </a:rPr>
              <a:t>2</a:t>
            </a:r>
            <a:endParaRPr lang="en-US" altLang="zh-HK" sz="2000">
              <a:solidFill>
                <a:schemeClr val="tx1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3" name="Picture 2" descr="A picture containing text, train, track, outdoor&#10;&#10;Description automatically generated">
            <a:extLst>
              <a:ext uri="{FF2B5EF4-FFF2-40B4-BE49-F238E27FC236}">
                <a16:creationId xmlns:a16="http://schemas.microsoft.com/office/drawing/2014/main" id="{C968AB3F-AE33-1888-0928-0E2C285AB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" y="0"/>
            <a:ext cx="1218185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E42135-72AC-64C2-E185-AC87602ED4B9}"/>
              </a:ext>
            </a:extLst>
          </p:cNvPr>
          <p:cNvSpPr/>
          <p:nvPr/>
        </p:nvSpPr>
        <p:spPr>
          <a:xfrm>
            <a:off x="-5073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E5B1F526-EBE5-75F0-F36B-AA585999AD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32" y="978932"/>
            <a:ext cx="3351948" cy="82293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CBB2DB0-3322-7CDC-9039-B58A81BCDEEA}"/>
              </a:ext>
            </a:extLst>
          </p:cNvPr>
          <p:cNvSpPr txBox="1">
            <a:spLocks/>
          </p:cNvSpPr>
          <p:nvPr/>
        </p:nvSpPr>
        <p:spPr>
          <a:xfrm>
            <a:off x="637968" y="4152263"/>
            <a:ext cx="6635610" cy="646331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/>
                <a:ea typeface="微软雅黑"/>
              </a:rPr>
              <a:t>内地主动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/>
                <a:ea typeface="微软雅黑"/>
              </a:rPr>
              <a:t>ETF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0DEF6EE-D68D-D2B8-C9D6-9F6BC811DFCB}"/>
              </a:ext>
            </a:extLst>
          </p:cNvPr>
          <p:cNvSpPr txBox="1">
            <a:spLocks/>
          </p:cNvSpPr>
          <p:nvPr/>
        </p:nvSpPr>
        <p:spPr>
          <a:xfrm>
            <a:off x="760276" y="4960001"/>
            <a:ext cx="4727918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000" dirty="0">
                <a:solidFill>
                  <a:srgbClr val="4472C4"/>
                </a:solidFill>
                <a:latin typeface="Calibri Light" panose="020F0302020204030204"/>
                <a:ea typeface="等线" panose="02010600030101010101" pitchFamily="2" charset="-122"/>
              </a:rPr>
              <a:t>June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等线" panose="02010600030101010101" pitchFamily="2" charset="-122"/>
                <a:cs typeface="+mn-cs"/>
              </a:rPr>
              <a:t> 2026</a:t>
            </a:r>
            <a:endParaRPr kumimoji="0" lang="en-US" altLang="zh-HK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EBB0B9-E8D2-ECA7-EA4E-288020221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6905" y="6557574"/>
            <a:ext cx="2743200" cy="2769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D48C0-AA79-46F3-BF6F-F82B468F2D9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47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36387-978A-15E0-E2C7-FA27879B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B56A2608-AE68-1A84-1028-A45489D2CE61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：被动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与主动管理基金的优势结合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534ECB-8BB4-C086-B8DE-1989F6ABC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405" b="4899"/>
          <a:stretch>
            <a:fillRect/>
          </a:stretch>
        </p:blipFill>
        <p:spPr>
          <a:xfrm>
            <a:off x="1538765" y="1857801"/>
            <a:ext cx="8473995" cy="4433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1D046E-AD67-5AD7-B88A-1D6B7F83F7C6}"/>
              </a:ext>
            </a:extLst>
          </p:cNvPr>
          <p:cNvSpPr txBox="1"/>
          <p:nvPr/>
        </p:nvSpPr>
        <p:spPr>
          <a:xfrm>
            <a:off x="769786" y="1212081"/>
            <a:ext cx="1065242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 vs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被动指数、指数增强产品：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优势为完全主动，自由度更高。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 vs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场外主动权益基金：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优势为持仓透明，交易便捷，资金利用率更高，且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结构费率更低。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1392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4D5B-8E32-7BE6-0497-4AE3F70E8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052D20BA-C600-61E7-8A0B-71979F95EB5E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上交所主动管理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业务指引主要内容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10909F-4B85-857C-E515-AD7D46AD9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" b="83228"/>
          <a:stretch>
            <a:fillRect/>
          </a:stretch>
        </p:blipFill>
        <p:spPr>
          <a:xfrm>
            <a:off x="1264871" y="2418876"/>
            <a:ext cx="9662258" cy="15652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22B253-BAE7-8800-7EBC-512197A9DE26}"/>
              </a:ext>
            </a:extLst>
          </p:cNvPr>
          <p:cNvSpPr txBox="1"/>
          <p:nvPr/>
        </p:nvSpPr>
        <p:spPr>
          <a:xfrm>
            <a:off x="723140" y="1268099"/>
            <a:ext cx="10906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命名规则：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命名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必须带有“主动”字样</a:t>
            </a:r>
            <a:r>
              <a:rPr lang="zh-CN" altLang="en-US" sz="1200" dirty="0"/>
              <a:t>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918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BE3F-188A-60C3-1C3D-B9C4D1C1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88FE3F56-6DAF-FD4F-9365-CA1C46775287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上交所主动管理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业务指引主要内容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76E2F-A217-A67B-B87A-0AEECBF1B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4" b="61902"/>
          <a:stretch>
            <a:fillRect/>
          </a:stretch>
        </p:blipFill>
        <p:spPr>
          <a:xfrm>
            <a:off x="1369863" y="2235889"/>
            <a:ext cx="9662258" cy="23862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1617DB-C930-8C72-3955-5FA1A11CA408}"/>
              </a:ext>
            </a:extLst>
          </p:cNvPr>
          <p:cNvSpPr txBox="1"/>
          <p:nvPr/>
        </p:nvSpPr>
        <p:spPr>
          <a:xfrm>
            <a:off x="723140" y="1268099"/>
            <a:ext cx="10906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管理人资质及基金经理要求：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设定较高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准入</a:t>
            </a: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门槛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83747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2E61-F6B8-B972-0248-DD2F1B8F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C17B21EE-D215-362B-C2AF-F3BE22B1041D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上交所主动管理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业务指引主要内容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324F70-62E9-A151-A40C-B878CC56B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" t="38099" r="2304" b="31629"/>
          <a:stretch>
            <a:fillRect/>
          </a:stretch>
        </p:blipFill>
        <p:spPr>
          <a:xfrm>
            <a:off x="1510883" y="1878563"/>
            <a:ext cx="9331001" cy="34181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FC5D84-ABC3-2965-3787-F54BAB63EED0}"/>
              </a:ext>
            </a:extLst>
          </p:cNvPr>
          <p:cNvSpPr txBox="1"/>
          <p:nvPr/>
        </p:nvSpPr>
        <p:spPr>
          <a:xfrm>
            <a:off x="723140" y="1268099"/>
            <a:ext cx="10906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投资运作方面：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限制产品持仓，对持仓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数量，占比，和流动性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做出限制。</a:t>
            </a:r>
          </a:p>
        </p:txBody>
      </p:sp>
    </p:spTree>
    <p:extLst>
      <p:ext uri="{BB962C8B-B14F-4D97-AF65-F5344CB8AC3E}">
        <p14:creationId xmlns:p14="http://schemas.microsoft.com/office/powerpoint/2010/main" val="401237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9547-D24B-FFD5-20B1-14E5C73A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8A962825-BFC7-3C0F-65A6-B94B2518FC3D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上交所主动管理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业务指引主要内容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A0B4EB-4C61-81F5-0903-604005342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" t="67582" r="3252" b="2724"/>
          <a:stretch>
            <a:fillRect/>
          </a:stretch>
        </p:blipFill>
        <p:spPr>
          <a:xfrm>
            <a:off x="1180128" y="1883230"/>
            <a:ext cx="9331001" cy="3352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048607-6F5D-4785-7B6F-1446C3105FC6}"/>
              </a:ext>
            </a:extLst>
          </p:cNvPr>
          <p:cNvSpPr txBox="1"/>
          <p:nvPr/>
        </p:nvSpPr>
        <p:spPr>
          <a:xfrm>
            <a:off x="723140" y="1268099"/>
            <a:ext cx="10906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信息披露方面：全透明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结构，每日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披露。</a:t>
            </a:r>
          </a:p>
        </p:txBody>
      </p:sp>
    </p:spTree>
    <p:extLst>
      <p:ext uri="{BB962C8B-B14F-4D97-AF65-F5344CB8AC3E}">
        <p14:creationId xmlns:p14="http://schemas.microsoft.com/office/powerpoint/2010/main" val="140610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E0DDC-2F98-2950-0A63-60A021FF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D9EA397F-2071-9ED6-DD53-372AFC5676AF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与指增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的区别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BC40B6-711B-DFAE-7741-1525069D4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677966"/>
              </p:ext>
            </p:extLst>
          </p:nvPr>
        </p:nvGraphicFramePr>
        <p:xfrm>
          <a:off x="685799" y="1317170"/>
          <a:ext cx="10820401" cy="463731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55701">
                  <a:extLst>
                    <a:ext uri="{9D8B030D-6E8A-4147-A177-3AD203B41FA5}">
                      <a16:colId xmlns:a16="http://schemas.microsoft.com/office/drawing/2014/main" val="946386474"/>
                    </a:ext>
                  </a:extLst>
                </a:gridCol>
                <a:gridCol w="4192699">
                  <a:extLst>
                    <a:ext uri="{9D8B030D-6E8A-4147-A177-3AD203B41FA5}">
                      <a16:colId xmlns:a16="http://schemas.microsoft.com/office/drawing/2014/main" val="4289747048"/>
                    </a:ext>
                  </a:extLst>
                </a:gridCol>
                <a:gridCol w="4572001">
                  <a:extLst>
                    <a:ext uri="{9D8B030D-6E8A-4147-A177-3AD203B41FA5}">
                      <a16:colId xmlns:a16="http://schemas.microsoft.com/office/drawing/2014/main" val="3675722174"/>
                    </a:ext>
                  </a:extLst>
                </a:gridCol>
              </a:tblGrid>
              <a:tr h="364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比较维度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增强策略ETF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主动ETF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823" marR="28823" marT="14412" marB="14412" anchor="ctr"/>
                </a:tc>
                <a:extLst>
                  <a:ext uri="{0D108BD9-81ED-4DB2-BD59-A6C34878D82A}">
                    <a16:rowId xmlns:a16="http://schemas.microsoft.com/office/drawing/2014/main" val="659308775"/>
                  </a:ext>
                </a:extLst>
              </a:tr>
              <a:tr h="99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投资目标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以跟踪某一指数为基础，在控制跟踪误差前提下争取相对指数的增强收益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不以跟踪特定指数为投资目标，由基金经理自主选择投资策略和组合，追求绝对或相对收益目标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extLst>
                  <a:ext uri="{0D108BD9-81ED-4DB2-BD59-A6C34878D82A}">
                    <a16:rowId xmlns:a16="http://schemas.microsoft.com/office/drawing/2014/main" val="1806574057"/>
                  </a:ext>
                </a:extLst>
              </a:tr>
              <a:tr h="7630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组合约束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通常围绕标的指数成分股或指数风险暴露构建，行业、市值、风格暴露一般需接近基准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组合构建空间更大，但需满足上交所指引中的分散度、流动性、容量、换手率和风格稳定要求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extLst>
                  <a:ext uri="{0D108BD9-81ED-4DB2-BD59-A6C34878D82A}">
                    <a16:rowId xmlns:a16="http://schemas.microsoft.com/office/drawing/2014/main" val="3171927271"/>
                  </a:ext>
                </a:extLst>
              </a:tr>
              <a:tr h="7630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超额来源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主要来自量化模型、选股打分、权重优化、打新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现金管理等相对指数的小幅偏离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来自主动选股、行业配置、风格判断等更完整的主动管理能力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extLst>
                  <a:ext uri="{0D108BD9-81ED-4DB2-BD59-A6C34878D82A}">
                    <a16:rowId xmlns:a16="http://schemas.microsoft.com/office/drawing/2014/main" val="3549070067"/>
                  </a:ext>
                </a:extLst>
              </a:tr>
              <a:tr h="992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业绩评价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核心看相对标的指数的超额收益、信息比率、跟踪误差和增强稳定性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除相对业绩基准表现外，更关注基金经理风格稳定、回撤控制、换手率、容量和长期业绩持续性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extLst>
                  <a:ext uri="{0D108BD9-81ED-4DB2-BD59-A6C34878D82A}">
                    <a16:rowId xmlns:a16="http://schemas.microsoft.com/office/drawing/2014/main" val="2988881270"/>
                  </a:ext>
                </a:extLst>
              </a:tr>
              <a:tr h="7630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投资者认知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更接近“</a:t>
                      </a: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指数ETF的增强版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”，</a:t>
                      </a: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投资者通常以指数Beta为基础配置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更接近“主动基金的ETF份额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ETF化载体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”，</a:t>
                      </a:r>
                      <a:r>
                        <a:rPr lang="en-US" sz="12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投资者购买的是基金经理或策略团队的主动管理能力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28823" marR="28823" marT="14412" marB="14412" anchor="ctr"/>
                </a:tc>
                <a:extLst>
                  <a:ext uri="{0D108BD9-81ED-4DB2-BD59-A6C34878D82A}">
                    <a16:rowId xmlns:a16="http://schemas.microsoft.com/office/drawing/2014/main" val="401862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17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2FA6F-A9B3-BB31-5606-A558C7BED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F83FF6E4-B49F-F05D-AC5D-23F799A5EF40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美国投资公司体系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0C4EC-0DA9-C087-6133-C8C7C0DFDD1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5032"/>
          <a:stretch>
            <a:fillRect/>
          </a:stretch>
        </p:blipFill>
        <p:spPr>
          <a:xfrm>
            <a:off x="287956" y="1308252"/>
            <a:ext cx="10950787" cy="424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5493-AECB-3298-618F-5972FBA0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1F803504-044D-8DA1-2401-F10DC45D1C77}"/>
              </a:ext>
            </a:extLst>
          </p:cNvPr>
          <p:cNvSpPr txBox="1">
            <a:spLocks/>
          </p:cNvSpPr>
          <p:nvPr/>
        </p:nvSpPr>
        <p:spPr>
          <a:xfrm>
            <a:off x="723142" y="566361"/>
            <a:ext cx="11248033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进程：透明主动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半透明主动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公募转型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11D207-9BFA-52F6-C36B-C62D8A497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88982"/>
              </p:ext>
            </p:extLst>
          </p:nvPr>
        </p:nvGraphicFramePr>
        <p:xfrm>
          <a:off x="723142" y="1738761"/>
          <a:ext cx="10929258" cy="448756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83256">
                  <a:extLst>
                    <a:ext uri="{9D8B030D-6E8A-4147-A177-3AD203B41FA5}">
                      <a16:colId xmlns:a16="http://schemas.microsoft.com/office/drawing/2014/main" val="2011077583"/>
                    </a:ext>
                  </a:extLst>
                </a:gridCol>
                <a:gridCol w="2039783">
                  <a:extLst>
                    <a:ext uri="{9D8B030D-6E8A-4147-A177-3AD203B41FA5}">
                      <a16:colId xmlns:a16="http://schemas.microsoft.com/office/drawing/2014/main" val="3004565055"/>
                    </a:ext>
                  </a:extLst>
                </a:gridCol>
                <a:gridCol w="3907188">
                  <a:extLst>
                    <a:ext uri="{9D8B030D-6E8A-4147-A177-3AD203B41FA5}">
                      <a16:colId xmlns:a16="http://schemas.microsoft.com/office/drawing/2014/main" val="2971662335"/>
                    </a:ext>
                  </a:extLst>
                </a:gridCol>
                <a:gridCol w="3899031">
                  <a:extLst>
                    <a:ext uri="{9D8B030D-6E8A-4147-A177-3AD203B41FA5}">
                      <a16:colId xmlns:a16="http://schemas.microsoft.com/office/drawing/2014/main" val="2613298977"/>
                    </a:ext>
                  </a:extLst>
                </a:gridCol>
              </a:tblGrid>
              <a:tr h="123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市场阶段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政策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制度变化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市场影响</a:t>
                      </a:r>
                      <a:endParaRPr lang="en-US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17" marR="19017" marT="9509" marB="9509" anchor="ctr"/>
                </a:tc>
                <a:extLst>
                  <a:ext uri="{0D108BD9-81ED-4DB2-BD59-A6C34878D82A}">
                    <a16:rowId xmlns:a16="http://schemas.microsoft.com/office/drawing/2014/main" val="4129688814"/>
                  </a:ext>
                </a:extLst>
              </a:tr>
              <a:tr h="857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2008-2012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起步期：固收和现金管理先行</a:t>
                      </a:r>
                      <a:endParaRPr 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SEC批准首只主动ETF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Bear Stearns Current Yield Fund（YYY）于2008-03-25交易；ETF仍主要依赖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逐只豁免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主动ETF作为独立品类出现，但规模有限；短久期债券、现金管理等透明度和流动性更友好的策略更容易落地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19017" marR="19017" marT="9509" marB="9509" anchor="ctr"/>
                </a:tc>
                <a:extLst>
                  <a:ext uri="{0D108BD9-81ED-4DB2-BD59-A6C34878D82A}">
                    <a16:rowId xmlns:a16="http://schemas.microsoft.com/office/drawing/2014/main" val="365795523"/>
                  </a:ext>
                </a:extLst>
              </a:tr>
              <a:tr h="857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2013-2016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传统管理人进入与上市标准完善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T. Rowe Price、Fidelity等传统资管机构获得主动ETF豁免；2016年BATS、NYSE </a:t>
                      </a: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Arca、Nasdaq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主动管理ETF通用</a:t>
                      </a: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上市标准获批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交易所无需就符合通用标准的主动ETF逐只申请上市批准，产品发行和上市效率提高。</a:t>
                      </a:r>
                    </a:p>
                  </a:txBody>
                  <a:tcPr marL="19017" marR="19017" marT="9509" marB="9509" anchor="ctr"/>
                </a:tc>
                <a:extLst>
                  <a:ext uri="{0D108BD9-81ED-4DB2-BD59-A6C34878D82A}">
                    <a16:rowId xmlns:a16="http://schemas.microsoft.com/office/drawing/2014/main" val="2535050179"/>
                  </a:ext>
                </a:extLst>
              </a:tr>
              <a:tr h="857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ETF </a:t>
                      </a: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Rule制度化</a:t>
                      </a:r>
                      <a:endParaRPr 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SEC采纳Rule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6c-11，允许满足条件的ETF在无单独豁免令情况下运营；同年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半透明主动ETF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结构陆续获批。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提供每日组合透明度的主动ETF进入更标准化的发行框架；希望保护策略的半透明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非透明主动ETF仍需单独豁免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19017" marR="19017" marT="9509" marB="9509" anchor="ctr"/>
                </a:tc>
                <a:extLst>
                  <a:ext uri="{0D108BD9-81ED-4DB2-BD59-A6C34878D82A}">
                    <a16:rowId xmlns:a16="http://schemas.microsoft.com/office/drawing/2014/main" val="2786849825"/>
                  </a:ext>
                </a:extLst>
              </a:tr>
              <a:tr h="857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2020-2024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快速扩张期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Rule6c-11红利释放，主动ETF发行效率提升；市场同时出现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共同基金转型ETF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和更丰富的期权收益、CLO、核心权益策略。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SECDERA白皮书数据显示，主动ETF数量从412只增至1531只，资产从1220亿美元增至7680亿美元；权益资产占比从36.9%升至61.9%。</a:t>
                      </a:r>
                    </a:p>
                  </a:txBody>
                  <a:tcPr marL="19017" marR="19017" marT="9509" marB="9509" anchor="ctr"/>
                </a:tc>
                <a:extLst>
                  <a:ext uri="{0D108BD9-81ED-4DB2-BD59-A6C34878D82A}">
                    <a16:rowId xmlns:a16="http://schemas.microsoft.com/office/drawing/2014/main" val="1122612487"/>
                  </a:ext>
                </a:extLst>
              </a:tr>
              <a:tr h="857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2025以后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主流化阶段</a:t>
                      </a:r>
                      <a:endParaRPr lang="en-US" sz="1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行业数据显示主动ETF数量已接近或超过被动ETF数量，透明主动、半透明主动和转型ETF共同发展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19017" marR="19017" marT="9509" marB="9509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主动ETF从创新品类转向资管机构核心产品货架，竞争焦点从“有没有ETF壳”转向策略容量、费率、分销和业绩持续性</a:t>
                      </a:r>
                      <a:r>
                        <a:rPr lang="en-US" sz="1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19017" marR="19017" marT="9509" marB="9509" anchor="ctr"/>
                </a:tc>
                <a:extLst>
                  <a:ext uri="{0D108BD9-81ED-4DB2-BD59-A6C34878D82A}">
                    <a16:rowId xmlns:a16="http://schemas.microsoft.com/office/drawing/2014/main" val="36579767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9561F5-563D-B3E9-7E58-510497AB75A5}"/>
              </a:ext>
            </a:extLst>
          </p:cNvPr>
          <p:cNvSpPr txBox="1"/>
          <p:nvPr/>
        </p:nvSpPr>
        <p:spPr>
          <a:xfrm>
            <a:off x="723143" y="136285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个案豁免验证-传统资管机构进入-通用规则建立-产品供给爆发-主流化竞争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065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4405-7688-4326-F4BC-A0C842C66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3510D82E-CB16-0B8C-17ED-10664522B0E2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产品类型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3F178-B352-1617-A11E-587136DFB2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92" r="14742"/>
          <a:stretch>
            <a:fillRect/>
          </a:stretch>
        </p:blipFill>
        <p:spPr>
          <a:xfrm>
            <a:off x="6422834" y="1714647"/>
            <a:ext cx="5012501" cy="3907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62D9CC-38D8-59C2-2897-A2ABBAA52041}"/>
              </a:ext>
            </a:extLst>
          </p:cNvPr>
          <p:cNvSpPr txBox="1"/>
          <p:nvPr/>
        </p:nvSpPr>
        <p:spPr>
          <a:xfrm>
            <a:off x="5775792" y="136751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美国主动</a:t>
            </a:r>
            <a:r>
              <a:rPr lang="en-US" altLang="zh-CN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 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产品类型分布（ 亿美元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2025/12/31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0044E-6A2E-AE32-0891-7A1498A79C68}"/>
              </a:ext>
            </a:extLst>
          </p:cNvPr>
          <p:cNvSpPr txBox="1"/>
          <p:nvPr/>
        </p:nvSpPr>
        <p:spPr>
          <a:xfrm>
            <a:off x="512606" y="1419815"/>
            <a:ext cx="54683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日，美国主动</a:t>
            </a:r>
            <a:r>
              <a:rPr lang="en-US" altLang="zh-CN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 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市场以权益和固收两个大类为主导， 规模占比分别为</a:t>
            </a:r>
            <a:r>
              <a:rPr lang="en-US" altLang="zh-CN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63%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32%</a:t>
            </a:r>
            <a:r>
              <a:rPr lang="zh-CN" altLang="en-US" sz="120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b="0" i="0" u="none" strike="noStrike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sz="1200" b="0" i="0" u="none" strike="noStrike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 权益大类以美国权益为主， 规模达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4,648.42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亿美元，占全部主动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固收大类以应税债为主， 规模达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4289.17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亿美元，占比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29%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45C50B-9176-E278-A014-3AB5178856FE}"/>
              </a:ext>
            </a:extLst>
          </p:cNvPr>
          <p:cNvSpPr txBox="1"/>
          <p:nvPr/>
        </p:nvSpPr>
        <p:spPr>
          <a:xfrm>
            <a:off x="6422834" y="5585640"/>
            <a:ext cx="50125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u="none" strike="noStrike" baseline="0" dirty="0">
                <a:solidFill>
                  <a:srgbClr val="9A9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部分分类说明： 非传统权益包含多空、确定收益、衍生品等； 应税债覆盖短中长政府债、公司债、全球债等； 市政债主要为美国或特定地区的免税市政债；</a:t>
            </a:r>
          </a:p>
          <a:p>
            <a:pPr algn="l"/>
            <a:r>
              <a:rPr lang="zh-CN" altLang="en-US" sz="1000" b="0" i="0" u="none" strike="noStrike" baseline="0" dirty="0">
                <a:solidFill>
                  <a:srgbClr val="9A9A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配置型涵盖不同风险等级的股债混合配置， 同时包含可转债和目标日期基金等产品； 另类包含宏观交易、事件驱动等投资策略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2267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9A256-1130-D4C7-1E81-89DF60B0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9B02514E-F341-3EFE-D73D-3CB6301DAF41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 vs 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：美国主动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数量已超过被动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3B177-DACB-F001-9FB0-BA3AD858A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57" y="2580499"/>
            <a:ext cx="5634718" cy="3791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510068-2893-376D-9793-3F187BD85011}"/>
              </a:ext>
            </a:extLst>
          </p:cNvPr>
          <p:cNvSpPr txBox="1"/>
          <p:nvPr/>
        </p:nvSpPr>
        <p:spPr>
          <a:xfrm>
            <a:off x="2072972" y="2480800"/>
            <a:ext cx="2638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国主被动ETF数量变化（只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DBE731-8D8B-27B2-1666-6F2C8408F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91" y="2998641"/>
            <a:ext cx="5725283" cy="33733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EE4611-4093-DA62-841F-3D3897569442}"/>
              </a:ext>
            </a:extLst>
          </p:cNvPr>
          <p:cNvSpPr txBox="1"/>
          <p:nvPr/>
        </p:nvSpPr>
        <p:spPr>
          <a:xfrm>
            <a:off x="7343600" y="245370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美国主动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规模变化及规模占比走势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A28D54-2713-193C-1168-1F15DB043AC7}"/>
              </a:ext>
            </a:extLst>
          </p:cNvPr>
          <p:cNvSpPr txBox="1"/>
          <p:nvPr/>
        </p:nvSpPr>
        <p:spPr>
          <a:xfrm>
            <a:off x="411539" y="1405800"/>
            <a:ext cx="5423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Bloomberg数据显示，美国主动ETF数量从2019年末的约317只增至2025年末的2701只，并在2026年5月末进一步增至3019只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，主动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数量已超过被动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06285C-598D-ECD9-95D8-A9B31945A1D8}"/>
              </a:ext>
            </a:extLst>
          </p:cNvPr>
          <p:cNvSpPr txBox="1"/>
          <p:nvPr/>
        </p:nvSpPr>
        <p:spPr>
          <a:xfrm>
            <a:off x="6357259" y="1200883"/>
            <a:ext cx="54232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美国主动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亿美元增长至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万亿美元，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年最新数据进一步升至约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万亿美元；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规模占全部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规模的比例从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2.9%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10.7%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年最新数据约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11.4%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C6E4B-E428-55EC-BE35-6FBA395243C7}"/>
              </a:ext>
            </a:extLst>
          </p:cNvPr>
          <p:cNvSpPr txBox="1"/>
          <p:nvPr/>
        </p:nvSpPr>
        <p:spPr>
          <a:xfrm>
            <a:off x="4898376" y="2673160"/>
            <a:ext cx="8585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2026/5/31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127B5-3D5D-7D88-4159-14E8B127F9E4}"/>
              </a:ext>
            </a:extLst>
          </p:cNvPr>
          <p:cNvSpPr txBox="1"/>
          <p:nvPr/>
        </p:nvSpPr>
        <p:spPr>
          <a:xfrm>
            <a:off x="10533094" y="2673160"/>
            <a:ext cx="8585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2026/3/31</a:t>
            </a:r>
          </a:p>
        </p:txBody>
      </p:sp>
    </p:spTree>
    <p:extLst>
      <p:ext uri="{BB962C8B-B14F-4D97-AF65-F5344CB8AC3E}">
        <p14:creationId xmlns:p14="http://schemas.microsoft.com/office/powerpoint/2010/main" val="58493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87EC-14D8-DD51-3AD9-0759EC8B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DEA2DC67-2096-6BAA-96E7-AE38154613EA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1018924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 vs 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公募：美国主动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替代传统公募基金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14B46-38D4-BDB6-D771-ED00CB98109A}"/>
              </a:ext>
            </a:extLst>
          </p:cNvPr>
          <p:cNvSpPr txBox="1"/>
          <p:nvPr/>
        </p:nvSpPr>
        <p:spPr>
          <a:xfrm>
            <a:off x="6627928" y="1405562"/>
            <a:ext cx="4432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美国主动权益共同基金资金流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主动权益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资金流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7287FB-495F-0079-5E1F-8D97A9DD1499}"/>
              </a:ext>
            </a:extLst>
          </p:cNvPr>
          <p:cNvSpPr txBox="1"/>
          <p:nvPr/>
        </p:nvSpPr>
        <p:spPr>
          <a:xfrm>
            <a:off x="509511" y="1641499"/>
            <a:ext cx="4597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需求端资金流出。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投资者和渠道越来越偏好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架构：它具备日内交易、透明定价、组合配置便利、相对低费率，以及美国税制下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相较于共同基金的税收效率。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3FC96-9C15-8E47-CB83-86419C3AC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619" y="1682561"/>
            <a:ext cx="5578448" cy="2190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782F2C-5318-BCF5-74E3-E495E071F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619" y="4246389"/>
            <a:ext cx="5357627" cy="22198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916C9A4-C2C4-ABC2-F99C-FF54C274E416}"/>
              </a:ext>
            </a:extLst>
          </p:cNvPr>
          <p:cNvSpPr txBox="1"/>
          <p:nvPr/>
        </p:nvSpPr>
        <p:spPr>
          <a:xfrm>
            <a:off x="509511" y="416294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Ø"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供给端监管提供支持：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dirty="0"/>
              <a:t>监管</a:t>
            </a:r>
            <a:r>
              <a:rPr lang="zh-CN" altLang="en-US" dirty="0"/>
              <a:t>提供了共同基金转换</a:t>
            </a:r>
            <a:r>
              <a:rPr lang="en-US" altLang="zh-CN" dirty="0"/>
              <a:t>ETF </a:t>
            </a:r>
            <a:r>
              <a:rPr lang="zh-CN" altLang="en-US" dirty="0"/>
              <a:t>的方式；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此外，</a:t>
            </a:r>
            <a:r>
              <a:rPr lang="en-US" altLang="zh-CN" dirty="0"/>
              <a:t> ETF </a:t>
            </a:r>
            <a:r>
              <a:rPr lang="zh-CN" altLang="en-US" dirty="0"/>
              <a:t>也可以作为共同基金的特殊份额而存在。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9B760C-81C8-3E70-8400-4CD369FD8DA4}"/>
              </a:ext>
            </a:extLst>
          </p:cNvPr>
          <p:cNvSpPr txBox="1"/>
          <p:nvPr/>
        </p:nvSpPr>
        <p:spPr>
          <a:xfrm>
            <a:off x="5294881" y="3969390"/>
            <a:ext cx="69124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共同基金转换为</a:t>
            </a:r>
            <a:r>
              <a:rPr lang="en-US" altLang="zh-CN" dirty="0"/>
              <a:t>ETF </a:t>
            </a:r>
            <a:r>
              <a:rPr lang="zh-CN" altLang="en-US" dirty="0"/>
              <a:t>的趋势（ 亿美元， 只）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83CF3-9C5F-00F8-1F2B-B19CC30FCC58}"/>
              </a:ext>
            </a:extLst>
          </p:cNvPr>
          <p:cNvSpPr txBox="1"/>
          <p:nvPr/>
        </p:nvSpPr>
        <p:spPr>
          <a:xfrm>
            <a:off x="11060758" y="1428645"/>
            <a:ext cx="8585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2025/12/31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004EAA-7DC7-0927-802F-80630820A5DD}"/>
              </a:ext>
            </a:extLst>
          </p:cNvPr>
          <p:cNvSpPr txBox="1"/>
          <p:nvPr/>
        </p:nvSpPr>
        <p:spPr>
          <a:xfrm>
            <a:off x="11060758" y="3956725"/>
            <a:ext cx="8585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2025/12/31</a:t>
            </a:r>
          </a:p>
        </p:txBody>
      </p:sp>
    </p:spTree>
    <p:extLst>
      <p:ext uri="{BB962C8B-B14F-4D97-AF65-F5344CB8AC3E}">
        <p14:creationId xmlns:p14="http://schemas.microsoft.com/office/powerpoint/2010/main" val="3378211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4EB1-E49E-2F21-1A14-7AF259E2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7787A6B1-E5A2-9F6F-0108-81DB8A2DC708}"/>
              </a:ext>
            </a:extLst>
          </p:cNvPr>
          <p:cNvSpPr txBox="1">
            <a:spLocks/>
          </p:cNvSpPr>
          <p:nvPr/>
        </p:nvSpPr>
        <p:spPr>
          <a:xfrm>
            <a:off x="77218" y="432943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规模前十五大产品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44799-F3F7-C8FD-B1E9-642EB294DFF4}"/>
              </a:ext>
            </a:extLst>
          </p:cNvPr>
          <p:cNvSpPr txBox="1"/>
          <p:nvPr/>
        </p:nvSpPr>
        <p:spPr>
          <a:xfrm>
            <a:off x="6018782" y="968474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（截至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2025/12/31</a:t>
            </a:r>
            <a:r>
              <a:rPr lang="zh-CN" altLang="en-US" sz="105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0CC808-1A81-492E-2ED0-E75F5F6D4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87011"/>
              </p:ext>
            </p:extLst>
          </p:nvPr>
        </p:nvGraphicFramePr>
        <p:xfrm>
          <a:off x="241827" y="1230084"/>
          <a:ext cx="11708343" cy="50780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71490">
                  <a:extLst>
                    <a:ext uri="{9D8B030D-6E8A-4147-A177-3AD203B41FA5}">
                      <a16:colId xmlns:a16="http://schemas.microsoft.com/office/drawing/2014/main" val="2356884915"/>
                    </a:ext>
                  </a:extLst>
                </a:gridCol>
                <a:gridCol w="2642839">
                  <a:extLst>
                    <a:ext uri="{9D8B030D-6E8A-4147-A177-3AD203B41FA5}">
                      <a16:colId xmlns:a16="http://schemas.microsoft.com/office/drawing/2014/main" val="3619968694"/>
                    </a:ext>
                  </a:extLst>
                </a:gridCol>
                <a:gridCol w="747132">
                  <a:extLst>
                    <a:ext uri="{9D8B030D-6E8A-4147-A177-3AD203B41FA5}">
                      <a16:colId xmlns:a16="http://schemas.microsoft.com/office/drawing/2014/main" val="4149746244"/>
                    </a:ext>
                  </a:extLst>
                </a:gridCol>
                <a:gridCol w="792981">
                  <a:extLst>
                    <a:ext uri="{9D8B030D-6E8A-4147-A177-3AD203B41FA5}">
                      <a16:colId xmlns:a16="http://schemas.microsoft.com/office/drawing/2014/main" val="1501714608"/>
                    </a:ext>
                  </a:extLst>
                </a:gridCol>
                <a:gridCol w="868551">
                  <a:extLst>
                    <a:ext uri="{9D8B030D-6E8A-4147-A177-3AD203B41FA5}">
                      <a16:colId xmlns:a16="http://schemas.microsoft.com/office/drawing/2014/main" val="1158803619"/>
                    </a:ext>
                  </a:extLst>
                </a:gridCol>
                <a:gridCol w="724829">
                  <a:extLst>
                    <a:ext uri="{9D8B030D-6E8A-4147-A177-3AD203B41FA5}">
                      <a16:colId xmlns:a16="http://schemas.microsoft.com/office/drawing/2014/main" val="2131485979"/>
                    </a:ext>
                  </a:extLst>
                </a:gridCol>
                <a:gridCol w="1304692">
                  <a:extLst>
                    <a:ext uri="{9D8B030D-6E8A-4147-A177-3AD203B41FA5}">
                      <a16:colId xmlns:a16="http://schemas.microsoft.com/office/drawing/2014/main" val="3163930055"/>
                    </a:ext>
                  </a:extLst>
                </a:gridCol>
                <a:gridCol w="624469">
                  <a:extLst>
                    <a:ext uri="{9D8B030D-6E8A-4147-A177-3AD203B41FA5}">
                      <a16:colId xmlns:a16="http://schemas.microsoft.com/office/drawing/2014/main" val="4065645451"/>
                    </a:ext>
                  </a:extLst>
                </a:gridCol>
                <a:gridCol w="1126273">
                  <a:extLst>
                    <a:ext uri="{9D8B030D-6E8A-4147-A177-3AD203B41FA5}">
                      <a16:colId xmlns:a16="http://schemas.microsoft.com/office/drawing/2014/main" val="3598863792"/>
                    </a:ext>
                  </a:extLst>
                </a:gridCol>
                <a:gridCol w="602166">
                  <a:extLst>
                    <a:ext uri="{9D8B030D-6E8A-4147-A177-3AD203B41FA5}">
                      <a16:colId xmlns:a16="http://schemas.microsoft.com/office/drawing/2014/main" val="1805424718"/>
                    </a:ext>
                  </a:extLst>
                </a:gridCol>
                <a:gridCol w="1902921">
                  <a:extLst>
                    <a:ext uri="{9D8B030D-6E8A-4147-A177-3AD203B41FA5}">
                      <a16:colId xmlns:a16="http://schemas.microsoft.com/office/drawing/2014/main" val="3363974329"/>
                    </a:ext>
                  </a:extLst>
                </a:gridCol>
              </a:tblGrid>
              <a:tr h="551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</a:t>
                      </a: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称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产品类型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规模</a:t>
                      </a:r>
                      <a:endParaRPr lang="en-US" sz="10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亿美元</a:t>
                      </a: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成立日期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转型日期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管理人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TER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（%）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持有标的数量</a:t>
                      </a:r>
                      <a:endParaRPr lang="en-US" sz="1000" b="1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（只）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</a:t>
                      </a:r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量化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产品策略与风格标签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8638394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JEPI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JPMorgan Equity Premium Income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非传统权益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415.82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5/20/2020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 Morgan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124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期权备兑；大盘均衡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45912390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DFAC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 US Core Equity 2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401.12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10/4/2007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6/11/2021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2558</a:t>
                      </a:r>
                      <a:endParaRPr lang="en-US" sz="1000" b="1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1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类指数增强；大盘均衡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72925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JPMorgan Ultra-Short Income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应税债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356.27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5/17/2017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 Morgan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826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多券种混合；短久期中等信用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33277084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JEPQ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JPMorgan Nasdaq Equity Premium Income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非传统权益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326.16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5/3/2022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 Morgan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107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期权备兑；大盘成长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1740149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iShares U.S. Equity Factor Rotation Active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310.42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3/19/2019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BlackRock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127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因子轮动；大盘均衡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99065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CGDV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Capital Group Dividend Value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265.97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2/22/2022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Capital Group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0.33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红利；大盘均衡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137760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JAAA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Janus Henderson AAA CLO ETF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应税债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242.87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10/16/2020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Janus Henderson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484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资产支持证券（CLO</a:t>
                      </a: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11376005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FBND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Fidelity Total Bond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应税债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234.44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10/6/2014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Fidelity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4455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多券种混合；中期中等信用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96054411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AVUV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Avantis U.S. Small Cap Value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200.28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9/24/2019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American Century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0.25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777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1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类指数增强；小盘价值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9938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CGGR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Capital Group Growth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190.53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2/22/2022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Capital Group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0.39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大盘成长</a:t>
                      </a:r>
                      <a:endParaRPr lang="en-US" sz="1000" b="1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718918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DFUS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 US Equity Market ETF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181.56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9/25/2001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6/11/2021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2406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类指数增强；大盘均衡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125367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AVEM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Avantis</a:t>
                      </a: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Emerging Markets Equity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160.42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9/17/2019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American Century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3928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新兴市场；大盘均衡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4785632"/>
                  </a:ext>
                </a:extLst>
              </a:tr>
              <a:tr h="551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DFIV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 International Value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158.04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4/16/1999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9/10/2021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541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发达市场；类指数增强；大盘价值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3946098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AVDV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Avantis</a:t>
                      </a: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International Small Cap Value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152.15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9/24/2019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American Century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1600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中盘价值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6953645"/>
                  </a:ext>
                </a:extLst>
              </a:tr>
              <a:tr h="2756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BINC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iShares Flexible Income Active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应税债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151.5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5/19/2023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BlackRock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4875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多券种混合；短久期中等信用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3131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310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61DDE-FA3E-1D7B-EFD8-46306BF2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22FA6E2A-880D-01FF-0619-3BC66CF7D9B2}"/>
              </a:ext>
            </a:extLst>
          </p:cNvPr>
          <p:cNvSpPr txBox="1">
            <a:spLocks/>
          </p:cNvSpPr>
          <p:nvPr/>
        </p:nvSpPr>
        <p:spPr>
          <a:xfrm>
            <a:off x="175030" y="517658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规模前十五大产品持有人结构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143E88-A0BF-9327-773A-1294634C3542}"/>
              </a:ext>
            </a:extLst>
          </p:cNvPr>
          <p:cNvSpPr txBox="1"/>
          <p:nvPr/>
        </p:nvSpPr>
        <p:spPr>
          <a:xfrm>
            <a:off x="175030" y="1179024"/>
            <a:ext cx="102579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Ø"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从持有人结构的角度来看， 头部主动</a:t>
            </a:r>
            <a:r>
              <a:rPr lang="en-US" altLang="zh-CN" dirty="0"/>
              <a:t>ETF </a:t>
            </a:r>
            <a:r>
              <a:rPr lang="zh-CN" altLang="en-US" dirty="0"/>
              <a:t>产品以投资顾问持有为主， 规模加权后占比高达</a:t>
            </a:r>
            <a:r>
              <a:rPr lang="en-US" altLang="zh-CN" dirty="0"/>
              <a:t>74%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C3BD58-6D2E-DB63-2B86-8CC156F3B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958521"/>
              </p:ext>
            </p:extLst>
          </p:nvPr>
        </p:nvGraphicFramePr>
        <p:xfrm>
          <a:off x="284331" y="1581858"/>
          <a:ext cx="11713039" cy="4789376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36980">
                  <a:extLst>
                    <a:ext uri="{9D8B030D-6E8A-4147-A177-3AD203B41FA5}">
                      <a16:colId xmlns:a16="http://schemas.microsoft.com/office/drawing/2014/main" val="2356884915"/>
                    </a:ext>
                  </a:extLst>
                </a:gridCol>
                <a:gridCol w="3108748">
                  <a:extLst>
                    <a:ext uri="{9D8B030D-6E8A-4147-A177-3AD203B41FA5}">
                      <a16:colId xmlns:a16="http://schemas.microsoft.com/office/drawing/2014/main" val="3619968694"/>
                    </a:ext>
                  </a:extLst>
                </a:gridCol>
                <a:gridCol w="878846">
                  <a:extLst>
                    <a:ext uri="{9D8B030D-6E8A-4147-A177-3AD203B41FA5}">
                      <a16:colId xmlns:a16="http://schemas.microsoft.com/office/drawing/2014/main" val="4149746244"/>
                    </a:ext>
                  </a:extLst>
                </a:gridCol>
                <a:gridCol w="932777">
                  <a:extLst>
                    <a:ext uri="{9D8B030D-6E8A-4147-A177-3AD203B41FA5}">
                      <a16:colId xmlns:a16="http://schemas.microsoft.com/office/drawing/2014/main" val="1501714608"/>
                    </a:ext>
                  </a:extLst>
                </a:gridCol>
                <a:gridCol w="1021670">
                  <a:extLst>
                    <a:ext uri="{9D8B030D-6E8A-4147-A177-3AD203B41FA5}">
                      <a16:colId xmlns:a16="http://schemas.microsoft.com/office/drawing/2014/main" val="1158803619"/>
                    </a:ext>
                  </a:extLst>
                </a:gridCol>
                <a:gridCol w="1120176">
                  <a:extLst>
                    <a:ext uri="{9D8B030D-6E8A-4147-A177-3AD203B41FA5}">
                      <a16:colId xmlns:a16="http://schemas.microsoft.com/office/drawing/2014/main" val="2131485979"/>
                    </a:ext>
                  </a:extLst>
                </a:gridCol>
                <a:gridCol w="1267131">
                  <a:extLst>
                    <a:ext uri="{9D8B030D-6E8A-4147-A177-3AD203B41FA5}">
                      <a16:colId xmlns:a16="http://schemas.microsoft.com/office/drawing/2014/main" val="3163930055"/>
                    </a:ext>
                  </a:extLst>
                </a:gridCol>
                <a:gridCol w="708322">
                  <a:extLst>
                    <a:ext uri="{9D8B030D-6E8A-4147-A177-3AD203B41FA5}">
                      <a16:colId xmlns:a16="http://schemas.microsoft.com/office/drawing/2014/main" val="1805424718"/>
                    </a:ext>
                  </a:extLst>
                </a:gridCol>
                <a:gridCol w="2238389">
                  <a:extLst>
                    <a:ext uri="{9D8B030D-6E8A-4147-A177-3AD203B41FA5}">
                      <a16:colId xmlns:a16="http://schemas.microsoft.com/office/drawing/2014/main" val="3363974329"/>
                    </a:ext>
                  </a:extLst>
                </a:gridCol>
              </a:tblGrid>
              <a:tr h="5096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</a:t>
                      </a: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称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产品类型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个人占比</a:t>
                      </a:r>
                      <a:endParaRPr lang="en-US" sz="10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机构占比</a:t>
                      </a:r>
                      <a:endParaRPr lang="en-US" sz="10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机构</a:t>
                      </a: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- </a:t>
                      </a:r>
                      <a:r>
                        <a:rPr lang="en-US" sz="1000" b="1" i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投资顾问占比</a:t>
                      </a:r>
                      <a:endParaRPr lang="en-US" sz="10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机构</a:t>
                      </a: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- </a:t>
                      </a:r>
                      <a:r>
                        <a:rPr lang="en-US" sz="1000" b="1" i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非投资顾问占比</a:t>
                      </a:r>
                      <a:endParaRPr lang="en-US" sz="10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</a:t>
                      </a:r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量化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产品策略与风格标签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8638394"/>
                  </a:ext>
                </a:extLst>
              </a:tr>
              <a:tr h="3007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JEPI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JPMorgan Equity Premium Income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非传统权益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55.90%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44.10%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30.98%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13.12%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期权备兑；大盘均衡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45912390"/>
                  </a:ext>
                </a:extLst>
              </a:tr>
              <a:tr h="27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DFAC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 US Core Equity 2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17.35%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82.65%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71.66%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10.98%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类指数增强；大盘均衡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472925"/>
                  </a:ext>
                </a:extLst>
              </a:tr>
              <a:tr h="3007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JPMorgan Ultra-Short Income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应税债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29.50%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70.50%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42.94%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多券种混合；短久期中等信用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33277084"/>
                  </a:ext>
                </a:extLst>
              </a:tr>
              <a:tr h="3007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JEPQ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JPMorgan Nasdaq Equity Premium Income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非传统权益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68.46%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31.54%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18.69%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12.85%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期权备兑；大盘成长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1740149"/>
                  </a:ext>
                </a:extLst>
              </a:tr>
              <a:tr h="3007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iShares U.S. Equity Factor Rotation Active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102.86%*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80.55%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22.31%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因子轮动；大盘均衡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99065"/>
                  </a:ext>
                </a:extLst>
              </a:tr>
              <a:tr h="27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CGDV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Capital Group Dividend Value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25.18%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74.82%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54.40%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20.42%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红利；大盘均衡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137760"/>
                  </a:ext>
                </a:extLst>
              </a:tr>
              <a:tr h="27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JAAA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Janus Henderson AAA CLO ETF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应税债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23.04%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76.96%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46.11%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30.85%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资产支持证券（CLO）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11376005"/>
                  </a:ext>
                </a:extLst>
              </a:tr>
              <a:tr h="27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FBND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Fidelity Total Bond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应税债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15.66%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84.34%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72.47%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11.87%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0" i="0" u="none" strike="noStrike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多券种混合；中期中等信用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96054411"/>
                  </a:ext>
                </a:extLst>
              </a:tr>
              <a:tr h="27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AVUV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Avantis</a:t>
                      </a: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U.S. Small Cap Value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27.28%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72.72%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58.88%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13.85%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类指数增强；小盘价值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9938"/>
                  </a:ext>
                </a:extLst>
              </a:tr>
              <a:tr h="27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CGGR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Capital Group Growth ETF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24.08%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75.92%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53.90%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22.02%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大盘成长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718918"/>
                  </a:ext>
                </a:extLst>
              </a:tr>
              <a:tr h="27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DFUS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 US Equity Market ETF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美国权益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16.76%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83.24%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72.30%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10.95%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类指数增强；大盘均衡</a:t>
                      </a:r>
                      <a:endParaRPr lang="en-US" sz="1000" b="1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125367"/>
                  </a:ext>
                </a:extLst>
              </a:tr>
              <a:tr h="3007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AVEM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Avantis</a:t>
                      </a: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Emerging Markets Equity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94.39%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69.17%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25.22%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新兴市场；大盘均衡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4785632"/>
                  </a:ext>
                </a:extLst>
              </a:tr>
              <a:tr h="3007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DFIV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Dimensional International Value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16.47%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83.53%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15.96%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发达市场；类指数增强；大盘价值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3946098"/>
                  </a:ext>
                </a:extLst>
              </a:tr>
              <a:tr h="27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AVDV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Avantis</a:t>
                      </a: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International Small Cap Value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国际权益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82.50%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73.93%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中盘价值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6953645"/>
                  </a:ext>
                </a:extLst>
              </a:tr>
              <a:tr h="3007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BINC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iShares Flexible Income Active ETF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应税债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82.39%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61.03%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多券种混合；短久期中等信用</a:t>
                      </a:r>
                      <a:endParaRPr lang="en-US" sz="1000" b="0" i="0" u="none" strike="noStrike" dirty="0">
                        <a:solidFill>
                          <a:srgbClr val="51505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31312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CA42E9-D610-FBEB-7D62-E5849B5913CF}"/>
              </a:ext>
            </a:extLst>
          </p:cNvPr>
          <p:cNvSpPr txBox="1"/>
          <p:nvPr/>
        </p:nvSpPr>
        <p:spPr>
          <a:xfrm>
            <a:off x="6096000" y="133551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（截至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2025/12/31</a:t>
            </a:r>
            <a:r>
              <a:rPr lang="zh-CN" altLang="en-US" sz="1050" b="0" i="0" u="none" strike="noStrike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0639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4F8F-35B4-6E5F-B012-87D3B96D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5B2F26EC-391B-615B-4833-07A991B3A5A1}"/>
              </a:ext>
            </a:extLst>
          </p:cNvPr>
          <p:cNvSpPr txBox="1">
            <a:spLocks/>
          </p:cNvSpPr>
          <p:nvPr/>
        </p:nvSpPr>
        <p:spPr>
          <a:xfrm>
            <a:off x="723143" y="566361"/>
            <a:ext cx="105156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彭博估计中国主动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ETF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规模约为</a:t>
            </a:r>
            <a:r>
              <a:rPr lang="en-US" altLang="zh-CN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3200" b="1" dirty="0">
                <a:solidFill>
                  <a:srgbClr val="306A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亿美元</a:t>
            </a:r>
            <a:endParaRPr lang="en-US" altLang="zh-CN" sz="3200" b="1" dirty="0">
              <a:solidFill>
                <a:srgbClr val="306A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E4A7D6-15EE-780D-46A9-12EE499C0154}"/>
              </a:ext>
            </a:extLst>
          </p:cNvPr>
          <p:cNvSpPr txBox="1"/>
          <p:nvPr/>
        </p:nvSpPr>
        <p:spPr>
          <a:xfrm>
            <a:off x="562370" y="1254965"/>
            <a:ext cx="5533630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82E09-54EE-943E-591B-5D5B2D311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53" y="1254965"/>
            <a:ext cx="10060579" cy="489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86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 descr="Background pattern&#10;&#10;Description automatically generated">
            <a:extLst>
              <a:ext uri="{FF2B5EF4-FFF2-40B4-BE49-F238E27FC236}">
                <a16:creationId xmlns:a16="http://schemas.microsoft.com/office/drawing/2014/main" id="{62662E42-1AA6-4162-94C3-FD14A2B491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12C74360-E956-4867-A914-BE426D372320}"/>
              </a:ext>
            </a:extLst>
          </p:cNvPr>
          <p:cNvSpPr/>
          <p:nvPr/>
        </p:nvSpPr>
        <p:spPr>
          <a:xfrm>
            <a:off x="0" y="6522721"/>
            <a:ext cx="12192000" cy="335280"/>
          </a:xfrm>
          <a:prstGeom prst="rect">
            <a:avLst/>
          </a:prstGeom>
          <a:solidFill>
            <a:srgbClr val="306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3E684B6-4620-47DA-B961-604047B86065}"/>
              </a:ext>
            </a:extLst>
          </p:cNvPr>
          <p:cNvGrpSpPr/>
          <p:nvPr/>
        </p:nvGrpSpPr>
        <p:grpSpPr>
          <a:xfrm>
            <a:off x="9160590" y="6562572"/>
            <a:ext cx="2550106" cy="255578"/>
            <a:chOff x="9160590" y="6563831"/>
            <a:chExt cx="2550106" cy="255578"/>
          </a:xfrm>
        </p:grpSpPr>
        <p:pic>
          <p:nvPicPr>
            <p:cNvPr id="78" name="Picture 77" descr="Logo&#10;&#10;Description automatically generated">
              <a:extLst>
                <a:ext uri="{FF2B5EF4-FFF2-40B4-BE49-F238E27FC236}">
                  <a16:creationId xmlns:a16="http://schemas.microsoft.com/office/drawing/2014/main" id="{756BDAC2-2B84-49DF-99AD-F929E06F03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699"/>
            <a:stretch/>
          </p:blipFill>
          <p:spPr>
            <a:xfrm>
              <a:off x="11468126" y="6563831"/>
              <a:ext cx="242570" cy="255578"/>
            </a:xfrm>
            <a:prstGeom prst="rect">
              <a:avLst/>
            </a:prstGeom>
          </p:spPr>
        </p:pic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BF8591F5-C85A-43D7-AF42-761DD4BBB643}"/>
                </a:ext>
              </a:extLst>
            </p:cNvPr>
            <p:cNvSpPr/>
            <p:nvPr/>
          </p:nvSpPr>
          <p:spPr>
            <a:xfrm>
              <a:off x="9160590" y="6614676"/>
              <a:ext cx="2265443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n-US" altLang="zh-CN" sz="1000" spc="-30" err="1">
                  <a:solidFill>
                    <a:schemeClr val="bg1"/>
                  </a:solidFill>
                </a:rPr>
                <a:t>CSOPAssetManagementLimited</a:t>
              </a:r>
              <a:endParaRPr lang="zh-CN" altLang="en-US" sz="1000">
                <a:solidFill>
                  <a:schemeClr val="bg1"/>
                </a:solidFill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7D46E6C6-BDE6-4A54-AF2E-14C6AC0B26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91" t="32054" r="4677" b="40437"/>
          <a:stretch/>
        </p:blipFill>
        <p:spPr>
          <a:xfrm>
            <a:off x="0" y="6522721"/>
            <a:ext cx="7837402" cy="335280"/>
          </a:xfrm>
          <a:prstGeom prst="rect">
            <a:avLst/>
          </a:prstGeom>
        </p:spPr>
      </p:pic>
      <p:pic>
        <p:nvPicPr>
          <p:cNvPr id="36" name="Picture 35" descr="Logo&#10;&#10;Description automatically generated">
            <a:extLst>
              <a:ext uri="{FF2B5EF4-FFF2-40B4-BE49-F238E27FC236}">
                <a16:creationId xmlns:a16="http://schemas.microsoft.com/office/drawing/2014/main" id="{35CE8992-D90B-4A0B-8A19-72124257782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761" y="5375827"/>
            <a:ext cx="3351948" cy="82293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C7D48C0-AA79-46F3-BF6F-F82B468F2D98}" type="slidenum">
              <a:rPr lang="en-US" sz="1000" smtClean="0"/>
              <a:pPr/>
              <a:t>16</a:t>
            </a:fld>
            <a:endParaRPr lang="en-US" sz="1000"/>
          </a:p>
        </p:txBody>
      </p:sp>
      <p:sp>
        <p:nvSpPr>
          <p:cNvPr id="10" name="TextBox 9"/>
          <p:cNvSpPr txBox="1"/>
          <p:nvPr/>
        </p:nvSpPr>
        <p:spPr>
          <a:xfrm>
            <a:off x="4524703" y="2491919"/>
            <a:ext cx="3142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32432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SOP Color">
      <a:dk1>
        <a:srgbClr val="515052"/>
      </a:dk1>
      <a:lt1>
        <a:sysClr val="window" lastClr="FFFFFF"/>
      </a:lt1>
      <a:dk2>
        <a:srgbClr val="2660AD"/>
      </a:dk2>
      <a:lt2>
        <a:srgbClr val="DAC77D"/>
      </a:lt2>
      <a:accent1>
        <a:srgbClr val="2660AD"/>
      </a:accent1>
      <a:accent2>
        <a:srgbClr val="629DD1"/>
      </a:accent2>
      <a:accent3>
        <a:srgbClr val="5AA2AE"/>
      </a:accent3>
      <a:accent4>
        <a:srgbClr val="7F8FA9"/>
      </a:accent4>
      <a:accent5>
        <a:srgbClr val="FF9999"/>
      </a:accent5>
      <a:accent6>
        <a:srgbClr val="2ACCEC"/>
      </a:accent6>
      <a:hlink>
        <a:srgbClr val="3477B2"/>
      </a:hlink>
      <a:folHlink>
        <a:srgbClr val="996600"/>
      </a:folHlink>
    </a:clrScheme>
    <a:fontScheme name="Custom 70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CSOP Color">
      <a:dk1>
        <a:srgbClr val="515052"/>
      </a:dk1>
      <a:lt1>
        <a:sysClr val="window" lastClr="FFFFFF"/>
      </a:lt1>
      <a:dk2>
        <a:srgbClr val="2660AD"/>
      </a:dk2>
      <a:lt2>
        <a:srgbClr val="DAC77D"/>
      </a:lt2>
      <a:accent1>
        <a:srgbClr val="2660AD"/>
      </a:accent1>
      <a:accent2>
        <a:srgbClr val="629DD1"/>
      </a:accent2>
      <a:accent3>
        <a:srgbClr val="5AA2AE"/>
      </a:accent3>
      <a:accent4>
        <a:srgbClr val="7F8FA9"/>
      </a:accent4>
      <a:accent5>
        <a:srgbClr val="FF9999"/>
      </a:accent5>
      <a:accent6>
        <a:srgbClr val="2ACCEC"/>
      </a:accent6>
      <a:hlink>
        <a:srgbClr val="3477B2"/>
      </a:hlink>
      <a:folHlink>
        <a:srgbClr val="996600"/>
      </a:folHlink>
    </a:clrScheme>
    <a:fontScheme name="Custom 70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30933</TotalTime>
  <Words>1731</Words>
  <Application>Microsoft Office PowerPoint</Application>
  <PresentationFormat>Widescreen</PresentationFormat>
  <Paragraphs>465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1_Office Theme</vt:lpstr>
      <vt:lpstr>2_Office Theme</vt:lpstr>
      <vt:lpstr> WeeklyETFFundFlowsUpdates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Bo Zhang</dc:creator>
  <cp:lastModifiedBy>Leanna Liang</cp:lastModifiedBy>
  <cp:revision>15</cp:revision>
  <cp:lastPrinted>2023-06-15T09:50:29Z</cp:lastPrinted>
  <dcterms:created xsi:type="dcterms:W3CDTF">2023-05-30T03:17:22Z</dcterms:created>
  <dcterms:modified xsi:type="dcterms:W3CDTF">2026-07-17T09:01:47Z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487ca1-3ae9-46d9-9f4f-bccbf4ee90d6_Enabled">
    <vt:lpwstr>true</vt:lpwstr>
  </property>
  <property fmtid="{D5CDD505-2E9C-101B-9397-08002B2CF9AE}" pid="3" name="MSIP_Label_ce487ca1-3ae9-46d9-9f4f-bccbf4ee90d6_SetDate">
    <vt:lpwstr>2023-05-30T07:15:48Z</vt:lpwstr>
  </property>
  <property fmtid="{D5CDD505-2E9C-101B-9397-08002B2CF9AE}" pid="4" name="MSIP_Label_ce487ca1-3ae9-46d9-9f4f-bccbf4ee90d6_Method">
    <vt:lpwstr>Standard</vt:lpwstr>
  </property>
  <property fmtid="{D5CDD505-2E9C-101B-9397-08002B2CF9AE}" pid="5" name="MSIP_Label_ce487ca1-3ae9-46d9-9f4f-bccbf4ee90d6_Name">
    <vt:lpwstr>defa4170-0d19-0005-0004-bc88714345d2</vt:lpwstr>
  </property>
  <property fmtid="{D5CDD505-2E9C-101B-9397-08002B2CF9AE}" pid="6" name="MSIP_Label_ce487ca1-3ae9-46d9-9f4f-bccbf4ee90d6_SiteId">
    <vt:lpwstr>912c1411-7216-4f78-a1e1-a38aea5c33fd</vt:lpwstr>
  </property>
  <property fmtid="{D5CDD505-2E9C-101B-9397-08002B2CF9AE}" pid="7" name="MSIP_Label_ce487ca1-3ae9-46d9-9f4f-bccbf4ee90d6_ActionId">
    <vt:lpwstr>7b8c8af6-09bd-48a1-abae-998fe6348e7d</vt:lpwstr>
  </property>
  <property fmtid="{D5CDD505-2E9C-101B-9397-08002B2CF9AE}" pid="8" name="MSIP_Label_ce487ca1-3ae9-46d9-9f4f-bccbf4ee90d6_ContentBits">
    <vt:lpwstr>0</vt:lpwstr>
  </property>
</Properties>
</file>