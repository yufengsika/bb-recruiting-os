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7faa5db7fc471c" /><Relationship Type="http://schemas.openxmlformats.org/officeDocument/2006/relationships/extended-properties" Target="/docProps/app.xml" Id="R62325e8519804e6b" /><Relationship Type="http://schemas.openxmlformats.org/officeDocument/2006/relationships/officeDocument" Target="/ppt/presentation.xml" Id="Rca5beb704c22427e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e65c8650f99149b3"/>
  </p:sldMasterIdLst>
  <p:notesMasterIdLst>
    <p:notesMasterId xmlns:r="http://schemas.openxmlformats.org/officeDocument/2006/relationships" r:id="Rdec5ca08bb16438d"/>
  </p:notesMasterIdLst>
  <p:sldIdLst>
    <p:sldId xmlns:r="http://schemas.openxmlformats.org/officeDocument/2006/relationships" id="256" r:id="R7a406c08f9e448ac"/>
    <p:sldId xmlns:r="http://schemas.openxmlformats.org/officeDocument/2006/relationships" id="257" r:id="R1978122f15dd473b"/>
    <p:sldId xmlns:r="http://schemas.openxmlformats.org/officeDocument/2006/relationships" id="258" r:id="R90c285c453884213"/>
    <p:sldId xmlns:r="http://schemas.openxmlformats.org/officeDocument/2006/relationships" id="259" r:id="R439862d36a0b4e2d"/>
    <p:sldId xmlns:r="http://schemas.openxmlformats.org/officeDocument/2006/relationships" id="260" r:id="Rc7a8e9a913d94053"/>
    <p:sldId xmlns:r="http://schemas.openxmlformats.org/officeDocument/2006/relationships" id="261" r:id="R6b4eb06181354025"/>
  </p:sldIdLst>
  <p:sldSz cx="16256000" cy="9144000"/>
  <p:notesSz cx="6858000" cy="9144000"/>
  <p:embeddedFontLst>
    <p:embeddedFont>
      <p:font typeface="楷体"/>
      <p:regular xmlns:r="http://schemas.openxmlformats.org/officeDocument/2006/relationships" r:id="R0da229105d0440d7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2ccab029c54126" /><Relationship Type="http://schemas.openxmlformats.org/officeDocument/2006/relationships/slideMaster" Target="/ppt/slideMasters/slideMaster1.xml" Id="Re65c8650f99149b3" /><Relationship Type="http://schemas.openxmlformats.org/officeDocument/2006/relationships/notesMaster" Target="/ppt/notesMasters/notesMaster1.xml" Id="Rdec5ca08bb16438d" /><Relationship Type="http://schemas.openxmlformats.org/officeDocument/2006/relationships/presProps" Target="/ppt/presProps.xml" Id="Re7bd61c2ac894c07" /><Relationship Type="http://schemas.openxmlformats.org/officeDocument/2006/relationships/tableStyles" Target="/ppt/tableStyles.xml" Id="R5dfb8463a4454b7f" /><Relationship Type="http://schemas.openxmlformats.org/officeDocument/2006/relationships/font" Target="/ppt/fonts/font.dat" Id="R0da229105d0440d7" /><Relationship Type="http://schemas.openxmlformats.org/officeDocument/2006/relationships/slide" Target="/ppt/slides/slide1.xml" Id="R7a406c08f9e448ac" /><Relationship Type="http://schemas.openxmlformats.org/officeDocument/2006/relationships/slide" Target="/ppt/slides/slide2.xml" Id="R1978122f15dd473b" /><Relationship Type="http://schemas.openxmlformats.org/officeDocument/2006/relationships/slide" Target="/ppt/slides/slide3.xml" Id="R90c285c453884213" /><Relationship Type="http://schemas.openxmlformats.org/officeDocument/2006/relationships/slide" Target="/ppt/slides/slide4.xml" Id="R439862d36a0b4e2d" /><Relationship Type="http://schemas.openxmlformats.org/officeDocument/2006/relationships/slide" Target="/ppt/slides/slide5.xml" Id="Rc7a8e9a913d94053" /><Relationship Type="http://schemas.openxmlformats.org/officeDocument/2006/relationships/slide" Target="/ppt/slides/slide6.xml" Id="R6b4eb061813540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ccfa23dcf441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7a4ad8fad548dd" /><Relationship Type="http://schemas.openxmlformats.org/officeDocument/2006/relationships/notesMaster" Target="/ppt/notesMasters/notesMaster1.xml" Id="R7d75e3e055844f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6e3cc653e04903" /><Relationship Type="http://schemas.openxmlformats.org/officeDocument/2006/relationships/notesMaster" Target="/ppt/notesMasters/notesMaster1.xml" Id="R80b5022701ba4b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1b818f004640ef" /><Relationship Type="http://schemas.openxmlformats.org/officeDocument/2006/relationships/notesMaster" Target="/ppt/notesMasters/notesMaster1.xml" Id="R4df74ab9f0a648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27de99267b4aad" /><Relationship Type="http://schemas.openxmlformats.org/officeDocument/2006/relationships/notesMaster" Target="/ppt/notesMasters/notesMaster1.xml" Id="Re4448317276044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07438249a74f9c" /><Relationship Type="http://schemas.openxmlformats.org/officeDocument/2006/relationships/notesMaster" Target="/ppt/notesMasters/notesMaster1.xml" Id="R212c4deb18a945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0991d51d6143f7" /><Relationship Type="http://schemas.openxmlformats.org/officeDocument/2006/relationships/notesMaster" Target="/ppt/notesMasters/notesMaster1.xml" Id="Rde9543ec556d4b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bb34e7bd904d2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5205ac5006405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B041C07-56AB-4AD6-ACD0-02FB4A050E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117600" y="1050455"/>
            <a:ext cx="14020800" cy="64017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733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9E7E9B8-6786-4BEB-A198-1D1F7DEACD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99C9FA-DB1B-4D79-888D-9C4514B6390D}" type="datetime1">
              <a:t>6/30/2026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1F6CEEB-EEF8-44AB-B973-876828F9B9B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56681908-E9E9-4463-A9E8-4C0221D55D0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2395873" y="8743433"/>
            <a:ext cx="365760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r">
              <a:buNone/>
              <a:defRPr>
                <a:solidFill>
                  <a:schemeClr val="bg1"/>
                </a:solidFill>
              </a:defRPr>
            </a:lvl1pPr>
          </a:lstStyle>
          <a:p xmlns:a="http://schemas.openxmlformats.org/drawingml/2006/main">
            <a:fld id="{CC7D48C0-AA79-46F3-BF6F-F82B468F2D98}" type="slidenum">
              <a:rPr sz="1333"/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fd7b6150094a69" /><Relationship Type="http://schemas.openxmlformats.org/officeDocument/2006/relationships/slideLayout" Target="/ppt/slideLayouts/slideLayout1.xml" Id="Rf0ed48f23ec34902" /><Relationship Type="http://schemas.openxmlformats.org/officeDocument/2006/relationships/slideLayout" Target="/ppt/slideLayouts/slideLayout2.xml" Id="R550ae1bc55b7467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ed48f23ec34902"/>
    <p:sldLayoutId xmlns:r="http://schemas.openxmlformats.org/officeDocument/2006/relationships" id="2147483650" r:id="R550ae1bc55b74679"/>
  </p:sldLayoutIdLst>
  <p:hf sldNum="0" hdr="0" ftr="0" dt="0"/>
  <p:txStyles>
    <p:titleStyle>
      <a:lvl1pPr xmlns:a="http://schemas.openxmlformats.org/drawingml/2006/main" algn="ctr"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4b627c6c04035" /><Relationship Type="http://schemas.openxmlformats.org/officeDocument/2006/relationships/image" Target="/ppt/media/image.png" Id="R8d497d17d83744e8" /><Relationship Type="http://schemas.openxmlformats.org/officeDocument/2006/relationships/image" Target="/ppt/media/image2.png" Id="R62751bee01e24387" /><Relationship Type="http://schemas.openxmlformats.org/officeDocument/2006/relationships/notesSlide" Target="/ppt/notesSlides/notesSlide1.xml" Id="R58f8c17418ac45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c6b53110c49d2" /><Relationship Type="http://schemas.openxmlformats.org/officeDocument/2006/relationships/image" Target="/ppt/media/image3.png" Id="R861696f30d7c4277" /><Relationship Type="http://schemas.openxmlformats.org/officeDocument/2006/relationships/image" Target="/ppt/media/image4.png" Id="R4243199de2684dd0" /><Relationship Type="http://schemas.openxmlformats.org/officeDocument/2006/relationships/image" Target="/ppt/media/image.jpeg" Id="R58ff71b98e0c47f9" /><Relationship Type="http://schemas.openxmlformats.org/officeDocument/2006/relationships/image" Target="/ppt/media/image.svg" Id="Rf859895de89e449f" /><Relationship Type="http://schemas.openxmlformats.org/officeDocument/2006/relationships/notesSlide" Target="/ppt/notesSlides/notesSlide2.xml" Id="R67eb730d75de48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41b3a3001444d" /><Relationship Type="http://schemas.openxmlformats.org/officeDocument/2006/relationships/image" Target="/ppt/media/image3.png" Id="R71be06fd10114dd8" /><Relationship Type="http://schemas.openxmlformats.org/officeDocument/2006/relationships/image" Target="/ppt/media/image4.png" Id="Rfaa9fa7a23d44c16" /><Relationship Type="http://schemas.openxmlformats.org/officeDocument/2006/relationships/image" Target="/ppt/media/image.jpeg" Id="R690f64ea10364cad" /><Relationship Type="http://schemas.openxmlformats.org/officeDocument/2006/relationships/image" Target="/ppt/media/image.svg" Id="R207b0d7799864e35" /><Relationship Type="http://schemas.openxmlformats.org/officeDocument/2006/relationships/notesSlide" Target="/ppt/notesSlides/notesSlide3.xml" Id="R284c5932773149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35ea6d3fb4696" /><Relationship Type="http://schemas.openxmlformats.org/officeDocument/2006/relationships/image" Target="/ppt/media/image3.png" Id="R2e02db7d51184cb4" /><Relationship Type="http://schemas.openxmlformats.org/officeDocument/2006/relationships/image" Target="/ppt/media/image4.png" Id="Rb3e3054df5f74d56" /><Relationship Type="http://schemas.openxmlformats.org/officeDocument/2006/relationships/image" Target="/ppt/media/image.jpeg" Id="Rfbee988991a44a01" /><Relationship Type="http://schemas.openxmlformats.org/officeDocument/2006/relationships/image" Target="/ppt/media/image.svg" Id="R92570b3cf2124368" /><Relationship Type="http://schemas.openxmlformats.org/officeDocument/2006/relationships/notesSlide" Target="/ppt/notesSlides/notesSlide4.xml" Id="R93f69e22a52046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c0ac11e6c84e67" /><Relationship Type="http://schemas.openxmlformats.org/officeDocument/2006/relationships/image" Target="/ppt/media/image3.png" Id="Rc47aa778f93c4739" /><Relationship Type="http://schemas.openxmlformats.org/officeDocument/2006/relationships/image" Target="/ppt/media/image4.png" Id="Rd3ceb0ff0b304344" /><Relationship Type="http://schemas.openxmlformats.org/officeDocument/2006/relationships/image" Target="/ppt/media/image.jpeg" Id="R8119b20eff3140f5" /><Relationship Type="http://schemas.openxmlformats.org/officeDocument/2006/relationships/image" Target="/ppt/media/image.svg" Id="Ra267b025c99e4fc8" /><Relationship Type="http://schemas.openxmlformats.org/officeDocument/2006/relationships/notesSlide" Target="/ppt/notesSlides/notesSlide5.xml" Id="R25921d1c85ad4c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acfee8bc2245fa" /><Relationship Type="http://schemas.openxmlformats.org/officeDocument/2006/relationships/image" Target="/ppt/media/image3.png" Id="R8e5a89dfe0564323" /><Relationship Type="http://schemas.openxmlformats.org/officeDocument/2006/relationships/image" Target="/ppt/media/image4.png" Id="Rf0165ee8565d461b" /><Relationship Type="http://schemas.openxmlformats.org/officeDocument/2006/relationships/image" Target="/ppt/media/image.jpeg" Id="Re6c1fccd7ac54061" /><Relationship Type="http://schemas.openxmlformats.org/officeDocument/2006/relationships/image" Target="/ppt/media/image.svg" Id="R5bd6d2e03f254e73" /><Relationship Type="http://schemas.openxmlformats.org/officeDocument/2006/relationships/notesSlide" Target="/ppt/notesSlides/notesSlide6.xml" Id="Re7146950fa954407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d497d17d83744e8">
            <a:alphaModFix/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18722D5-2042-4B06-B3A1-6AA02239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256000" cy="9144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F2F6FC"/>
              </a:gs>
              <a:gs pos="39000">
                <a:srgbClr val="F2F6FC"/>
              </a:gs>
              <a:gs pos="100000">
                <a:srgbClr val="FFFFFF">
                  <a:alpha val="15000"/>
                </a:srgbClr>
              </a:gs>
            </a:gsLst>
            <a:lin ang="0" scaled="1"/>
          </a:gra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751bee01e243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104900"/>
            <a:ext cx="4470400" cy="1092200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8F170E5-21DB-4307-B7E0-00527323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8890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4800" b="1">
                <a:solidFill>
                  <a:srgbClr val="2660AD"/>
                </a:solidFill>
              </a:defRPr>
            </a:pPr>
            <a:r>
              <a:rPr sz="4800" b="1">
                <a:solidFill>
                  <a:srgbClr val="2660AD"/>
                </a:solidFill>
                <a:latin typeface="楷体"/>
                <a:ea typeface="楷体"/>
                <a:cs typeface="楷体"/>
              </a:rPr>
              <a:t>A股交易新规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4800" b="1">
                <a:solidFill>
                  <a:srgbClr val="2660AD"/>
                </a:solidFill>
              </a:defRPr>
            </a:pPr>
            <a:r>
              <a:rPr sz="4800" b="1">
                <a:solidFill>
                  <a:srgbClr val="2660AD"/>
                </a:solidFill>
                <a:latin typeface="楷体"/>
                <a:ea typeface="楷体"/>
                <a:cs typeface="楷体"/>
              </a:rPr>
              <a:t>市场更新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t/>
            </a:r>
          </a:p>
          <a:p xmlns:a="http://schemas.openxmlformats.org/drawingml/2006/main">
            <a:pPr algn="l">
              <a:lnSpc>
                <a:spcPct val="120000"/>
              </a:lnSpc>
              <a:buNone/>
            </a:pPr>
            <a:r>
              <a:t/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1E36795-C95F-42B7-A1C7-BDEC82AC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5524500"/>
            <a:ext cx="7620000" cy="889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2325" b="0">
                <a:solidFill>
                  <a:srgbClr val="3C3B3D"/>
                </a:solidFill>
              </a:defRPr>
            </a:pPr>
            <a:r>
              <a:rPr sz="2325" b="0">
                <a:solidFill>
                  <a:srgbClr val="3C3B3D"/>
                </a:solidFill>
                <a:latin typeface="楷体"/>
                <a:ea typeface="楷体"/>
                <a:cs typeface="楷体"/>
              </a:rPr>
              <a:t>Capital Markets 内部分享 | 2026.07.06</a:t>
            </a:r>
          </a:p>
        </p:txBody>
      </p:sp>
    </p:spTree>
    <p:extLst>
      <p:ext uri="{BB962C8B-B14F-4D97-AF65-F5344CB8AC3E}">
        <p14:creationId xmlns:p14="http://schemas.microsoft.com/office/powerpoint/2010/main" val="211291530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61696f30d7c4277">
            <a:alphaModFix/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EC0BBB60-8232-4569-9BDA-FB877BA0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55600"/>
            <a:ext cx="15240000" cy="63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375" b="1">
                <a:solidFill>
                  <a:srgbClr val="306AB2"/>
                </a:solidFill>
              </a:defRPr>
            </a:pPr>
            <a:r>
              <a:rPr sz="3375" b="1">
                <a:solidFill>
                  <a:srgbClr val="306AB2"/>
                </a:solidFill>
                <a:latin typeface="楷体"/>
                <a:ea typeface="楷体"/>
                <a:cs typeface="楷体"/>
              </a:rPr>
              <a:t>7月6日交易新规：先看市场结构影响</a:t>
            </a:r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FE3ECEB7-4772-44A6-9B0C-8A7FE56B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82700"/>
            <a:ext cx="4953000" cy="292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C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776BAD9-CAC0-4438-B6A4-51DC55AA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384300"/>
            <a:ext cx="1524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306AB2"/>
                </a:solidFill>
              </a:defRPr>
            </a:pPr>
            <a:r>
              <a:rPr sz="1125" b="0">
                <a:solidFill>
                  <a:srgbClr val="306AB2"/>
                </a:solidFill>
                <a:latin typeface="楷体"/>
                <a:ea typeface="楷体"/>
                <a:cs typeface="楷体"/>
              </a:rPr>
              <a:t>WHAT CHANGED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E53AD75C-9539-4B6B-8886-FEAF9C73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701800"/>
            <a:ext cx="45720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306AB2"/>
                </a:solidFill>
              </a:defRPr>
            </a:pPr>
            <a:r>
              <a:rPr sz="1800" b="1">
                <a:solidFill>
                  <a:srgbClr val="306AB2"/>
                </a:solidFill>
                <a:latin typeface="楷体"/>
                <a:ea typeface="楷体"/>
                <a:cs typeface="楷体"/>
              </a:rPr>
              <a:t>规则变化不只是时间表</a:t>
            </a:r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30517CA-94B2-43C6-9BA1-3B199F1D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133600"/>
            <a:ext cx="4572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主板A股、ETF新增盘后固定价格交易</a:t>
            </a:r>
          </a:p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沪市基金收盘机制与股票对齐</a:t>
            </a:r>
          </a:p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创业板引入做市商与确认时段调整</a:t>
            </a:r>
          </a:p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北交所强化严重异常波动监管</a:t>
            </a:r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BB917507-2741-417D-A097-885B96B2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458335"/>
            <a:ext cx="4953000" cy="292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EDE8E2E-21DA-4D07-ABFA-42AA29F0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4559935"/>
            <a:ext cx="1778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306AB2"/>
                </a:solidFill>
              </a:defRPr>
            </a:pPr>
            <a:r>
              <a:rPr sz="1125" b="0">
                <a:solidFill>
                  <a:srgbClr val="306AB2"/>
                </a:solidFill>
                <a:latin typeface="楷体"/>
                <a:ea typeface="楷体"/>
                <a:cs typeface="楷体"/>
              </a:rPr>
              <a:t>READ-THROUGH</a:t>
            </a: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DA5AEAB3-F30C-4609-A95C-474340F7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4877435"/>
            <a:ext cx="45720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306AB2"/>
                </a:solidFill>
              </a:defRPr>
            </a:pPr>
            <a:r>
              <a:rPr sz="1800" b="1">
                <a:solidFill>
                  <a:srgbClr val="306AB2"/>
                </a:solidFill>
                <a:latin typeface="楷体"/>
                <a:ea typeface="楷体"/>
                <a:cs typeface="楷体"/>
              </a:rPr>
              <a:t>给sales的核心语境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786DC5B1-C125-49D6-9156-E3A8D436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5309235"/>
            <a:ext cx="4572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关注收盘价形成和盘后流动性</a:t>
            </a:r>
          </a:p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区分交易机制变化与投资观点</a:t>
            </a:r>
          </a:p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用信息解释市场结构，不输出交易指令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6882B7AB-8E40-4685-8DF0-251DE990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0" y="1308100"/>
            <a:ext cx="10096500" cy="65690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C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D9754B50-3E9F-432F-8D84-7710847F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7654" y="1397000"/>
            <a:ext cx="2588846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306AB2"/>
                </a:solidFill>
              </a:defRPr>
            </a:pPr>
            <a:r>
              <a:rPr sz="1125" b="0">
                <a:solidFill>
                  <a:srgbClr val="306AB2"/>
                </a:solidFill>
                <a:latin typeface="楷体"/>
                <a:ea typeface="楷体"/>
                <a:cs typeface="楷体"/>
              </a:rPr>
              <a:t>ONE-PAGE SUMMARY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3CFA7851-7A5F-41CD-8016-5D6F721B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7654" y="1727200"/>
            <a:ext cx="9319846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306AB2"/>
                </a:solidFill>
              </a:defRPr>
            </a:pPr>
            <a:r>
              <a:rPr sz="1800" b="1">
                <a:solidFill>
                  <a:srgbClr val="306AB2"/>
                </a:solidFill>
                <a:latin typeface="楷体"/>
                <a:ea typeface="楷体"/>
                <a:cs typeface="楷体"/>
              </a:rPr>
              <a:t>核心变化速览</a:t>
            </a:r>
          </a:p>
        </p:txBody>
      </p:sp>
      <p:sp>
        <p:nvSpPr>
          <p:cNvPr id="8" name="Text 7">
            <a:extLst xmlns:a="http://schemas.openxmlformats.org/drawingml/2006/main">
              <a:ext uri="{FF2B5EF4-FFF2-40B4-BE49-F238E27FC236}">
                <a16:creationId xmlns:a16="http://schemas.microsoft.com/office/drawing/2014/main" id="{19CCFB58-3990-C06A-8BE4-AF61422F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46" y="8328486"/>
            <a:ext cx="3906473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Source: 微信文章《7月6日交易新规丨主板、基金、创业板、北交所新规要点速览》；交易所最新公告为准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9339B91-22C0-310C-5A4D-EE10D161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96961"/>
            <a:ext cx="16256000" cy="447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B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0" name="Picture 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243199de2684dd0"/>
          <a:srcRect xmlns:a="http://schemas.openxmlformats.org/drawingml/2006/main" l="0" t="0" r="76699" b="0"/>
          <a:stretch xmlns:a="http://schemas.openxmlformats.org/drawingml/2006/main"/>
        </p:blipFill>
        <p:spPr>
          <a:xfrm xmlns:a="http://schemas.openxmlformats.org/drawingml/2006/main" rot="0" flipH="0" flipV="0">
            <a:off x="15290835" y="8750105"/>
            <a:ext cx="323426" cy="340771"/>
          </a:xfrm>
          <a:prstGeom xmlns:a="http://schemas.openxmlformats.org/drawingml/2006/main" prst="rect">
            <a:avLst/>
          </a:prstGeom>
        </p:spPr>
      </p:pic>
      <p:sp>
        <p:nvSpPr>
          <p:cNvPr id="24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E09B318-014E-1447-5633-0ABDA978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4120" y="8817898"/>
            <a:ext cx="3020590" cy="2051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333" spc="-40">
                <a:solidFill>
                  <a:schemeClr val="bg1"/>
                </a:solidFill>
              </a:rPr>
              <a:t>CSOPAssetManagementLimited</a:t>
            </a:r>
          </a:p>
        </p:txBody>
      </p:sp>
      <p:pic>
        <p:nvPicPr>
          <p:cNvPr id="62" name="Graphic 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8ff71b98e0c47f9">
            <a:extLst>
              <a:ext uri="{96DAC541-7B7A-43D3-8B79-37D633B846F1}">
                <asvg:svgBlip xmlns:asvg="http://schemas.microsoft.com/office/drawing/2016/SVG/main" r:embed="Rf859895de89e449f"/>
              </a:ext>
            </a:extLst>
          </a:blip>
          <a:srcRect xmlns:a="http://schemas.openxmlformats.org/drawingml/2006/main" l="8591" t="32054" r="4677" b="40437"/>
          <a:stretch xmlns:a="http://schemas.openxmlformats.org/drawingml/2006/main"/>
        </p:blipFill>
        <p:spPr>
          <a:xfrm xmlns:a="http://schemas.openxmlformats.org/drawingml/2006/main">
            <a:off x="0" y="8696961"/>
            <a:ext cx="10449869" cy="447040"/>
          </a:xfrm>
          <a:prstGeom xmlns:a="http://schemas.openxmlformats.org/drawingml/2006/main" prst="rect">
            <a:avLst/>
          </a:prstGeom>
        </p:spPr>
      </p:pic>
      <p:sp>
        <p:nvSpPr>
          <p:cNvPr id="27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62E4BE10-F1F1-063A-B73C-D33C43FB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5873" y="8743433"/>
            <a:ext cx="365760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FFFFFF"/>
                </a:solidFill>
              </a:defRPr>
            </a:pPr>
            <a:fld id="{E2598689-54C9-18A7-3A19-ED76AA08988F}" type="slidenum">
              <a:rPr sz="1200" b="0">
                <a:solidFill>
                  <a:srgbClr val="FFFFFF"/>
                </a:solidFill>
              </a:rPr>
              <a:t>2</a:t>
            </a:fld>
          </a:p>
        </p:txBody>
      </p:sp>
      <p:graphicFrame>
        <p:nvGraphicFramePr>
          <p:cNvPr id="64" name=""/>
          <p:cNvGraphicFramePr/>
          <p:nvPr/>
        </p:nvGraphicFramePr>
        <p:xfrm>
          <a:off xmlns:a="http://schemas.openxmlformats.org/drawingml/2006/main" x="6048375" y="2381250"/>
          <a:ext xmlns:a="http://schemas.openxmlformats.org/drawingml/2006/main" cx="9382125" cy="4095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952625"/>
                <a:gridCol w="3333750"/>
                <a:gridCol w="4095750"/>
              </a:tblGrid>
              <a:tr h="6826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市场范围</a:t>
                      </a:r>
                    </a:p>
                  </a:txBody>
                  <a:tcPr marL="91440" marR="91440" marT="45720" marB="45720" anchor="ctr">
                    <a:solidFill>
                      <a:srgbClr val="306A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主要变化</a:t>
                      </a:r>
                    </a:p>
                  </a:txBody>
                  <a:tcPr marL="91440" marR="91440" marT="45720" marB="45720" anchor="ctr">
                    <a:solidFill>
                      <a:srgbClr val="306A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市场信息角度</a:t>
                      </a:r>
                    </a:p>
                  </a:txBody>
                  <a:tcPr marL="91440" marR="91440" marT="45720" marB="45720" anchor="ctr">
                    <a:solidFill>
                      <a:srgbClr val="306AB2"/>
                    </a:solidFill>
                  </a:tcPr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F2933"/>
                          </a:solidFill>
                        </a:rPr>
                        <a:t>主板A股 / ETF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F2933"/>
                          </a:solidFill>
                        </a:rPr>
                        <a:t>15:05-15:30盘后固定价格交易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F2933"/>
                          </a:solidFill>
                        </a:rPr>
                        <a:t>收盘价成为盘后流动性的锚</a:t>
                      </a:r>
                    </a:p>
                  </a:txBody>
                  <a:tcPr marL="66675" marR="66675" marT="38100" marB="38100" anchor="ctr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F2933"/>
                          </a:solidFill>
                        </a:rPr>
                        <a:t>主板ST/*ST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F2933"/>
                          </a:solidFill>
                        </a:rPr>
                        <a:t>涨跌幅限制由5%调整为10%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F2933"/>
                          </a:solidFill>
                        </a:rPr>
                        <a:t>单日价格区间扩大，波动读数需重估</a:t>
                      </a:r>
                    </a:p>
                  </a:txBody>
                  <a:tcPr marL="66675" marR="66675" marT="38100" marB="38100" anchor="ctr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F2933"/>
                          </a:solidFill>
                        </a:rPr>
                        <a:t>沪市基金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F2933"/>
                          </a:solidFill>
                        </a:rPr>
                        <a:t>14:57-15:00收盘集合竞价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F2933"/>
                          </a:solidFill>
                        </a:rPr>
                        <a:t>基金收盘价形成更接近股票机制</a:t>
                      </a:r>
                    </a:p>
                  </a:txBody>
                  <a:tcPr marL="66675" marR="66675" marT="38100" marB="38100" anchor="ctr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F2933"/>
                          </a:solidFill>
                        </a:rPr>
                        <a:t>创业板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F2933"/>
                          </a:solidFill>
                        </a:rPr>
                        <a:t>引入做市商，延长协议大宗确认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F2933"/>
                          </a:solidFill>
                        </a:rPr>
                        <a:t>报价深度和大宗流动性窗口值得观察</a:t>
                      </a:r>
                    </a:p>
                  </a:txBody>
                  <a:tcPr marL="66675" marR="66675" marT="38100" marB="38100" anchor="ctr"/>
                </a:tc>
              </a:tr>
              <a:tr h="682625"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F2933"/>
                          </a:solidFill>
                        </a:rPr>
                        <a:t>北交所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F2933"/>
                          </a:solidFill>
                        </a:rPr>
                        <a:t>增加严重异常波动监管安排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13">
                          <a:solidFill>
                            <a:srgbClr val="1F2933"/>
                          </a:solidFill>
                        </a:rPr>
                        <a:t>监管信号在小盘波动中的权重上升</a:t>
                      </a:r>
                    </a:p>
                  </a:txBody>
                  <a:tcPr marL="66675" marR="66675" marT="38100" marB="38100" anchor="ctr"/>
                </a:tc>
              </a:tr>
            </a:tbl>
          </a:graphicData>
        </a:graphic>
      </p:graphicFrame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C89B5D-344E-4EDC-B699-8D764B18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6715125"/>
            <a:ext cx="93821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D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084F09-8757-470B-8610-A49E855BC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6848475"/>
            <a:ext cx="9039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06AB2"/>
                </a:solidFill>
              </a:defRPr>
            </a:pPr>
            <a:r>
              <a:rPr sz="1350" b="1">
                <a:solidFill>
                  <a:srgbClr val="306AB2"/>
                </a:solidFill>
              </a:rPr>
              <a:t>一句话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1DEA4DF-AB33-4594-9B16-71B790BC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7210425"/>
            <a:ext cx="9039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</a:rPr>
              <a:t>这次更新的共同点，是把收盘价、盘后窗口和波动监管变得更制度化；它提供市场解释框架，不构成交易建议。</a:t>
            </a:r>
          </a:p>
        </p:txBody>
      </p:sp>
    </p:spTree>
    <p:extLst>
      <p:ext uri="{BB962C8B-B14F-4D97-AF65-F5344CB8AC3E}">
        <p14:creationId xmlns:p14="http://schemas.microsoft.com/office/powerpoint/2010/main" val="5871620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1be06fd10114dd8">
            <a:alphaModFix/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EC0BBB60-8232-4569-9BDA-FB877BA0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55600"/>
            <a:ext cx="15240000" cy="63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375" b="1">
                <a:solidFill>
                  <a:srgbClr val="306AB2"/>
                </a:solidFill>
              </a:defRPr>
            </a:pPr>
            <a:r>
              <a:rPr sz="3375" b="1">
                <a:solidFill>
                  <a:srgbClr val="306AB2"/>
                </a:solidFill>
                <a:latin typeface="楷体"/>
                <a:ea typeface="楷体"/>
                <a:cs typeface="楷体"/>
              </a:rPr>
              <a:t>盘后固定价格交易：收盘价成为盘后交易锚点</a:t>
            </a:r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FE3ECEB7-4772-44A6-9B0C-8A7FE56B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82700"/>
            <a:ext cx="4953000" cy="292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C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776BAD9-CAC0-4438-B6A4-51DC55AA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384300"/>
            <a:ext cx="1524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306AB2"/>
                </a:solidFill>
              </a:defRPr>
            </a:pPr>
            <a:r>
              <a:rPr sz="1125" b="0">
                <a:solidFill>
                  <a:srgbClr val="306AB2"/>
                </a:solidFill>
                <a:latin typeface="楷体"/>
                <a:ea typeface="楷体"/>
                <a:cs typeface="楷体"/>
              </a:rPr>
              <a:t>MARKET SCOPE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E53AD75C-9539-4B6B-8886-FEAF9C73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701800"/>
            <a:ext cx="45720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306AB2"/>
                </a:solidFill>
              </a:defRPr>
            </a:pPr>
            <a:r>
              <a:rPr sz="1800" b="1">
                <a:solidFill>
                  <a:srgbClr val="306AB2"/>
                </a:solidFill>
                <a:latin typeface="楷体"/>
                <a:ea typeface="楷体"/>
                <a:cs typeface="楷体"/>
              </a:rPr>
              <a:t>覆盖范围扩大</a:t>
            </a:r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30517CA-94B2-43C6-9BA1-3B199F1D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133600"/>
            <a:ext cx="4572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主板A股新增盘后固定价格交易</a:t>
            </a:r>
          </a:p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沪深ETF同样适用</a:t>
            </a:r>
          </a:p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创业板、科创板相关机制延续</a:t>
            </a:r>
          </a:p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交易对象更完整，盘后读数更有参考性</a:t>
            </a:r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BB917507-2741-417D-A097-885B96B2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458335"/>
            <a:ext cx="4953000" cy="292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EDE8E2E-21DA-4D07-ABFA-42AA29F0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4559935"/>
            <a:ext cx="1778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306AB2"/>
                </a:solidFill>
              </a:defRPr>
            </a:pPr>
            <a:r>
              <a:rPr sz="1125" b="0">
                <a:solidFill>
                  <a:srgbClr val="306AB2"/>
                </a:solidFill>
                <a:latin typeface="楷体"/>
                <a:ea typeface="楷体"/>
                <a:cs typeface="楷体"/>
              </a:rPr>
              <a:t>MECHANISM</a:t>
            </a: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DA5AEAB3-F30C-4609-A95C-474340F7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4877435"/>
            <a:ext cx="45720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306AB2"/>
                </a:solidFill>
              </a:defRPr>
            </a:pPr>
            <a:r>
              <a:rPr sz="1800" b="1">
                <a:solidFill>
                  <a:srgbClr val="306AB2"/>
                </a:solidFill>
                <a:latin typeface="楷体"/>
                <a:ea typeface="楷体"/>
                <a:cs typeface="楷体"/>
              </a:rPr>
              <a:t>同一收盘价撮合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786DC5B1-C125-49D6-9156-E3A8D436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5309235"/>
            <a:ext cx="4572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15:05-15:30为盘后固定价格交易时段</a:t>
            </a:r>
          </a:p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成交价为当日收盘价</a:t>
            </a:r>
          </a:p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未成交申报可在时段内撤回</a:t>
            </a:r>
          </a:p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重点是流动性窗口，而非方向判断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6882B7AB-8E40-4685-8DF0-251DE990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0" y="1308100"/>
            <a:ext cx="10096500" cy="65690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C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D9754B50-3E9F-432F-8D84-7710847F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7654" y="1397000"/>
            <a:ext cx="2588846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306AB2"/>
                </a:solidFill>
              </a:defRPr>
            </a:pPr>
            <a:r>
              <a:rPr sz="1125" b="0">
                <a:solidFill>
                  <a:srgbClr val="306AB2"/>
                </a:solidFill>
                <a:latin typeface="楷体"/>
                <a:ea typeface="楷体"/>
                <a:cs typeface="楷体"/>
              </a:rPr>
              <a:t>MECHANICS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3CFA7851-7A5F-41CD-8016-5D6F721B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7654" y="1727200"/>
            <a:ext cx="9319846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306AB2"/>
                </a:solidFill>
              </a:defRPr>
            </a:pPr>
            <a:r>
              <a:rPr sz="1800" b="1">
                <a:solidFill>
                  <a:srgbClr val="306AB2"/>
                </a:solidFill>
                <a:latin typeface="楷体"/>
                <a:ea typeface="楷体"/>
                <a:cs typeface="楷体"/>
              </a:rPr>
              <a:t>盘后固定价格交易怎么理解</a:t>
            </a:r>
          </a:p>
        </p:txBody>
      </p:sp>
      <p:sp>
        <p:nvSpPr>
          <p:cNvPr id="8" name="Text 7">
            <a:extLst xmlns:a="http://schemas.openxmlformats.org/drawingml/2006/main">
              <a:ext uri="{FF2B5EF4-FFF2-40B4-BE49-F238E27FC236}">
                <a16:creationId xmlns:a16="http://schemas.microsoft.com/office/drawing/2014/main" id="{19CCFB58-3990-C06A-8BE4-AF61422F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46" y="8328486"/>
            <a:ext cx="3906473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Source: 微信文章及交易规则要点整理；生效日2026.07.06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9339B91-22C0-310C-5A4D-EE10D161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96961"/>
            <a:ext cx="16256000" cy="447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B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0" name="Picture 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aa9fa7a23d44c16"/>
          <a:srcRect xmlns:a="http://schemas.openxmlformats.org/drawingml/2006/main" l="0" t="0" r="76699" b="0"/>
          <a:stretch xmlns:a="http://schemas.openxmlformats.org/drawingml/2006/main"/>
        </p:blipFill>
        <p:spPr>
          <a:xfrm xmlns:a="http://schemas.openxmlformats.org/drawingml/2006/main" rot="0" flipH="0" flipV="0">
            <a:off x="15290835" y="8750105"/>
            <a:ext cx="323426" cy="340771"/>
          </a:xfrm>
          <a:prstGeom xmlns:a="http://schemas.openxmlformats.org/drawingml/2006/main" prst="rect">
            <a:avLst/>
          </a:prstGeom>
        </p:spPr>
      </p:pic>
      <p:sp>
        <p:nvSpPr>
          <p:cNvPr id="24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E09B318-014E-1447-5633-0ABDA978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4120" y="8817898"/>
            <a:ext cx="3020590" cy="2051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333" spc="-40">
                <a:solidFill>
                  <a:schemeClr val="bg1"/>
                </a:solidFill>
              </a:rPr>
              <a:t>CSOPAssetManagementLimited</a:t>
            </a:r>
          </a:p>
        </p:txBody>
      </p:sp>
      <p:pic>
        <p:nvPicPr>
          <p:cNvPr id="62" name="Graphic 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90f64ea10364cad">
            <a:extLst>
              <a:ext uri="{96DAC541-7B7A-43D3-8B79-37D633B846F1}">
                <asvg:svgBlip xmlns:asvg="http://schemas.microsoft.com/office/drawing/2016/SVG/main" r:embed="R207b0d7799864e35"/>
              </a:ext>
            </a:extLst>
          </a:blip>
          <a:srcRect xmlns:a="http://schemas.openxmlformats.org/drawingml/2006/main" l="8591" t="32054" r="4677" b="40437"/>
          <a:stretch xmlns:a="http://schemas.openxmlformats.org/drawingml/2006/main"/>
        </p:blipFill>
        <p:spPr>
          <a:xfrm xmlns:a="http://schemas.openxmlformats.org/drawingml/2006/main">
            <a:off x="0" y="8696961"/>
            <a:ext cx="10449869" cy="447040"/>
          </a:xfrm>
          <a:prstGeom xmlns:a="http://schemas.openxmlformats.org/drawingml/2006/main" prst="rect">
            <a:avLst/>
          </a:prstGeom>
        </p:spPr>
      </p:pic>
      <p:sp>
        <p:nvSpPr>
          <p:cNvPr id="27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62E4BE10-F1F1-063A-B73C-D33C43FB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5873" y="8743433"/>
            <a:ext cx="365760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FFFFFF"/>
                </a:solidFill>
              </a:defRPr>
            </a:pPr>
            <a:fld id="{202359C0-8A7A-196E-DD58-8E6569619F09}" type="slidenum">
              <a:rPr sz="1200" b="0">
                <a:solidFill>
                  <a:srgbClr val="FFFFFF"/>
                </a:solidFill>
              </a:rPr>
              <a:t>3</a:t>
            </a:fld>
          </a:p>
        </p:txBody>
      </p:sp>
      <p:graphicFrame>
        <p:nvGraphicFramePr>
          <p:cNvPr id="64" name=""/>
          <p:cNvGraphicFramePr/>
          <p:nvPr/>
        </p:nvGraphicFramePr>
        <p:xfrm>
          <a:off xmlns:a="http://schemas.openxmlformats.org/drawingml/2006/main" x="6238875" y="2381250"/>
          <a:ext xmlns:a="http://schemas.openxmlformats.org/drawingml/2006/main" cx="89535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619250"/>
                <a:gridCol w="2952750"/>
                <a:gridCol w="4381500"/>
              </a:tblGrid>
              <a:tr h="6286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项目</a:t>
                      </a:r>
                    </a:p>
                  </a:txBody>
                  <a:tcPr marL="91440" marR="91440" marT="45720" marB="45720" anchor="ctr">
                    <a:solidFill>
                      <a:srgbClr val="306A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规则信息</a:t>
                      </a:r>
                    </a:p>
                  </a:txBody>
                  <a:tcPr marL="91440" marR="91440" marT="45720" marB="45720" anchor="ctr">
                    <a:solidFill>
                      <a:srgbClr val="306A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市场观察角度</a:t>
                      </a:r>
                    </a:p>
                  </a:txBody>
                  <a:tcPr marL="91440" marR="91440" marT="45720" marB="45720" anchor="ctr">
                    <a:solidFill>
                      <a:srgbClr val="306AB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交易时段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15:05-15:30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盘后成交与收盘价直接绑定</a:t>
                      </a:r>
                    </a:p>
                  </a:txBody>
                  <a:tcPr marL="66675" marR="66675" marT="38100" marB="38100" anchor="ctr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价格机制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固定为当日收盘价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减少盘后价格发现，强化收盘价锚定</a:t>
                      </a:r>
                    </a:p>
                  </a:txBody>
                  <a:tcPr marL="66675" marR="66675" marT="38100" marB="38100" anchor="ctr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申报与撤单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时段内可申报，未成交可撤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订单簿行为可能集中在收盘后窗口</a:t>
                      </a:r>
                    </a:p>
                  </a:txBody>
                  <a:tcPr marL="66675" marR="66675" marT="38100" marB="38100" anchor="ctr"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适用资产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主板A股、ETF等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更适合观察盘后流动性和被动资金需求</a:t>
                      </a:r>
                    </a:p>
                  </a:txBody>
                  <a:tcPr marL="66675" marR="66675" marT="38100" marB="38100" anchor="ctr"/>
                </a:tc>
              </a:tr>
            </a:tbl>
          </a:graphicData>
        </a:graphic>
      </p:graphicFrame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96236A-D024-493C-9C37-F1F7EF2E4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857875"/>
            <a:ext cx="8953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C9D7D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31E9A8-F155-423F-8445-99F263E7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991225"/>
            <a:ext cx="861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06AB2"/>
                </a:solidFill>
              </a:defRPr>
            </a:pPr>
            <a:r>
              <a:rPr sz="1350" b="1">
                <a:solidFill>
                  <a:srgbClr val="306AB2"/>
                </a:solidFill>
              </a:rPr>
              <a:t>对市场更新的表达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4F859A-E1BD-44C7-A08C-7515F3B8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353175"/>
            <a:ext cx="86106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</a:rPr>
              <a:t>可以把它描述为“盘后流动性窗口扩容”。重点不是预测价格，而是解释为什么收盘价附近和盘后成交数据会更值得跟踪。</a:t>
            </a:r>
          </a:p>
        </p:txBody>
      </p:sp>
    </p:spTree>
    <p:extLst>
      <p:ext uri="{BB962C8B-B14F-4D97-AF65-F5344CB8AC3E}">
        <p14:creationId xmlns:p14="http://schemas.microsoft.com/office/powerpoint/2010/main" val="58716204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e02db7d51184cb4">
            <a:alphaModFix/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EC0BBB60-8232-4569-9BDA-FB877BA0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55600"/>
            <a:ext cx="15240000" cy="63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375" b="1">
                <a:solidFill>
                  <a:srgbClr val="306AB2"/>
                </a:solidFill>
              </a:defRPr>
            </a:pPr>
            <a:r>
              <a:rPr sz="3375" b="1">
                <a:solidFill>
                  <a:srgbClr val="306AB2"/>
                </a:solidFill>
                <a:latin typeface="楷体"/>
                <a:ea typeface="楷体"/>
                <a:cs typeface="楷体"/>
              </a:rPr>
              <a:t>沪市基金：收盘价由集合竞价产生</a:t>
            </a:r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FE3ECEB7-4772-44A6-9B0C-8A7FE56B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82700"/>
            <a:ext cx="4953000" cy="292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C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776BAD9-CAC0-4438-B6A4-51DC55AA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384300"/>
            <a:ext cx="1524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306AB2"/>
                </a:solidFill>
              </a:defRPr>
            </a:pPr>
            <a:r>
              <a:rPr sz="1125" b="0">
                <a:solidFill>
                  <a:srgbClr val="306AB2"/>
                </a:solidFill>
                <a:latin typeface="楷体"/>
                <a:ea typeface="楷体"/>
                <a:cs typeface="楷体"/>
              </a:rPr>
              <a:t>BEFORE / AFTER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E53AD75C-9539-4B6B-8886-FEAF9C73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701800"/>
            <a:ext cx="45720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306AB2"/>
                </a:solidFill>
              </a:defRPr>
            </a:pPr>
            <a:r>
              <a:rPr sz="1800" b="1">
                <a:solidFill>
                  <a:srgbClr val="306AB2"/>
                </a:solidFill>
                <a:latin typeface="楷体"/>
                <a:ea typeface="楷体"/>
                <a:cs typeface="楷体"/>
              </a:rPr>
              <a:t>连续竞价到集合竞价</a:t>
            </a:r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30517CA-94B2-43C6-9BA1-3B199F1D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133600"/>
            <a:ext cx="4572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调整前：连续竞价至15:00</a:t>
            </a:r>
          </a:p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7月6日起：14:57-15:00收盘集合竞价</a:t>
            </a:r>
          </a:p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收盘价通过集合竞价产生</a:t>
            </a:r>
          </a:p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ETF盘后交易仍以收盘价为成交价</a:t>
            </a:r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BB917507-2741-417D-A097-885B96B2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458335"/>
            <a:ext cx="4953000" cy="292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EDE8E2E-21DA-4D07-ABFA-42AA29F0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4559935"/>
            <a:ext cx="1778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306AB2"/>
                </a:solidFill>
              </a:defRPr>
            </a:pPr>
            <a:r>
              <a:rPr sz="1125" b="0">
                <a:solidFill>
                  <a:srgbClr val="306AB2"/>
                </a:solidFill>
                <a:latin typeface="楷体"/>
                <a:ea typeface="楷体"/>
                <a:cs typeface="楷体"/>
              </a:rPr>
              <a:t>WHY IT MATTERS</a:t>
            </a: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DA5AEAB3-F30C-4609-A95C-474340F7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4877435"/>
            <a:ext cx="45720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306AB2"/>
                </a:solidFill>
              </a:defRPr>
            </a:pPr>
            <a:r>
              <a:rPr sz="1800" b="1">
                <a:solidFill>
                  <a:srgbClr val="306AB2"/>
                </a:solidFill>
                <a:latin typeface="楷体"/>
                <a:ea typeface="楷体"/>
                <a:cs typeface="楷体"/>
              </a:rPr>
              <a:t>基金收盘读数更集中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786DC5B1-C125-49D6-9156-E3A8D436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5309235"/>
            <a:ext cx="4572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收盘三分钟订单集中度提高</a:t>
            </a:r>
          </a:p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基金收盘价形成更接近股票</a:t>
            </a:r>
          </a:p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观察收盘附近成交量、价差和折溢价</a:t>
            </a:r>
          </a:p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这属于市场结构变化，不是方向观点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6882B7AB-8E40-4685-8DF0-251DE990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0" y="1308100"/>
            <a:ext cx="10096500" cy="65690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C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D9754B50-3E9F-432F-8D84-7710847F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7654" y="1397000"/>
            <a:ext cx="2588846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306AB2"/>
                </a:solidFill>
              </a:defRPr>
            </a:pPr>
            <a:r>
              <a:rPr sz="1125" b="0">
                <a:solidFill>
                  <a:srgbClr val="306AB2"/>
                </a:solidFill>
                <a:latin typeface="楷体"/>
                <a:ea typeface="楷体"/>
                <a:cs typeface="楷体"/>
              </a:rPr>
              <a:t>TIMELINE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3CFA7851-7A5F-41CD-8016-5D6F721B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7654" y="1727200"/>
            <a:ext cx="9319846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306AB2"/>
                </a:solidFill>
              </a:defRPr>
            </a:pPr>
            <a:r>
              <a:rPr sz="1800" b="1">
                <a:solidFill>
                  <a:srgbClr val="306AB2"/>
                </a:solidFill>
                <a:latin typeface="楷体"/>
                <a:ea typeface="楷体"/>
                <a:cs typeface="楷体"/>
              </a:rPr>
              <a:t>沪市基金交易阶段变化</a:t>
            </a:r>
          </a:p>
        </p:txBody>
      </p:sp>
      <p:sp>
        <p:nvSpPr>
          <p:cNvPr id="8" name="Text 7">
            <a:extLst xmlns:a="http://schemas.openxmlformats.org/drawingml/2006/main">
              <a:ext uri="{FF2B5EF4-FFF2-40B4-BE49-F238E27FC236}">
                <a16:creationId xmlns:a16="http://schemas.microsoft.com/office/drawing/2014/main" id="{19CCFB58-3990-C06A-8BE4-AF61422F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46" y="8328486"/>
            <a:ext cx="3906473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Source: 微信文章及交易规则要点整理；交易所最新公告为准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9339B91-22C0-310C-5A4D-EE10D161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96961"/>
            <a:ext cx="16256000" cy="447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B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0" name="Picture 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3e3054df5f74d56"/>
          <a:srcRect xmlns:a="http://schemas.openxmlformats.org/drawingml/2006/main" l="0" t="0" r="76699" b="0"/>
          <a:stretch xmlns:a="http://schemas.openxmlformats.org/drawingml/2006/main"/>
        </p:blipFill>
        <p:spPr>
          <a:xfrm xmlns:a="http://schemas.openxmlformats.org/drawingml/2006/main" rot="0" flipH="0" flipV="0">
            <a:off x="15290835" y="8750105"/>
            <a:ext cx="323426" cy="340771"/>
          </a:xfrm>
          <a:prstGeom xmlns:a="http://schemas.openxmlformats.org/drawingml/2006/main" prst="rect">
            <a:avLst/>
          </a:prstGeom>
        </p:spPr>
      </p:pic>
      <p:sp>
        <p:nvSpPr>
          <p:cNvPr id="24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E09B318-014E-1447-5633-0ABDA978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4120" y="8817898"/>
            <a:ext cx="3020590" cy="2051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333" spc="-40">
                <a:solidFill>
                  <a:schemeClr val="bg1"/>
                </a:solidFill>
              </a:rPr>
              <a:t>CSOPAssetManagementLimited</a:t>
            </a:r>
          </a:p>
        </p:txBody>
      </p:sp>
      <p:pic>
        <p:nvPicPr>
          <p:cNvPr id="62" name="Graphic 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bee988991a44a01">
            <a:extLst>
              <a:ext uri="{96DAC541-7B7A-43D3-8B79-37D633B846F1}">
                <asvg:svgBlip xmlns:asvg="http://schemas.microsoft.com/office/drawing/2016/SVG/main" r:embed="R92570b3cf2124368"/>
              </a:ext>
            </a:extLst>
          </a:blip>
          <a:srcRect xmlns:a="http://schemas.openxmlformats.org/drawingml/2006/main" l="8591" t="32054" r="4677" b="40437"/>
          <a:stretch xmlns:a="http://schemas.openxmlformats.org/drawingml/2006/main"/>
        </p:blipFill>
        <p:spPr>
          <a:xfrm xmlns:a="http://schemas.openxmlformats.org/drawingml/2006/main">
            <a:off x="0" y="8696961"/>
            <a:ext cx="10449869" cy="447040"/>
          </a:xfrm>
          <a:prstGeom xmlns:a="http://schemas.openxmlformats.org/drawingml/2006/main" prst="rect">
            <a:avLst/>
          </a:prstGeom>
        </p:spPr>
      </p:pic>
      <p:sp>
        <p:nvSpPr>
          <p:cNvPr id="27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62E4BE10-F1F1-063A-B73C-D33C43FB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5873" y="8743433"/>
            <a:ext cx="365760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FFFFFF"/>
                </a:solidFill>
              </a:defRPr>
            </a:pPr>
            <a:fld id="{EFD6AB9A-5F9E-5F59-51AB-3C8734130965}" type="slidenum">
              <a:rPr sz="1200" b="0">
                <a:solidFill>
                  <a:srgbClr val="FFFFFF"/>
                </a:solidFill>
              </a:rPr>
              <a:t>4</a:t>
            </a:fld>
          </a:p>
        </p:txBody>
      </p:sp>
      <p:graphicFrame>
        <p:nvGraphicFramePr>
          <p:cNvPr id="64" name=""/>
          <p:cNvGraphicFramePr/>
          <p:nvPr/>
        </p:nvGraphicFramePr>
        <p:xfrm>
          <a:off xmlns:a="http://schemas.openxmlformats.org/drawingml/2006/main" x="6238875" y="2381250"/>
          <a:ext xmlns:a="http://schemas.openxmlformats.org/drawingml/2006/main" cx="8953500" cy="3857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90750"/>
                <a:gridCol w="3381375"/>
                <a:gridCol w="3381375"/>
              </a:tblGrid>
              <a:tr h="642938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交易阶段</a:t>
                      </a:r>
                    </a:p>
                  </a:txBody>
                  <a:tcPr marL="91440" marR="91440" marT="45720" marB="45720" anchor="ctr">
                    <a:solidFill>
                      <a:srgbClr val="306A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调整前</a:t>
                      </a:r>
                    </a:p>
                  </a:txBody>
                  <a:tcPr marL="91440" marR="91440" marT="45720" marB="45720" anchor="ctr">
                    <a:solidFill>
                      <a:srgbClr val="306A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7月6日起</a:t>
                      </a:r>
                    </a:p>
                  </a:txBody>
                  <a:tcPr marL="91440" marR="91440" marT="45720" marB="45720" anchor="ctr">
                    <a:solidFill>
                      <a:srgbClr val="306AB2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开盘集合竞价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9:15-9:25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9:15-9:25</a:t>
                      </a:r>
                    </a:p>
                  </a:txBody>
                  <a:tcPr marL="66675" marR="66675" marT="38100" marB="38100" anchor="ctr"/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连续竞价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9:30-11:30；13:00-15:00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9:30-11:30；13:00-14:57</a:t>
                      </a:r>
                    </a:p>
                  </a:txBody>
                  <a:tcPr marL="66675" marR="66675" marT="38100" marB="38100" anchor="ctr"/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收盘集合竞价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无独立收盘集合竞价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14:57-15:00</a:t>
                      </a:r>
                    </a:p>
                  </a:txBody>
                  <a:tcPr marL="66675" marR="66675" marT="38100" marB="38100" anchor="ctr"/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ETF盘后固定价格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不适用或覆盖有限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15:05-15:30，成交价为收盘价</a:t>
                      </a:r>
                    </a:p>
                  </a:txBody>
                  <a:tcPr marL="66675" marR="66675" marT="38100" marB="38100" anchor="ctr"/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收盘价形成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最后一笔交易前一分钟加权平均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集合竞价产生</a:t>
                      </a:r>
                    </a:p>
                  </a:txBody>
                  <a:tcPr marL="66675" marR="66675" marT="38100" marB="38100" anchor="ctr"/>
                </a:tc>
              </a:tr>
            </a:tbl>
          </a:graphicData>
        </a:graphic>
      </p:graphicFrame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BED8B1-C270-45C2-98B4-F46C8F55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572250"/>
            <a:ext cx="8953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D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C5AC818-1985-4617-97AC-31396DE1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705600"/>
            <a:ext cx="861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06AB2"/>
                </a:solidFill>
              </a:defRPr>
            </a:pPr>
            <a:r>
              <a:rPr sz="1350" b="1">
                <a:solidFill>
                  <a:srgbClr val="306AB2"/>
                </a:solidFill>
              </a:rPr>
              <a:t>市场角度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36469B-C04D-4163-B607-8292B4C1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7067550"/>
            <a:ext cx="861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</a:rPr>
              <a:t>基金收盘机制变化会影响收盘价的可解释性。对ETF和场内基金，收盘附近的订单集中、折溢价和盘后成交数据可以放在同一套框架下看。</a:t>
            </a:r>
          </a:p>
        </p:txBody>
      </p:sp>
    </p:spTree>
    <p:extLst>
      <p:ext uri="{BB962C8B-B14F-4D97-AF65-F5344CB8AC3E}">
        <p14:creationId xmlns:p14="http://schemas.microsoft.com/office/powerpoint/2010/main" val="58716204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47aa778f93c4739">
            <a:alphaModFix/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EC0BBB60-8232-4569-9BDA-FB877BA0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55600"/>
            <a:ext cx="15240000" cy="63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375" b="1">
                <a:solidFill>
                  <a:srgbClr val="306AB2"/>
                </a:solidFill>
              </a:defRPr>
            </a:pPr>
            <a:r>
              <a:rPr sz="3375" b="1">
                <a:solidFill>
                  <a:srgbClr val="306AB2"/>
                </a:solidFill>
                <a:latin typeface="楷体"/>
                <a:ea typeface="楷体"/>
                <a:cs typeface="楷体"/>
              </a:rPr>
              <a:t>创业板与北交所：流动性供给和波动监管同步调整</a:t>
            </a:r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FE3ECEB7-4772-44A6-9B0C-8A7FE56B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82700"/>
            <a:ext cx="4953000" cy="292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C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776BAD9-CAC0-4438-B6A4-51DC55AA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384300"/>
            <a:ext cx="1524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306AB2"/>
                </a:solidFill>
              </a:defRPr>
            </a:pPr>
            <a:r>
              <a:rPr sz="1125" b="0">
                <a:solidFill>
                  <a:srgbClr val="306AB2"/>
                </a:solidFill>
                <a:latin typeface="楷体"/>
                <a:ea typeface="楷体"/>
                <a:cs typeface="楷体"/>
              </a:rPr>
              <a:t>CHINEXT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E53AD75C-9539-4B6B-8886-FEAF9C73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701800"/>
            <a:ext cx="45720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306AB2"/>
                </a:solidFill>
              </a:defRPr>
            </a:pPr>
            <a:r>
              <a:rPr sz="1800" b="1">
                <a:solidFill>
                  <a:srgbClr val="306AB2"/>
                </a:solidFill>
                <a:latin typeface="楷体"/>
                <a:ea typeface="楷体"/>
                <a:cs typeface="楷体"/>
              </a:rPr>
              <a:t>交易参与者更多元</a:t>
            </a:r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30517CA-94B2-43C6-9BA1-3B199F1D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133600"/>
            <a:ext cx="4572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创业板引入做市商制度</a:t>
            </a:r>
          </a:p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促进报价主体和交易策略多元化</a:t>
            </a:r>
          </a:p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协议大宗交易确认时间延长</a:t>
            </a:r>
          </a:p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确认时段覆盖9:30-11:30、13:00-15:30</a:t>
            </a:r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BB917507-2741-417D-A097-885B96B2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458335"/>
            <a:ext cx="4953000" cy="292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EDE8E2E-21DA-4D07-ABFA-42AA29F0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4559935"/>
            <a:ext cx="1778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306AB2"/>
                </a:solidFill>
              </a:defRPr>
            </a:pPr>
            <a:r>
              <a:rPr sz="1125" b="0">
                <a:solidFill>
                  <a:srgbClr val="306AB2"/>
                </a:solidFill>
                <a:latin typeface="楷体"/>
                <a:ea typeface="楷体"/>
                <a:cs typeface="楷体"/>
              </a:rPr>
              <a:t>BSE</a:t>
            </a: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DA5AEAB3-F30C-4609-A95C-474340F7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4877435"/>
            <a:ext cx="45720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306AB2"/>
                </a:solidFill>
              </a:defRPr>
            </a:pPr>
            <a:r>
              <a:rPr sz="1800" b="1">
                <a:solidFill>
                  <a:srgbClr val="306AB2"/>
                </a:solidFill>
                <a:latin typeface="楷体"/>
                <a:ea typeface="楷体"/>
                <a:cs typeface="楷体"/>
              </a:rPr>
              <a:t>异常波动监管更明确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786DC5B1-C125-49D6-9156-E3A8D436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5309235"/>
            <a:ext cx="4572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增加严重异常波动监管安排</a:t>
            </a:r>
          </a:p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其他细则仍需留意后续公告</a:t>
            </a:r>
          </a:p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小盘波动中，监管信号权重上升</a:t>
            </a:r>
          </a:p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信息解读应以官方最新规则为准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6882B7AB-8E40-4685-8DF0-251DE990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0" y="1308100"/>
            <a:ext cx="10096500" cy="65690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C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D9754B50-3E9F-432F-8D84-7710847F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7654" y="1397000"/>
            <a:ext cx="2588846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306AB2"/>
                </a:solidFill>
              </a:defRPr>
            </a:pPr>
            <a:r>
              <a:rPr sz="1125" b="0">
                <a:solidFill>
                  <a:srgbClr val="306AB2"/>
                </a:solidFill>
                <a:latin typeface="楷体"/>
                <a:ea typeface="楷体"/>
                <a:cs typeface="楷体"/>
              </a:rPr>
              <a:t>MARKET STRUCTURE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3CFA7851-7A5F-41CD-8016-5D6F721B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7654" y="1727200"/>
            <a:ext cx="9319846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306AB2"/>
                </a:solidFill>
              </a:defRPr>
            </a:pPr>
            <a:r>
              <a:rPr sz="1800" b="1">
                <a:solidFill>
                  <a:srgbClr val="306AB2"/>
                </a:solidFill>
                <a:latin typeface="楷体"/>
                <a:ea typeface="楷体"/>
                <a:cs typeface="楷体"/>
              </a:rPr>
              <a:t>不是单一板块事件，而是市场微结构更新</a:t>
            </a:r>
          </a:p>
        </p:txBody>
      </p:sp>
      <p:sp>
        <p:nvSpPr>
          <p:cNvPr id="8" name="Text 7">
            <a:extLst xmlns:a="http://schemas.openxmlformats.org/drawingml/2006/main">
              <a:ext uri="{FF2B5EF4-FFF2-40B4-BE49-F238E27FC236}">
                <a16:creationId xmlns:a16="http://schemas.microsoft.com/office/drawing/2014/main" id="{19CCFB58-3990-C06A-8BE4-AF61422F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46" y="8328486"/>
            <a:ext cx="3906473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Source: 微信文章及交易规则要点整理；部分北交所规则需跟踪后续公告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9339B91-22C0-310C-5A4D-EE10D161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96961"/>
            <a:ext cx="16256000" cy="447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B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0" name="Picture 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3ceb0ff0b304344"/>
          <a:srcRect xmlns:a="http://schemas.openxmlformats.org/drawingml/2006/main" l="0" t="0" r="76699" b="0"/>
          <a:stretch xmlns:a="http://schemas.openxmlformats.org/drawingml/2006/main"/>
        </p:blipFill>
        <p:spPr>
          <a:xfrm xmlns:a="http://schemas.openxmlformats.org/drawingml/2006/main" rot="0" flipH="0" flipV="0">
            <a:off x="15290835" y="8750105"/>
            <a:ext cx="323426" cy="340771"/>
          </a:xfrm>
          <a:prstGeom xmlns:a="http://schemas.openxmlformats.org/drawingml/2006/main" prst="rect">
            <a:avLst/>
          </a:prstGeom>
        </p:spPr>
      </p:pic>
      <p:sp>
        <p:nvSpPr>
          <p:cNvPr id="24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E09B318-014E-1447-5633-0ABDA978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4120" y="8817898"/>
            <a:ext cx="3020590" cy="2051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333" spc="-40">
                <a:solidFill>
                  <a:schemeClr val="bg1"/>
                </a:solidFill>
              </a:rPr>
              <a:t>CSOPAssetManagementLimited</a:t>
            </a:r>
          </a:p>
        </p:txBody>
      </p:sp>
      <p:pic>
        <p:nvPicPr>
          <p:cNvPr id="62" name="Graphic 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119b20eff3140f5">
            <a:extLst>
              <a:ext uri="{96DAC541-7B7A-43D3-8B79-37D633B846F1}">
                <asvg:svgBlip xmlns:asvg="http://schemas.microsoft.com/office/drawing/2016/SVG/main" r:embed="Ra267b025c99e4fc8"/>
              </a:ext>
            </a:extLst>
          </a:blip>
          <a:srcRect xmlns:a="http://schemas.openxmlformats.org/drawingml/2006/main" l="8591" t="32054" r="4677" b="40437"/>
          <a:stretch xmlns:a="http://schemas.openxmlformats.org/drawingml/2006/main"/>
        </p:blipFill>
        <p:spPr>
          <a:xfrm xmlns:a="http://schemas.openxmlformats.org/drawingml/2006/main">
            <a:off x="0" y="8696961"/>
            <a:ext cx="10449869" cy="447040"/>
          </a:xfrm>
          <a:prstGeom xmlns:a="http://schemas.openxmlformats.org/drawingml/2006/main" prst="rect">
            <a:avLst/>
          </a:prstGeom>
        </p:spPr>
      </p:pic>
      <p:sp>
        <p:nvSpPr>
          <p:cNvPr id="27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62E4BE10-F1F1-063A-B73C-D33C43FB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5873" y="8743433"/>
            <a:ext cx="365760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FFFFFF"/>
                </a:solidFill>
              </a:defRPr>
            </a:pPr>
            <a:fld id="{EE5B3003-2C54-13C6-9832-7637201064DE}" type="slidenum">
              <a:rPr sz="1200" b="0">
                <a:solidFill>
                  <a:srgbClr val="FFFFFF"/>
                </a:solidFill>
              </a:rPr>
              <a:t>5</a:t>
            </a:fld>
          </a:p>
        </p:txBody>
      </p:sp>
      <p:graphicFrame>
        <p:nvGraphicFramePr>
          <p:cNvPr id="64" name=""/>
          <p:cNvGraphicFramePr/>
          <p:nvPr/>
        </p:nvGraphicFramePr>
        <p:xfrm>
          <a:off xmlns:a="http://schemas.openxmlformats.org/drawingml/2006/main" x="6238875" y="2381250"/>
          <a:ext xmlns:a="http://schemas.openxmlformats.org/drawingml/2006/main" cx="8953500" cy="338137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000250"/>
                <a:gridCol w="2952750"/>
                <a:gridCol w="4000500"/>
              </a:tblGrid>
              <a:tr h="6762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交易场景</a:t>
                      </a:r>
                    </a:p>
                  </a:txBody>
                  <a:tcPr marL="91440" marR="91440" marT="45720" marB="45720" anchor="ctr">
                    <a:solidFill>
                      <a:srgbClr val="306A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新变化</a:t>
                      </a:r>
                    </a:p>
                  </a:txBody>
                  <a:tcPr marL="91440" marR="91440" marT="45720" marB="45720" anchor="ctr">
                    <a:solidFill>
                      <a:srgbClr val="306A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</a:rPr>
                        <a:t>市场信息角度</a:t>
                      </a:r>
                    </a:p>
                  </a:txBody>
                  <a:tcPr marL="91440" marR="91440" marT="45720" marB="45720" anchor="ctr">
                    <a:solidFill>
                      <a:srgbClr val="306AB2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创业板流动性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引入做市商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观察报价深度、买卖价差和成交连续性</a:t>
                      </a:r>
                    </a:p>
                  </a:txBody>
                  <a:tcPr marL="66675" marR="66675" marT="38100" marB="38100" anchor="ctr"/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创业板大宗交易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协议大宗交易确认时间延长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大宗流动性窗口更完整</a:t>
                      </a:r>
                    </a:p>
                  </a:txBody>
                  <a:tcPr marL="66675" marR="66675" marT="38100" marB="38100" anchor="ctr"/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北交所波动治理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增加严重异常波动监管安排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异常波动不只看涨跌幅，也看监管触发</a:t>
                      </a:r>
                    </a:p>
                  </a:txBody>
                  <a:tcPr marL="66675" marR="66675" marT="38100" marB="38100" anchor="ctr"/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主板ST/*ST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涨跌幅限制调整至10%</a:t>
                      </a:r>
                    </a:p>
                  </a:txBody>
                  <a:tcPr marL="66675" marR="66675" marT="38100" marB="38100" anchor="ctr"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</a:rPr>
                        <a:t>风险区间扩大，波动比较口径需更新</a:t>
                      </a:r>
                    </a:p>
                  </a:txBody>
                  <a:tcPr marL="66675" marR="66675" marT="38100" marB="38100" anchor="ctr"/>
                </a:tc>
              </a:tr>
            </a:tbl>
          </a:graphicData>
        </a:graphic>
      </p:graphicFrame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E5915D6-917E-43E2-92F1-66217F98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096000"/>
            <a:ext cx="8953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C9D7D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35F839-1C8E-4D71-8356-AF9C634BF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229350"/>
            <a:ext cx="861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06AB2"/>
                </a:solidFill>
              </a:defRPr>
            </a:pPr>
            <a:r>
              <a:rPr sz="1350" b="1">
                <a:solidFill>
                  <a:srgbClr val="306AB2"/>
                </a:solidFill>
              </a:rPr>
              <a:t>读法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841B65-F8B6-4727-892D-51C6FE0E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591300"/>
            <a:ext cx="861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</a:rPr>
              <a:t>这几项变化共同指向更细的市场分层：主板关注盘后和ST波动，创业板关注流动性供给，北交所关注异常波动监管。</a:t>
            </a:r>
          </a:p>
        </p:txBody>
      </p:sp>
    </p:spTree>
    <p:extLst>
      <p:ext uri="{BB962C8B-B14F-4D97-AF65-F5344CB8AC3E}">
        <p14:creationId xmlns:p14="http://schemas.microsoft.com/office/powerpoint/2010/main" val="58716204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e5a89dfe0564323">
            <a:alphaModFix/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EC0BBB60-8232-4569-9BDA-FB877BA0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55600"/>
            <a:ext cx="15240000" cy="63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3375" b="1">
                <a:solidFill>
                  <a:srgbClr val="306AB2"/>
                </a:solidFill>
              </a:defRPr>
            </a:pPr>
            <a:r>
              <a:rPr sz="3375" b="1">
                <a:solidFill>
                  <a:srgbClr val="306AB2"/>
                </a:solidFill>
                <a:latin typeface="楷体"/>
                <a:ea typeface="楷体"/>
                <a:cs typeface="楷体"/>
              </a:rPr>
              <a:t>市场沟通角度：结构变化，不是交易指令</a:t>
            </a:r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FE3ECEB7-4772-44A6-9B0C-8A7FE56B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82700"/>
            <a:ext cx="4953000" cy="292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C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776BAD9-CAC0-4438-B6A4-51DC55AA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384300"/>
            <a:ext cx="1524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306AB2"/>
                </a:solidFill>
              </a:defRPr>
            </a:pPr>
            <a:r>
              <a:rPr sz="1125" b="0">
                <a:solidFill>
                  <a:srgbClr val="306AB2"/>
                </a:solidFill>
                <a:latin typeface="楷体"/>
                <a:ea typeface="楷体"/>
                <a:cs typeface="楷体"/>
              </a:rPr>
              <a:t>CLIENT QUESTIONS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E53AD75C-9539-4B6B-8886-FEAF9C73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701800"/>
            <a:ext cx="45720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306AB2"/>
                </a:solidFill>
              </a:defRPr>
            </a:pPr>
            <a:r>
              <a:rPr sz="1800" b="1">
                <a:solidFill>
                  <a:srgbClr val="306AB2"/>
                </a:solidFill>
                <a:latin typeface="楷体"/>
                <a:ea typeface="楷体"/>
                <a:cs typeface="楷体"/>
              </a:rPr>
              <a:t>可能被问到什么</a:t>
            </a:r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B30517CA-94B2-43C6-9BA1-3B199F1D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133600"/>
            <a:ext cx="4572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为什么盘后成交窗口更值得看？</a:t>
            </a:r>
          </a:p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基金收盘价为什么会更集中？</a:t>
            </a:r>
          </a:p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创业板做市和大宗时段变化说明什么？</a:t>
            </a:r>
          </a:p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北交所异常波动监管如何影响市场读数？</a:t>
            </a:r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BB917507-2741-417D-A097-885B96B2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458335"/>
            <a:ext cx="4953000" cy="292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AEDE8E2E-21DA-4D07-ABFA-42AA29F0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4559935"/>
            <a:ext cx="1778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306AB2"/>
                </a:solidFill>
              </a:defRPr>
            </a:pPr>
            <a:r>
              <a:rPr sz="1125" b="0">
                <a:solidFill>
                  <a:srgbClr val="306AB2"/>
                </a:solidFill>
                <a:latin typeface="楷体"/>
                <a:ea typeface="楷体"/>
                <a:cs typeface="楷体"/>
              </a:rPr>
              <a:t>BOUNDARY</a:t>
            </a:r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DA5AEAB3-F30C-4609-A95C-474340F7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4877435"/>
            <a:ext cx="45720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306AB2"/>
                </a:solidFill>
              </a:defRPr>
            </a:pPr>
            <a:r>
              <a:rPr sz="1800" b="1">
                <a:solidFill>
                  <a:srgbClr val="306AB2"/>
                </a:solidFill>
                <a:latin typeface="楷体"/>
                <a:ea typeface="楷体"/>
                <a:cs typeface="楷体"/>
              </a:rPr>
              <a:t>信息边界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786DC5B1-C125-49D6-9156-E3A8D436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5309235"/>
            <a:ext cx="4572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仅说明规则变化和市场结构含义</a:t>
            </a:r>
          </a:p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不提供买卖建议或交易安排</a:t>
            </a:r>
          </a:p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不把机制变化直接等同于行情判断</a:t>
            </a:r>
          </a:p>
          <a:p xmlns:a="http://schemas.openxmlformats.org/drawingml/2006/main">
            <a:pPr algn="l">
              <a:lnSpc>
                <a:spcPct val="160000"/>
              </a:lnSpc>
              <a:buNone/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楷体"/>
                <a:ea typeface="楷体"/>
                <a:cs typeface="楷体"/>
              </a:rPr>
              <a:t>• 以交易所最新公告为准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6882B7AB-8E40-4685-8DF0-251DE990B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0" y="1308100"/>
            <a:ext cx="10096500" cy="65690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CE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D9754B50-3E9F-432F-8D84-7710847F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7654" y="1397000"/>
            <a:ext cx="2588846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125" b="0">
                <a:solidFill>
                  <a:srgbClr val="306AB2"/>
                </a:solidFill>
              </a:defRPr>
            </a:pPr>
            <a:r>
              <a:rPr sz="1125" b="0">
                <a:solidFill>
                  <a:srgbClr val="306AB2"/>
                </a:solidFill>
                <a:latin typeface="楷体"/>
                <a:ea typeface="楷体"/>
                <a:cs typeface="楷体"/>
              </a:rPr>
              <a:t>SYNTHESIS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3CFA7851-7A5F-41CD-8016-5D6F721B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7654" y="1727200"/>
            <a:ext cx="9319846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1">
                <a:solidFill>
                  <a:srgbClr val="306AB2"/>
                </a:solidFill>
              </a:defRPr>
            </a:pPr>
            <a:r>
              <a:rPr sz="1800" b="1">
                <a:solidFill>
                  <a:srgbClr val="306AB2"/>
                </a:solidFill>
                <a:latin typeface="楷体"/>
                <a:ea typeface="楷体"/>
                <a:cs typeface="楷体"/>
              </a:rPr>
              <a:t>三条观察主线</a:t>
            </a:r>
          </a:p>
        </p:txBody>
      </p:sp>
      <p:sp>
        <p:nvSpPr>
          <p:cNvPr id="8" name="Text 7">
            <a:extLst xmlns:a="http://schemas.openxmlformats.org/drawingml/2006/main">
              <a:ext uri="{FF2B5EF4-FFF2-40B4-BE49-F238E27FC236}">
                <a16:creationId xmlns:a16="http://schemas.microsoft.com/office/drawing/2014/main" id="{19CCFB58-3990-C06A-8BE4-AF61422F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46" y="8328486"/>
            <a:ext cx="3906473" cy="2971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Source: 微信文章及交易规则要点整理；仅供内部市场更新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9339B91-22C0-310C-5A4D-EE10D161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696961"/>
            <a:ext cx="16256000" cy="447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6AB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1" name="Picture 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0165ee8565d461b"/>
          <a:srcRect xmlns:a="http://schemas.openxmlformats.org/drawingml/2006/main" l="0" t="0" r="76699" b="0"/>
          <a:stretch xmlns:a="http://schemas.openxmlformats.org/drawingml/2006/main"/>
        </p:blipFill>
        <p:spPr>
          <a:xfrm xmlns:a="http://schemas.openxmlformats.org/drawingml/2006/main" rot="0" flipH="0" flipV="0">
            <a:off x="15290835" y="8750105"/>
            <a:ext cx="323426" cy="340771"/>
          </a:xfrm>
          <a:prstGeom xmlns:a="http://schemas.openxmlformats.org/drawingml/2006/main" prst="rect">
            <a:avLst/>
          </a:prstGeom>
        </p:spPr>
      </p:pic>
      <p:sp>
        <p:nvSpPr>
          <p:cNvPr id="24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5E09B318-014E-1447-5633-0ABDA978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14120" y="8817898"/>
            <a:ext cx="3020590" cy="2051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333" spc="-40">
                <a:solidFill>
                  <a:schemeClr val="bg1"/>
                </a:solidFill>
              </a:rPr>
              <a:t>CSOPAssetManagementLimited</a:t>
            </a:r>
          </a:p>
        </p:txBody>
      </p:sp>
      <p:pic>
        <p:nvPicPr>
          <p:cNvPr id="73" name="Graphic 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6c1fccd7ac54061">
            <a:extLst>
              <a:ext uri="{96DAC541-7B7A-43D3-8B79-37D633B846F1}">
                <asvg:svgBlip xmlns:asvg="http://schemas.microsoft.com/office/drawing/2016/SVG/main" r:embed="R5bd6d2e03f254e73"/>
              </a:ext>
            </a:extLst>
          </a:blip>
          <a:srcRect xmlns:a="http://schemas.openxmlformats.org/drawingml/2006/main" l="8591" t="32054" r="4677" b="40437"/>
          <a:stretch xmlns:a="http://schemas.openxmlformats.org/drawingml/2006/main"/>
        </p:blipFill>
        <p:spPr>
          <a:xfrm xmlns:a="http://schemas.openxmlformats.org/drawingml/2006/main">
            <a:off x="0" y="8696961"/>
            <a:ext cx="10449869" cy="447040"/>
          </a:xfrm>
          <a:prstGeom xmlns:a="http://schemas.openxmlformats.org/drawingml/2006/main" prst="rect">
            <a:avLst/>
          </a:prstGeom>
        </p:spPr>
      </p:pic>
      <p:sp>
        <p:nvSpPr>
          <p:cNvPr id="27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62E4BE10-F1F1-063A-B73C-D33C43FB3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5873" y="8743433"/>
            <a:ext cx="3657600" cy="3693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  <a:defRPr sz="1200" b="0">
                <a:solidFill>
                  <a:srgbClr val="FFFFFF"/>
                </a:solidFill>
              </a:defRPr>
            </a:pPr>
            <a:fld id="{8C630A04-5A25-9E0C-9436-126091DB86B3}" type="slidenum">
              <a:rPr sz="1200" b="0">
                <a:solidFill>
                  <a:srgbClr val="FFFFFF"/>
                </a:solidFill>
              </a:rPr>
              <a:t>6</a:t>
            </a:fld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18C488-3B6D-4F7D-A4B1-E220A3B8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28875"/>
            <a:ext cx="895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D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ED29FF-848E-4D5B-A4C5-B0F9480B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336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6AB2"/>
          </a:solidFill>
          <a:ln xmlns:a="http://schemas.openxmlformats.org/drawingml/2006/main" w="9525">
            <a:solidFill>
              <a:srgbClr val="306A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943625-EAA8-439D-9130-990EE679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3842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06AB2"/>
                </a:solidFill>
              </a:defRPr>
            </a:pPr>
            <a:r>
              <a:rPr sz="1575" b="1">
                <a:solidFill>
                  <a:srgbClr val="306AB2"/>
                </a:solidFill>
              </a:rPr>
              <a:t>收盘价权重上升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401554-B5F5-45B7-A353-E1FE6E5E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00375"/>
            <a:ext cx="752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2933"/>
                </a:solidFill>
              </a:defRPr>
            </a:pPr>
            <a:r>
              <a:rPr sz="1163" b="0">
                <a:solidFill>
                  <a:srgbClr val="1F2933"/>
                </a:solidFill>
              </a:rPr>
              <a:t>盘后固定价格交易和基金收盘集合竞价都围绕收盘价展开，收盘附近的成交与订单集中度更值得解释。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5EF6CCB-DF0C-4D0B-9081-F0CD2001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57625"/>
            <a:ext cx="895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9525">
            <a:solidFill>
              <a:srgbClr val="C9D7D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03BDBA-DE5A-41C1-BC35-F4BC8D79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624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6AB2"/>
          </a:solidFill>
          <a:ln xmlns:a="http://schemas.openxmlformats.org/drawingml/2006/main" w="9525">
            <a:solidFill>
              <a:srgbClr val="306A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6AE4774-006F-46CF-879A-DE58DAEB5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06717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06AB2"/>
                </a:solidFill>
              </a:defRPr>
            </a:pPr>
            <a:r>
              <a:rPr sz="1575" b="1">
                <a:solidFill>
                  <a:srgbClr val="306AB2"/>
                </a:solidFill>
              </a:rPr>
              <a:t>交易窗口更清晰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CA0996C-728F-4012-A692-A6E349C2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429125"/>
            <a:ext cx="752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2933"/>
                </a:solidFill>
              </a:defRPr>
            </a:pPr>
            <a:r>
              <a:rPr sz="1163" b="0">
                <a:solidFill>
                  <a:srgbClr val="1F2933"/>
                </a:solidFill>
              </a:rPr>
              <a:t>盘后窗口和大宗交易确认时段让市场流动性可以按日内阶段拆解，而不是只看全天成交额。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F7CF806-D487-48E6-8710-F55A13C0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286375"/>
            <a:ext cx="8953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D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AE14D37-41AA-40D0-8391-F4047E6C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911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6AB2"/>
          </a:solidFill>
          <a:ln xmlns:a="http://schemas.openxmlformats.org/drawingml/2006/main" w="9525">
            <a:solidFill>
              <a:srgbClr val="306AB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4A0EE37-0F7C-4661-B21C-DE86E433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95925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06AB2"/>
                </a:solidFill>
              </a:defRPr>
            </a:pPr>
            <a:r>
              <a:rPr sz="1575" b="1">
                <a:solidFill>
                  <a:srgbClr val="306AB2"/>
                </a:solidFill>
              </a:rPr>
              <a:t>波动治理更显性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204D321-5F43-4E0D-82BB-F36242D0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857875"/>
            <a:ext cx="752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1F2933"/>
                </a:solidFill>
              </a:defRPr>
            </a:pPr>
            <a:r>
              <a:rPr sz="1163" b="0">
                <a:solidFill>
                  <a:srgbClr val="1F2933"/>
                </a:solidFill>
              </a:rPr>
              <a:t>ST涨跌幅、北交所严重异常波动监管等变化，使波动读数需要同时看价格区间和制度约束。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10E30AB-7101-4020-993E-2982DF7B5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858000"/>
            <a:ext cx="8953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7D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F27ED62-84A2-41B5-A6B5-921A027A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6991350"/>
            <a:ext cx="861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06AB2"/>
                </a:solidFill>
              </a:defRPr>
            </a:pPr>
            <a:r>
              <a:rPr sz="1350" b="1">
                <a:solidFill>
                  <a:srgbClr val="306AB2"/>
                </a:solidFill>
              </a:rPr>
              <a:t>内部分享定位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DC86D62-08E1-4D5D-9D04-AAD762AB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7353300"/>
            <a:ext cx="861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</a:rPr>
              <a:t>这份更新用于帮助sales解释市场规则与微结构变化；对外沟通时应保持信息中性，并避免把规则变化包装成方向性观点。</a:t>
            </a:r>
          </a:p>
        </p:txBody>
      </p:sp>
    </p:spTree>
    <p:extLst>
      <p:ext uri="{BB962C8B-B14F-4D97-AF65-F5344CB8AC3E}">
        <p14:creationId xmlns:p14="http://schemas.microsoft.com/office/powerpoint/2010/main" val="5871620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2026-07-06T02:16:20.2570000Z</dcterms:created>
  <dcterms:modified xsi:type="dcterms:W3CDTF">2026-07-06T02:16:20.2570000Z</dcterms:modified>
</coreProperties>
</file>