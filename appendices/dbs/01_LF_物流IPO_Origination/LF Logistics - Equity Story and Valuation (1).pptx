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96" r:id="rId4"/>
  </p:sldMasterIdLst>
  <p:notesMasterIdLst>
    <p:notesMasterId r:id="rId17"/>
  </p:notesMasterIdLst>
  <p:handoutMasterIdLst>
    <p:handoutMasterId r:id="rId18"/>
  </p:handoutMasterIdLst>
  <p:sldIdLst>
    <p:sldId id="1268" r:id="rId5"/>
    <p:sldId id="1237" r:id="rId6"/>
    <p:sldId id="1258" r:id="rId7"/>
    <p:sldId id="1273" r:id="rId8"/>
    <p:sldId id="1274" r:id="rId9"/>
    <p:sldId id="1275" r:id="rId10"/>
    <p:sldId id="1276" r:id="rId11"/>
    <p:sldId id="1238" r:id="rId12"/>
    <p:sldId id="1270" r:id="rId13"/>
    <p:sldId id="1272" r:id="rId14"/>
    <p:sldId id="1271" r:id="rId15"/>
    <p:sldId id="1154" r:id="rId16"/>
  </p:sldIdLst>
  <p:sldSz cx="9906000" cy="6858000" type="A4"/>
  <p:notesSz cx="6807200" cy="9939338"/>
  <p:custDataLst>
    <p:tags r:id="rId1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5" pos="240" userDrawn="1">
          <p15:clr>
            <a:srgbClr val="A4A3A4"/>
          </p15:clr>
        </p15:guide>
        <p15:guide id="10" pos="3096" userDrawn="1">
          <p15:clr>
            <a:srgbClr val="A4A3A4"/>
          </p15:clr>
        </p15:guide>
        <p15:guide id="11" pos="6048" userDrawn="1">
          <p15:clr>
            <a:srgbClr val="A4A3A4"/>
          </p15:clr>
        </p15:guide>
        <p15:guide id="12" pos="3072" userDrawn="1">
          <p15:clr>
            <a:srgbClr val="A4A3A4"/>
          </p15:clr>
        </p15:guide>
        <p15:guide id="13" orient="horz" pos="456" userDrawn="1">
          <p15:clr>
            <a:srgbClr val="A4A3A4"/>
          </p15:clr>
        </p15:guide>
      </p15:sldGuideLst>
    </p:ext>
    <p:ext uri="{2D200454-40CA-4A62-9FC3-DE9A4176ACB9}">
      <p15:notesGuideLst xmlns:p15="http://schemas.microsoft.com/office/powerpoint/2012/main">
        <p15:guide id="1" orient="horz" pos="3129" userDrawn="1">
          <p15:clr>
            <a:srgbClr val="A4A3A4"/>
          </p15:clr>
        </p15:guide>
        <p15:guide id="2" pos="2145"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EAEA"/>
    <a:srgbClr val="BDBDBD"/>
    <a:srgbClr val="FAD0A9"/>
    <a:srgbClr val="404040"/>
    <a:srgbClr val="B2B2B2"/>
    <a:srgbClr val="FFFF99"/>
    <a:srgbClr val="AD0307"/>
    <a:srgbClr val="E4E4E4"/>
    <a:srgbClr val="F9EEE3"/>
    <a:srgbClr val="7A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00" autoAdjust="0"/>
    <p:restoredTop sz="90476" autoAdjust="0"/>
  </p:normalViewPr>
  <p:slideViewPr>
    <p:cSldViewPr snapToGrid="0">
      <p:cViewPr varScale="1">
        <p:scale>
          <a:sx n="101" d="100"/>
          <a:sy n="101" d="100"/>
        </p:scale>
        <p:origin x="1656" y="96"/>
      </p:cViewPr>
      <p:guideLst>
        <p:guide pos="240"/>
        <p:guide pos="3096"/>
        <p:guide pos="6048"/>
        <p:guide pos="3072"/>
        <p:guide orient="horz" pos="456"/>
      </p:guideLst>
    </p:cSldViewPr>
  </p:slideViewPr>
  <p:notesTextViewPr>
    <p:cViewPr>
      <p:scale>
        <a:sx n="75" d="100"/>
        <a:sy n="75" d="100"/>
      </p:scale>
      <p:origin x="0" y="0"/>
    </p:cViewPr>
  </p:notesTextViewPr>
  <p:sorterViewPr>
    <p:cViewPr>
      <p:scale>
        <a:sx n="100" d="100"/>
        <a:sy n="100" d="100"/>
      </p:scale>
      <p:origin x="0" y="-19572"/>
    </p:cViewPr>
  </p:sorterViewPr>
  <p:notesViewPr>
    <p:cSldViewPr snapToGrid="0">
      <p:cViewPr>
        <p:scale>
          <a:sx n="1" d="2"/>
          <a:sy n="1" d="2"/>
        </p:scale>
        <p:origin x="3654" y="960"/>
      </p:cViewPr>
      <p:guideLst>
        <p:guide orient="horz" pos="3129"/>
        <p:guide pos="214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3253847454760695E-2"/>
          <c:y val="0.11079971051654185"/>
          <c:w val="0.95349230509047855"/>
          <c:h val="0.76680213007977416"/>
        </c:manualLayout>
      </c:layout>
      <c:barChart>
        <c:barDir val="col"/>
        <c:grouping val="clustered"/>
        <c:varyColors val="0"/>
        <c:ser>
          <c:idx val="0"/>
          <c:order val="0"/>
          <c:tx>
            <c:strRef>
              <c:f>Sheet1!$B$1</c:f>
              <c:strCache>
                <c:ptCount val="1"/>
                <c:pt idx="0">
                  <c:v>Revenue</c:v>
                </c:pt>
              </c:strCache>
            </c:strRef>
          </c:tx>
          <c:spPr>
            <a:solidFill>
              <a:schemeClr val="accent1"/>
            </a:solidFill>
            <a:ln>
              <a:noFill/>
            </a:ln>
            <a:effectLst/>
          </c:spPr>
          <c:invertIfNegative val="0"/>
          <c:dPt>
            <c:idx val="5"/>
            <c:invertIfNegative val="0"/>
            <c:bubble3D val="0"/>
            <c:spPr>
              <a:solidFill>
                <a:schemeClr val="accent1"/>
              </a:solidFill>
              <a:ln>
                <a:noFill/>
              </a:ln>
              <a:effectLst/>
            </c:spPr>
            <c:extLst>
              <c:ext xmlns:c16="http://schemas.microsoft.com/office/drawing/2014/chart" uri="{C3380CC4-5D6E-409C-BE32-E72D297353CC}">
                <c16:uniqueId val="{00000001-3036-40C9-9628-466506C90C9B}"/>
              </c:ext>
            </c:extLst>
          </c:dPt>
          <c:dPt>
            <c:idx val="6"/>
            <c:invertIfNegative val="0"/>
            <c:bubble3D val="0"/>
            <c:spPr>
              <a:solidFill>
                <a:schemeClr val="accent5"/>
              </a:solidFill>
              <a:ln>
                <a:noFill/>
              </a:ln>
              <a:effectLst/>
            </c:spPr>
            <c:extLst>
              <c:ext xmlns:c16="http://schemas.microsoft.com/office/drawing/2014/chart" uri="{C3380CC4-5D6E-409C-BE32-E72D297353CC}">
                <c16:uniqueId val="{00000003-3036-40C9-9628-466506C90C9B}"/>
              </c:ext>
            </c:extLst>
          </c:dPt>
          <c:dPt>
            <c:idx val="7"/>
            <c:invertIfNegative val="0"/>
            <c:bubble3D val="0"/>
            <c:spPr>
              <a:solidFill>
                <a:schemeClr val="accent5"/>
              </a:solidFill>
              <a:ln>
                <a:noFill/>
              </a:ln>
              <a:effectLst/>
            </c:spPr>
            <c:extLst>
              <c:ext xmlns:c16="http://schemas.microsoft.com/office/drawing/2014/chart" uri="{C3380CC4-5D6E-409C-BE32-E72D297353CC}">
                <c16:uniqueId val="{00000005-3036-40C9-9628-466506C90C9B}"/>
              </c:ext>
            </c:extLst>
          </c:dPt>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2013</c:v>
                </c:pt>
                <c:pt idx="1">
                  <c:v>2014</c:v>
                </c:pt>
                <c:pt idx="2">
                  <c:v>2015</c:v>
                </c:pt>
                <c:pt idx="3">
                  <c:v>2016</c:v>
                </c:pt>
                <c:pt idx="4">
                  <c:v>2017</c:v>
                </c:pt>
                <c:pt idx="5">
                  <c:v>2018</c:v>
                </c:pt>
                <c:pt idx="6">
                  <c:v>2019e</c:v>
                </c:pt>
                <c:pt idx="7">
                  <c:v>2020e</c:v>
                </c:pt>
              </c:strCache>
            </c:strRef>
          </c:cat>
          <c:val>
            <c:numRef>
              <c:f>Sheet1!$B$2:$B$9</c:f>
              <c:numCache>
                <c:formatCode>#,##0.0</c:formatCode>
                <c:ptCount val="8"/>
                <c:pt idx="0">
                  <c:v>1.9</c:v>
                </c:pt>
                <c:pt idx="1">
                  <c:v>2.8</c:v>
                </c:pt>
                <c:pt idx="2">
                  <c:v>3.8</c:v>
                </c:pt>
                <c:pt idx="3">
                  <c:v>4.7</c:v>
                </c:pt>
                <c:pt idx="4">
                  <c:v>6.3</c:v>
                </c:pt>
                <c:pt idx="5">
                  <c:v>8</c:v>
                </c:pt>
                <c:pt idx="6">
                  <c:v>9.6999999999999993</c:v>
                </c:pt>
                <c:pt idx="7">
                  <c:v>11.3</c:v>
                </c:pt>
              </c:numCache>
            </c:numRef>
          </c:val>
          <c:extLst>
            <c:ext xmlns:c16="http://schemas.microsoft.com/office/drawing/2014/chart" uri="{C3380CC4-5D6E-409C-BE32-E72D297353CC}">
              <c16:uniqueId val="{00000004-3036-40C9-9628-466506C90C9B}"/>
            </c:ext>
          </c:extLst>
        </c:ser>
        <c:dLbls>
          <c:dLblPos val="outEnd"/>
          <c:showLegendKey val="0"/>
          <c:showVal val="1"/>
          <c:showCatName val="0"/>
          <c:showSerName val="0"/>
          <c:showPercent val="0"/>
          <c:showBubbleSize val="0"/>
        </c:dLbls>
        <c:gapWidth val="143"/>
        <c:overlap val="-27"/>
        <c:axId val="202334144"/>
        <c:axId val="262710496"/>
      </c:barChart>
      <c:catAx>
        <c:axId val="2023341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262710496"/>
        <c:crosses val="autoZero"/>
        <c:auto val="1"/>
        <c:lblAlgn val="ctr"/>
        <c:lblOffset val="100"/>
        <c:noMultiLvlLbl val="0"/>
      </c:catAx>
      <c:valAx>
        <c:axId val="262710496"/>
        <c:scaling>
          <c:orientation val="minMax"/>
        </c:scaling>
        <c:delete val="1"/>
        <c:axPos val="l"/>
        <c:numFmt formatCode="#,##0.0" sourceLinked="1"/>
        <c:majorTickMark val="none"/>
        <c:minorTickMark val="none"/>
        <c:tickLblPos val="nextTo"/>
        <c:crossAx val="20233414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solidFill>
            <a:schemeClr val="tx1"/>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GMV SEA</c:v>
                </c:pt>
              </c:strCache>
            </c:strRef>
          </c:tx>
          <c:spPr>
            <a:solidFill>
              <a:schemeClr val="accent1"/>
            </a:solidFill>
            <a:ln>
              <a:noFill/>
            </a:ln>
            <a:effectLst/>
          </c:spPr>
          <c:invertIfNegative val="0"/>
          <c:dPt>
            <c:idx val="3"/>
            <c:invertIfNegative val="0"/>
            <c:bubble3D val="0"/>
            <c:spPr>
              <a:solidFill>
                <a:schemeClr val="accent5"/>
              </a:solidFill>
              <a:ln>
                <a:noFill/>
              </a:ln>
              <a:effectLst/>
            </c:spPr>
            <c:extLst>
              <c:ext xmlns:c16="http://schemas.microsoft.com/office/drawing/2014/chart" uri="{C3380CC4-5D6E-409C-BE32-E72D297353CC}">
                <c16:uniqueId val="{00000006-9175-470A-A69B-0ED5B25C8873}"/>
              </c:ext>
            </c:extLst>
          </c:dPt>
          <c:dPt>
            <c:idx val="5"/>
            <c:invertIfNegative val="0"/>
            <c:bubble3D val="0"/>
            <c:spPr>
              <a:solidFill>
                <a:schemeClr val="accent5"/>
              </a:solidFill>
              <a:ln>
                <a:noFill/>
              </a:ln>
              <a:effectLst/>
            </c:spPr>
            <c:extLst>
              <c:ext xmlns:c16="http://schemas.microsoft.com/office/drawing/2014/chart" uri="{C3380CC4-5D6E-409C-BE32-E72D297353CC}">
                <c16:uniqueId val="{00000001-9175-470A-A69B-0ED5B25C8873}"/>
              </c:ext>
            </c:extLst>
          </c:dPt>
          <c:dPt>
            <c:idx val="6"/>
            <c:invertIfNegative val="0"/>
            <c:bubble3D val="0"/>
            <c:spPr>
              <a:solidFill>
                <a:schemeClr val="accent5"/>
              </a:solidFill>
              <a:ln>
                <a:noFill/>
              </a:ln>
              <a:effectLst/>
            </c:spPr>
            <c:extLst>
              <c:ext xmlns:c16="http://schemas.microsoft.com/office/drawing/2014/chart" uri="{C3380CC4-5D6E-409C-BE32-E72D297353CC}">
                <c16:uniqueId val="{00000003-9175-470A-A69B-0ED5B25C8873}"/>
              </c:ext>
            </c:extLst>
          </c:dPt>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2015</c:v>
                </c:pt>
                <c:pt idx="1">
                  <c:v>2017</c:v>
                </c:pt>
                <c:pt idx="2">
                  <c:v>2018</c:v>
                </c:pt>
                <c:pt idx="3">
                  <c:v>2025e</c:v>
                </c:pt>
              </c:strCache>
            </c:strRef>
          </c:cat>
          <c:val>
            <c:numRef>
              <c:f>Sheet1!$B$2:$B$5</c:f>
              <c:numCache>
                <c:formatCode>General</c:formatCode>
                <c:ptCount val="4"/>
                <c:pt idx="0">
                  <c:v>5.5</c:v>
                </c:pt>
                <c:pt idx="1">
                  <c:v>10.9</c:v>
                </c:pt>
                <c:pt idx="2">
                  <c:v>23.2</c:v>
                </c:pt>
                <c:pt idx="3">
                  <c:v>102</c:v>
                </c:pt>
              </c:numCache>
            </c:numRef>
          </c:val>
          <c:extLst>
            <c:ext xmlns:c16="http://schemas.microsoft.com/office/drawing/2014/chart" uri="{C3380CC4-5D6E-409C-BE32-E72D297353CC}">
              <c16:uniqueId val="{00000004-9175-470A-A69B-0ED5B25C8873}"/>
            </c:ext>
          </c:extLst>
        </c:ser>
        <c:dLbls>
          <c:dLblPos val="outEnd"/>
          <c:showLegendKey val="0"/>
          <c:showVal val="1"/>
          <c:showCatName val="0"/>
          <c:showSerName val="0"/>
          <c:showPercent val="0"/>
          <c:showBubbleSize val="0"/>
        </c:dLbls>
        <c:gapWidth val="143"/>
        <c:axId val="202320944"/>
        <c:axId val="262689280"/>
      </c:barChart>
      <c:catAx>
        <c:axId val="2023209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262689280"/>
        <c:crosses val="autoZero"/>
        <c:auto val="1"/>
        <c:lblAlgn val="ctr"/>
        <c:lblOffset val="100"/>
        <c:noMultiLvlLbl val="0"/>
      </c:catAx>
      <c:valAx>
        <c:axId val="262689280"/>
        <c:scaling>
          <c:orientation val="minMax"/>
          <c:max val="120"/>
          <c:min val="0"/>
        </c:scaling>
        <c:delete val="1"/>
        <c:axPos val="l"/>
        <c:numFmt formatCode="General" sourceLinked="1"/>
        <c:majorTickMark val="out"/>
        <c:minorTickMark val="none"/>
        <c:tickLblPos val="nextTo"/>
        <c:crossAx val="20232094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3253847454760695E-2"/>
          <c:y val="0.22159942103308369"/>
          <c:w val="0.95349230509047855"/>
          <c:h val="0.65600241956323224"/>
        </c:manualLayout>
      </c:layout>
      <c:barChart>
        <c:barDir val="col"/>
        <c:grouping val="clustered"/>
        <c:varyColors val="0"/>
        <c:ser>
          <c:idx val="0"/>
          <c:order val="0"/>
          <c:tx>
            <c:strRef>
              <c:f>Sheet1!$B$1</c:f>
              <c:strCache>
                <c:ptCount val="1"/>
                <c:pt idx="0">
                  <c:v>Revenue</c:v>
                </c:pt>
              </c:strCache>
            </c:strRef>
          </c:tx>
          <c:spPr>
            <a:solidFill>
              <a:schemeClr val="accent1"/>
            </a:solidFill>
            <a:ln>
              <a:noFill/>
            </a:ln>
            <a:effectLst/>
          </c:spPr>
          <c:invertIfNegative val="0"/>
          <c:dPt>
            <c:idx val="5"/>
            <c:invertIfNegative val="0"/>
            <c:bubble3D val="0"/>
            <c:spPr>
              <a:solidFill>
                <a:schemeClr val="accent5"/>
              </a:solidFill>
              <a:ln>
                <a:noFill/>
              </a:ln>
              <a:effectLst/>
            </c:spPr>
            <c:extLst>
              <c:ext xmlns:c16="http://schemas.microsoft.com/office/drawing/2014/chart" uri="{C3380CC4-5D6E-409C-BE32-E72D297353CC}">
                <c16:uniqueId val="{00000003-7438-4C44-B283-61BBBB6EDB0F}"/>
              </c:ext>
            </c:extLst>
          </c:dPt>
          <c:dPt>
            <c:idx val="6"/>
            <c:invertIfNegative val="0"/>
            <c:bubble3D val="0"/>
            <c:spPr>
              <a:solidFill>
                <a:schemeClr val="accent5"/>
              </a:solidFill>
              <a:ln>
                <a:noFill/>
              </a:ln>
              <a:effectLst/>
            </c:spPr>
            <c:extLst>
              <c:ext xmlns:c16="http://schemas.microsoft.com/office/drawing/2014/chart" uri="{C3380CC4-5D6E-409C-BE32-E72D297353CC}">
                <c16:uniqueId val="{00000004-7438-4C44-B283-61BBBB6EDB0F}"/>
              </c:ext>
            </c:extLst>
          </c:dPt>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2014</c:v>
                </c:pt>
                <c:pt idx="1">
                  <c:v>2015</c:v>
                </c:pt>
                <c:pt idx="2">
                  <c:v>2016</c:v>
                </c:pt>
                <c:pt idx="3">
                  <c:v>2017</c:v>
                </c:pt>
                <c:pt idx="4">
                  <c:v>2018</c:v>
                </c:pt>
                <c:pt idx="5">
                  <c:v>1H2018</c:v>
                </c:pt>
                <c:pt idx="6">
                  <c:v>1H2019</c:v>
                </c:pt>
              </c:strCache>
            </c:strRef>
          </c:cat>
          <c:val>
            <c:numRef>
              <c:f>Sheet1!$B$2:$B$8</c:f>
              <c:numCache>
                <c:formatCode>#,##0</c:formatCode>
                <c:ptCount val="7"/>
                <c:pt idx="0">
                  <c:v>874</c:v>
                </c:pt>
                <c:pt idx="1">
                  <c:v>932</c:v>
                </c:pt>
                <c:pt idx="2">
                  <c:v>907</c:v>
                </c:pt>
                <c:pt idx="3">
                  <c:v>1028</c:v>
                </c:pt>
                <c:pt idx="4">
                  <c:v>1133</c:v>
                </c:pt>
                <c:pt idx="5">
                  <c:v>543</c:v>
                </c:pt>
                <c:pt idx="6">
                  <c:v>563</c:v>
                </c:pt>
              </c:numCache>
            </c:numRef>
          </c:val>
          <c:extLst>
            <c:ext xmlns:c16="http://schemas.microsoft.com/office/drawing/2014/chart" uri="{C3380CC4-5D6E-409C-BE32-E72D297353CC}">
              <c16:uniqueId val="{00000000-7438-4C44-B283-61BBBB6EDB0F}"/>
            </c:ext>
          </c:extLst>
        </c:ser>
        <c:dLbls>
          <c:dLblPos val="outEnd"/>
          <c:showLegendKey val="0"/>
          <c:showVal val="1"/>
          <c:showCatName val="0"/>
          <c:showSerName val="0"/>
          <c:showPercent val="0"/>
          <c:showBubbleSize val="0"/>
        </c:dLbls>
        <c:gapWidth val="143"/>
        <c:overlap val="-27"/>
        <c:axId val="202334144"/>
        <c:axId val="262710496"/>
      </c:barChart>
      <c:catAx>
        <c:axId val="2023341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262710496"/>
        <c:crosses val="autoZero"/>
        <c:auto val="1"/>
        <c:lblAlgn val="ctr"/>
        <c:lblOffset val="100"/>
        <c:noMultiLvlLbl val="0"/>
      </c:catAx>
      <c:valAx>
        <c:axId val="262710496"/>
        <c:scaling>
          <c:orientation val="minMax"/>
        </c:scaling>
        <c:delete val="1"/>
        <c:axPos val="l"/>
        <c:numFmt formatCode="#,##0" sourceLinked="1"/>
        <c:majorTickMark val="none"/>
        <c:minorTickMark val="none"/>
        <c:tickLblPos val="nextTo"/>
        <c:crossAx val="20233414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solidFill>
            <a:schemeClr val="tx1"/>
          </a:solidFill>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Total Margin</c:v>
                </c:pt>
              </c:strCache>
            </c:strRef>
          </c:tx>
          <c:spPr>
            <a:solidFill>
              <a:schemeClr val="accent1"/>
            </a:solidFill>
            <a:ln>
              <a:noFill/>
            </a:ln>
            <a:effectLst/>
          </c:spPr>
          <c:invertIfNegative val="0"/>
          <c:dPt>
            <c:idx val="5"/>
            <c:invertIfNegative val="0"/>
            <c:bubble3D val="0"/>
            <c:spPr>
              <a:solidFill>
                <a:schemeClr val="accent5"/>
              </a:solidFill>
              <a:ln>
                <a:noFill/>
              </a:ln>
              <a:effectLst/>
            </c:spPr>
            <c:extLst>
              <c:ext xmlns:c16="http://schemas.microsoft.com/office/drawing/2014/chart" uri="{C3380CC4-5D6E-409C-BE32-E72D297353CC}">
                <c16:uniqueId val="{00000003-0249-4A43-9C34-005113A2EBBC}"/>
              </c:ext>
            </c:extLst>
          </c:dPt>
          <c:dPt>
            <c:idx val="6"/>
            <c:invertIfNegative val="0"/>
            <c:bubble3D val="0"/>
            <c:spPr>
              <a:solidFill>
                <a:schemeClr val="accent5"/>
              </a:solidFill>
              <a:ln>
                <a:noFill/>
              </a:ln>
              <a:effectLst/>
            </c:spPr>
            <c:extLst>
              <c:ext xmlns:c16="http://schemas.microsoft.com/office/drawing/2014/chart" uri="{C3380CC4-5D6E-409C-BE32-E72D297353CC}">
                <c16:uniqueId val="{00000004-0249-4A43-9C34-005113A2EBBC}"/>
              </c:ext>
            </c:extLst>
          </c:dPt>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2014</c:v>
                </c:pt>
                <c:pt idx="1">
                  <c:v>2015</c:v>
                </c:pt>
                <c:pt idx="2">
                  <c:v>2016</c:v>
                </c:pt>
                <c:pt idx="3">
                  <c:v>2017</c:v>
                </c:pt>
                <c:pt idx="4">
                  <c:v>2018</c:v>
                </c:pt>
                <c:pt idx="5">
                  <c:v>1H2018</c:v>
                </c:pt>
                <c:pt idx="6">
                  <c:v>1H2019</c:v>
                </c:pt>
              </c:strCache>
            </c:strRef>
          </c:cat>
          <c:val>
            <c:numRef>
              <c:f>Sheet1!$B$2:$B$8</c:f>
              <c:numCache>
                <c:formatCode>General</c:formatCode>
                <c:ptCount val="7"/>
                <c:pt idx="0">
                  <c:v>240</c:v>
                </c:pt>
                <c:pt idx="1">
                  <c:v>280</c:v>
                </c:pt>
                <c:pt idx="2">
                  <c:v>312</c:v>
                </c:pt>
                <c:pt idx="3">
                  <c:v>353</c:v>
                </c:pt>
                <c:pt idx="4">
                  <c:v>390</c:v>
                </c:pt>
                <c:pt idx="5">
                  <c:v>190</c:v>
                </c:pt>
                <c:pt idx="6">
                  <c:v>205</c:v>
                </c:pt>
              </c:numCache>
            </c:numRef>
          </c:val>
          <c:extLst>
            <c:ext xmlns:c16="http://schemas.microsoft.com/office/drawing/2014/chart" uri="{C3380CC4-5D6E-409C-BE32-E72D297353CC}">
              <c16:uniqueId val="{00000000-0249-4A43-9C34-005113A2EBBC}"/>
            </c:ext>
          </c:extLst>
        </c:ser>
        <c:dLbls>
          <c:dLblPos val="outEnd"/>
          <c:showLegendKey val="0"/>
          <c:showVal val="1"/>
          <c:showCatName val="0"/>
          <c:showSerName val="0"/>
          <c:showPercent val="0"/>
          <c:showBubbleSize val="0"/>
        </c:dLbls>
        <c:gapWidth val="143"/>
        <c:overlap val="-27"/>
        <c:axId val="202320944"/>
        <c:axId val="262689280"/>
      </c:barChart>
      <c:lineChart>
        <c:grouping val="standard"/>
        <c:varyColors val="0"/>
        <c:ser>
          <c:idx val="1"/>
          <c:order val="1"/>
          <c:tx>
            <c:strRef>
              <c:f>Sheet1!$C$1</c:f>
              <c:strCache>
                <c:ptCount val="1"/>
                <c:pt idx="0">
                  <c:v>Margin</c:v>
                </c:pt>
              </c:strCache>
            </c:strRef>
          </c:tx>
          <c:spPr>
            <a:ln w="158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2014</c:v>
                </c:pt>
                <c:pt idx="1">
                  <c:v>2015</c:v>
                </c:pt>
                <c:pt idx="2">
                  <c:v>2016</c:v>
                </c:pt>
                <c:pt idx="3">
                  <c:v>2017</c:v>
                </c:pt>
                <c:pt idx="4">
                  <c:v>2018</c:v>
                </c:pt>
                <c:pt idx="5">
                  <c:v>1H2018</c:v>
                </c:pt>
                <c:pt idx="6">
                  <c:v>1H2019</c:v>
                </c:pt>
              </c:strCache>
            </c:strRef>
          </c:cat>
          <c:val>
            <c:numRef>
              <c:f>Sheet1!$C$2:$C$8</c:f>
              <c:numCache>
                <c:formatCode>0.0%</c:formatCode>
                <c:ptCount val="7"/>
                <c:pt idx="0">
                  <c:v>0.27459954233409611</c:v>
                </c:pt>
                <c:pt idx="1">
                  <c:v>0.30042918454935624</c:v>
                </c:pt>
                <c:pt idx="2">
                  <c:v>0.3439911797133407</c:v>
                </c:pt>
                <c:pt idx="3">
                  <c:v>0.3433852140077821</c:v>
                </c:pt>
                <c:pt idx="4">
                  <c:v>0.34421888790820832</c:v>
                </c:pt>
              </c:numCache>
            </c:numRef>
          </c:val>
          <c:smooth val="0"/>
          <c:extLst>
            <c:ext xmlns:c16="http://schemas.microsoft.com/office/drawing/2014/chart" uri="{C3380CC4-5D6E-409C-BE32-E72D297353CC}">
              <c16:uniqueId val="{00000001-0249-4A43-9C34-005113A2EBBC}"/>
            </c:ext>
          </c:extLst>
        </c:ser>
        <c:dLbls>
          <c:showLegendKey val="0"/>
          <c:showVal val="1"/>
          <c:showCatName val="0"/>
          <c:showSerName val="0"/>
          <c:showPercent val="0"/>
          <c:showBubbleSize val="0"/>
        </c:dLbls>
        <c:marker val="1"/>
        <c:smooth val="0"/>
        <c:axId val="245933696"/>
        <c:axId val="327649424"/>
      </c:lineChart>
      <c:catAx>
        <c:axId val="2023209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262689280"/>
        <c:crosses val="autoZero"/>
        <c:auto val="1"/>
        <c:lblAlgn val="ctr"/>
        <c:lblOffset val="100"/>
        <c:noMultiLvlLbl val="0"/>
      </c:catAx>
      <c:valAx>
        <c:axId val="262689280"/>
        <c:scaling>
          <c:orientation val="minMax"/>
          <c:max val="550"/>
          <c:min val="0"/>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en-US"/>
          </a:p>
        </c:txPr>
        <c:crossAx val="202320944"/>
        <c:crosses val="autoZero"/>
        <c:crossBetween val="between"/>
      </c:valAx>
      <c:valAx>
        <c:axId val="327649424"/>
        <c:scaling>
          <c:orientation val="minMax"/>
        </c:scaling>
        <c:delete val="0"/>
        <c:axPos val="r"/>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en-US"/>
          </a:p>
        </c:txPr>
        <c:crossAx val="245933696"/>
        <c:crosses val="max"/>
        <c:crossBetween val="between"/>
      </c:valAx>
      <c:catAx>
        <c:axId val="245933696"/>
        <c:scaling>
          <c:orientation val="minMax"/>
        </c:scaling>
        <c:delete val="1"/>
        <c:axPos val="b"/>
        <c:numFmt formatCode="General" sourceLinked="1"/>
        <c:majorTickMark val="out"/>
        <c:minorTickMark val="none"/>
        <c:tickLblPos val="nextTo"/>
        <c:crossAx val="327649424"/>
        <c:crosses val="autoZero"/>
        <c:auto val="1"/>
        <c:lblAlgn val="ctr"/>
        <c:lblOffset val="100"/>
        <c:noMultiLvlLbl val="0"/>
      </c:cat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Core Operating Profit</c:v>
                </c:pt>
              </c:strCache>
            </c:strRef>
          </c:tx>
          <c:spPr>
            <a:solidFill>
              <a:schemeClr val="accent1"/>
            </a:solidFill>
            <a:ln>
              <a:noFill/>
            </a:ln>
            <a:effectLst/>
          </c:spPr>
          <c:invertIfNegative val="0"/>
          <c:dPt>
            <c:idx val="5"/>
            <c:invertIfNegative val="0"/>
            <c:bubble3D val="0"/>
            <c:spPr>
              <a:solidFill>
                <a:schemeClr val="accent5"/>
              </a:solidFill>
              <a:ln>
                <a:noFill/>
              </a:ln>
              <a:effectLst/>
            </c:spPr>
            <c:extLst>
              <c:ext xmlns:c16="http://schemas.microsoft.com/office/drawing/2014/chart" uri="{C3380CC4-5D6E-409C-BE32-E72D297353CC}">
                <c16:uniqueId val="{00000001-D34A-42CB-9395-1B165A841F03}"/>
              </c:ext>
            </c:extLst>
          </c:dPt>
          <c:dPt>
            <c:idx val="6"/>
            <c:invertIfNegative val="0"/>
            <c:bubble3D val="0"/>
            <c:spPr>
              <a:solidFill>
                <a:schemeClr val="accent5"/>
              </a:solidFill>
              <a:ln>
                <a:noFill/>
              </a:ln>
              <a:effectLst/>
            </c:spPr>
            <c:extLst>
              <c:ext xmlns:c16="http://schemas.microsoft.com/office/drawing/2014/chart" uri="{C3380CC4-5D6E-409C-BE32-E72D297353CC}">
                <c16:uniqueId val="{00000003-D34A-42CB-9395-1B165A841F03}"/>
              </c:ext>
            </c:extLst>
          </c:dPt>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2014</c:v>
                </c:pt>
                <c:pt idx="1">
                  <c:v>2015</c:v>
                </c:pt>
                <c:pt idx="2">
                  <c:v>2016</c:v>
                </c:pt>
                <c:pt idx="3">
                  <c:v>2017</c:v>
                </c:pt>
                <c:pt idx="4">
                  <c:v>2018</c:v>
                </c:pt>
                <c:pt idx="5">
                  <c:v>1H2018</c:v>
                </c:pt>
                <c:pt idx="6">
                  <c:v>1H2019</c:v>
                </c:pt>
              </c:strCache>
            </c:strRef>
          </c:cat>
          <c:val>
            <c:numRef>
              <c:f>Sheet1!$B$2:$B$8</c:f>
              <c:numCache>
                <c:formatCode>General</c:formatCode>
                <c:ptCount val="7"/>
                <c:pt idx="0">
                  <c:v>46</c:v>
                </c:pt>
                <c:pt idx="1">
                  <c:v>53</c:v>
                </c:pt>
                <c:pt idx="2">
                  <c:v>61</c:v>
                </c:pt>
                <c:pt idx="3">
                  <c:v>75</c:v>
                </c:pt>
                <c:pt idx="4">
                  <c:v>86</c:v>
                </c:pt>
                <c:pt idx="5">
                  <c:v>40</c:v>
                </c:pt>
                <c:pt idx="6">
                  <c:v>43</c:v>
                </c:pt>
              </c:numCache>
            </c:numRef>
          </c:val>
          <c:extLst>
            <c:ext xmlns:c16="http://schemas.microsoft.com/office/drawing/2014/chart" uri="{C3380CC4-5D6E-409C-BE32-E72D297353CC}">
              <c16:uniqueId val="{00000004-D34A-42CB-9395-1B165A841F03}"/>
            </c:ext>
          </c:extLst>
        </c:ser>
        <c:dLbls>
          <c:dLblPos val="outEnd"/>
          <c:showLegendKey val="0"/>
          <c:showVal val="1"/>
          <c:showCatName val="0"/>
          <c:showSerName val="0"/>
          <c:showPercent val="0"/>
          <c:showBubbleSize val="0"/>
        </c:dLbls>
        <c:gapWidth val="143"/>
        <c:overlap val="-27"/>
        <c:axId val="202320944"/>
        <c:axId val="262689280"/>
      </c:barChart>
      <c:lineChart>
        <c:grouping val="standard"/>
        <c:varyColors val="0"/>
        <c:ser>
          <c:idx val="1"/>
          <c:order val="1"/>
          <c:tx>
            <c:strRef>
              <c:f>Sheet1!$C$1</c:f>
              <c:strCache>
                <c:ptCount val="1"/>
                <c:pt idx="0">
                  <c:v>Margin</c:v>
                </c:pt>
              </c:strCache>
            </c:strRef>
          </c:tx>
          <c:spPr>
            <a:ln w="158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2014</c:v>
                </c:pt>
                <c:pt idx="1">
                  <c:v>2015</c:v>
                </c:pt>
                <c:pt idx="2">
                  <c:v>2016</c:v>
                </c:pt>
                <c:pt idx="3">
                  <c:v>2017</c:v>
                </c:pt>
                <c:pt idx="4">
                  <c:v>2018</c:v>
                </c:pt>
                <c:pt idx="5">
                  <c:v>1H2018</c:v>
                </c:pt>
                <c:pt idx="6">
                  <c:v>1H2019</c:v>
                </c:pt>
              </c:strCache>
            </c:strRef>
          </c:cat>
          <c:val>
            <c:numRef>
              <c:f>Sheet1!$C$2:$C$8</c:f>
              <c:numCache>
                <c:formatCode>0.0%</c:formatCode>
                <c:ptCount val="7"/>
                <c:pt idx="0">
                  <c:v>5.2631578947368418E-2</c:v>
                </c:pt>
                <c:pt idx="1">
                  <c:v>5.6866952789699568E-2</c:v>
                </c:pt>
                <c:pt idx="2">
                  <c:v>6.7254685777287757E-2</c:v>
                </c:pt>
                <c:pt idx="3">
                  <c:v>7.2957198443579771E-2</c:v>
                </c:pt>
                <c:pt idx="4">
                  <c:v>7.590467784642542E-2</c:v>
                </c:pt>
              </c:numCache>
            </c:numRef>
          </c:val>
          <c:smooth val="0"/>
          <c:extLst>
            <c:ext xmlns:c16="http://schemas.microsoft.com/office/drawing/2014/chart" uri="{C3380CC4-5D6E-409C-BE32-E72D297353CC}">
              <c16:uniqueId val="{00000005-D34A-42CB-9395-1B165A841F03}"/>
            </c:ext>
          </c:extLst>
        </c:ser>
        <c:dLbls>
          <c:showLegendKey val="0"/>
          <c:showVal val="1"/>
          <c:showCatName val="0"/>
          <c:showSerName val="0"/>
          <c:showPercent val="0"/>
          <c:showBubbleSize val="0"/>
        </c:dLbls>
        <c:marker val="1"/>
        <c:smooth val="0"/>
        <c:axId val="245933696"/>
        <c:axId val="327649424"/>
      </c:lineChart>
      <c:catAx>
        <c:axId val="2023209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262689280"/>
        <c:crosses val="autoZero"/>
        <c:auto val="1"/>
        <c:lblAlgn val="ctr"/>
        <c:lblOffset val="100"/>
        <c:noMultiLvlLbl val="0"/>
      </c:catAx>
      <c:valAx>
        <c:axId val="262689280"/>
        <c:scaling>
          <c:orientation val="minMax"/>
          <c:max val="120"/>
          <c:min val="0"/>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en-US"/>
          </a:p>
        </c:txPr>
        <c:crossAx val="202320944"/>
        <c:crosses val="autoZero"/>
        <c:crossBetween val="between"/>
      </c:valAx>
      <c:valAx>
        <c:axId val="327649424"/>
        <c:scaling>
          <c:orientation val="minMax"/>
          <c:max val="9.0000000000000024E-2"/>
        </c:scaling>
        <c:delete val="0"/>
        <c:axPos val="r"/>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en-US"/>
          </a:p>
        </c:txPr>
        <c:crossAx val="245933696"/>
        <c:crosses val="max"/>
        <c:crossBetween val="between"/>
      </c:valAx>
      <c:catAx>
        <c:axId val="245933696"/>
        <c:scaling>
          <c:orientation val="minMax"/>
        </c:scaling>
        <c:delete val="1"/>
        <c:axPos val="b"/>
        <c:numFmt formatCode="General" sourceLinked="1"/>
        <c:majorTickMark val="out"/>
        <c:minorTickMark val="none"/>
        <c:tickLblPos val="nextTo"/>
        <c:crossAx val="327649424"/>
        <c:crosses val="autoZero"/>
        <c:auto val="1"/>
        <c:lblAlgn val="ctr"/>
        <c:lblOffset val="100"/>
        <c:noMultiLvlLbl val="0"/>
      </c:cat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7366687576787473"/>
          <c:y val="7.9861111111111105E-2"/>
          <c:w val="0.64606031477534098"/>
          <c:h val="0.84895833333333337"/>
        </c:manualLayout>
      </c:layout>
      <c:pieChart>
        <c:varyColors val="1"/>
        <c:ser>
          <c:idx val="0"/>
          <c:order val="0"/>
          <c:tx>
            <c:strRef>
              <c:f>Sheet1!$B$1</c:f>
              <c:strCache>
                <c:ptCount val="1"/>
                <c:pt idx="0">
                  <c:v>Revenue</c:v>
                </c:pt>
              </c:strCache>
            </c:strRef>
          </c:tx>
          <c:spPr>
            <a:ln w="6350"/>
          </c:spPr>
          <c:dPt>
            <c:idx val="0"/>
            <c:bubble3D val="0"/>
            <c:spPr>
              <a:solidFill>
                <a:schemeClr val="accent1">
                  <a:shade val="76000"/>
                </a:schemeClr>
              </a:solidFill>
              <a:ln w="6350">
                <a:solidFill>
                  <a:schemeClr val="lt1"/>
                </a:solidFill>
              </a:ln>
              <a:effectLst/>
            </c:spPr>
            <c:extLst>
              <c:ext xmlns:c16="http://schemas.microsoft.com/office/drawing/2014/chart" uri="{C3380CC4-5D6E-409C-BE32-E72D297353CC}">
                <c16:uniqueId val="{00000001-F6E5-455A-BFE3-CC2CB44B49FB}"/>
              </c:ext>
            </c:extLst>
          </c:dPt>
          <c:dPt>
            <c:idx val="1"/>
            <c:bubble3D val="0"/>
            <c:spPr>
              <a:solidFill>
                <a:schemeClr val="tx1">
                  <a:lumMod val="65000"/>
                  <a:lumOff val="35000"/>
                </a:schemeClr>
              </a:solidFill>
              <a:ln w="6350">
                <a:solidFill>
                  <a:schemeClr val="lt1"/>
                </a:solidFill>
              </a:ln>
              <a:effectLst/>
            </c:spPr>
            <c:extLst>
              <c:ext xmlns:c16="http://schemas.microsoft.com/office/drawing/2014/chart" uri="{C3380CC4-5D6E-409C-BE32-E72D297353CC}">
                <c16:uniqueId val="{00000002-F6E5-455A-BFE3-CC2CB44B49FB}"/>
              </c:ext>
            </c:extLst>
          </c:dPt>
          <c:dLbls>
            <c:dLbl>
              <c:idx val="0"/>
              <c:layout>
                <c:manualLayout>
                  <c:x val="-0.2521258622824073"/>
                  <c:y val="-0.12409025043744532"/>
                </c:manualLayout>
              </c:layout>
              <c:spPr>
                <a:noFill/>
                <a:ln>
                  <a:noFill/>
                </a:ln>
                <a:effectLst/>
              </c:spPr>
              <c:txPr>
                <a:bodyPr rot="0" spcFirstLastPara="1" vertOverflow="ellipsis" vert="horz" wrap="square" anchor="ctr" anchorCtr="1"/>
                <a:lstStyle/>
                <a:p>
                  <a:pPr>
                    <a:defRPr sz="700" b="0" i="0" u="none" strike="noStrike" kern="1200" baseline="0">
                      <a:solidFill>
                        <a:schemeClr val="bg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F6E5-455A-BFE3-CC2CB44B49FB}"/>
                </c:ext>
              </c:extLst>
            </c:dLbl>
            <c:dLbl>
              <c:idx val="1"/>
              <c:layout>
                <c:manualLayout>
                  <c:x val="0.23481597533229928"/>
                  <c:y val="0.14599669181977254"/>
                </c:manualLayout>
              </c:layout>
              <c:spPr>
                <a:noFill/>
                <a:ln>
                  <a:noFill/>
                </a:ln>
                <a:effectLst/>
              </c:spPr>
              <c:txPr>
                <a:bodyPr rot="0" spcFirstLastPara="1" vertOverflow="ellipsis" vert="horz" wrap="square" anchor="ctr" anchorCtr="1"/>
                <a:lstStyle/>
                <a:p>
                  <a:pPr>
                    <a:defRPr sz="700" b="0" i="0" u="none" strike="noStrike" kern="1200" baseline="0">
                      <a:solidFill>
                        <a:schemeClr val="bg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2-F6E5-455A-BFE3-CC2CB44B49FB}"/>
                </c:ext>
              </c:extLst>
            </c:dLbl>
            <c:spPr>
              <a:noFill/>
              <a:ln>
                <a:noFill/>
              </a:ln>
              <a:effectLst/>
            </c:spPr>
            <c:txPr>
              <a:bodyPr rot="0" spcFirstLastPara="1" vertOverflow="ellipsis" vert="horz" wrap="square" anchor="ctr" anchorCtr="1"/>
              <a:lstStyle/>
              <a:p>
                <a:pPr>
                  <a:defRPr sz="7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Logistics</c:v>
                </c:pt>
                <c:pt idx="1">
                  <c:v>Freight Mgmt</c:v>
                </c:pt>
              </c:strCache>
            </c:strRef>
          </c:cat>
          <c:val>
            <c:numRef>
              <c:f>Sheet1!$B$2:$B$3</c:f>
              <c:numCache>
                <c:formatCode>General</c:formatCode>
                <c:ptCount val="2"/>
                <c:pt idx="0">
                  <c:v>732000</c:v>
                </c:pt>
                <c:pt idx="1">
                  <c:v>401000</c:v>
                </c:pt>
              </c:numCache>
            </c:numRef>
          </c:val>
          <c:extLst>
            <c:ext xmlns:c16="http://schemas.microsoft.com/office/drawing/2014/chart" uri="{C3380CC4-5D6E-409C-BE32-E72D297353CC}">
              <c16:uniqueId val="{00000000-F6E5-455A-BFE3-CC2CB44B49FB}"/>
            </c:ext>
          </c:extLst>
        </c:ser>
        <c:dLbls>
          <c:showLegendKey val="0"/>
          <c:showVal val="0"/>
          <c:showCatName val="1"/>
          <c:showSerName val="0"/>
          <c:showPercent val="1"/>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700"/>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7366687576787473"/>
          <c:y val="7.9861111111111105E-2"/>
          <c:w val="0.64606031477534098"/>
          <c:h val="0.84895833333333337"/>
        </c:manualLayout>
      </c:layout>
      <c:pieChart>
        <c:varyColors val="1"/>
        <c:ser>
          <c:idx val="0"/>
          <c:order val="0"/>
          <c:tx>
            <c:strRef>
              <c:f>Sheet1!$B$1</c:f>
              <c:strCache>
                <c:ptCount val="1"/>
                <c:pt idx="0">
                  <c:v>Revenue</c:v>
                </c:pt>
              </c:strCache>
            </c:strRef>
          </c:tx>
          <c:spPr>
            <a:ln w="6350"/>
          </c:spPr>
          <c:dPt>
            <c:idx val="0"/>
            <c:bubble3D val="0"/>
            <c:spPr>
              <a:solidFill>
                <a:schemeClr val="accent1">
                  <a:shade val="76000"/>
                </a:schemeClr>
              </a:solidFill>
              <a:ln w="6350">
                <a:solidFill>
                  <a:schemeClr val="lt1"/>
                </a:solidFill>
              </a:ln>
              <a:effectLst/>
            </c:spPr>
            <c:extLst>
              <c:ext xmlns:c16="http://schemas.microsoft.com/office/drawing/2014/chart" uri="{C3380CC4-5D6E-409C-BE32-E72D297353CC}">
                <c16:uniqueId val="{00000001-0D9D-49AE-B3CB-87582BC317F5}"/>
              </c:ext>
            </c:extLst>
          </c:dPt>
          <c:dPt>
            <c:idx val="1"/>
            <c:bubble3D val="0"/>
            <c:spPr>
              <a:solidFill>
                <a:schemeClr val="tx1">
                  <a:lumMod val="65000"/>
                  <a:lumOff val="35000"/>
                </a:schemeClr>
              </a:solidFill>
              <a:ln w="6350">
                <a:solidFill>
                  <a:schemeClr val="lt1"/>
                </a:solidFill>
              </a:ln>
              <a:effectLst/>
            </c:spPr>
            <c:extLst>
              <c:ext xmlns:c16="http://schemas.microsoft.com/office/drawing/2014/chart" uri="{C3380CC4-5D6E-409C-BE32-E72D297353CC}">
                <c16:uniqueId val="{00000003-0D9D-49AE-B3CB-87582BC317F5}"/>
              </c:ext>
            </c:extLst>
          </c:dPt>
          <c:dPt>
            <c:idx val="2"/>
            <c:bubble3D val="0"/>
            <c:spPr>
              <a:solidFill>
                <a:schemeClr val="tx1">
                  <a:lumMod val="65000"/>
                  <a:lumOff val="35000"/>
                </a:schemeClr>
              </a:solidFill>
              <a:ln w="6350">
                <a:solidFill>
                  <a:schemeClr val="lt1"/>
                </a:solidFill>
              </a:ln>
              <a:effectLst/>
            </c:spPr>
            <c:extLst>
              <c:ext xmlns:c16="http://schemas.microsoft.com/office/drawing/2014/chart" uri="{C3380CC4-5D6E-409C-BE32-E72D297353CC}">
                <c16:uniqueId val="{00000005-0D9D-49AE-B3CB-87582BC317F5}"/>
              </c:ext>
            </c:extLst>
          </c:dPt>
          <c:dLbls>
            <c:dLbl>
              <c:idx val="0"/>
              <c:layout>
                <c:manualLayout>
                  <c:x val="-0.21579296691727604"/>
                  <c:y val="-2.5624726596675416E-3"/>
                </c:manualLayout>
              </c:layout>
              <c:showLegendKey val="0"/>
              <c:showVal val="0"/>
              <c:showCatName val="1"/>
              <c:showSerName val="0"/>
              <c:showPercent val="1"/>
              <c:showBubbleSize val="0"/>
              <c:extLst>
                <c:ext xmlns:c15="http://schemas.microsoft.com/office/drawing/2012/chart" uri="{CE6537A1-D6FC-4f65-9D91-7224C49458BB}">
                  <c15:layout>
                    <c:manualLayout>
                      <c:w val="0.27034757614248844"/>
                      <c:h val="0.39691874453193349"/>
                    </c:manualLayout>
                  </c15:layout>
                </c:ext>
                <c:ext xmlns:c16="http://schemas.microsoft.com/office/drawing/2014/chart" uri="{C3380CC4-5D6E-409C-BE32-E72D297353CC}">
                  <c16:uniqueId val="{00000001-0D9D-49AE-B3CB-87582BC317F5}"/>
                </c:ext>
              </c:extLst>
            </c:dLbl>
            <c:dLbl>
              <c:idx val="1"/>
              <c:layout>
                <c:manualLayout>
                  <c:x val="0.2030614601506153"/>
                  <c:y val="-9.3098616579177604E-2"/>
                </c:manualLayout>
              </c:layout>
              <c:showLegendKey val="0"/>
              <c:showVal val="0"/>
              <c:showCatName val="1"/>
              <c:showSerName val="0"/>
              <c:showPercent val="1"/>
              <c:showBubbleSize val="0"/>
              <c:extLst>
                <c:ext xmlns:c15="http://schemas.microsoft.com/office/drawing/2012/chart" uri="{CE6537A1-D6FC-4f65-9D91-7224C49458BB}">
                  <c15:layout>
                    <c:manualLayout>
                      <c:w val="0.25052977507576013"/>
                      <c:h val="0.29275207786526686"/>
                    </c:manualLayout>
                  </c15:layout>
                </c:ext>
                <c:ext xmlns:c16="http://schemas.microsoft.com/office/drawing/2014/chart" uri="{C3380CC4-5D6E-409C-BE32-E72D297353CC}">
                  <c16:uniqueId val="{00000003-0D9D-49AE-B3CB-87582BC317F5}"/>
                </c:ext>
              </c:extLst>
            </c:dLbl>
            <c:dLbl>
              <c:idx val="2"/>
              <c:layout>
                <c:manualLayout>
                  <c:x val="0.22574139902232182"/>
                  <c:y val="-0.11366264763779532"/>
                </c:manualLayout>
              </c:layout>
              <c:showLegendKey val="0"/>
              <c:showVal val="0"/>
              <c:showCatName val="1"/>
              <c:showSerName val="0"/>
              <c:showPercent val="1"/>
              <c:showBubbleSize val="0"/>
              <c:extLst>
                <c:ext xmlns:c15="http://schemas.microsoft.com/office/drawing/2012/chart" uri="{CE6537A1-D6FC-4f65-9D91-7224C49458BB}">
                  <c15:layout>
                    <c:manualLayout>
                      <c:w val="0.25865559366537771"/>
                      <c:h val="0.32274305555555555"/>
                    </c:manualLayout>
                  </c15:layout>
                </c:ext>
                <c:ext xmlns:c16="http://schemas.microsoft.com/office/drawing/2014/chart" uri="{C3380CC4-5D6E-409C-BE32-E72D297353CC}">
                  <c16:uniqueId val="{00000005-0D9D-49AE-B3CB-87582BC317F5}"/>
                </c:ext>
              </c:extLst>
            </c:dLbl>
            <c:spPr>
              <a:noFill/>
              <a:ln>
                <a:noFill/>
              </a:ln>
              <a:effectLst/>
            </c:spPr>
            <c:txPr>
              <a:bodyPr rot="0" spcFirstLastPara="1" vertOverflow="ellipsis" vert="horz" wrap="square" anchor="ctr" anchorCtr="1"/>
              <a:lstStyle/>
              <a:p>
                <a:pPr>
                  <a:defRPr sz="700" b="0" i="0" u="none" strike="noStrike" kern="1200" baseline="0">
                    <a:solidFill>
                      <a:schemeClr val="bg1"/>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Logistics</c:v>
                </c:pt>
                <c:pt idx="1">
                  <c:v>Freight Mgmt</c:v>
                </c:pt>
              </c:strCache>
            </c:strRef>
          </c:cat>
          <c:val>
            <c:numRef>
              <c:f>Sheet1!$B$2:$B$3</c:f>
              <c:numCache>
                <c:formatCode>General</c:formatCode>
                <c:ptCount val="2"/>
                <c:pt idx="0">
                  <c:v>17207851</c:v>
                </c:pt>
                <c:pt idx="1">
                  <c:v>21271338</c:v>
                </c:pt>
              </c:numCache>
            </c:numRef>
          </c:val>
          <c:extLst>
            <c:ext xmlns:c16="http://schemas.microsoft.com/office/drawing/2014/chart" uri="{C3380CC4-5D6E-409C-BE32-E72D297353CC}">
              <c16:uniqueId val="{00000004-0D9D-49AE-B3CB-87582BC317F5}"/>
            </c:ext>
          </c:extLst>
        </c:ser>
        <c:dLbls>
          <c:showLegendKey val="0"/>
          <c:showVal val="0"/>
          <c:showCatName val="1"/>
          <c:showSerName val="0"/>
          <c:showPercent val="1"/>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700"/>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7366687576787473"/>
          <c:y val="7.9861111111111105E-2"/>
          <c:w val="0.64606031477534098"/>
          <c:h val="0.84895833333333337"/>
        </c:manualLayout>
      </c:layout>
      <c:pieChart>
        <c:varyColors val="1"/>
        <c:ser>
          <c:idx val="0"/>
          <c:order val="0"/>
          <c:tx>
            <c:strRef>
              <c:f>Sheet1!$B$1</c:f>
              <c:strCache>
                <c:ptCount val="1"/>
                <c:pt idx="0">
                  <c:v>Revenue</c:v>
                </c:pt>
              </c:strCache>
            </c:strRef>
          </c:tx>
          <c:spPr>
            <a:ln w="6350"/>
          </c:spPr>
          <c:dPt>
            <c:idx val="0"/>
            <c:bubble3D val="0"/>
            <c:spPr>
              <a:solidFill>
                <a:schemeClr val="accent1">
                  <a:shade val="65000"/>
                </a:schemeClr>
              </a:solidFill>
              <a:ln w="6350">
                <a:solidFill>
                  <a:schemeClr val="lt1"/>
                </a:solidFill>
              </a:ln>
              <a:effectLst/>
            </c:spPr>
            <c:extLst>
              <c:ext xmlns:c16="http://schemas.microsoft.com/office/drawing/2014/chart" uri="{C3380CC4-5D6E-409C-BE32-E72D297353CC}">
                <c16:uniqueId val="{00000001-7C8A-475A-AE71-10A1CB9A2818}"/>
              </c:ext>
            </c:extLst>
          </c:dPt>
          <c:dPt>
            <c:idx val="1"/>
            <c:bubble3D val="0"/>
            <c:spPr>
              <a:solidFill>
                <a:schemeClr val="tx1">
                  <a:lumMod val="65000"/>
                  <a:lumOff val="35000"/>
                </a:schemeClr>
              </a:solidFill>
              <a:ln w="6350">
                <a:solidFill>
                  <a:schemeClr val="lt1"/>
                </a:solidFill>
              </a:ln>
              <a:effectLst/>
            </c:spPr>
            <c:extLst>
              <c:ext xmlns:c16="http://schemas.microsoft.com/office/drawing/2014/chart" uri="{C3380CC4-5D6E-409C-BE32-E72D297353CC}">
                <c16:uniqueId val="{00000003-7C8A-475A-AE71-10A1CB9A2818}"/>
              </c:ext>
            </c:extLst>
          </c:dPt>
          <c:dPt>
            <c:idx val="2"/>
            <c:bubble3D val="0"/>
            <c:spPr>
              <a:solidFill>
                <a:schemeClr val="accent5"/>
              </a:solidFill>
              <a:ln w="6350">
                <a:solidFill>
                  <a:schemeClr val="lt1"/>
                </a:solidFill>
              </a:ln>
              <a:effectLst/>
            </c:spPr>
            <c:extLst>
              <c:ext xmlns:c16="http://schemas.microsoft.com/office/drawing/2014/chart" uri="{C3380CC4-5D6E-409C-BE32-E72D297353CC}">
                <c16:uniqueId val="{00000005-7C8A-475A-AE71-10A1CB9A2818}"/>
              </c:ext>
            </c:extLst>
          </c:dPt>
          <c:dLbls>
            <c:dLbl>
              <c:idx val="0"/>
              <c:layout>
                <c:manualLayout>
                  <c:x val="-0.23561076798400435"/>
                  <c:y val="0.12152777777777778"/>
                </c:manualLayout>
              </c:layout>
              <c:spPr>
                <a:noFill/>
                <a:ln>
                  <a:noFill/>
                </a:ln>
                <a:effectLst/>
              </c:spPr>
              <c:txPr>
                <a:bodyPr rot="0" spcFirstLastPara="1" vertOverflow="ellipsis" vert="horz" wrap="square" anchor="ctr" anchorCtr="1"/>
                <a:lstStyle/>
                <a:p>
                  <a:pPr>
                    <a:defRPr sz="700" b="0" i="0" u="none" strike="noStrike" kern="1200" baseline="0">
                      <a:solidFill>
                        <a:schemeClr val="bg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layout>
                    <c:manualLayout>
                      <c:w val="0.27034757614248844"/>
                      <c:h val="0.41427985564304459"/>
                    </c:manualLayout>
                  </c15:layout>
                </c:ext>
                <c:ext xmlns:c16="http://schemas.microsoft.com/office/drawing/2014/chart" uri="{C3380CC4-5D6E-409C-BE32-E72D297353CC}">
                  <c16:uniqueId val="{00000001-7C8A-475A-AE71-10A1CB9A2818}"/>
                </c:ext>
              </c:extLst>
            </c:dLbl>
            <c:dLbl>
              <c:idx val="1"/>
              <c:layout>
                <c:manualLayout>
                  <c:x val="0.29884749863980187"/>
                  <c:y val="-0.13650139435695538"/>
                </c:manualLayout>
              </c:layout>
              <c:spPr>
                <a:noFill/>
                <a:ln>
                  <a:noFill/>
                </a:ln>
                <a:effectLst/>
              </c:spPr>
              <c:txPr>
                <a:bodyPr rot="0" spcFirstLastPara="1" vertOverflow="ellipsis" vert="horz" wrap="square" anchor="ctr" anchorCtr="1"/>
                <a:lstStyle/>
                <a:p>
                  <a:pPr>
                    <a:defRPr sz="700" b="0" i="0" u="none" strike="noStrike" kern="1200" baseline="0">
                      <a:solidFill>
                        <a:schemeClr val="bg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layout>
                    <c:manualLayout>
                      <c:w val="0.29677131089812603"/>
                      <c:h val="0.29275207786526686"/>
                    </c:manualLayout>
                  </c15:layout>
                </c:ext>
                <c:ext xmlns:c16="http://schemas.microsoft.com/office/drawing/2014/chart" uri="{C3380CC4-5D6E-409C-BE32-E72D297353CC}">
                  <c16:uniqueId val="{00000003-7C8A-475A-AE71-10A1CB9A2818}"/>
                </c:ext>
              </c:extLst>
            </c:dLbl>
            <c:dLbl>
              <c:idx val="2"/>
              <c:layout>
                <c:manualLayout>
                  <c:x val="0.20592359795559353"/>
                  <c:y val="0.10850694444444445"/>
                </c:manualLayout>
              </c:layout>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layout>
                    <c:manualLayout>
                      <c:w val="0.31150306317665305"/>
                      <c:h val="0.24461805555555555"/>
                    </c:manualLayout>
                  </c15:layout>
                </c:ext>
                <c:ext xmlns:c16="http://schemas.microsoft.com/office/drawing/2014/chart" uri="{C3380CC4-5D6E-409C-BE32-E72D297353CC}">
                  <c16:uniqueId val="{00000005-7C8A-475A-AE71-10A1CB9A2818}"/>
                </c:ext>
              </c:extLst>
            </c:dLbl>
            <c:dLbl>
              <c:idx val="3"/>
              <c:layout>
                <c:manualLayout>
                  <c:x val="9.1968641060611256E-2"/>
                  <c:y val="0.11067708333333333"/>
                </c:manualLayout>
              </c:layout>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7C8A-475A-AE71-10A1CB9A2818}"/>
                </c:ext>
              </c:extLst>
            </c:dLbl>
            <c:spPr>
              <a:noFill/>
              <a:ln>
                <a:noFill/>
              </a:ln>
              <a:effectLst/>
            </c:spPr>
            <c:txPr>
              <a:bodyPr rot="0" spcFirstLastPara="1" vertOverflow="ellipsis" vert="horz" wrap="square" anchor="ctr" anchorCtr="1"/>
              <a:lstStyle/>
              <a:p>
                <a:pPr>
                  <a:defRPr sz="7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Logistics</c:v>
                </c:pt>
                <c:pt idx="1">
                  <c:v>Freight Mgmt</c:v>
                </c:pt>
                <c:pt idx="2">
                  <c:v>Others</c:v>
                </c:pt>
              </c:strCache>
            </c:strRef>
          </c:cat>
          <c:val>
            <c:numRef>
              <c:f>Sheet1!$B$2:$B$4</c:f>
              <c:numCache>
                <c:formatCode>#,##0</c:formatCode>
                <c:ptCount val="3"/>
                <c:pt idx="0" formatCode="General">
                  <c:v>20492611</c:v>
                </c:pt>
                <c:pt idx="1">
                  <c:v>47553831</c:v>
                </c:pt>
                <c:pt idx="2" formatCode="General">
                  <c:v>9265394</c:v>
                </c:pt>
              </c:numCache>
            </c:numRef>
          </c:val>
          <c:extLst>
            <c:ext xmlns:c16="http://schemas.microsoft.com/office/drawing/2014/chart" uri="{C3380CC4-5D6E-409C-BE32-E72D297353CC}">
              <c16:uniqueId val="{00000006-7C8A-475A-AE71-10A1CB9A2818}"/>
            </c:ext>
          </c:extLst>
        </c:ser>
        <c:dLbls>
          <c:showLegendKey val="0"/>
          <c:showVal val="0"/>
          <c:showCatName val="1"/>
          <c:showSerName val="0"/>
          <c:showPercent val="1"/>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700"/>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7366687576787473"/>
          <c:y val="7.9861111111111105E-2"/>
          <c:w val="0.64606031477534098"/>
          <c:h val="0.84895833333333337"/>
        </c:manualLayout>
      </c:layout>
      <c:pieChart>
        <c:varyColors val="1"/>
        <c:ser>
          <c:idx val="0"/>
          <c:order val="0"/>
          <c:tx>
            <c:strRef>
              <c:f>Sheet1!$B$1</c:f>
              <c:strCache>
                <c:ptCount val="1"/>
                <c:pt idx="0">
                  <c:v>Revenue</c:v>
                </c:pt>
              </c:strCache>
            </c:strRef>
          </c:tx>
          <c:spPr>
            <a:ln w="6350"/>
          </c:spPr>
          <c:dPt>
            <c:idx val="0"/>
            <c:bubble3D val="0"/>
            <c:spPr>
              <a:solidFill>
                <a:schemeClr val="accent1">
                  <a:shade val="65000"/>
                </a:schemeClr>
              </a:solidFill>
              <a:ln w="6350">
                <a:solidFill>
                  <a:schemeClr val="lt1"/>
                </a:solidFill>
              </a:ln>
              <a:effectLst/>
            </c:spPr>
            <c:extLst>
              <c:ext xmlns:c16="http://schemas.microsoft.com/office/drawing/2014/chart" uri="{C3380CC4-5D6E-409C-BE32-E72D297353CC}">
                <c16:uniqueId val="{00000001-1782-49C8-A52C-75454BE05F87}"/>
              </c:ext>
            </c:extLst>
          </c:dPt>
          <c:dPt>
            <c:idx val="1"/>
            <c:bubble3D val="0"/>
            <c:spPr>
              <a:solidFill>
                <a:schemeClr val="tx1">
                  <a:lumMod val="65000"/>
                  <a:lumOff val="35000"/>
                </a:schemeClr>
              </a:solidFill>
              <a:ln w="6350">
                <a:solidFill>
                  <a:schemeClr val="lt1"/>
                </a:solidFill>
              </a:ln>
              <a:effectLst/>
            </c:spPr>
            <c:extLst>
              <c:ext xmlns:c16="http://schemas.microsoft.com/office/drawing/2014/chart" uri="{C3380CC4-5D6E-409C-BE32-E72D297353CC}">
                <c16:uniqueId val="{00000003-1782-49C8-A52C-75454BE05F87}"/>
              </c:ext>
            </c:extLst>
          </c:dPt>
          <c:dPt>
            <c:idx val="2"/>
            <c:bubble3D val="0"/>
            <c:spPr>
              <a:solidFill>
                <a:schemeClr val="bg1">
                  <a:lumMod val="65000"/>
                </a:schemeClr>
              </a:solidFill>
              <a:ln w="6350">
                <a:solidFill>
                  <a:schemeClr val="lt1"/>
                </a:solidFill>
              </a:ln>
              <a:effectLst/>
            </c:spPr>
            <c:extLst>
              <c:ext xmlns:c16="http://schemas.microsoft.com/office/drawing/2014/chart" uri="{C3380CC4-5D6E-409C-BE32-E72D297353CC}">
                <c16:uniqueId val="{00000005-1782-49C8-A52C-75454BE05F87}"/>
              </c:ext>
            </c:extLst>
          </c:dPt>
          <c:dPt>
            <c:idx val="3"/>
            <c:bubble3D val="0"/>
            <c:spPr>
              <a:solidFill>
                <a:schemeClr val="accent1">
                  <a:tint val="58000"/>
                </a:schemeClr>
              </a:solidFill>
              <a:ln w="6350">
                <a:solidFill>
                  <a:schemeClr val="lt1"/>
                </a:solidFill>
              </a:ln>
              <a:effectLst/>
            </c:spPr>
            <c:extLst>
              <c:ext xmlns:c16="http://schemas.microsoft.com/office/drawing/2014/chart" uri="{C3380CC4-5D6E-409C-BE32-E72D297353CC}">
                <c16:uniqueId val="{00000007-1782-49C8-A52C-75454BE05F87}"/>
              </c:ext>
            </c:extLst>
          </c:dPt>
          <c:dLbls>
            <c:dLbl>
              <c:idx val="0"/>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dLblPos val="bestFit"/>
              <c:showLegendKey val="0"/>
              <c:showVal val="0"/>
              <c:showCatName val="1"/>
              <c:showSerName val="0"/>
              <c:showPercent val="1"/>
              <c:showBubbleSize val="0"/>
              <c:extLst>
                <c:ext xmlns:c16="http://schemas.microsoft.com/office/drawing/2014/chart" uri="{C3380CC4-5D6E-409C-BE32-E72D297353CC}">
                  <c16:uniqueId val="{00000001-1782-49C8-A52C-75454BE05F87}"/>
                </c:ext>
              </c:extLst>
            </c:dLbl>
            <c:dLbl>
              <c:idx val="1"/>
              <c:layout>
                <c:manualLayout>
                  <c:x val="-0.15854214845769654"/>
                  <c:y val="-0.16905347769028872"/>
                </c:manualLayout>
              </c:layout>
              <c:spPr>
                <a:noFill/>
                <a:ln>
                  <a:noFill/>
                </a:ln>
                <a:effectLst/>
              </c:spPr>
              <c:txPr>
                <a:bodyPr rot="0" spcFirstLastPara="1" vertOverflow="ellipsis" vert="horz" wrap="square" anchor="ctr" anchorCtr="1"/>
                <a:lstStyle/>
                <a:p>
                  <a:pPr>
                    <a:defRPr sz="700" b="0" i="0" u="none" strike="noStrike" kern="1200" baseline="0">
                      <a:solidFill>
                        <a:schemeClr val="bg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29677131089812603"/>
                      <c:h val="0.29275207786526686"/>
                    </c:manualLayout>
                  </c15:layout>
                </c:ext>
                <c:ext xmlns:c16="http://schemas.microsoft.com/office/drawing/2014/chart" uri="{C3380CC4-5D6E-409C-BE32-E72D297353CC}">
                  <c16:uniqueId val="{00000003-1782-49C8-A52C-75454BE05F87}"/>
                </c:ext>
              </c:extLst>
            </c:dLbl>
            <c:dLbl>
              <c:idx val="2"/>
              <c:layout>
                <c:manualLayout>
                  <c:x val="-0.13211867377818834"/>
                  <c:y val="9.3315972222222224E-2"/>
                </c:manualLayout>
              </c:layout>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19259625677628356"/>
                      <c:h val="0.21857638888888889"/>
                    </c:manualLayout>
                  </c15:layout>
                </c:ext>
                <c:ext xmlns:c16="http://schemas.microsoft.com/office/drawing/2014/chart" uri="{C3380CC4-5D6E-409C-BE32-E72D297353CC}">
                  <c16:uniqueId val="{00000005-1782-49C8-A52C-75454BE05F87}"/>
                </c:ext>
              </c:extLst>
            </c:dLbl>
            <c:dLbl>
              <c:idx val="3"/>
              <c:layout>
                <c:manualLayout>
                  <c:x val="-0.20789575524547546"/>
                  <c:y val="2.170138888888889E-3"/>
                </c:manualLayout>
              </c:layout>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1782-49C8-A52C-75454BE05F87}"/>
                </c:ext>
              </c:extLst>
            </c:dLbl>
            <c:spPr>
              <a:noFill/>
              <a:ln>
                <a:noFill/>
              </a:ln>
              <a:effectLst/>
            </c:spPr>
            <c:txPr>
              <a:bodyPr rot="0" spcFirstLastPara="1" vertOverflow="ellipsis" vert="horz" wrap="square" anchor="ctr" anchorCtr="1"/>
              <a:lstStyle/>
              <a:p>
                <a:pPr>
                  <a:defRPr sz="7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Logistics</c:v>
                </c:pt>
                <c:pt idx="1">
                  <c:v>Freight Mgmt</c:v>
                </c:pt>
                <c:pt idx="2">
                  <c:v>Express</c:v>
                </c:pt>
                <c:pt idx="3">
                  <c:v>Others</c:v>
                </c:pt>
              </c:strCache>
            </c:strRef>
          </c:cat>
          <c:val>
            <c:numRef>
              <c:f>Sheet1!$B$2:$B$5</c:f>
              <c:numCache>
                <c:formatCode>General</c:formatCode>
                <c:ptCount val="4"/>
                <c:pt idx="0">
                  <c:v>76768</c:v>
                </c:pt>
                <c:pt idx="1">
                  <c:v>3986264</c:v>
                </c:pt>
                <c:pt idx="2">
                  <c:v>282094</c:v>
                </c:pt>
                <c:pt idx="3">
                  <c:v>117677</c:v>
                </c:pt>
              </c:numCache>
            </c:numRef>
          </c:val>
          <c:extLst>
            <c:ext xmlns:c16="http://schemas.microsoft.com/office/drawing/2014/chart" uri="{C3380CC4-5D6E-409C-BE32-E72D297353CC}">
              <c16:uniqueId val="{00000008-1782-49C8-A52C-75454BE05F87}"/>
            </c:ext>
          </c:extLst>
        </c:ser>
        <c:dLbls>
          <c:showLegendKey val="0"/>
          <c:showVal val="0"/>
          <c:showCatName val="1"/>
          <c:showSerName val="0"/>
          <c:showPercent val="1"/>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700"/>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7366687576787473"/>
          <c:y val="7.9861111111111105E-2"/>
          <c:w val="0.64606031477534098"/>
          <c:h val="0.84895833333333337"/>
        </c:manualLayout>
      </c:layout>
      <c:pieChart>
        <c:varyColors val="1"/>
        <c:ser>
          <c:idx val="0"/>
          <c:order val="0"/>
          <c:tx>
            <c:strRef>
              <c:f>Sheet1!$B$1</c:f>
              <c:strCache>
                <c:ptCount val="1"/>
                <c:pt idx="0">
                  <c:v>Revenue</c:v>
                </c:pt>
              </c:strCache>
            </c:strRef>
          </c:tx>
          <c:spPr>
            <a:ln w="6350"/>
          </c:spPr>
          <c:dPt>
            <c:idx val="0"/>
            <c:bubble3D val="0"/>
            <c:spPr>
              <a:solidFill>
                <a:schemeClr val="accent1">
                  <a:shade val="65000"/>
                </a:schemeClr>
              </a:solidFill>
              <a:ln w="6350">
                <a:solidFill>
                  <a:schemeClr val="lt1"/>
                </a:solidFill>
              </a:ln>
              <a:effectLst/>
            </c:spPr>
            <c:extLst>
              <c:ext xmlns:c16="http://schemas.microsoft.com/office/drawing/2014/chart" uri="{C3380CC4-5D6E-409C-BE32-E72D297353CC}">
                <c16:uniqueId val="{00000001-664C-4546-B6A0-226B558490AC}"/>
              </c:ext>
            </c:extLst>
          </c:dPt>
          <c:dPt>
            <c:idx val="1"/>
            <c:bubble3D val="0"/>
            <c:spPr>
              <a:solidFill>
                <a:schemeClr val="tx1">
                  <a:lumMod val="65000"/>
                  <a:lumOff val="35000"/>
                </a:schemeClr>
              </a:solidFill>
              <a:ln w="6350">
                <a:solidFill>
                  <a:schemeClr val="lt1"/>
                </a:solidFill>
              </a:ln>
              <a:effectLst/>
            </c:spPr>
            <c:extLst>
              <c:ext xmlns:c16="http://schemas.microsoft.com/office/drawing/2014/chart" uri="{C3380CC4-5D6E-409C-BE32-E72D297353CC}">
                <c16:uniqueId val="{00000003-664C-4546-B6A0-226B558490AC}"/>
              </c:ext>
            </c:extLst>
          </c:dPt>
          <c:dPt>
            <c:idx val="2"/>
            <c:bubble3D val="0"/>
            <c:spPr>
              <a:solidFill>
                <a:schemeClr val="accent5"/>
              </a:solidFill>
              <a:ln w="6350">
                <a:solidFill>
                  <a:schemeClr val="lt1"/>
                </a:solidFill>
              </a:ln>
              <a:effectLst/>
            </c:spPr>
            <c:extLst>
              <c:ext xmlns:c16="http://schemas.microsoft.com/office/drawing/2014/chart" uri="{C3380CC4-5D6E-409C-BE32-E72D297353CC}">
                <c16:uniqueId val="{00000005-664C-4546-B6A0-226B558490AC}"/>
              </c:ext>
            </c:extLst>
          </c:dPt>
          <c:dLbls>
            <c:dLbl>
              <c:idx val="0"/>
              <c:layout>
                <c:manualLayout>
                  <c:x val="-2.642373475563773E-2"/>
                  <c:y val="-0.13020833333333343"/>
                </c:manualLayout>
              </c:layout>
              <c:spPr>
                <a:noFill/>
                <a:ln>
                  <a:noFill/>
                </a:ln>
                <a:effectLst/>
              </c:spPr>
              <c:txPr>
                <a:bodyPr rot="0" spcFirstLastPara="1" vertOverflow="ellipsis" vert="horz" wrap="square" anchor="ctr" anchorCtr="1"/>
                <a:lstStyle/>
                <a:p>
                  <a:pPr>
                    <a:defRPr sz="700" b="0" i="0" u="none" strike="noStrike" kern="1200" baseline="0">
                      <a:solidFill>
                        <a:schemeClr val="bg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27034757614248844"/>
                      <c:h val="0.41427985564304459"/>
                    </c:manualLayout>
                  </c15:layout>
                </c:ext>
                <c:ext xmlns:c16="http://schemas.microsoft.com/office/drawing/2014/chart" uri="{C3380CC4-5D6E-409C-BE32-E72D297353CC}">
                  <c16:uniqueId val="{00000001-664C-4546-B6A0-226B558490AC}"/>
                </c:ext>
              </c:extLst>
            </c:dLbl>
            <c:dLbl>
              <c:idx val="1"/>
              <c:layout>
                <c:manualLayout>
                  <c:x val="-0.27084302116915665"/>
                  <c:y val="8.6805555555555559E-3"/>
                </c:manualLayout>
              </c:layout>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20428823925339423"/>
                      <c:h val="0.29275207786526686"/>
                    </c:manualLayout>
                  </c15:layout>
                </c:ext>
                <c:ext xmlns:c16="http://schemas.microsoft.com/office/drawing/2014/chart" uri="{C3380CC4-5D6E-409C-BE32-E72D297353CC}">
                  <c16:uniqueId val="{00000003-664C-4546-B6A0-226B558490AC}"/>
                </c:ext>
              </c:extLst>
            </c:dLbl>
            <c:dLbl>
              <c:idx val="2"/>
              <c:layout>
                <c:manualLayout>
                  <c:x val="0.30272809456784189"/>
                  <c:y val="2.3871527777777776E-2"/>
                </c:manualLayout>
              </c:layout>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1727784557095553"/>
                      <c:h val="0.24461805555555555"/>
                    </c:manualLayout>
                  </c15:layout>
                </c:ext>
                <c:ext xmlns:c16="http://schemas.microsoft.com/office/drawing/2014/chart" uri="{C3380CC4-5D6E-409C-BE32-E72D297353CC}">
                  <c16:uniqueId val="{00000005-664C-4546-B6A0-226B558490AC}"/>
                </c:ext>
              </c:extLst>
            </c:dLbl>
            <c:dLbl>
              <c:idx val="3"/>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dLblPos val="bestFit"/>
              <c:showLegendKey val="0"/>
              <c:showVal val="0"/>
              <c:showCatName val="1"/>
              <c:showSerName val="0"/>
              <c:showPercent val="1"/>
              <c:showBubbleSize val="0"/>
              <c:extLst>
                <c:ext xmlns:c16="http://schemas.microsoft.com/office/drawing/2014/chart" uri="{C3380CC4-5D6E-409C-BE32-E72D297353CC}">
                  <c16:uniqueId val="{00000006-664C-4546-B6A0-226B558490AC}"/>
                </c:ext>
              </c:extLst>
            </c:dLbl>
            <c:spPr>
              <a:noFill/>
              <a:ln>
                <a:noFill/>
              </a:ln>
              <a:effectLst/>
            </c:spPr>
            <c:txPr>
              <a:bodyPr rot="0" spcFirstLastPara="1" vertOverflow="ellipsis" vert="horz" wrap="square" anchor="ctr" anchorCtr="1"/>
              <a:lstStyle/>
              <a:p>
                <a:pPr>
                  <a:defRPr sz="7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Express and Logistics</c:v>
                </c:pt>
                <c:pt idx="1">
                  <c:v>Sale of goods</c:v>
                </c:pt>
                <c:pt idx="2">
                  <c:v>Others</c:v>
                </c:pt>
              </c:strCache>
            </c:strRef>
          </c:cat>
          <c:val>
            <c:numRef>
              <c:f>Sheet1!$B$2:$B$4</c:f>
              <c:numCache>
                <c:formatCode>#,##0</c:formatCode>
                <c:ptCount val="3"/>
                <c:pt idx="0">
                  <c:v>89676881</c:v>
                </c:pt>
                <c:pt idx="1">
                  <c:v>405960</c:v>
                </c:pt>
                <c:pt idx="2">
                  <c:v>859853</c:v>
                </c:pt>
              </c:numCache>
            </c:numRef>
          </c:val>
          <c:extLst>
            <c:ext xmlns:c16="http://schemas.microsoft.com/office/drawing/2014/chart" uri="{C3380CC4-5D6E-409C-BE32-E72D297353CC}">
              <c16:uniqueId val="{00000007-664C-4546-B6A0-226B558490AC}"/>
            </c:ext>
          </c:extLst>
        </c:ser>
        <c:dLbls>
          <c:dLblPos val="bestFit"/>
          <c:showLegendKey val="0"/>
          <c:showVal val="0"/>
          <c:showCatName val="1"/>
          <c:showSerName val="0"/>
          <c:showPercent val="1"/>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700"/>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7366687576787473"/>
          <c:y val="7.9861111111111105E-2"/>
          <c:w val="0.64606031477534098"/>
          <c:h val="0.84895833333333337"/>
        </c:manualLayout>
      </c:layout>
      <c:pieChart>
        <c:varyColors val="1"/>
        <c:ser>
          <c:idx val="0"/>
          <c:order val="0"/>
          <c:tx>
            <c:strRef>
              <c:f>Sheet1!$B$1</c:f>
              <c:strCache>
                <c:ptCount val="1"/>
                <c:pt idx="0">
                  <c:v>Revenue</c:v>
                </c:pt>
              </c:strCache>
            </c:strRef>
          </c:tx>
          <c:spPr>
            <a:ln w="6350"/>
          </c:spPr>
          <c:dPt>
            <c:idx val="0"/>
            <c:bubble3D val="0"/>
            <c:spPr>
              <a:solidFill>
                <a:schemeClr val="accent1">
                  <a:shade val="65000"/>
                </a:schemeClr>
              </a:solidFill>
              <a:ln w="6350">
                <a:solidFill>
                  <a:schemeClr val="lt1"/>
                </a:solidFill>
              </a:ln>
              <a:effectLst/>
            </c:spPr>
            <c:extLst>
              <c:ext xmlns:c16="http://schemas.microsoft.com/office/drawing/2014/chart" uri="{C3380CC4-5D6E-409C-BE32-E72D297353CC}">
                <c16:uniqueId val="{00000001-4735-4A2E-A89F-D48E72FFB4F6}"/>
              </c:ext>
            </c:extLst>
          </c:dPt>
          <c:dPt>
            <c:idx val="1"/>
            <c:bubble3D val="0"/>
            <c:spPr>
              <a:solidFill>
                <a:schemeClr val="tx1">
                  <a:lumMod val="65000"/>
                  <a:lumOff val="35000"/>
                </a:schemeClr>
              </a:solidFill>
              <a:ln w="6350">
                <a:solidFill>
                  <a:schemeClr val="lt1"/>
                </a:solidFill>
              </a:ln>
              <a:effectLst/>
            </c:spPr>
            <c:extLst>
              <c:ext xmlns:c16="http://schemas.microsoft.com/office/drawing/2014/chart" uri="{C3380CC4-5D6E-409C-BE32-E72D297353CC}">
                <c16:uniqueId val="{00000003-4735-4A2E-A89F-D48E72FFB4F6}"/>
              </c:ext>
            </c:extLst>
          </c:dPt>
          <c:dPt>
            <c:idx val="2"/>
            <c:bubble3D val="0"/>
            <c:spPr>
              <a:solidFill>
                <a:schemeClr val="accent5"/>
              </a:solidFill>
              <a:ln w="6350">
                <a:solidFill>
                  <a:schemeClr val="lt1"/>
                </a:solidFill>
              </a:ln>
              <a:effectLst/>
            </c:spPr>
            <c:extLst>
              <c:ext xmlns:c16="http://schemas.microsoft.com/office/drawing/2014/chart" uri="{C3380CC4-5D6E-409C-BE32-E72D297353CC}">
                <c16:uniqueId val="{00000005-4735-4A2E-A89F-D48E72FFB4F6}"/>
              </c:ext>
            </c:extLst>
          </c:dPt>
          <c:dLbls>
            <c:dLbl>
              <c:idx val="0"/>
              <c:layout>
                <c:manualLayout>
                  <c:x val="-0.20918703322836668"/>
                  <c:y val="-0.12152777777777782"/>
                </c:manualLayout>
              </c:layout>
              <c:spPr>
                <a:noFill/>
                <a:ln>
                  <a:noFill/>
                </a:ln>
                <a:effectLst/>
              </c:spPr>
              <c:txPr>
                <a:bodyPr rot="0" spcFirstLastPara="1" vertOverflow="ellipsis" vert="horz" wrap="square" anchor="ctr" anchorCtr="1"/>
                <a:lstStyle/>
                <a:p>
                  <a:pPr>
                    <a:defRPr sz="700" b="0" i="0" u="none" strike="noStrike" kern="1200" baseline="0">
                      <a:solidFill>
                        <a:schemeClr val="bg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layout>
                    <c:manualLayout>
                      <c:w val="0.27034757614248844"/>
                      <c:h val="0.41427985564304459"/>
                    </c:manualLayout>
                  </c15:layout>
                </c:ext>
                <c:ext xmlns:c16="http://schemas.microsoft.com/office/drawing/2014/chart" uri="{C3380CC4-5D6E-409C-BE32-E72D297353CC}">
                  <c16:uniqueId val="{00000001-4735-4A2E-A89F-D48E72FFB4F6}"/>
                </c:ext>
              </c:extLst>
            </c:dLbl>
            <c:dLbl>
              <c:idx val="1"/>
              <c:layout>
                <c:manualLayout>
                  <c:x val="0.15351695748379465"/>
                  <c:y val="-3.2334727690288716E-2"/>
                </c:manualLayout>
              </c:layout>
              <c:spPr>
                <a:noFill/>
                <a:ln>
                  <a:noFill/>
                </a:ln>
                <a:effectLst/>
              </c:spPr>
              <c:txPr>
                <a:bodyPr rot="0" spcFirstLastPara="1" vertOverflow="ellipsis" vert="horz" wrap="square" anchor="ctr" anchorCtr="1"/>
                <a:lstStyle/>
                <a:p>
                  <a:pPr>
                    <a:defRPr sz="700" b="0" i="0" u="none" strike="noStrike" kern="1200" baseline="0">
                      <a:solidFill>
                        <a:schemeClr val="bg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layout>
                    <c:manualLayout>
                      <c:w val="0.29677131089812603"/>
                      <c:h val="0.29275207786526686"/>
                    </c:manualLayout>
                  </c15:layout>
                </c:ext>
                <c:ext xmlns:c16="http://schemas.microsoft.com/office/drawing/2014/chart" uri="{C3380CC4-5D6E-409C-BE32-E72D297353CC}">
                  <c16:uniqueId val="{00000003-4735-4A2E-A89F-D48E72FFB4F6}"/>
                </c:ext>
              </c:extLst>
            </c:dLbl>
            <c:dLbl>
              <c:idx val="2"/>
              <c:layout>
                <c:manualLayout>
                  <c:x val="0.18610579688886533"/>
                  <c:y val="9.1145833333333329E-2"/>
                </c:manualLayout>
              </c:layout>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layout>
                    <c:manualLayout>
                      <c:w val="0.31150306317665305"/>
                      <c:h val="0.24461805555555555"/>
                    </c:manualLayout>
                  </c15:layout>
                </c:ext>
                <c:ext xmlns:c16="http://schemas.microsoft.com/office/drawing/2014/chart" uri="{C3380CC4-5D6E-409C-BE32-E72D297353CC}">
                  <c16:uniqueId val="{00000005-4735-4A2E-A89F-D48E72FFB4F6}"/>
                </c:ext>
              </c:extLst>
            </c:dLbl>
            <c:dLbl>
              <c:idx val="3"/>
              <c:layout>
                <c:manualLayout>
                  <c:x val="9.1968641060611256E-2"/>
                  <c:y val="0.11067708333333333"/>
                </c:manualLayout>
              </c:layout>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6-4735-4A2E-A89F-D48E72FFB4F6}"/>
                </c:ext>
              </c:extLst>
            </c:dLbl>
            <c:spPr>
              <a:noFill/>
              <a:ln>
                <a:noFill/>
              </a:ln>
              <a:effectLst/>
            </c:spPr>
            <c:txPr>
              <a:bodyPr rot="0" spcFirstLastPara="1" vertOverflow="ellipsis" vert="horz" wrap="square" anchor="ctr" anchorCtr="1"/>
              <a:lstStyle/>
              <a:p>
                <a:pPr>
                  <a:defRPr sz="7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China</c:v>
                </c:pt>
                <c:pt idx="1">
                  <c:v>Asia</c:v>
                </c:pt>
                <c:pt idx="2">
                  <c:v>Others</c:v>
                </c:pt>
              </c:strCache>
            </c:strRef>
          </c:cat>
          <c:val>
            <c:numRef>
              <c:f>Sheet1!$B$2:$B$4</c:f>
              <c:numCache>
                <c:formatCode>General</c:formatCode>
                <c:ptCount val="3"/>
                <c:pt idx="0">
                  <c:v>647000</c:v>
                </c:pt>
                <c:pt idx="1">
                  <c:v>372000</c:v>
                </c:pt>
                <c:pt idx="2">
                  <c:v>114000</c:v>
                </c:pt>
              </c:numCache>
            </c:numRef>
          </c:val>
          <c:extLst>
            <c:ext xmlns:c16="http://schemas.microsoft.com/office/drawing/2014/chart" uri="{C3380CC4-5D6E-409C-BE32-E72D297353CC}">
              <c16:uniqueId val="{00000007-4735-4A2E-A89F-D48E72FFB4F6}"/>
            </c:ext>
          </c:extLst>
        </c:ser>
        <c:dLbls>
          <c:showLegendKey val="0"/>
          <c:showVal val="0"/>
          <c:showCatName val="1"/>
          <c:showSerName val="0"/>
          <c:showPercent val="1"/>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700"/>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7366687576787473"/>
          <c:y val="7.9861111111111105E-2"/>
          <c:w val="0.64606031477534098"/>
          <c:h val="0.84895833333333337"/>
        </c:manualLayout>
      </c:layout>
      <c:pieChart>
        <c:varyColors val="1"/>
        <c:ser>
          <c:idx val="0"/>
          <c:order val="0"/>
          <c:tx>
            <c:strRef>
              <c:f>Sheet1!$B$1</c:f>
              <c:strCache>
                <c:ptCount val="1"/>
                <c:pt idx="0">
                  <c:v>Revenue</c:v>
                </c:pt>
              </c:strCache>
            </c:strRef>
          </c:tx>
          <c:spPr>
            <a:ln w="6350"/>
          </c:spPr>
          <c:dPt>
            <c:idx val="0"/>
            <c:bubble3D val="0"/>
            <c:spPr>
              <a:solidFill>
                <a:schemeClr val="accent1">
                  <a:shade val="65000"/>
                </a:schemeClr>
              </a:solidFill>
              <a:ln w="6350">
                <a:solidFill>
                  <a:schemeClr val="lt1"/>
                </a:solidFill>
              </a:ln>
              <a:effectLst/>
            </c:spPr>
            <c:extLst>
              <c:ext xmlns:c16="http://schemas.microsoft.com/office/drawing/2014/chart" uri="{C3380CC4-5D6E-409C-BE32-E72D297353CC}">
                <c16:uniqueId val="{00000001-4C23-4AAC-AC9A-B1269A53BDEA}"/>
              </c:ext>
            </c:extLst>
          </c:dPt>
          <c:dPt>
            <c:idx val="1"/>
            <c:bubble3D val="0"/>
            <c:spPr>
              <a:solidFill>
                <a:schemeClr val="accent5">
                  <a:lumMod val="50000"/>
                </a:schemeClr>
              </a:solidFill>
              <a:ln w="6350">
                <a:solidFill>
                  <a:schemeClr val="lt1"/>
                </a:solidFill>
              </a:ln>
              <a:effectLst/>
            </c:spPr>
            <c:extLst>
              <c:ext xmlns:c16="http://schemas.microsoft.com/office/drawing/2014/chart" uri="{C3380CC4-5D6E-409C-BE32-E72D297353CC}">
                <c16:uniqueId val="{00000003-4C23-4AAC-AC9A-B1269A53BDEA}"/>
              </c:ext>
            </c:extLst>
          </c:dPt>
          <c:dPt>
            <c:idx val="2"/>
            <c:bubble3D val="0"/>
            <c:spPr>
              <a:solidFill>
                <a:schemeClr val="accent5">
                  <a:lumMod val="75000"/>
                </a:schemeClr>
              </a:solidFill>
              <a:ln w="6350">
                <a:solidFill>
                  <a:schemeClr val="lt1"/>
                </a:solidFill>
              </a:ln>
              <a:effectLst/>
            </c:spPr>
            <c:extLst>
              <c:ext xmlns:c16="http://schemas.microsoft.com/office/drawing/2014/chart" uri="{C3380CC4-5D6E-409C-BE32-E72D297353CC}">
                <c16:uniqueId val="{00000005-4C23-4AAC-AC9A-B1269A53BDEA}"/>
              </c:ext>
            </c:extLst>
          </c:dPt>
          <c:dPt>
            <c:idx val="3"/>
            <c:bubble3D val="0"/>
            <c:spPr>
              <a:solidFill>
                <a:schemeClr val="tx1">
                  <a:lumMod val="65000"/>
                  <a:lumOff val="35000"/>
                </a:schemeClr>
              </a:solidFill>
              <a:ln w="6350">
                <a:solidFill>
                  <a:schemeClr val="lt1"/>
                </a:solidFill>
              </a:ln>
              <a:effectLst/>
            </c:spPr>
            <c:extLst>
              <c:ext xmlns:c16="http://schemas.microsoft.com/office/drawing/2014/chart" uri="{C3380CC4-5D6E-409C-BE32-E72D297353CC}">
                <c16:uniqueId val="{00000006-4C23-4AAC-AC9A-B1269A53BDEA}"/>
              </c:ext>
            </c:extLst>
          </c:dPt>
          <c:dPt>
            <c:idx val="4"/>
            <c:bubble3D val="0"/>
            <c:spPr>
              <a:solidFill>
                <a:schemeClr val="accent5"/>
              </a:solidFill>
              <a:ln w="6350">
                <a:solidFill>
                  <a:schemeClr val="lt1"/>
                </a:solidFill>
              </a:ln>
              <a:effectLst/>
            </c:spPr>
            <c:extLst>
              <c:ext xmlns:c16="http://schemas.microsoft.com/office/drawing/2014/chart" uri="{C3380CC4-5D6E-409C-BE32-E72D297353CC}">
                <c16:uniqueId val="{00000008-4C23-4AAC-AC9A-B1269A53BDEA}"/>
              </c:ext>
            </c:extLst>
          </c:dPt>
          <c:dLbls>
            <c:dLbl>
              <c:idx val="0"/>
              <c:layout>
                <c:manualLayout>
                  <c:x val="-0.2290048342950948"/>
                  <c:y val="0.13020833333333334"/>
                </c:manualLayout>
              </c:layout>
              <c:spPr>
                <a:noFill/>
                <a:ln>
                  <a:noFill/>
                </a:ln>
                <a:effectLst/>
              </c:spPr>
              <c:txPr>
                <a:bodyPr rot="0" spcFirstLastPara="1" vertOverflow="ellipsis" vert="horz" wrap="square" anchor="ctr" anchorCtr="1"/>
                <a:lstStyle/>
                <a:p>
                  <a:pPr>
                    <a:defRPr sz="700" b="0" i="0" u="none" strike="noStrike" kern="1200" baseline="0">
                      <a:solidFill>
                        <a:schemeClr val="bg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layout>
                    <c:manualLayout>
                      <c:w val="0.27034757614248844"/>
                      <c:h val="0.41427985564304459"/>
                    </c:manualLayout>
                  </c15:layout>
                </c:ext>
                <c:ext xmlns:c16="http://schemas.microsoft.com/office/drawing/2014/chart" uri="{C3380CC4-5D6E-409C-BE32-E72D297353CC}">
                  <c16:uniqueId val="{00000001-4C23-4AAC-AC9A-B1269A53BDEA}"/>
                </c:ext>
              </c:extLst>
            </c:dLbl>
            <c:dLbl>
              <c:idx val="1"/>
              <c:layout>
                <c:manualLayout>
                  <c:x val="-0.16514860229886499"/>
                  <c:y val="-0.17122361657917759"/>
                </c:manualLayout>
              </c:layout>
              <c:spPr>
                <a:noFill/>
                <a:ln>
                  <a:noFill/>
                </a:ln>
                <a:effectLst/>
              </c:spPr>
              <c:txPr>
                <a:bodyPr rot="0" spcFirstLastPara="1" vertOverflow="ellipsis" vert="horz" wrap="square" anchor="ctr" anchorCtr="1"/>
                <a:lstStyle/>
                <a:p>
                  <a:pPr>
                    <a:defRPr sz="700" b="0" i="0" u="none" strike="noStrike" kern="1200" baseline="0">
                      <a:solidFill>
                        <a:schemeClr val="bg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layout>
                    <c:manualLayout>
                      <c:w val="0.29677131089812603"/>
                      <c:h val="0.29275207786526686"/>
                    </c:manualLayout>
                  </c15:layout>
                </c:ext>
                <c:ext xmlns:c16="http://schemas.microsoft.com/office/drawing/2014/chart" uri="{C3380CC4-5D6E-409C-BE32-E72D297353CC}">
                  <c16:uniqueId val="{00000003-4C23-4AAC-AC9A-B1269A53BDEA}"/>
                </c:ext>
              </c:extLst>
            </c:dLbl>
            <c:dLbl>
              <c:idx val="2"/>
              <c:layout>
                <c:manualLayout>
                  <c:x val="8.9513002246017458E-3"/>
                  <c:y val="0"/>
                </c:manualLayout>
              </c:layout>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layout>
                    <c:manualLayout>
                      <c:w val="0.31150306317665305"/>
                      <c:h val="0.24461805555555555"/>
                    </c:manualLayout>
                  </c15:layout>
                </c:ext>
                <c:ext xmlns:c16="http://schemas.microsoft.com/office/drawing/2014/chart" uri="{C3380CC4-5D6E-409C-BE32-E72D297353CC}">
                  <c16:uniqueId val="{00000005-4C23-4AAC-AC9A-B1269A53BDEA}"/>
                </c:ext>
              </c:extLst>
            </c:dLbl>
            <c:dLbl>
              <c:idx val="3"/>
              <c:layout>
                <c:manualLayout>
                  <c:x val="0.13821017688297718"/>
                  <c:y val="-0.19965277777777779"/>
                </c:manualLayout>
              </c:layout>
              <c:spPr>
                <a:noFill/>
                <a:ln>
                  <a:noFill/>
                </a:ln>
                <a:effectLst/>
              </c:spPr>
              <c:txPr>
                <a:bodyPr rot="0" spcFirstLastPara="1" vertOverflow="ellipsis" vert="horz" wrap="square" anchor="ctr" anchorCtr="1"/>
                <a:lstStyle/>
                <a:p>
                  <a:pPr>
                    <a:defRPr sz="700" b="0" i="0" u="none" strike="noStrike" kern="1200" baseline="0">
                      <a:solidFill>
                        <a:schemeClr val="bg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6-4C23-4AAC-AC9A-B1269A53BDEA}"/>
                </c:ext>
              </c:extLst>
            </c:dLbl>
            <c:dLbl>
              <c:idx val="4"/>
              <c:layout>
                <c:manualLayout>
                  <c:x val="0.19845395144066572"/>
                  <c:y val="0.1871890037182852"/>
                </c:manualLayout>
              </c:layout>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8-4C23-4AAC-AC9A-B1269A53BDEA}"/>
                </c:ext>
              </c:extLst>
            </c:dLbl>
            <c:spPr>
              <a:noFill/>
              <a:ln>
                <a:noFill/>
              </a:ln>
              <a:effectLst/>
            </c:spPr>
            <c:txPr>
              <a:bodyPr rot="0" spcFirstLastPara="1" vertOverflow="ellipsis" vert="horz" wrap="square" anchor="ctr" anchorCtr="1"/>
              <a:lstStyle/>
              <a:p>
                <a:pPr>
                  <a:defRPr sz="7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China</c:v>
                </c:pt>
                <c:pt idx="1">
                  <c:v>Hong Kong</c:v>
                </c:pt>
                <c:pt idx="2">
                  <c:v>Taiwan</c:v>
                </c:pt>
                <c:pt idx="3">
                  <c:v>Asia</c:v>
                </c:pt>
                <c:pt idx="4">
                  <c:v>Others</c:v>
                </c:pt>
              </c:strCache>
            </c:strRef>
          </c:cat>
          <c:val>
            <c:numRef>
              <c:f>Sheet1!$B$2:$B$6</c:f>
              <c:numCache>
                <c:formatCode>General</c:formatCode>
                <c:ptCount val="5"/>
                <c:pt idx="0">
                  <c:v>9990148</c:v>
                </c:pt>
                <c:pt idx="1">
                  <c:v>5138996</c:v>
                </c:pt>
                <c:pt idx="2">
                  <c:v>2973545</c:v>
                </c:pt>
                <c:pt idx="3">
                  <c:v>9550247</c:v>
                </c:pt>
                <c:pt idx="4">
                  <c:v>10485592</c:v>
                </c:pt>
              </c:numCache>
            </c:numRef>
          </c:val>
          <c:extLst>
            <c:ext xmlns:c16="http://schemas.microsoft.com/office/drawing/2014/chart" uri="{C3380CC4-5D6E-409C-BE32-E72D297353CC}">
              <c16:uniqueId val="{00000007-4C23-4AAC-AC9A-B1269A53BDEA}"/>
            </c:ext>
          </c:extLst>
        </c:ser>
        <c:dLbls>
          <c:showLegendKey val="0"/>
          <c:showVal val="0"/>
          <c:showCatName val="1"/>
          <c:showSerName val="0"/>
          <c:showPercent val="1"/>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700"/>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7366687576787473"/>
          <c:y val="7.9861111111111105E-2"/>
          <c:w val="0.64606031477534098"/>
          <c:h val="0.84895833333333337"/>
        </c:manualLayout>
      </c:layout>
      <c:pieChart>
        <c:varyColors val="1"/>
        <c:ser>
          <c:idx val="0"/>
          <c:order val="0"/>
          <c:tx>
            <c:strRef>
              <c:f>Sheet1!$B$1</c:f>
              <c:strCache>
                <c:ptCount val="1"/>
                <c:pt idx="0">
                  <c:v>Revenue</c:v>
                </c:pt>
              </c:strCache>
            </c:strRef>
          </c:tx>
          <c:spPr>
            <a:ln w="6350"/>
          </c:spPr>
          <c:dPt>
            <c:idx val="0"/>
            <c:bubble3D val="0"/>
            <c:spPr>
              <a:solidFill>
                <a:schemeClr val="accent1">
                  <a:shade val="65000"/>
                </a:schemeClr>
              </a:solidFill>
              <a:ln w="6350">
                <a:solidFill>
                  <a:schemeClr val="lt1"/>
                </a:solidFill>
              </a:ln>
              <a:effectLst/>
            </c:spPr>
            <c:extLst>
              <c:ext xmlns:c16="http://schemas.microsoft.com/office/drawing/2014/chart" uri="{C3380CC4-5D6E-409C-BE32-E72D297353CC}">
                <c16:uniqueId val="{00000001-B59C-4224-9FB1-FDA05F86176C}"/>
              </c:ext>
            </c:extLst>
          </c:dPt>
          <c:dPt>
            <c:idx val="1"/>
            <c:bubble3D val="0"/>
            <c:spPr>
              <a:solidFill>
                <a:schemeClr val="accent5">
                  <a:lumMod val="50000"/>
                </a:schemeClr>
              </a:solidFill>
              <a:ln w="6350">
                <a:solidFill>
                  <a:schemeClr val="lt1"/>
                </a:solidFill>
              </a:ln>
              <a:effectLst/>
            </c:spPr>
            <c:extLst>
              <c:ext xmlns:c16="http://schemas.microsoft.com/office/drawing/2014/chart" uri="{C3380CC4-5D6E-409C-BE32-E72D297353CC}">
                <c16:uniqueId val="{00000003-B59C-4224-9FB1-FDA05F86176C}"/>
              </c:ext>
            </c:extLst>
          </c:dPt>
          <c:dPt>
            <c:idx val="2"/>
            <c:bubble3D val="0"/>
            <c:spPr>
              <a:solidFill>
                <a:schemeClr val="tx1">
                  <a:lumMod val="65000"/>
                  <a:lumOff val="35000"/>
                </a:schemeClr>
              </a:solidFill>
              <a:ln w="6350">
                <a:solidFill>
                  <a:schemeClr val="lt1"/>
                </a:solidFill>
              </a:ln>
              <a:effectLst/>
            </c:spPr>
            <c:extLst>
              <c:ext xmlns:c16="http://schemas.microsoft.com/office/drawing/2014/chart" uri="{C3380CC4-5D6E-409C-BE32-E72D297353CC}">
                <c16:uniqueId val="{00000005-B59C-4224-9FB1-FDA05F86176C}"/>
              </c:ext>
            </c:extLst>
          </c:dPt>
          <c:dPt>
            <c:idx val="3"/>
            <c:bubble3D val="0"/>
            <c:spPr>
              <a:solidFill>
                <a:schemeClr val="accent5"/>
              </a:solidFill>
              <a:ln w="6350">
                <a:solidFill>
                  <a:schemeClr val="lt1"/>
                </a:solidFill>
              </a:ln>
              <a:effectLst/>
            </c:spPr>
            <c:extLst>
              <c:ext xmlns:c16="http://schemas.microsoft.com/office/drawing/2014/chart" uri="{C3380CC4-5D6E-409C-BE32-E72D297353CC}">
                <c16:uniqueId val="{00000007-B59C-4224-9FB1-FDA05F86176C}"/>
              </c:ext>
            </c:extLst>
          </c:dPt>
          <c:dPt>
            <c:idx val="4"/>
            <c:bubble3D val="0"/>
            <c:spPr>
              <a:solidFill>
                <a:schemeClr val="accent5"/>
              </a:solidFill>
              <a:ln w="6350">
                <a:solidFill>
                  <a:schemeClr val="lt1"/>
                </a:solidFill>
              </a:ln>
              <a:effectLst/>
            </c:spPr>
            <c:extLst>
              <c:ext xmlns:c16="http://schemas.microsoft.com/office/drawing/2014/chart" uri="{C3380CC4-5D6E-409C-BE32-E72D297353CC}">
                <c16:uniqueId val="{00000009-B59C-4224-9FB1-FDA05F86176C}"/>
              </c:ext>
            </c:extLst>
          </c:dPt>
          <c:dLbls>
            <c:dLbl>
              <c:idx val="0"/>
              <c:layout>
                <c:manualLayout>
                  <c:x val="-0.2290048342950948"/>
                  <c:y val="0.13020833333333334"/>
                </c:manualLayout>
              </c:layout>
              <c:spPr>
                <a:noFill/>
                <a:ln>
                  <a:noFill/>
                </a:ln>
                <a:effectLst/>
              </c:spPr>
              <c:txPr>
                <a:bodyPr rot="0" spcFirstLastPara="1" vertOverflow="ellipsis" vert="horz" wrap="square" anchor="ctr" anchorCtr="1"/>
                <a:lstStyle/>
                <a:p>
                  <a:pPr>
                    <a:defRPr sz="700" b="0" i="0" u="none" strike="noStrike" kern="1200" baseline="0">
                      <a:solidFill>
                        <a:schemeClr val="bg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layout>
                    <c:manualLayout>
                      <c:w val="0.27034757614248844"/>
                      <c:h val="0.41427985564304459"/>
                    </c:manualLayout>
                  </c15:layout>
                </c:ext>
                <c:ext xmlns:c16="http://schemas.microsoft.com/office/drawing/2014/chart" uri="{C3380CC4-5D6E-409C-BE32-E72D297353CC}">
                  <c16:uniqueId val="{00000001-B59C-4224-9FB1-FDA05F86176C}"/>
                </c:ext>
              </c:extLst>
            </c:dLbl>
            <c:dLbl>
              <c:idx val="1"/>
              <c:layout>
                <c:manualLayout>
                  <c:x val="-0.16514860229886499"/>
                  <c:y val="-0.17122361657917759"/>
                </c:manualLayout>
              </c:layout>
              <c:spPr>
                <a:noFill/>
                <a:ln>
                  <a:noFill/>
                </a:ln>
                <a:effectLst/>
              </c:spPr>
              <c:txPr>
                <a:bodyPr rot="0" spcFirstLastPara="1" vertOverflow="ellipsis" vert="horz" wrap="square" anchor="ctr" anchorCtr="1"/>
                <a:lstStyle/>
                <a:p>
                  <a:pPr>
                    <a:defRPr sz="700" b="0" i="0" u="none" strike="noStrike" kern="1200" baseline="0">
                      <a:solidFill>
                        <a:schemeClr val="bg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layout>
                    <c:manualLayout>
                      <c:w val="0.29677131089812603"/>
                      <c:h val="0.29275207786526686"/>
                    </c:manualLayout>
                  </c15:layout>
                </c:ext>
                <c:ext xmlns:c16="http://schemas.microsoft.com/office/drawing/2014/chart" uri="{C3380CC4-5D6E-409C-BE32-E72D297353CC}">
                  <c16:uniqueId val="{00000003-B59C-4224-9FB1-FDA05F86176C}"/>
                </c:ext>
              </c:extLst>
            </c:dLbl>
            <c:dLbl>
              <c:idx val="2"/>
              <c:layout>
                <c:manualLayout>
                  <c:x val="9.4828438180424163E-2"/>
                  <c:y val="-3.4722222222222224E-2"/>
                </c:manualLayout>
              </c:layout>
              <c:spPr>
                <a:noFill/>
                <a:ln>
                  <a:noFill/>
                </a:ln>
                <a:effectLst/>
              </c:spPr>
              <c:txPr>
                <a:bodyPr rot="0" spcFirstLastPara="1" vertOverflow="ellipsis" vert="horz" wrap="square" anchor="ctr" anchorCtr="1"/>
                <a:lstStyle/>
                <a:p>
                  <a:pPr>
                    <a:defRPr sz="700" b="0" i="0" u="none" strike="noStrike" kern="1200" baseline="0">
                      <a:solidFill>
                        <a:schemeClr val="bg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layout>
                    <c:manualLayout>
                      <c:w val="0.31150306317665305"/>
                      <c:h val="0.24461805555555555"/>
                    </c:manualLayout>
                  </c15:layout>
                </c:ext>
                <c:ext xmlns:c16="http://schemas.microsoft.com/office/drawing/2014/chart" uri="{C3380CC4-5D6E-409C-BE32-E72D297353CC}">
                  <c16:uniqueId val="{00000005-B59C-4224-9FB1-FDA05F86176C}"/>
                </c:ext>
              </c:extLst>
            </c:dLbl>
            <c:dLbl>
              <c:idx val="3"/>
              <c:layout>
                <c:manualLayout>
                  <c:x val="0.1778457790164337"/>
                  <c:y val="0.24305555555555555"/>
                </c:manualLayout>
              </c:layout>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B59C-4224-9FB1-FDA05F86176C}"/>
                </c:ext>
              </c:extLst>
            </c:dLbl>
            <c:dLbl>
              <c:idx val="4"/>
              <c:layout>
                <c:manualLayout>
                  <c:x val="0.19845395144066572"/>
                  <c:y val="0.1871890037182852"/>
                </c:manualLayout>
              </c:layout>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9-B59C-4224-9FB1-FDA05F86176C}"/>
                </c:ext>
              </c:extLst>
            </c:dLbl>
            <c:spPr>
              <a:noFill/>
              <a:ln>
                <a:noFill/>
              </a:ln>
              <a:effectLst/>
            </c:spPr>
            <c:txPr>
              <a:bodyPr rot="0" spcFirstLastPara="1" vertOverflow="ellipsis" vert="horz" wrap="square" anchor="ctr" anchorCtr="1"/>
              <a:lstStyle/>
              <a:p>
                <a:pPr>
                  <a:defRPr sz="7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China</c:v>
                </c:pt>
                <c:pt idx="1">
                  <c:v>Hong Kong</c:v>
                </c:pt>
                <c:pt idx="2">
                  <c:v>Asia</c:v>
                </c:pt>
                <c:pt idx="3">
                  <c:v>Others</c:v>
                </c:pt>
              </c:strCache>
            </c:strRef>
          </c:cat>
          <c:val>
            <c:numRef>
              <c:f>Sheet1!$B$2:$B$5</c:f>
              <c:numCache>
                <c:formatCode>General</c:formatCode>
                <c:ptCount val="4"/>
                <c:pt idx="0">
                  <c:v>1100994</c:v>
                </c:pt>
                <c:pt idx="1">
                  <c:v>1969379</c:v>
                </c:pt>
                <c:pt idx="2">
                  <c:v>412063</c:v>
                </c:pt>
                <c:pt idx="3">
                  <c:v>980367</c:v>
                </c:pt>
              </c:numCache>
            </c:numRef>
          </c:val>
          <c:extLst>
            <c:ext xmlns:c16="http://schemas.microsoft.com/office/drawing/2014/chart" uri="{C3380CC4-5D6E-409C-BE32-E72D297353CC}">
              <c16:uniqueId val="{0000000A-B59C-4224-9FB1-FDA05F86176C}"/>
            </c:ext>
          </c:extLst>
        </c:ser>
        <c:dLbls>
          <c:showLegendKey val="0"/>
          <c:showVal val="0"/>
          <c:showCatName val="1"/>
          <c:showSerName val="0"/>
          <c:showPercent val="1"/>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700"/>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7366687576787473"/>
          <c:y val="7.9861111111111105E-2"/>
          <c:w val="0.64606031477534098"/>
          <c:h val="0.84895833333333337"/>
        </c:manualLayout>
      </c:layout>
      <c:pieChart>
        <c:varyColors val="1"/>
        <c:ser>
          <c:idx val="0"/>
          <c:order val="0"/>
          <c:tx>
            <c:strRef>
              <c:f>Sheet1!$B$1</c:f>
              <c:strCache>
                <c:ptCount val="1"/>
                <c:pt idx="0">
                  <c:v>Revenue</c:v>
                </c:pt>
              </c:strCache>
            </c:strRef>
          </c:tx>
          <c:spPr>
            <a:ln w="6350"/>
          </c:spPr>
          <c:dPt>
            <c:idx val="0"/>
            <c:bubble3D val="0"/>
            <c:spPr>
              <a:solidFill>
                <a:schemeClr val="accent1">
                  <a:shade val="65000"/>
                </a:schemeClr>
              </a:solidFill>
              <a:ln w="6350">
                <a:solidFill>
                  <a:schemeClr val="lt1"/>
                </a:solidFill>
              </a:ln>
              <a:effectLst/>
            </c:spPr>
            <c:extLst>
              <c:ext xmlns:c16="http://schemas.microsoft.com/office/drawing/2014/chart" uri="{C3380CC4-5D6E-409C-BE32-E72D297353CC}">
                <c16:uniqueId val="{00000001-A38E-46FA-BBF3-87279C3B1E6B}"/>
              </c:ext>
            </c:extLst>
          </c:dPt>
          <c:dPt>
            <c:idx val="1"/>
            <c:bubble3D val="0"/>
            <c:spPr>
              <a:solidFill>
                <a:schemeClr val="accent5"/>
              </a:solidFill>
              <a:ln w="6350">
                <a:solidFill>
                  <a:schemeClr val="lt1"/>
                </a:solidFill>
              </a:ln>
              <a:effectLst/>
            </c:spPr>
            <c:extLst>
              <c:ext xmlns:c16="http://schemas.microsoft.com/office/drawing/2014/chart" uri="{C3380CC4-5D6E-409C-BE32-E72D297353CC}">
                <c16:uniqueId val="{00000003-A38E-46FA-BBF3-87279C3B1E6B}"/>
              </c:ext>
            </c:extLst>
          </c:dPt>
          <c:dPt>
            <c:idx val="2"/>
            <c:bubble3D val="0"/>
            <c:spPr>
              <a:solidFill>
                <a:schemeClr val="tx1">
                  <a:lumMod val="65000"/>
                  <a:lumOff val="35000"/>
                </a:schemeClr>
              </a:solidFill>
              <a:ln w="6350">
                <a:solidFill>
                  <a:schemeClr val="lt1"/>
                </a:solidFill>
              </a:ln>
              <a:effectLst/>
            </c:spPr>
            <c:extLst>
              <c:ext xmlns:c16="http://schemas.microsoft.com/office/drawing/2014/chart" uri="{C3380CC4-5D6E-409C-BE32-E72D297353CC}">
                <c16:uniqueId val="{00000005-A38E-46FA-BBF3-87279C3B1E6B}"/>
              </c:ext>
            </c:extLst>
          </c:dPt>
          <c:dPt>
            <c:idx val="3"/>
            <c:bubble3D val="0"/>
            <c:spPr>
              <a:solidFill>
                <a:schemeClr val="accent5"/>
              </a:solidFill>
              <a:ln w="6350">
                <a:solidFill>
                  <a:schemeClr val="lt1"/>
                </a:solidFill>
              </a:ln>
              <a:effectLst/>
            </c:spPr>
            <c:extLst>
              <c:ext xmlns:c16="http://schemas.microsoft.com/office/drawing/2014/chart" uri="{C3380CC4-5D6E-409C-BE32-E72D297353CC}">
                <c16:uniqueId val="{00000007-A38E-46FA-BBF3-87279C3B1E6B}"/>
              </c:ext>
            </c:extLst>
          </c:dPt>
          <c:dPt>
            <c:idx val="4"/>
            <c:bubble3D val="0"/>
            <c:spPr>
              <a:solidFill>
                <a:schemeClr val="accent5"/>
              </a:solidFill>
              <a:ln w="6350">
                <a:solidFill>
                  <a:schemeClr val="lt1"/>
                </a:solidFill>
              </a:ln>
              <a:effectLst/>
            </c:spPr>
            <c:extLst>
              <c:ext xmlns:c16="http://schemas.microsoft.com/office/drawing/2014/chart" uri="{C3380CC4-5D6E-409C-BE32-E72D297353CC}">
                <c16:uniqueId val="{00000009-A38E-46FA-BBF3-87279C3B1E6B}"/>
              </c:ext>
            </c:extLst>
          </c:dPt>
          <c:dLbls>
            <c:dLbl>
              <c:idx val="0"/>
              <c:layout>
                <c:manualLayout>
                  <c:x val="-5.7250558383450001E-2"/>
                  <c:y val="-0.15625000000000008"/>
                </c:manualLayout>
              </c:layout>
              <c:spPr>
                <a:noFill/>
                <a:ln>
                  <a:noFill/>
                </a:ln>
                <a:effectLst/>
              </c:spPr>
              <c:txPr>
                <a:bodyPr rot="0" spcFirstLastPara="1" vertOverflow="ellipsis" vert="horz" wrap="square" anchor="ctr" anchorCtr="1"/>
                <a:lstStyle/>
                <a:p>
                  <a:pPr>
                    <a:defRPr sz="700" b="0" i="0" u="none" strike="noStrike" kern="1200" baseline="0">
                      <a:solidFill>
                        <a:schemeClr val="bg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layout>
                    <c:manualLayout>
                      <c:w val="0.27034757614248844"/>
                      <c:h val="0.41427985564304459"/>
                    </c:manualLayout>
                  </c15:layout>
                </c:ext>
                <c:ext xmlns:c16="http://schemas.microsoft.com/office/drawing/2014/chart" uri="{C3380CC4-5D6E-409C-BE32-E72D297353CC}">
                  <c16:uniqueId val="{00000001-A38E-46FA-BBF3-87279C3B1E6B}"/>
                </c:ext>
              </c:extLst>
            </c:dLbl>
            <c:dLbl>
              <c:idx val="1"/>
              <c:layout>
                <c:manualLayout>
                  <c:x val="-0.22129903865459494"/>
                  <c:y val="-1.7361111111111115E-2"/>
                </c:manualLayout>
              </c:layout>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layout>
                    <c:manualLayout>
                      <c:w val="0.26374164245357901"/>
                      <c:h val="0.24066874453193352"/>
                    </c:manualLayout>
                  </c15:layout>
                </c:ext>
                <c:ext xmlns:c16="http://schemas.microsoft.com/office/drawing/2014/chart" uri="{C3380CC4-5D6E-409C-BE32-E72D297353CC}">
                  <c16:uniqueId val="{00000003-A38E-46FA-BBF3-87279C3B1E6B}"/>
                </c:ext>
              </c:extLst>
            </c:dLbl>
            <c:dLbl>
              <c:idx val="2"/>
              <c:layout>
                <c:manualLayout>
                  <c:x val="9.4828438180424163E-2"/>
                  <c:y val="-3.4722222222222224E-2"/>
                </c:manualLayout>
              </c:layout>
              <c:spPr>
                <a:noFill/>
                <a:ln>
                  <a:noFill/>
                </a:ln>
                <a:effectLst/>
              </c:spPr>
              <c:txPr>
                <a:bodyPr rot="0" spcFirstLastPara="1" vertOverflow="ellipsis" vert="horz" wrap="square" anchor="ctr" anchorCtr="1"/>
                <a:lstStyle/>
                <a:p>
                  <a:pPr>
                    <a:defRPr sz="700" b="0" i="0" u="none" strike="noStrike" kern="1200" baseline="0">
                      <a:solidFill>
                        <a:schemeClr val="bg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layout>
                    <c:manualLayout>
                      <c:w val="0.31150306317665305"/>
                      <c:h val="0.24461805555555555"/>
                    </c:manualLayout>
                  </c15:layout>
                </c:ext>
                <c:ext xmlns:c16="http://schemas.microsoft.com/office/drawing/2014/chart" uri="{C3380CC4-5D6E-409C-BE32-E72D297353CC}">
                  <c16:uniqueId val="{00000005-A38E-46FA-BBF3-87279C3B1E6B}"/>
                </c:ext>
              </c:extLst>
            </c:dLbl>
            <c:dLbl>
              <c:idx val="3"/>
              <c:layout>
                <c:manualLayout>
                  <c:x val="0.1778457790164337"/>
                  <c:y val="0.24305555555555555"/>
                </c:manualLayout>
              </c:layout>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A38E-46FA-BBF3-87279C3B1E6B}"/>
                </c:ext>
              </c:extLst>
            </c:dLbl>
            <c:dLbl>
              <c:idx val="4"/>
              <c:layout>
                <c:manualLayout>
                  <c:x val="0.19845395144066572"/>
                  <c:y val="0.1871890037182852"/>
                </c:manualLayout>
              </c:layout>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9-A38E-46FA-BBF3-87279C3B1E6B}"/>
                </c:ext>
              </c:extLst>
            </c:dLbl>
            <c:spPr>
              <a:noFill/>
              <a:ln>
                <a:noFill/>
              </a:ln>
              <a:effectLst/>
            </c:spPr>
            <c:txPr>
              <a:bodyPr rot="0" spcFirstLastPara="1" vertOverflow="ellipsis" vert="horz" wrap="square" anchor="ctr" anchorCtr="1"/>
              <a:lstStyle/>
              <a:p>
                <a:pPr>
                  <a:defRPr sz="7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China</c:v>
                </c:pt>
                <c:pt idx="1">
                  <c:v>Others</c:v>
                </c:pt>
              </c:strCache>
            </c:strRef>
          </c:cat>
          <c:val>
            <c:numRef>
              <c:f>Sheet1!$B$2:$B$3</c:f>
              <c:numCache>
                <c:formatCode>General</c:formatCode>
                <c:ptCount val="2"/>
                <c:pt idx="0">
                  <c:v>88770862</c:v>
                </c:pt>
                <c:pt idx="1">
                  <c:v>2171832</c:v>
                </c:pt>
              </c:numCache>
            </c:numRef>
          </c:val>
          <c:extLst>
            <c:ext xmlns:c16="http://schemas.microsoft.com/office/drawing/2014/chart" uri="{C3380CC4-5D6E-409C-BE32-E72D297353CC}">
              <c16:uniqueId val="{0000000A-A38E-46FA-BBF3-87279C3B1E6B}"/>
            </c:ext>
          </c:extLst>
        </c:ser>
        <c:dLbls>
          <c:showLegendKey val="0"/>
          <c:showVal val="0"/>
          <c:showCatName val="1"/>
          <c:showSerName val="0"/>
          <c:showPercent val="1"/>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7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withinLinear" id="14">
  <a:schemeClr val="accent1"/>
</cs:colorStyle>
</file>

<file path=ppt/charts/colors7.xml><?xml version="1.0" encoding="utf-8"?>
<cs:colorStyle xmlns:cs="http://schemas.microsoft.com/office/drawing/2012/chartStyle" xmlns:a="http://schemas.openxmlformats.org/drawingml/2006/main" meth="withinLinear" id="14">
  <a:schemeClr val="accent1"/>
</cs:colorStyle>
</file>

<file path=ppt/charts/colors8.xml><?xml version="1.0" encoding="utf-8"?>
<cs:colorStyle xmlns:cs="http://schemas.microsoft.com/office/drawing/2012/chartStyle" xmlns:a="http://schemas.openxmlformats.org/drawingml/2006/main" meth="withinLinear" id="14">
  <a:schemeClr val="accent1"/>
</cs:colorStyle>
</file>

<file path=ppt/charts/colors9.xml><?xml version="1.0" encoding="utf-8"?>
<cs:colorStyle xmlns:cs="http://schemas.microsoft.com/office/drawing/2012/chartStyle" xmlns:a="http://schemas.openxmlformats.org/drawingml/2006/main" meth="withinLinear" id="14">
  <a:schemeClr val="accent1"/>
</cs:colorStyle>
</file>

<file path=ppt/charts/colors10.xml><?xml version="1.0" encoding="utf-8"?>
<cs:colorStyle xmlns:cs="http://schemas.microsoft.com/office/drawing/2012/chartStyle" xmlns:a="http://schemas.openxmlformats.org/drawingml/2006/main" meth="withinLinear" id="14">
  <a:schemeClr val="accent1"/>
</cs:colorStyle>
</file>

<file path=ppt/charts/colors11.xml><?xml version="1.0" encoding="utf-8"?>
<cs:colorStyle xmlns:cs="http://schemas.microsoft.com/office/drawing/2012/chartStyle" xmlns:a="http://schemas.openxmlformats.org/drawingml/2006/main" meth="withinLinear" id="14">
  <a:schemeClr val="accent1"/>
</cs:colorStyle>
</file>

<file path=ppt/charts/colors12.xml><?xml version="1.0" encoding="utf-8"?>
<cs:colorStyle xmlns:cs="http://schemas.microsoft.com/office/drawing/2012/chartStyle" xmlns:a="http://schemas.openxmlformats.org/drawingml/2006/main" meth="withinLinear" id="14">
  <a:schemeClr val="accent1"/>
</cs:colorStyle>
</file>

<file path=ppt/charts/colors13.xml><?xml version="1.0" encoding="utf-8"?>
<cs:colorStyle xmlns:cs="http://schemas.microsoft.com/office/drawing/2012/chartStyle" xmlns:a="http://schemas.openxmlformats.org/drawingml/2006/main" meth="withinLinear" id="14">
  <a:schemeClr val="accent1"/>
</cs:colorStyle>
</file>

<file path=ppt/charts/colors14.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 y="2"/>
            <a:ext cx="2950419" cy="497287"/>
          </a:xfrm>
          <a:prstGeom prst="rect">
            <a:avLst/>
          </a:prstGeom>
        </p:spPr>
        <p:txBody>
          <a:bodyPr vert="horz" lIns="94278" tIns="47139" rIns="94278" bIns="47139" rtlCol="0"/>
          <a:lstStyle>
            <a:lvl1pPr algn="l">
              <a:defRPr sz="1200"/>
            </a:lvl1pPr>
          </a:lstStyle>
          <a:p>
            <a:endParaRPr lang="en-SG" dirty="0"/>
          </a:p>
        </p:txBody>
      </p:sp>
      <p:sp>
        <p:nvSpPr>
          <p:cNvPr id="3" name="Date Placeholder 2"/>
          <p:cNvSpPr>
            <a:spLocks noGrp="1"/>
          </p:cNvSpPr>
          <p:nvPr>
            <p:ph type="dt" sz="quarter" idx="1"/>
          </p:nvPr>
        </p:nvSpPr>
        <p:spPr>
          <a:xfrm>
            <a:off x="3855203" y="2"/>
            <a:ext cx="2950419" cy="497287"/>
          </a:xfrm>
          <a:prstGeom prst="rect">
            <a:avLst/>
          </a:prstGeom>
        </p:spPr>
        <p:txBody>
          <a:bodyPr vert="horz" lIns="94278" tIns="47139" rIns="94278" bIns="47139" rtlCol="0"/>
          <a:lstStyle>
            <a:lvl1pPr algn="r">
              <a:defRPr sz="1200"/>
            </a:lvl1pPr>
          </a:lstStyle>
          <a:p>
            <a:fld id="{736362ED-B90D-4631-8595-CD6FC0A2DE36}" type="datetimeFigureOut">
              <a:rPr lang="en-SG" smtClean="0"/>
              <a:pPr/>
              <a:t>8/9/2019</a:t>
            </a:fld>
            <a:endParaRPr lang="en-SG" dirty="0"/>
          </a:p>
        </p:txBody>
      </p:sp>
      <p:sp>
        <p:nvSpPr>
          <p:cNvPr id="4" name="Footer Placeholder 3"/>
          <p:cNvSpPr>
            <a:spLocks noGrp="1"/>
          </p:cNvSpPr>
          <p:nvPr>
            <p:ph type="ftr" sz="quarter" idx="2"/>
          </p:nvPr>
        </p:nvSpPr>
        <p:spPr>
          <a:xfrm>
            <a:off x="5" y="9440467"/>
            <a:ext cx="2950419" cy="497287"/>
          </a:xfrm>
          <a:prstGeom prst="rect">
            <a:avLst/>
          </a:prstGeom>
        </p:spPr>
        <p:txBody>
          <a:bodyPr vert="horz" lIns="94278" tIns="47139" rIns="94278" bIns="47139" rtlCol="0" anchor="b"/>
          <a:lstStyle>
            <a:lvl1pPr algn="l">
              <a:defRPr sz="1200"/>
            </a:lvl1pPr>
          </a:lstStyle>
          <a:p>
            <a:endParaRPr lang="en-SG" dirty="0"/>
          </a:p>
        </p:txBody>
      </p:sp>
      <p:sp>
        <p:nvSpPr>
          <p:cNvPr id="5" name="Slide Number Placeholder 4"/>
          <p:cNvSpPr>
            <a:spLocks noGrp="1"/>
          </p:cNvSpPr>
          <p:nvPr>
            <p:ph type="sldNum" sz="quarter" idx="3"/>
          </p:nvPr>
        </p:nvSpPr>
        <p:spPr>
          <a:xfrm>
            <a:off x="3855203" y="9440467"/>
            <a:ext cx="2950419" cy="497287"/>
          </a:xfrm>
          <a:prstGeom prst="rect">
            <a:avLst/>
          </a:prstGeom>
        </p:spPr>
        <p:txBody>
          <a:bodyPr vert="horz" lIns="94278" tIns="47139" rIns="94278" bIns="47139" rtlCol="0" anchor="b"/>
          <a:lstStyle>
            <a:lvl1pPr algn="r">
              <a:defRPr sz="1200"/>
            </a:lvl1pPr>
          </a:lstStyle>
          <a:p>
            <a:fld id="{E6885155-BE7C-4BE7-86FB-2468B5D0A3DF}" type="slidenum">
              <a:rPr lang="en-SG" smtClean="0"/>
              <a:pPr/>
              <a:t>‹#›</a:t>
            </a:fld>
            <a:endParaRPr lang="en-SG" dirty="0"/>
          </a:p>
        </p:txBody>
      </p:sp>
    </p:spTree>
    <p:extLst>
      <p:ext uri="{BB962C8B-B14F-4D97-AF65-F5344CB8AC3E}">
        <p14:creationId xmlns:p14="http://schemas.microsoft.com/office/powerpoint/2010/main" val="41280834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7" y="5"/>
            <a:ext cx="2949787" cy="496968"/>
          </a:xfrm>
          <a:prstGeom prst="rect">
            <a:avLst/>
          </a:prstGeom>
        </p:spPr>
        <p:txBody>
          <a:bodyPr vert="horz" lIns="96150" tIns="48075" rIns="96150" bIns="48075" rtlCol="0"/>
          <a:lstStyle>
            <a:lvl1pPr algn="l">
              <a:defRPr sz="1200"/>
            </a:lvl1pPr>
          </a:lstStyle>
          <a:p>
            <a:endParaRPr lang="en-US" dirty="0"/>
          </a:p>
        </p:txBody>
      </p:sp>
      <p:sp>
        <p:nvSpPr>
          <p:cNvPr id="3" name="Date Placeholder 2"/>
          <p:cNvSpPr>
            <a:spLocks noGrp="1"/>
          </p:cNvSpPr>
          <p:nvPr>
            <p:ph type="dt" idx="1"/>
          </p:nvPr>
        </p:nvSpPr>
        <p:spPr>
          <a:xfrm>
            <a:off x="3855844" y="5"/>
            <a:ext cx="2949787" cy="496968"/>
          </a:xfrm>
          <a:prstGeom prst="rect">
            <a:avLst/>
          </a:prstGeom>
        </p:spPr>
        <p:txBody>
          <a:bodyPr vert="horz" lIns="96150" tIns="48075" rIns="96150" bIns="48075" rtlCol="0"/>
          <a:lstStyle>
            <a:lvl1pPr algn="r">
              <a:defRPr sz="1200"/>
            </a:lvl1pPr>
          </a:lstStyle>
          <a:p>
            <a:fld id="{890D7B44-2F70-4FFB-9B1D-EEA30954EAEC}" type="datetimeFigureOut">
              <a:rPr lang="en-US" smtClean="0"/>
              <a:pPr/>
              <a:t>08/09/2019</a:t>
            </a:fld>
            <a:endParaRPr lang="en-US" dirty="0"/>
          </a:p>
        </p:txBody>
      </p:sp>
      <p:sp>
        <p:nvSpPr>
          <p:cNvPr id="4" name="Slide Image Placeholder 3"/>
          <p:cNvSpPr>
            <a:spLocks noGrp="1" noRot="1" noChangeAspect="1"/>
          </p:cNvSpPr>
          <p:nvPr>
            <p:ph type="sldImg" idx="2"/>
          </p:nvPr>
        </p:nvSpPr>
        <p:spPr>
          <a:xfrm>
            <a:off x="709613" y="741363"/>
            <a:ext cx="5387975" cy="3732212"/>
          </a:xfrm>
          <a:prstGeom prst="rect">
            <a:avLst/>
          </a:prstGeom>
          <a:noFill/>
          <a:ln w="12700">
            <a:solidFill>
              <a:prstClr val="black"/>
            </a:solidFill>
          </a:ln>
        </p:spPr>
        <p:txBody>
          <a:bodyPr vert="horz" lIns="96150" tIns="48075" rIns="96150" bIns="48075" rtlCol="0" anchor="ctr"/>
          <a:lstStyle/>
          <a:p>
            <a:endParaRPr lang="en-US" dirty="0"/>
          </a:p>
        </p:txBody>
      </p:sp>
      <p:sp>
        <p:nvSpPr>
          <p:cNvPr id="5" name="Notes Placeholder 4"/>
          <p:cNvSpPr>
            <a:spLocks noGrp="1"/>
          </p:cNvSpPr>
          <p:nvPr>
            <p:ph type="body" sz="quarter" idx="3"/>
          </p:nvPr>
        </p:nvSpPr>
        <p:spPr>
          <a:xfrm>
            <a:off x="680721" y="4721192"/>
            <a:ext cx="5445760" cy="4472703"/>
          </a:xfrm>
          <a:prstGeom prst="rect">
            <a:avLst/>
          </a:prstGeom>
        </p:spPr>
        <p:txBody>
          <a:bodyPr vert="horz" lIns="96150" tIns="48075" rIns="96150" bIns="48075"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7" y="9440651"/>
            <a:ext cx="2949787" cy="496968"/>
          </a:xfrm>
          <a:prstGeom prst="rect">
            <a:avLst/>
          </a:prstGeom>
        </p:spPr>
        <p:txBody>
          <a:bodyPr vert="horz" lIns="96150" tIns="48075" rIns="96150" bIns="48075"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55844" y="9440651"/>
            <a:ext cx="2949787" cy="496968"/>
          </a:xfrm>
          <a:prstGeom prst="rect">
            <a:avLst/>
          </a:prstGeom>
        </p:spPr>
        <p:txBody>
          <a:bodyPr vert="horz" lIns="96150" tIns="48075" rIns="96150" bIns="48075" rtlCol="0" anchor="b"/>
          <a:lstStyle>
            <a:lvl1pPr algn="r">
              <a:defRPr sz="1200"/>
            </a:lvl1pPr>
          </a:lstStyle>
          <a:p>
            <a:fld id="{C11D26FF-EE7F-45EB-BFF1-F4A2C916BAAF}" type="slidenum">
              <a:rPr lang="en-US" smtClean="0"/>
              <a:pPr/>
              <a:t>‹#›</a:t>
            </a:fld>
            <a:endParaRPr lang="en-US" dirty="0"/>
          </a:p>
        </p:txBody>
      </p:sp>
    </p:spTree>
    <p:extLst>
      <p:ext uri="{BB962C8B-B14F-4D97-AF65-F5344CB8AC3E}">
        <p14:creationId xmlns:p14="http://schemas.microsoft.com/office/powerpoint/2010/main" val="8244050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p:cNvSpPr>
            <a:spLocks noGrp="1" noChangeArrowheads="1"/>
          </p:cNvSpPr>
          <p:nvPr>
            <p:ph type="sldNum" sz="quarter" idx="5"/>
          </p:nvPr>
        </p:nvSpPr>
        <p:spPr>
          <a:noFill/>
        </p:spPr>
        <p:txBody>
          <a:bodyPr/>
          <a:lstStyle/>
          <a:p>
            <a:fld id="{E9023BD8-00A8-4E8D-A339-33E930BC7CA3}" type="slidenum">
              <a:rPr lang="en-US" smtClean="0">
                <a:cs typeface="Arial" charset="0"/>
              </a:rPr>
              <a:pPr/>
              <a:t>0</a:t>
            </a:fld>
            <a:endParaRPr lang="en-US" dirty="0">
              <a:cs typeface="Arial" charset="0"/>
            </a:endParaRPr>
          </a:p>
        </p:txBody>
      </p:sp>
      <p:sp>
        <p:nvSpPr>
          <p:cNvPr id="50178" name="Rectangle 2"/>
          <p:cNvSpPr>
            <a:spLocks noGrp="1" noRot="1" noChangeAspect="1" noChangeArrowheads="1" noTextEdit="1"/>
          </p:cNvSpPr>
          <p:nvPr>
            <p:ph type="sldImg"/>
          </p:nvPr>
        </p:nvSpPr>
        <p:spPr>
          <a:xfrm>
            <a:off x="725488" y="747713"/>
            <a:ext cx="5427662" cy="3759200"/>
          </a:xfrm>
          <a:ln/>
        </p:spPr>
      </p:sp>
      <p:sp>
        <p:nvSpPr>
          <p:cNvPr id="50179" name="Rectangle 3"/>
          <p:cNvSpPr>
            <a:spLocks noGrp="1" noChangeArrowheads="1"/>
          </p:cNvSpPr>
          <p:nvPr>
            <p:ph type="body" idx="1"/>
          </p:nvPr>
        </p:nvSpPr>
        <p:spPr>
          <a:xfrm>
            <a:off x="915090" y="4763542"/>
            <a:ext cx="5034530" cy="4512825"/>
          </a:xfrm>
          <a:noFill/>
          <a:ln/>
        </p:spPr>
        <p:txBody>
          <a:bodyPr/>
          <a:lstStyle/>
          <a:p>
            <a:pPr eaLnBrk="1" hangingPunct="1"/>
            <a:endParaRPr lang="en-US" sz="800" dirty="0"/>
          </a:p>
        </p:txBody>
      </p:sp>
    </p:spTree>
    <p:extLst>
      <p:ext uri="{BB962C8B-B14F-4D97-AF65-F5344CB8AC3E}">
        <p14:creationId xmlns:p14="http://schemas.microsoft.com/office/powerpoint/2010/main" val="13106925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27075"/>
            <a:ext cx="5386387" cy="3729038"/>
          </a:xfrm>
        </p:spPr>
      </p:sp>
      <p:sp>
        <p:nvSpPr>
          <p:cNvPr id="3" name="Notes Placeholder 2"/>
          <p:cNvSpPr>
            <a:spLocks noGrp="1"/>
          </p:cNvSpPr>
          <p:nvPr>
            <p:ph type="body" idx="1"/>
          </p:nvPr>
        </p:nvSpPr>
        <p:spPr/>
        <p:txBody>
          <a:bodyPr>
            <a:normAutofit/>
          </a:bodyPr>
          <a:lstStyle/>
          <a:p>
            <a:r>
              <a:rPr lang="en-US" dirty="0"/>
              <a:t>https://www.lflogistics.com/locations/0</a:t>
            </a:r>
          </a:p>
          <a:p>
            <a:r>
              <a:rPr lang="en-US" dirty="0"/>
              <a:t>https://chinapower.csis.org/china-belt-and-road-initiative/</a:t>
            </a:r>
          </a:p>
          <a:p>
            <a:r>
              <a:rPr lang="en-US" dirty="0"/>
              <a:t>https://www.asiainsurancereview.com/Magazine/ReadMagazineArticle?aid=39940</a:t>
            </a:r>
          </a:p>
          <a:p>
            <a:r>
              <a:rPr lang="en-US" dirty="0"/>
              <a:t>https://www.dbs.com/aics/templatedata/article/generic/data/en/GR/032019/190307_insights_hong_kong_core_of_the_greater_bay_area.xml</a:t>
            </a:r>
          </a:p>
          <a:p>
            <a:r>
              <a:rPr lang="en-US" dirty="0"/>
              <a:t>20190618_Deutsche-Bank_Li---Fung--2019-Investor-Day-key-takeawa_1</a:t>
            </a:r>
          </a:p>
          <a:p>
            <a:r>
              <a:rPr lang="en-US" dirty="0"/>
              <a:t>https://www.worlddata.io/global-spending/middle-class</a:t>
            </a:r>
          </a:p>
          <a:p>
            <a:r>
              <a:rPr lang="en-US" dirty="0"/>
              <a:t>https://asean.org/storage/2019/06/Investing-in-ASEAN-20192020-App.pdf</a:t>
            </a:r>
          </a:p>
          <a:p>
            <a:r>
              <a:rPr lang="en-US" dirty="0"/>
              <a:t>http://www.chinadaily.com.cn/a/201907/23/WS5d367792a310d8305640082a.html</a:t>
            </a:r>
          </a:p>
          <a:p>
            <a:endParaRPr lang="en-US" dirty="0"/>
          </a:p>
        </p:txBody>
      </p:sp>
      <p:sp>
        <p:nvSpPr>
          <p:cNvPr id="4" name="Slide Number Placeholder 3"/>
          <p:cNvSpPr>
            <a:spLocks noGrp="1"/>
          </p:cNvSpPr>
          <p:nvPr>
            <p:ph type="sldNum" sz="quarter" idx="10"/>
          </p:nvPr>
        </p:nvSpPr>
        <p:spPr/>
        <p:txBody>
          <a:bodyPr/>
          <a:lstStyle/>
          <a:p>
            <a:pPr marL="0" marR="0" lvl="0" indent="0" algn="r" defTabSz="935038" rtl="0" eaLnBrk="1" fontAlgn="base" latinLnBrk="0" hangingPunct="1">
              <a:lnSpc>
                <a:spcPct val="100000"/>
              </a:lnSpc>
              <a:spcBef>
                <a:spcPct val="0"/>
              </a:spcBef>
              <a:spcAft>
                <a:spcPct val="0"/>
              </a:spcAft>
              <a:buClrTx/>
              <a:buSzTx/>
              <a:buFontTx/>
              <a:buNone/>
              <a:tabLst/>
              <a:defRPr/>
            </a:pPr>
            <a:fld id="{8145A894-5B6D-4108-86BB-37DF76B21A3E}" type="slidenum">
              <a:rPr kumimoji="0" lang="zh-TW" altLang="en-US" sz="1200" b="0" i="0" u="none" strike="noStrike" kern="1200" cap="none" spc="0" normalizeH="0" baseline="0" noProof="0" smtClean="0">
                <a:ln>
                  <a:noFill/>
                </a:ln>
                <a:solidFill>
                  <a:srgbClr val="000000"/>
                </a:solidFill>
                <a:effectLst/>
                <a:uLnTx/>
                <a:uFillTx/>
                <a:latin typeface="Times New Roman" pitchFamily="18" charset="0"/>
                <a:ea typeface="華康簡楷" charset="-120"/>
                <a:cs typeface="+mn-cs"/>
              </a:rPr>
              <a:pPr marL="0" marR="0" lvl="0" indent="0" algn="r" defTabSz="935038" rtl="0" eaLnBrk="1" fontAlgn="base" latinLnBrk="0" hangingPunct="1">
                <a:lnSpc>
                  <a:spcPct val="100000"/>
                </a:lnSpc>
                <a:spcBef>
                  <a:spcPct val="0"/>
                </a:spcBef>
                <a:spcAft>
                  <a:spcPct val="0"/>
                </a:spcAft>
                <a:buClrTx/>
                <a:buSzTx/>
                <a:buFontTx/>
                <a:buNone/>
                <a:tabLst/>
                <a:defRPr/>
              </a:pPr>
              <a:t>2</a:t>
            </a:fld>
            <a:endParaRPr kumimoji="0" lang="zh-TW" altLang="zh-TW" sz="1200" b="0" i="0" u="none" strike="noStrike" kern="1200" cap="none" spc="0" normalizeH="0" baseline="0" noProof="0">
              <a:ln>
                <a:noFill/>
              </a:ln>
              <a:solidFill>
                <a:srgbClr val="000000"/>
              </a:solidFill>
              <a:effectLst/>
              <a:uLnTx/>
              <a:uFillTx/>
              <a:latin typeface="Times New Roman" pitchFamily="18" charset="0"/>
              <a:ea typeface="華康簡楷" charset="-120"/>
              <a:cs typeface="+mn-cs"/>
            </a:endParaRPr>
          </a:p>
        </p:txBody>
      </p:sp>
    </p:spTree>
    <p:extLst>
      <p:ext uri="{BB962C8B-B14F-4D97-AF65-F5344CB8AC3E}">
        <p14:creationId xmlns:p14="http://schemas.microsoft.com/office/powerpoint/2010/main" val="29420736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27075"/>
            <a:ext cx="5386387" cy="3729038"/>
          </a:xfrm>
        </p:spPr>
      </p:sp>
      <p:sp>
        <p:nvSpPr>
          <p:cNvPr id="3" name="Notes Placeholder 2"/>
          <p:cNvSpPr>
            <a:spLocks noGrp="1"/>
          </p:cNvSpPr>
          <p:nvPr>
            <p:ph type="body" idx="1"/>
          </p:nvPr>
        </p:nvSpPr>
        <p:spPr/>
        <p:txBody>
          <a:bodyPr>
            <a:normAutofit/>
          </a:bodyPr>
          <a:lstStyle/>
          <a:p>
            <a:r>
              <a:rPr lang="en-US" dirty="0"/>
              <a:t>http://www.iresearchchina.com/content/details7_53166.html</a:t>
            </a:r>
          </a:p>
          <a:p>
            <a:r>
              <a:rPr lang="en-US" dirty="0"/>
              <a:t>mr2019jul5cn_e-commerce_online retail_137p (1)</a:t>
            </a:r>
          </a:p>
          <a:p>
            <a:r>
              <a:rPr lang="en-US" dirty="0"/>
              <a:t>Report_e-Conomy_SEA_2018_by_Google_Temasek_v</a:t>
            </a:r>
          </a:p>
          <a:p>
            <a:r>
              <a:rPr lang="en-US" dirty="0"/>
              <a:t>SCR2018_2_Ecommerce</a:t>
            </a:r>
          </a:p>
        </p:txBody>
      </p:sp>
      <p:sp>
        <p:nvSpPr>
          <p:cNvPr id="4" name="Slide Number Placeholder 3"/>
          <p:cNvSpPr>
            <a:spLocks noGrp="1"/>
          </p:cNvSpPr>
          <p:nvPr>
            <p:ph type="sldNum" sz="quarter" idx="10"/>
          </p:nvPr>
        </p:nvSpPr>
        <p:spPr/>
        <p:txBody>
          <a:bodyPr/>
          <a:lstStyle/>
          <a:p>
            <a:pPr marL="0" marR="0" lvl="0" indent="0" algn="r" defTabSz="935038" rtl="0" eaLnBrk="1" fontAlgn="base" latinLnBrk="0" hangingPunct="1">
              <a:lnSpc>
                <a:spcPct val="100000"/>
              </a:lnSpc>
              <a:spcBef>
                <a:spcPct val="0"/>
              </a:spcBef>
              <a:spcAft>
                <a:spcPct val="0"/>
              </a:spcAft>
              <a:buClrTx/>
              <a:buSzTx/>
              <a:buFontTx/>
              <a:buNone/>
              <a:tabLst/>
              <a:defRPr/>
            </a:pPr>
            <a:fld id="{8145A894-5B6D-4108-86BB-37DF76B21A3E}" type="slidenum">
              <a:rPr kumimoji="0" lang="zh-TW" altLang="en-US" sz="1200" b="0" i="0" u="none" strike="noStrike" kern="1200" cap="none" spc="0" normalizeH="0" baseline="0" noProof="0" smtClean="0">
                <a:ln>
                  <a:noFill/>
                </a:ln>
                <a:solidFill>
                  <a:srgbClr val="000000"/>
                </a:solidFill>
                <a:effectLst/>
                <a:uLnTx/>
                <a:uFillTx/>
                <a:latin typeface="Times New Roman" pitchFamily="18" charset="0"/>
                <a:ea typeface="華康簡楷" charset="-120"/>
                <a:cs typeface="+mn-cs"/>
              </a:rPr>
              <a:pPr marL="0" marR="0" lvl="0" indent="0" algn="r" defTabSz="935038" rtl="0" eaLnBrk="1" fontAlgn="base" latinLnBrk="0" hangingPunct="1">
                <a:lnSpc>
                  <a:spcPct val="100000"/>
                </a:lnSpc>
                <a:spcBef>
                  <a:spcPct val="0"/>
                </a:spcBef>
                <a:spcAft>
                  <a:spcPct val="0"/>
                </a:spcAft>
                <a:buClrTx/>
                <a:buSzTx/>
                <a:buFontTx/>
                <a:buNone/>
                <a:tabLst/>
                <a:defRPr/>
              </a:pPr>
              <a:t>3</a:t>
            </a:fld>
            <a:endParaRPr kumimoji="0" lang="zh-TW" altLang="zh-TW" sz="1200" b="0" i="0" u="none" strike="noStrike" kern="1200" cap="none" spc="0" normalizeH="0" baseline="0" noProof="0">
              <a:ln>
                <a:noFill/>
              </a:ln>
              <a:solidFill>
                <a:srgbClr val="000000"/>
              </a:solidFill>
              <a:effectLst/>
              <a:uLnTx/>
              <a:uFillTx/>
              <a:latin typeface="Times New Roman" pitchFamily="18" charset="0"/>
              <a:ea typeface="華康簡楷" charset="-120"/>
              <a:cs typeface="+mn-cs"/>
            </a:endParaRPr>
          </a:p>
        </p:txBody>
      </p:sp>
    </p:spTree>
    <p:extLst>
      <p:ext uri="{BB962C8B-B14F-4D97-AF65-F5344CB8AC3E}">
        <p14:creationId xmlns:p14="http://schemas.microsoft.com/office/powerpoint/2010/main" val="5714316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27075"/>
            <a:ext cx="5386387" cy="3729038"/>
          </a:xfrm>
        </p:spPr>
      </p:sp>
      <p:sp>
        <p:nvSpPr>
          <p:cNvPr id="3" name="Notes Placeholder 2"/>
          <p:cNvSpPr>
            <a:spLocks noGrp="1"/>
          </p:cNvSpPr>
          <p:nvPr>
            <p:ph type="body" idx="1"/>
          </p:nvPr>
        </p:nvSpPr>
        <p:spPr/>
        <p:txBody>
          <a:bodyPr>
            <a:normAutofit/>
          </a:bodyPr>
          <a:lstStyle/>
          <a:p>
            <a:r>
              <a:rPr lang="en-US" dirty="0"/>
              <a:t>https://www.lflogistics.com/competitive-advantage/it</a:t>
            </a:r>
          </a:p>
          <a:p>
            <a:r>
              <a:rPr lang="en-US" dirty="0"/>
              <a:t>https://hongkongbusiness.hk/commercial-property/more-news/lf-logistics-bags-technology-excellence-award-e-commerce-%E2%80%93-logistics</a:t>
            </a:r>
          </a:p>
        </p:txBody>
      </p:sp>
      <p:sp>
        <p:nvSpPr>
          <p:cNvPr id="4" name="Slide Number Placeholder 3"/>
          <p:cNvSpPr>
            <a:spLocks noGrp="1"/>
          </p:cNvSpPr>
          <p:nvPr>
            <p:ph type="sldNum" sz="quarter" idx="10"/>
          </p:nvPr>
        </p:nvSpPr>
        <p:spPr/>
        <p:txBody>
          <a:bodyPr/>
          <a:lstStyle/>
          <a:p>
            <a:pPr marL="0" marR="0" lvl="0" indent="0" algn="r" defTabSz="935038" rtl="0" eaLnBrk="1" fontAlgn="base" latinLnBrk="0" hangingPunct="1">
              <a:lnSpc>
                <a:spcPct val="100000"/>
              </a:lnSpc>
              <a:spcBef>
                <a:spcPct val="0"/>
              </a:spcBef>
              <a:spcAft>
                <a:spcPct val="0"/>
              </a:spcAft>
              <a:buClrTx/>
              <a:buSzTx/>
              <a:buFontTx/>
              <a:buNone/>
              <a:tabLst/>
              <a:defRPr/>
            </a:pPr>
            <a:fld id="{8145A894-5B6D-4108-86BB-37DF76B21A3E}" type="slidenum">
              <a:rPr kumimoji="0" lang="zh-TW" altLang="en-US" sz="1200" b="0" i="0" u="none" strike="noStrike" kern="1200" cap="none" spc="0" normalizeH="0" baseline="0" noProof="0" smtClean="0">
                <a:ln>
                  <a:noFill/>
                </a:ln>
                <a:solidFill>
                  <a:srgbClr val="000000"/>
                </a:solidFill>
                <a:effectLst/>
                <a:uLnTx/>
                <a:uFillTx/>
                <a:latin typeface="Times New Roman" pitchFamily="18" charset="0"/>
                <a:ea typeface="華康簡楷" charset="-120"/>
                <a:cs typeface="+mn-cs"/>
              </a:rPr>
              <a:pPr marL="0" marR="0" lvl="0" indent="0" algn="r" defTabSz="935038" rtl="0" eaLnBrk="1" fontAlgn="base" latinLnBrk="0" hangingPunct="1">
                <a:lnSpc>
                  <a:spcPct val="100000"/>
                </a:lnSpc>
                <a:spcBef>
                  <a:spcPct val="0"/>
                </a:spcBef>
                <a:spcAft>
                  <a:spcPct val="0"/>
                </a:spcAft>
                <a:buClrTx/>
                <a:buSzTx/>
                <a:buFontTx/>
                <a:buNone/>
                <a:tabLst/>
                <a:defRPr/>
              </a:pPr>
              <a:t>4</a:t>
            </a:fld>
            <a:endParaRPr kumimoji="0" lang="zh-TW" altLang="zh-TW" sz="1200" b="0" i="0" u="none" strike="noStrike" kern="1200" cap="none" spc="0" normalizeH="0" baseline="0" noProof="0">
              <a:ln>
                <a:noFill/>
              </a:ln>
              <a:solidFill>
                <a:srgbClr val="000000"/>
              </a:solidFill>
              <a:effectLst/>
              <a:uLnTx/>
              <a:uFillTx/>
              <a:latin typeface="Times New Roman" pitchFamily="18" charset="0"/>
              <a:ea typeface="華康簡楷" charset="-120"/>
              <a:cs typeface="+mn-cs"/>
            </a:endParaRPr>
          </a:p>
        </p:txBody>
      </p:sp>
    </p:spTree>
    <p:extLst>
      <p:ext uri="{BB962C8B-B14F-4D97-AF65-F5344CB8AC3E}">
        <p14:creationId xmlns:p14="http://schemas.microsoft.com/office/powerpoint/2010/main" val="36429196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27075"/>
            <a:ext cx="5386387" cy="3729038"/>
          </a:xfrm>
        </p:spPr>
      </p:sp>
      <p:sp>
        <p:nvSpPr>
          <p:cNvPr id="3" name="Notes Placeholder 2"/>
          <p:cNvSpPr>
            <a:spLocks noGrp="1"/>
          </p:cNvSpPr>
          <p:nvPr>
            <p:ph type="body" idx="1"/>
          </p:nvPr>
        </p:nvSpPr>
        <p:spPr/>
        <p:txBody>
          <a:bodyPr>
            <a:normAutofit/>
          </a:bodyPr>
          <a:lstStyle/>
          <a:p>
            <a:r>
              <a:rPr lang="en-US" dirty="0"/>
              <a:t>https://www.lifung.com/press-release/lf-logistics-opens-one-million-square-foot-logistics-hub-in-singapore/</a:t>
            </a:r>
          </a:p>
        </p:txBody>
      </p:sp>
      <p:sp>
        <p:nvSpPr>
          <p:cNvPr id="4" name="Slide Number Placeholder 3"/>
          <p:cNvSpPr>
            <a:spLocks noGrp="1"/>
          </p:cNvSpPr>
          <p:nvPr>
            <p:ph type="sldNum" sz="quarter" idx="10"/>
          </p:nvPr>
        </p:nvSpPr>
        <p:spPr/>
        <p:txBody>
          <a:bodyPr/>
          <a:lstStyle/>
          <a:p>
            <a:pPr marL="0" marR="0" lvl="0" indent="0" algn="r" defTabSz="935038" rtl="0" eaLnBrk="1" fontAlgn="base" latinLnBrk="0" hangingPunct="1">
              <a:lnSpc>
                <a:spcPct val="100000"/>
              </a:lnSpc>
              <a:spcBef>
                <a:spcPct val="0"/>
              </a:spcBef>
              <a:spcAft>
                <a:spcPct val="0"/>
              </a:spcAft>
              <a:buClrTx/>
              <a:buSzTx/>
              <a:buFontTx/>
              <a:buNone/>
              <a:tabLst/>
              <a:defRPr/>
            </a:pPr>
            <a:fld id="{8145A894-5B6D-4108-86BB-37DF76B21A3E}" type="slidenum">
              <a:rPr kumimoji="0" lang="zh-TW" altLang="en-US" sz="1200" b="0" i="0" u="none" strike="noStrike" kern="1200" cap="none" spc="0" normalizeH="0" baseline="0" noProof="0" smtClean="0">
                <a:ln>
                  <a:noFill/>
                </a:ln>
                <a:solidFill>
                  <a:srgbClr val="000000"/>
                </a:solidFill>
                <a:effectLst/>
                <a:uLnTx/>
                <a:uFillTx/>
                <a:latin typeface="Times New Roman" pitchFamily="18" charset="0"/>
                <a:ea typeface="華康簡楷" charset="-120"/>
                <a:cs typeface="+mn-cs"/>
              </a:rPr>
              <a:pPr marL="0" marR="0" lvl="0" indent="0" algn="r" defTabSz="935038" rtl="0" eaLnBrk="1" fontAlgn="base" latinLnBrk="0" hangingPunct="1">
                <a:lnSpc>
                  <a:spcPct val="100000"/>
                </a:lnSpc>
                <a:spcBef>
                  <a:spcPct val="0"/>
                </a:spcBef>
                <a:spcAft>
                  <a:spcPct val="0"/>
                </a:spcAft>
                <a:buClrTx/>
                <a:buSzTx/>
                <a:buFontTx/>
                <a:buNone/>
                <a:tabLst/>
                <a:defRPr/>
              </a:pPr>
              <a:t>5</a:t>
            </a:fld>
            <a:endParaRPr kumimoji="0" lang="zh-TW" altLang="zh-TW" sz="1200" b="0" i="0" u="none" strike="noStrike" kern="1200" cap="none" spc="0" normalizeH="0" baseline="0" noProof="0">
              <a:ln>
                <a:noFill/>
              </a:ln>
              <a:solidFill>
                <a:srgbClr val="000000"/>
              </a:solidFill>
              <a:effectLst/>
              <a:uLnTx/>
              <a:uFillTx/>
              <a:latin typeface="Times New Roman" pitchFamily="18" charset="0"/>
              <a:ea typeface="華康簡楷" charset="-120"/>
              <a:cs typeface="+mn-cs"/>
            </a:endParaRPr>
          </a:p>
        </p:txBody>
      </p:sp>
    </p:spTree>
    <p:extLst>
      <p:ext uri="{BB962C8B-B14F-4D97-AF65-F5344CB8AC3E}">
        <p14:creationId xmlns:p14="http://schemas.microsoft.com/office/powerpoint/2010/main" val="35517456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27075"/>
            <a:ext cx="5386387" cy="3729038"/>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35038" rtl="0" eaLnBrk="1" fontAlgn="base" latinLnBrk="0" hangingPunct="1">
              <a:lnSpc>
                <a:spcPct val="100000"/>
              </a:lnSpc>
              <a:spcBef>
                <a:spcPct val="0"/>
              </a:spcBef>
              <a:spcAft>
                <a:spcPct val="0"/>
              </a:spcAft>
              <a:buClrTx/>
              <a:buSzTx/>
              <a:buFontTx/>
              <a:buNone/>
              <a:tabLst/>
              <a:defRPr/>
            </a:pPr>
            <a:fld id="{8145A894-5B6D-4108-86BB-37DF76B21A3E}" type="slidenum">
              <a:rPr kumimoji="0" lang="zh-TW" altLang="en-US" sz="1200" b="0" i="0" u="none" strike="noStrike" kern="1200" cap="none" spc="0" normalizeH="0" baseline="0" noProof="0" smtClean="0">
                <a:ln>
                  <a:noFill/>
                </a:ln>
                <a:solidFill>
                  <a:srgbClr val="000000"/>
                </a:solidFill>
                <a:effectLst/>
                <a:uLnTx/>
                <a:uFillTx/>
                <a:latin typeface="Times New Roman" pitchFamily="18" charset="0"/>
                <a:ea typeface="華康簡楷" charset="-120"/>
                <a:cs typeface="+mn-cs"/>
              </a:rPr>
              <a:pPr marL="0" marR="0" lvl="0" indent="0" algn="r" defTabSz="935038" rtl="0" eaLnBrk="1" fontAlgn="base" latinLnBrk="0" hangingPunct="1">
                <a:lnSpc>
                  <a:spcPct val="100000"/>
                </a:lnSpc>
                <a:spcBef>
                  <a:spcPct val="0"/>
                </a:spcBef>
                <a:spcAft>
                  <a:spcPct val="0"/>
                </a:spcAft>
                <a:buClrTx/>
                <a:buSzTx/>
                <a:buFontTx/>
                <a:buNone/>
                <a:tabLst/>
                <a:defRPr/>
              </a:pPr>
              <a:t>6</a:t>
            </a:fld>
            <a:endParaRPr kumimoji="0" lang="zh-TW" altLang="zh-TW" sz="1200" b="0" i="0" u="none" strike="noStrike" kern="1200" cap="none" spc="0" normalizeH="0" baseline="0" noProof="0">
              <a:ln>
                <a:noFill/>
              </a:ln>
              <a:solidFill>
                <a:srgbClr val="000000"/>
              </a:solidFill>
              <a:effectLst/>
              <a:uLnTx/>
              <a:uFillTx/>
              <a:latin typeface="Times New Roman" pitchFamily="18" charset="0"/>
              <a:ea typeface="華康簡楷" charset="-120"/>
              <a:cs typeface="+mn-cs"/>
            </a:endParaRPr>
          </a:p>
        </p:txBody>
      </p:sp>
    </p:spTree>
    <p:extLst>
      <p:ext uri="{BB962C8B-B14F-4D97-AF65-F5344CB8AC3E}">
        <p14:creationId xmlns:p14="http://schemas.microsoft.com/office/powerpoint/2010/main" val="54877922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403459" name="Rectangle 3"/>
          <p:cNvSpPr>
            <a:spLocks noGrp="1" noChangeArrowheads="1"/>
          </p:cNvSpPr>
          <p:nvPr>
            <p:ph type="ctrTitle" hasCustomPrompt="1"/>
          </p:nvPr>
        </p:nvSpPr>
        <p:spPr>
          <a:xfrm>
            <a:off x="458792" y="1037459"/>
            <a:ext cx="9104308" cy="430887"/>
          </a:xfrm>
        </p:spPr>
        <p:txBody>
          <a:bodyPr vert="horz" wrap="square" lIns="0" tIns="0" rIns="0" bIns="0" rtlCol="0" anchor="t" anchorCtr="0">
            <a:spAutoFit/>
          </a:bodyPr>
          <a:lstStyle>
            <a:lvl1pPr marL="0" indent="0">
              <a:defRPr lang="en-GB" altLang="en-US" sz="2800" dirty="0">
                <a:solidFill>
                  <a:schemeClr val="tx2"/>
                </a:solidFill>
                <a:cs typeface="Calibri" pitchFamily="34" charset="0"/>
              </a:defRPr>
            </a:lvl1pPr>
          </a:lstStyle>
          <a:p>
            <a:pPr marL="0" lvl="0"/>
            <a:r>
              <a:rPr lang="en-GB" altLang="en-US" dirty="0"/>
              <a:t>[Presentation title]</a:t>
            </a:r>
          </a:p>
        </p:txBody>
      </p:sp>
      <p:sp>
        <p:nvSpPr>
          <p:cNvPr id="403460" name="Rectangle 4"/>
          <p:cNvSpPr>
            <a:spLocks noGrp="1" noChangeArrowheads="1"/>
          </p:cNvSpPr>
          <p:nvPr>
            <p:ph type="subTitle" idx="1" hasCustomPrompt="1"/>
          </p:nvPr>
        </p:nvSpPr>
        <p:spPr>
          <a:xfrm>
            <a:off x="458792" y="1818339"/>
            <a:ext cx="9104308" cy="344710"/>
          </a:xfrm>
          <a:prstGeom prst="rect">
            <a:avLst/>
          </a:prstGeom>
        </p:spPr>
        <p:txBody>
          <a:bodyPr vert="horz" wrap="square" lIns="0" tIns="36576" rIns="0" bIns="0" rtlCol="0" anchor="ctr" anchorCtr="0">
            <a:spAutoFit/>
          </a:bodyPr>
          <a:lstStyle>
            <a:lvl1pPr marL="0" indent="-342900">
              <a:buNone/>
              <a:defRPr lang="en-GB" altLang="en-US" sz="2000" dirty="0">
                <a:latin typeface="+mj-lt"/>
                <a:cs typeface="Calibri" pitchFamily="34" charset="0"/>
              </a:defRPr>
            </a:lvl1pPr>
          </a:lstStyle>
          <a:p>
            <a:pPr lvl="0" indent="0"/>
            <a:r>
              <a:rPr lang="en-GB" altLang="en-US" dirty="0"/>
              <a:t>[Subtitle]</a:t>
            </a:r>
          </a:p>
        </p:txBody>
      </p:sp>
      <p:sp>
        <p:nvSpPr>
          <p:cNvPr id="3" name="Text Placeholder 2"/>
          <p:cNvSpPr>
            <a:spLocks noGrp="1"/>
          </p:cNvSpPr>
          <p:nvPr>
            <p:ph type="body" sz="quarter" idx="10" hasCustomPrompt="1"/>
          </p:nvPr>
        </p:nvSpPr>
        <p:spPr>
          <a:xfrm>
            <a:off x="458792" y="2248867"/>
            <a:ext cx="9104308" cy="278718"/>
          </a:xfrm>
        </p:spPr>
        <p:txBody>
          <a:bodyPr anchor="ctr" anchorCtr="0">
            <a:normAutofit/>
          </a:bodyPr>
          <a:lstStyle>
            <a:lvl1pPr marL="0" indent="0">
              <a:buNone/>
              <a:defRPr sz="1200"/>
            </a:lvl1pPr>
          </a:lstStyle>
          <a:p>
            <a:pPr lvl="0"/>
            <a:r>
              <a:rPr lang="en-GB" dirty="0"/>
              <a:t>[DATE]</a:t>
            </a:r>
            <a:endParaRPr lang="en-US" dirty="0"/>
          </a:p>
        </p:txBody>
      </p:sp>
      <p:pic>
        <p:nvPicPr>
          <p:cNvPr id="8" name="Picture 7"/>
          <p:cNvPicPr>
            <a:picLocks noChangeAspect="1"/>
          </p:cNvPicPr>
          <p:nvPr userDrawn="1"/>
        </p:nvPicPr>
        <p:blipFill rotWithShape="1">
          <a:blip r:embed="rId2">
            <a:extLst>
              <a:ext uri="{28A0092B-C50C-407E-A947-70E740481C1C}">
                <a14:useLocalDpi xmlns:a14="http://schemas.microsoft.com/office/drawing/2010/main" val="0"/>
              </a:ext>
            </a:extLst>
          </a:blip>
          <a:srcRect t="39149" b="11390"/>
          <a:stretch/>
        </p:blipFill>
        <p:spPr>
          <a:xfrm flipH="1">
            <a:off x="-9" y="2647955"/>
            <a:ext cx="9905325" cy="3676645"/>
          </a:xfrm>
          <a:prstGeom prst="rect">
            <a:avLst/>
          </a:prstGeom>
          <a:noFill/>
          <a:ln>
            <a:noFill/>
          </a:ln>
        </p:spPr>
      </p:pic>
      <p:sp>
        <p:nvSpPr>
          <p:cNvPr id="9" name="Text Box 5"/>
          <p:cNvSpPr txBox="1">
            <a:spLocks noChangeArrowheads="1"/>
          </p:cNvSpPr>
          <p:nvPr userDrawn="1"/>
        </p:nvSpPr>
        <p:spPr bwMode="auto">
          <a:xfrm>
            <a:off x="296867" y="5915204"/>
            <a:ext cx="8151808" cy="307777"/>
          </a:xfrm>
          <a:prstGeom prst="rect">
            <a:avLst/>
          </a:prstGeom>
          <a:noFill/>
          <a:ln w="9525">
            <a:noFill/>
            <a:miter lim="800000"/>
            <a:headEnd/>
            <a:tailEnd/>
          </a:ln>
          <a:effectLst/>
        </p:spPr>
        <p:txBody>
          <a:bodyPr wrap="square" lIns="0" tIns="0" rIns="0" bIns="0">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pPr eaLnBrk="1" fontAlgn="auto" hangingPunct="1">
              <a:spcBef>
                <a:spcPts val="0"/>
              </a:spcBef>
              <a:spcAft>
                <a:spcPts val="0"/>
              </a:spcAft>
              <a:buClrTx/>
              <a:buFontTx/>
              <a:buNone/>
              <a:defRPr/>
            </a:pPr>
            <a:r>
              <a:rPr lang="en-US" altLang="en-US" sz="1000" i="0" dirty="0">
                <a:solidFill>
                  <a:srgbClr val="000000"/>
                </a:solidFill>
                <a:latin typeface="Calibri"/>
              </a:rPr>
              <a:t>Disclaimer: The information contained in this document is intended only for use during the presentation and should not be disseminated or distributed to parties outside the presentation. DBS Bank accepts no liability whatsoever with respect to the use of this document or its contents.  </a:t>
            </a:r>
            <a:endParaRPr lang="en-GB" altLang="en-US" sz="1000" i="0" dirty="0">
              <a:solidFill>
                <a:srgbClr val="000000"/>
              </a:solidFill>
              <a:latin typeface="Calibri"/>
            </a:endParaRPr>
          </a:p>
        </p:txBody>
      </p:sp>
      <p:sp>
        <p:nvSpPr>
          <p:cNvPr id="10" name="Freeform 9"/>
          <p:cNvSpPr/>
          <p:nvPr userDrawn="1"/>
        </p:nvSpPr>
        <p:spPr>
          <a:xfrm>
            <a:off x="6697980" y="2666366"/>
            <a:ext cx="3219461" cy="3651885"/>
          </a:xfrm>
          <a:custGeom>
            <a:avLst/>
            <a:gdLst>
              <a:gd name="connsiteX0" fmla="*/ 3211209 w 3219461"/>
              <a:gd name="connsiteY0" fmla="*/ 0 h 3651885"/>
              <a:gd name="connsiteX1" fmla="*/ 3219461 w 3219461"/>
              <a:gd name="connsiteY1" fmla="*/ 3651885 h 3651885"/>
              <a:gd name="connsiteX2" fmla="*/ 856413 w 3219461"/>
              <a:gd name="connsiteY2" fmla="*/ 3651885 h 3651885"/>
              <a:gd name="connsiteX3" fmla="*/ 0 w 3219461"/>
              <a:gd name="connsiteY3" fmla="*/ 1486535 h 3651885"/>
            </a:gdLst>
            <a:ahLst/>
            <a:cxnLst>
              <a:cxn ang="0">
                <a:pos x="connsiteX0" y="connsiteY0"/>
              </a:cxn>
              <a:cxn ang="0">
                <a:pos x="connsiteX1" y="connsiteY1"/>
              </a:cxn>
              <a:cxn ang="0">
                <a:pos x="connsiteX2" y="connsiteY2"/>
              </a:cxn>
              <a:cxn ang="0">
                <a:pos x="connsiteX3" y="connsiteY3"/>
              </a:cxn>
            </a:cxnLst>
            <a:rect l="l" t="t" r="r" b="b"/>
            <a:pathLst>
              <a:path w="3219461" h="3651885">
                <a:moveTo>
                  <a:pt x="3211209" y="0"/>
                </a:moveTo>
                <a:lnTo>
                  <a:pt x="3219461" y="3651885"/>
                </a:lnTo>
                <a:lnTo>
                  <a:pt x="856413" y="3651885"/>
                </a:lnTo>
                <a:lnTo>
                  <a:pt x="0" y="1486535"/>
                </a:lnTo>
                <a:close/>
              </a:path>
            </a:pathLst>
          </a:custGeom>
          <a:solidFill>
            <a:srgbClr val="FFFFF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1" name="Freeform 9"/>
          <p:cNvSpPr>
            <a:spLocks/>
          </p:cNvSpPr>
          <p:nvPr userDrawn="1"/>
        </p:nvSpPr>
        <p:spPr bwMode="auto">
          <a:xfrm rot="5400000">
            <a:off x="6413515" y="3402068"/>
            <a:ext cx="1383616" cy="1715151"/>
          </a:xfrm>
          <a:custGeom>
            <a:avLst/>
            <a:gdLst>
              <a:gd name="T0" fmla="*/ 15 w 138"/>
              <a:gd name="T1" fmla="*/ 152 h 176"/>
              <a:gd name="T2" fmla="*/ 48 w 138"/>
              <a:gd name="T3" fmla="*/ 140 h 176"/>
              <a:gd name="T4" fmla="*/ 56 w 138"/>
              <a:gd name="T5" fmla="*/ 140 h 176"/>
              <a:gd name="T6" fmla="*/ 62 w 138"/>
              <a:gd name="T7" fmla="*/ 146 h 176"/>
              <a:gd name="T8" fmla="*/ 79 w 138"/>
              <a:gd name="T9" fmla="*/ 176 h 176"/>
              <a:gd name="T10" fmla="*/ 79 w 138"/>
              <a:gd name="T11" fmla="*/ 176 h 176"/>
              <a:gd name="T12" fmla="*/ 67 w 138"/>
              <a:gd name="T13" fmla="*/ 143 h 176"/>
              <a:gd name="T14" fmla="*/ 67 w 138"/>
              <a:gd name="T15" fmla="*/ 135 h 176"/>
              <a:gd name="T16" fmla="*/ 73 w 138"/>
              <a:gd name="T17" fmla="*/ 129 h 176"/>
              <a:gd name="T18" fmla="*/ 138 w 138"/>
              <a:gd name="T19" fmla="*/ 97 h 176"/>
              <a:gd name="T20" fmla="*/ 138 w 138"/>
              <a:gd name="T21" fmla="*/ 97 h 176"/>
              <a:gd name="T22" fmla="*/ 70 w 138"/>
              <a:gd name="T23" fmla="*/ 124 h 176"/>
              <a:gd name="T24" fmla="*/ 62 w 138"/>
              <a:gd name="T25" fmla="*/ 124 h 176"/>
              <a:gd name="T26" fmla="*/ 56 w 138"/>
              <a:gd name="T27" fmla="*/ 118 h 176"/>
              <a:gd name="T28" fmla="*/ 0 w 138"/>
              <a:gd name="T29" fmla="*/ 0 h 176"/>
              <a:gd name="T30" fmla="*/ 0 w 138"/>
              <a:gd name="T31" fmla="*/ 0 h 176"/>
              <a:gd name="T32" fmla="*/ 51 w 138"/>
              <a:gd name="T33" fmla="*/ 121 h 176"/>
              <a:gd name="T34" fmla="*/ 51 w 138"/>
              <a:gd name="T35" fmla="*/ 129 h 176"/>
              <a:gd name="T36" fmla="*/ 45 w 138"/>
              <a:gd name="T37" fmla="*/ 135 h 176"/>
              <a:gd name="T38" fmla="*/ 15 w 138"/>
              <a:gd name="T39" fmla="*/ 152 h 176"/>
              <a:gd name="T40" fmla="*/ 15 w 138"/>
              <a:gd name="T41" fmla="*/ 15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8" h="176">
                <a:moveTo>
                  <a:pt x="15" y="152"/>
                </a:moveTo>
                <a:cubicBezTo>
                  <a:pt x="48" y="140"/>
                  <a:pt x="48" y="140"/>
                  <a:pt x="48" y="140"/>
                </a:cubicBezTo>
                <a:cubicBezTo>
                  <a:pt x="48" y="140"/>
                  <a:pt x="52" y="138"/>
                  <a:pt x="56" y="140"/>
                </a:cubicBezTo>
                <a:cubicBezTo>
                  <a:pt x="60" y="141"/>
                  <a:pt x="62" y="146"/>
                  <a:pt x="62" y="146"/>
                </a:cubicBezTo>
                <a:cubicBezTo>
                  <a:pt x="79" y="176"/>
                  <a:pt x="79" y="176"/>
                  <a:pt x="79" y="176"/>
                </a:cubicBezTo>
                <a:cubicBezTo>
                  <a:pt x="79" y="176"/>
                  <a:pt x="79" y="176"/>
                  <a:pt x="79" y="176"/>
                </a:cubicBezTo>
                <a:cubicBezTo>
                  <a:pt x="67" y="143"/>
                  <a:pt x="67" y="143"/>
                  <a:pt x="67" y="143"/>
                </a:cubicBezTo>
                <a:cubicBezTo>
                  <a:pt x="67" y="143"/>
                  <a:pt x="66" y="139"/>
                  <a:pt x="67" y="135"/>
                </a:cubicBezTo>
                <a:cubicBezTo>
                  <a:pt x="68" y="131"/>
                  <a:pt x="73" y="129"/>
                  <a:pt x="73" y="129"/>
                </a:cubicBezTo>
                <a:cubicBezTo>
                  <a:pt x="138" y="97"/>
                  <a:pt x="138" y="97"/>
                  <a:pt x="138" y="97"/>
                </a:cubicBezTo>
                <a:cubicBezTo>
                  <a:pt x="138" y="97"/>
                  <a:pt x="138" y="97"/>
                  <a:pt x="138" y="97"/>
                </a:cubicBezTo>
                <a:cubicBezTo>
                  <a:pt x="70" y="124"/>
                  <a:pt x="70" y="124"/>
                  <a:pt x="70" y="124"/>
                </a:cubicBezTo>
                <a:cubicBezTo>
                  <a:pt x="70" y="124"/>
                  <a:pt x="66" y="126"/>
                  <a:pt x="62" y="124"/>
                </a:cubicBezTo>
                <a:cubicBezTo>
                  <a:pt x="58" y="123"/>
                  <a:pt x="56" y="118"/>
                  <a:pt x="56" y="118"/>
                </a:cubicBezTo>
                <a:cubicBezTo>
                  <a:pt x="0" y="0"/>
                  <a:pt x="0" y="0"/>
                  <a:pt x="0" y="0"/>
                </a:cubicBezTo>
                <a:cubicBezTo>
                  <a:pt x="0" y="0"/>
                  <a:pt x="0" y="0"/>
                  <a:pt x="0" y="0"/>
                </a:cubicBezTo>
                <a:cubicBezTo>
                  <a:pt x="51" y="121"/>
                  <a:pt x="51" y="121"/>
                  <a:pt x="51" y="121"/>
                </a:cubicBezTo>
                <a:cubicBezTo>
                  <a:pt x="51" y="121"/>
                  <a:pt x="53" y="125"/>
                  <a:pt x="51" y="129"/>
                </a:cubicBezTo>
                <a:cubicBezTo>
                  <a:pt x="50" y="133"/>
                  <a:pt x="45" y="135"/>
                  <a:pt x="45" y="135"/>
                </a:cubicBezTo>
                <a:cubicBezTo>
                  <a:pt x="15" y="152"/>
                  <a:pt x="15" y="152"/>
                  <a:pt x="15" y="152"/>
                </a:cubicBezTo>
                <a:cubicBezTo>
                  <a:pt x="15" y="152"/>
                  <a:pt x="15" y="152"/>
                  <a:pt x="15" y="152"/>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pic>
        <p:nvPicPr>
          <p:cNvPr id="30" name="Picture 29"/>
          <p:cNvPicPr>
            <a:picLocks noChangeAspect="1"/>
          </p:cNvPicPr>
          <p:nvPr userDrawn="1"/>
        </p:nvPicPr>
        <p:blipFill rotWithShape="1">
          <a:blip r:embed="rId3" cstate="print">
            <a:extLst>
              <a:ext uri="{28A0092B-C50C-407E-A947-70E740481C1C}">
                <a14:useLocalDpi xmlns:a14="http://schemas.microsoft.com/office/drawing/2010/main" val="0"/>
              </a:ext>
            </a:extLst>
          </a:blip>
          <a:srcRect b="21150"/>
          <a:stretch/>
        </p:blipFill>
        <p:spPr>
          <a:xfrm>
            <a:off x="1" y="6318794"/>
            <a:ext cx="9905999" cy="539206"/>
          </a:xfrm>
          <a:prstGeom prst="rect">
            <a:avLst/>
          </a:prstGeom>
        </p:spPr>
      </p:pic>
    </p:spTree>
    <p:extLst>
      <p:ext uri="{BB962C8B-B14F-4D97-AF65-F5344CB8AC3E}">
        <p14:creationId xmlns:p14="http://schemas.microsoft.com/office/powerpoint/2010/main" val="2913260002"/>
      </p:ext>
    </p:extLst>
  </p:cSld>
  <p:clrMapOvr>
    <a:masterClrMapping/>
  </p:clrMapOvr>
  <p:extLst mod="1">
    <p:ext uri="{DCECCB84-F9BA-43D5-87BE-67443E8EF086}">
      <p15:sldGuideLst xmlns:p15="http://schemas.microsoft.com/office/powerpoint/2012/main">
        <p15:guide id="1" orient="horz" pos="166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6" name="Rectangle 49"/>
          <p:cNvSpPr>
            <a:spLocks noGrp="1" noChangeArrowheads="1"/>
          </p:cNvSpPr>
          <p:nvPr>
            <p:ph type="ftr" sz="quarter" idx="3"/>
          </p:nvPr>
        </p:nvSpPr>
        <p:spPr bwMode="auto">
          <a:xfrm>
            <a:off x="380999" y="6229350"/>
            <a:ext cx="84105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800" u="none">
                <a:latin typeface="+mn-lt"/>
              </a:defRPr>
            </a:lvl1pPr>
          </a:lstStyle>
          <a:p>
            <a:endParaRPr lang="en-US" dirty="0"/>
          </a:p>
        </p:txBody>
      </p:sp>
      <p:sp>
        <p:nvSpPr>
          <p:cNvPr id="7" name="Rectangle 45"/>
          <p:cNvSpPr>
            <a:spLocks noGrp="1" noChangeArrowheads="1"/>
          </p:cNvSpPr>
          <p:nvPr>
            <p:ph type="sldNum" sz="quarter" idx="4"/>
          </p:nvPr>
        </p:nvSpPr>
        <p:spPr bwMode="auto">
          <a:xfrm>
            <a:off x="9294706" y="6457701"/>
            <a:ext cx="306494" cy="21544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lvl1pPr algn="r">
              <a:defRPr sz="800" u="none">
                <a:latin typeface="+mn-lt"/>
              </a:defRPr>
            </a:lvl1pPr>
          </a:lstStyle>
          <a:p>
            <a:fld id="{54750402-2FB9-4808-B45A-E9D8797657DF}" type="slidenum">
              <a:rPr lang="en-US" smtClean="0"/>
              <a:pPr/>
              <a:t>‹#›</a:t>
            </a:fld>
            <a:endParaRPr lang="en-US" dirty="0"/>
          </a:p>
        </p:txBody>
      </p:sp>
      <p:sp>
        <p:nvSpPr>
          <p:cNvPr id="8" name="Title 7"/>
          <p:cNvSpPr>
            <a:spLocks noGrp="1"/>
          </p:cNvSpPr>
          <p:nvPr>
            <p:ph type="title"/>
          </p:nvPr>
        </p:nvSpPr>
        <p:spPr/>
        <p:txBody>
          <a:bodyPr/>
          <a:lstStyle>
            <a:lvl1pPr marL="0" indent="0">
              <a:tabLst>
                <a:tab pos="285750" algn="l"/>
              </a:tabLst>
              <a:defRPr/>
            </a:lvl1pPr>
          </a:lstStyle>
          <a:p>
            <a:r>
              <a:rPr lang="en-US" dirty="0"/>
              <a:t>Click to edit Master title style</a:t>
            </a:r>
          </a:p>
        </p:txBody>
      </p:sp>
    </p:spTree>
    <p:extLst>
      <p:ext uri="{BB962C8B-B14F-4D97-AF65-F5344CB8AC3E}">
        <p14:creationId xmlns:p14="http://schemas.microsoft.com/office/powerpoint/2010/main" val="11781867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p:spTree>
      <p:nvGrpSpPr>
        <p:cNvPr id="1" name=""/>
        <p:cNvGrpSpPr/>
        <p:nvPr/>
      </p:nvGrpSpPr>
      <p:grpSpPr>
        <a:xfrm>
          <a:off x="0" y="0"/>
          <a:ext cx="0" cy="0"/>
          <a:chOff x="0" y="0"/>
          <a:chExt cx="0" cy="0"/>
        </a:xfrm>
      </p:grpSpPr>
      <p:pic>
        <p:nvPicPr>
          <p:cNvPr id="7" name="Picture 1" descr="C:\Users\wanyinglim\Pictures\LOGO\dbslogo_e1_4c.jpg"/>
          <p:cNvPicPr>
            <a:picLocks noChangeAspect="1" noChangeArrowheads="1"/>
          </p:cNvPicPr>
          <p:nvPr userDrawn="1"/>
        </p:nvPicPr>
        <p:blipFill>
          <a:blip r:embed="rId2" cstate="print"/>
          <a:stretch>
            <a:fillRect/>
          </a:stretch>
        </p:blipFill>
        <p:spPr bwMode="auto">
          <a:xfrm>
            <a:off x="8007350" y="6248400"/>
            <a:ext cx="1280160" cy="532015"/>
          </a:xfrm>
          <a:prstGeom prst="rect">
            <a:avLst/>
          </a:prstGeom>
          <a:noFill/>
        </p:spPr>
      </p:pic>
      <p:sp>
        <p:nvSpPr>
          <p:cNvPr id="9" name="Rectangle 3"/>
          <p:cNvSpPr>
            <a:spLocks noChangeArrowheads="1"/>
          </p:cNvSpPr>
          <p:nvPr userDrawn="1"/>
        </p:nvSpPr>
        <p:spPr bwMode="auto">
          <a:xfrm>
            <a:off x="742950" y="3276600"/>
            <a:ext cx="8502650" cy="21600"/>
          </a:xfrm>
          <a:prstGeom prst="rect">
            <a:avLst/>
          </a:prstGeom>
          <a:solidFill>
            <a:srgbClr val="800000"/>
          </a:solidFill>
          <a:ln w="9525">
            <a:noFill/>
            <a:miter lim="800000"/>
            <a:headEnd/>
            <a:tailEnd/>
          </a:ln>
        </p:spPr>
        <p:txBody>
          <a:bodyPr wrap="none" anchor="ctr"/>
          <a:lstStyle/>
          <a:p>
            <a:pPr algn="ctr" eaLnBrk="0" fontAlgn="base" hangingPunct="0">
              <a:spcBef>
                <a:spcPct val="0"/>
              </a:spcBef>
              <a:spcAft>
                <a:spcPct val="0"/>
              </a:spcAft>
              <a:buClr>
                <a:srgbClr val="BE050A"/>
              </a:buClr>
              <a:buFont typeface="Wingdings" pitchFamily="2" charset="2"/>
              <a:buNone/>
            </a:pPr>
            <a:endParaRPr lang="en-US" sz="1400" dirty="0">
              <a:solidFill>
                <a:srgbClr val="000000"/>
              </a:solidFill>
              <a:cs typeface="Arial" charset="0"/>
            </a:endParaRPr>
          </a:p>
        </p:txBody>
      </p:sp>
      <p:sp>
        <p:nvSpPr>
          <p:cNvPr id="10" name="Title 14"/>
          <p:cNvSpPr>
            <a:spLocks noGrp="1"/>
          </p:cNvSpPr>
          <p:nvPr>
            <p:ph type="title"/>
          </p:nvPr>
        </p:nvSpPr>
        <p:spPr>
          <a:xfrm>
            <a:off x="742950" y="2743200"/>
            <a:ext cx="8420100" cy="533400"/>
          </a:xfrm>
        </p:spPr>
        <p:txBody>
          <a:bodyPr anchor="ctr"/>
          <a:lstStyle>
            <a:lvl1pPr algn="ctr">
              <a:defRPr sz="2400" b="0" i="1"/>
            </a:lvl1pPr>
          </a:lstStyle>
          <a:p>
            <a:r>
              <a:rPr lang="en-US"/>
              <a:t>Click to edit Master title style</a:t>
            </a:r>
            <a:endParaRPr lang="en-SG"/>
          </a:p>
        </p:txBody>
      </p:sp>
    </p:spTree>
    <p:extLst>
      <p:ext uri="{BB962C8B-B14F-4D97-AF65-F5344CB8AC3E}">
        <p14:creationId xmlns:p14="http://schemas.microsoft.com/office/powerpoint/2010/main" val="2826750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Back cover 2">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val="0"/>
              </a:ext>
            </a:extLst>
          </a:blip>
          <a:srcRect b="21150"/>
          <a:stretch/>
        </p:blipFill>
        <p:spPr>
          <a:xfrm>
            <a:off x="1" y="6318794"/>
            <a:ext cx="9918700" cy="539206"/>
          </a:xfrm>
          <a:prstGeom prst="rect">
            <a:avLst/>
          </a:prstGeom>
        </p:spPr>
      </p:pic>
      <p:sp>
        <p:nvSpPr>
          <p:cNvPr id="9" name="Rectangle 11"/>
          <p:cNvSpPr>
            <a:spLocks noChangeArrowheads="1"/>
          </p:cNvSpPr>
          <p:nvPr userDrawn="1"/>
        </p:nvSpPr>
        <p:spPr bwMode="auto">
          <a:xfrm>
            <a:off x="452439" y="1208087"/>
            <a:ext cx="9007023" cy="3018455"/>
          </a:xfrm>
          <a:prstGeom prst="rect">
            <a:avLst/>
          </a:prstGeom>
          <a:noFill/>
          <a:ln w="9525">
            <a:noFill/>
            <a:miter lim="800000"/>
            <a:headEnd/>
            <a:tailEnd/>
          </a:ln>
        </p:spPr>
        <p:txBody>
          <a:bodyPr wrap="square" lIns="0" tIns="0" rIns="0" bIns="0">
            <a:spAutoFit/>
          </a:bodyPr>
          <a:lstStyle/>
          <a:p>
            <a:pPr marL="0" marR="0" lvl="0" indent="0" algn="l" defTabSz="914400" rtl="0" eaLnBrk="1" fontAlgn="auto" latinLnBrk="0" hangingPunct="1">
              <a:lnSpc>
                <a:spcPct val="110000"/>
              </a:lnSpc>
              <a:spcBef>
                <a:spcPts val="300"/>
              </a:spcBef>
              <a:spcAft>
                <a:spcPts val="300"/>
              </a:spcAft>
              <a:buClr>
                <a:srgbClr val="414141"/>
              </a:buClr>
              <a:buSzTx/>
              <a:buFontTx/>
              <a:buNone/>
              <a:tabLst/>
              <a:defRPr/>
            </a:pP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This Presentation (the “</a:t>
            </a:r>
            <a:r>
              <a:rPr kumimoji="0" lang="en-US" altLang="zh-CN" sz="1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Presentation</a:t>
            </a: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presented by DBS Bank and its affiliates ("</a:t>
            </a:r>
            <a:r>
              <a:rPr kumimoji="0" lang="en-US" altLang="zh-CN" sz="1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DBS</a:t>
            </a: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is partially based on information obtained from market sources. Although the attached Presentation is predicated on market information relating to the company to which DBS provides a copy (the “</a:t>
            </a:r>
            <a:r>
              <a:rPr kumimoji="0" lang="en-US" altLang="zh-CN" sz="1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Company</a:t>
            </a: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DBS has not independently verified any such information or representation and accordingly, cannot and do not warrant, and do not accept responsibility for the accuracy, completeness or adequacy of such information or representations. DBS puts forward this Presentation in good faith as a basis for consideration by the Company.   </a:t>
            </a:r>
          </a:p>
          <a:p>
            <a:pPr marL="0" marR="0" lvl="0" indent="0" algn="l" defTabSz="914400" rtl="0" eaLnBrk="1" fontAlgn="auto" latinLnBrk="0" hangingPunct="1">
              <a:lnSpc>
                <a:spcPct val="110000"/>
              </a:lnSpc>
              <a:spcBef>
                <a:spcPts val="300"/>
              </a:spcBef>
              <a:spcAft>
                <a:spcPts val="300"/>
              </a:spcAft>
              <a:buClr>
                <a:srgbClr val="414141"/>
              </a:buClr>
              <a:buSzTx/>
              <a:buFontTx/>
              <a:buNone/>
              <a:tabLst/>
              <a:defRPr/>
            </a:pP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possible that the ideas proposed herein are inappropriate should the market information relating to the Company’s business and/or business environment be incorrect. Any information, as contemplated herein, may not be disclosed by the Company publicly or made available to any third parties.  You should be aware that DBS is not, and does not hold itself to be an advisor as to legal, taxation, accounting or regulatory matters in any jurisdiction; accordingly, neither DBS, nor any of its directors, officers, employees or agents (each a "</a:t>
            </a:r>
            <a:r>
              <a:rPr kumimoji="0" lang="en-US" altLang="zh-CN" sz="1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Relevant Person</a:t>
            </a: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shall incur any responsibility or liability with respect to any action, omission, recommendation or comment made by them or any Relevant Person in relation to any such matters or anything contained herein, and the Company shall be responsible for obtaining all such advice as it thinks appropriate on such matters.   </a:t>
            </a:r>
          </a:p>
          <a:p>
            <a:pPr marL="0" marR="0" lvl="0" indent="0" algn="l" defTabSz="914400" rtl="0" eaLnBrk="1" fontAlgn="auto" latinLnBrk="0" hangingPunct="1">
              <a:lnSpc>
                <a:spcPct val="110000"/>
              </a:lnSpc>
              <a:spcBef>
                <a:spcPts val="300"/>
              </a:spcBef>
              <a:spcAft>
                <a:spcPts val="300"/>
              </a:spcAft>
              <a:buClr>
                <a:srgbClr val="414141"/>
              </a:buClr>
              <a:buSzTx/>
              <a:buFontTx/>
              <a:buNone/>
              <a:tabLst/>
              <a:defRPr/>
            </a:pPr>
            <a:r>
              <a:rPr kumimoji="0" lang="en-US"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 Company alone shall be responsible for making its own independent investigation and appraisal of the risks, benefits and suitability of the recommendations contained in this Presentation and DBS shall incur no responsibility or liability whatsoever to the Company in respect thereof. No action, omission, recommendation or comment made by DBS or any Relevant Person in relation to the Presentation shall constitute, or be deemed to constitute, a representation, warranty or undertaking by DBS or any Relevant Person. This Presentation has not been reviewed with appropriate or relevant legal counsel and DBS reserves the right without assuming the obligation to seek such legal opinions as may be required to ensure that the views set out by DBS fully complies with all legal and regulatory requirements. Nothing in this Presentation should be construed as an offer or a solicitation of an offer to buy or sell any securities. The reproduction and/or dissemination of the contents herein is prohibited without our prior approval.</a:t>
            </a:r>
            <a:endParaRPr kumimoji="0" lang="en-GB" altLang="zh-CN"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 name="Title 1"/>
          <p:cNvSpPr>
            <a:spLocks noGrp="1"/>
          </p:cNvSpPr>
          <p:nvPr>
            <p:ph type="title" hasCustomPrompt="1"/>
          </p:nvPr>
        </p:nvSpPr>
        <p:spPr>
          <a:xfrm>
            <a:off x="452438" y="632387"/>
            <a:ext cx="7753350" cy="307777"/>
          </a:xfrm>
        </p:spPr>
        <p:txBody>
          <a:bodyPr/>
          <a:lstStyle/>
          <a:p>
            <a:r>
              <a:rPr lang="en-US" dirty="0"/>
              <a:t>Important Notice</a:t>
            </a:r>
          </a:p>
        </p:txBody>
      </p:sp>
      <p:cxnSp>
        <p:nvCxnSpPr>
          <p:cNvPr id="5" name="Straight Connector 4"/>
          <p:cNvCxnSpPr/>
          <p:nvPr userDrawn="1"/>
        </p:nvCxnSpPr>
        <p:spPr>
          <a:xfrm>
            <a:off x="453000" y="1000877"/>
            <a:ext cx="8997696"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959425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374119" y="95250"/>
            <a:ext cx="9207917" cy="533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ltLang="en-US" dirty="0"/>
              <a:t>Click to edit Master title / style</a:t>
            </a:r>
          </a:p>
        </p:txBody>
      </p:sp>
      <p:sp>
        <p:nvSpPr>
          <p:cNvPr id="1073" name="Rectangle 49"/>
          <p:cNvSpPr>
            <a:spLocks noGrp="1" noChangeArrowheads="1"/>
          </p:cNvSpPr>
          <p:nvPr>
            <p:ph type="ftr" sz="quarter" idx="3"/>
          </p:nvPr>
        </p:nvSpPr>
        <p:spPr bwMode="auto">
          <a:xfrm>
            <a:off x="380999" y="6229350"/>
            <a:ext cx="84105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800" u="none">
                <a:latin typeface="+mn-lt"/>
              </a:defRPr>
            </a:lvl1pPr>
          </a:lstStyle>
          <a:p>
            <a:endParaRPr lang="en-US" dirty="0"/>
          </a:p>
        </p:txBody>
      </p:sp>
      <p:sp>
        <p:nvSpPr>
          <p:cNvPr id="1074" name="Line 50"/>
          <p:cNvSpPr>
            <a:spLocks noChangeShapeType="1"/>
          </p:cNvSpPr>
          <p:nvPr/>
        </p:nvSpPr>
        <p:spPr bwMode="gray">
          <a:xfrm>
            <a:off x="380999" y="628650"/>
            <a:ext cx="9220201" cy="0"/>
          </a:xfrm>
          <a:prstGeom prst="line">
            <a:avLst/>
          </a:prstGeom>
          <a:noFill/>
          <a:ln w="19050">
            <a:solidFill>
              <a:schemeClr val="accent1"/>
            </a:solidFill>
            <a:round/>
            <a:headEnd/>
            <a:tailEnd/>
          </a:ln>
          <a:effectLst/>
        </p:spPr>
        <p:txBody>
          <a:bodyPr wrap="none" anchor="ctr"/>
          <a:lstStyle/>
          <a:p>
            <a:pPr>
              <a:buClr>
                <a:schemeClr val="accent1"/>
              </a:buClr>
              <a:buFont typeface="Wingdings" pitchFamily="2" charset="2"/>
              <a:buNone/>
              <a:defRPr/>
            </a:pPr>
            <a:endParaRPr lang="en-US" sz="900" u="none" dirty="0">
              <a:solidFill>
                <a:srgbClr val="000000"/>
              </a:solidFill>
              <a:latin typeface="+mn-lt"/>
            </a:endParaRPr>
          </a:p>
        </p:txBody>
      </p:sp>
      <p:sp>
        <p:nvSpPr>
          <p:cNvPr id="3078" name="Rectangle 3"/>
          <p:cNvSpPr>
            <a:spLocks noGrp="1" noChangeArrowheads="1"/>
          </p:cNvSpPr>
          <p:nvPr>
            <p:ph type="body" idx="1"/>
          </p:nvPr>
        </p:nvSpPr>
        <p:spPr bwMode="gray">
          <a:xfrm>
            <a:off x="381000" y="762000"/>
            <a:ext cx="9201036" cy="5329238"/>
          </a:xfrm>
          <a:prstGeom prst="rect">
            <a:avLst/>
          </a:prstGeom>
          <a:noFill/>
          <a:ln w="9525">
            <a:noFill/>
            <a:miter lim="800000"/>
            <a:headEnd/>
            <a:tailEnd/>
          </a:ln>
        </p:spPr>
        <p:txBody>
          <a:bodyPr vert="horz" wrap="square" lIns="45720" tIns="45720" rIns="4572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2" name="Line 50"/>
          <p:cNvSpPr>
            <a:spLocks noChangeShapeType="1"/>
          </p:cNvSpPr>
          <p:nvPr/>
        </p:nvSpPr>
        <p:spPr bwMode="gray">
          <a:xfrm>
            <a:off x="381000" y="6223000"/>
            <a:ext cx="9220200" cy="0"/>
          </a:xfrm>
          <a:prstGeom prst="line">
            <a:avLst/>
          </a:prstGeom>
          <a:noFill/>
          <a:ln w="19050">
            <a:solidFill>
              <a:schemeClr val="accent1"/>
            </a:solidFill>
            <a:round/>
            <a:headEnd/>
            <a:tailEnd/>
          </a:ln>
          <a:effectLst/>
        </p:spPr>
        <p:txBody>
          <a:bodyPr wrap="none" anchor="ctr"/>
          <a:lstStyle/>
          <a:p>
            <a:pPr>
              <a:buClr>
                <a:schemeClr val="accent1"/>
              </a:buClr>
              <a:buFont typeface="Wingdings" pitchFamily="2" charset="2"/>
              <a:buNone/>
              <a:defRPr/>
            </a:pPr>
            <a:endParaRPr lang="en-US" sz="900" u="none" dirty="0">
              <a:solidFill>
                <a:srgbClr val="000000"/>
              </a:solidFill>
              <a:latin typeface="+mn-lt"/>
            </a:endParaRPr>
          </a:p>
        </p:txBody>
      </p:sp>
      <p:sp>
        <p:nvSpPr>
          <p:cNvPr id="1069" name="Rectangle 45"/>
          <p:cNvSpPr>
            <a:spLocks noGrp="1" noChangeArrowheads="1"/>
          </p:cNvSpPr>
          <p:nvPr>
            <p:ph type="sldNum" sz="quarter" idx="4"/>
          </p:nvPr>
        </p:nvSpPr>
        <p:spPr bwMode="auto">
          <a:xfrm>
            <a:off x="9294706" y="6457701"/>
            <a:ext cx="306494" cy="21544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lvl1pPr algn="r">
              <a:defRPr sz="800" u="none">
                <a:latin typeface="+mn-lt"/>
              </a:defRPr>
            </a:lvl1pPr>
          </a:lstStyle>
          <a:p>
            <a:fld id="{54750402-2FB9-4808-B45A-E9D8797657DF}" type="slidenum">
              <a:rPr lang="en-US" smtClean="0"/>
              <a:pPr/>
              <a:t>‹#›</a:t>
            </a:fld>
            <a:endParaRPr lang="en-US" dirty="0"/>
          </a:p>
        </p:txBody>
      </p:sp>
      <p:sp>
        <p:nvSpPr>
          <p:cNvPr id="10" name="Footer Placeholder 2">
            <a:extLst>
              <a:ext uri="{FF2B5EF4-FFF2-40B4-BE49-F238E27FC236}">
                <a16:creationId xmlns:a16="http://schemas.microsoft.com/office/drawing/2014/main" id="{FFC98A38-16E9-4428-A70D-895E38B3A50E}"/>
              </a:ext>
            </a:extLst>
          </p:cNvPr>
          <p:cNvSpPr txBox="1">
            <a:spLocks/>
          </p:cNvSpPr>
          <p:nvPr userDrawn="1"/>
        </p:nvSpPr>
        <p:spPr>
          <a:xfrm>
            <a:off x="8610600" y="6265231"/>
            <a:ext cx="971436" cy="160014"/>
          </a:xfrm>
          <a:prstGeom prst="rect">
            <a:avLst/>
          </a:prstGeom>
          <a:noFill/>
          <a:ln>
            <a:noFill/>
          </a:ln>
        </p:spPr>
        <p:txBody>
          <a:bodyPr vert="horz" lIns="0" tIns="0" rIns="0" bIns="0" rtlCol="0" anchor="ctr"/>
          <a:lstStyle>
            <a:defPPr>
              <a:defRPr lang="en-US"/>
            </a:defPPr>
            <a:lvl1pPr marL="0" algn="r" defTabSz="914400" rtl="0" eaLnBrk="0" fontAlgn="base" latinLnBrk="0" hangingPunct="0">
              <a:spcBef>
                <a:spcPct val="0"/>
              </a:spcBef>
              <a:spcAft>
                <a:spcPct val="0"/>
              </a:spcAft>
              <a:defRPr lang="en-GB" sz="700" b="0" kern="1200" smtClean="0">
                <a:solidFill>
                  <a:schemeClr val="tx1"/>
                </a:solidFill>
                <a:latin typeface="Calibri" panose="020F0502020204030204" pitchFamily="34" charset="0"/>
                <a:ea typeface="DFKai-SB" panose="03000509000000000000" pitchFamily="65" charset="-12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latin typeface="+mn-lt"/>
              </a:rPr>
              <a:t>Strictly Confidential </a:t>
            </a:r>
            <a:endParaRPr lang="zh-CN" altLang="en-US" dirty="0">
              <a:latin typeface="+mn-lt"/>
            </a:endParaRPr>
          </a:p>
        </p:txBody>
      </p:sp>
    </p:spTree>
    <p:extLst>
      <p:ext uri="{BB962C8B-B14F-4D97-AF65-F5344CB8AC3E}">
        <p14:creationId xmlns:p14="http://schemas.microsoft.com/office/powerpoint/2010/main" val="1865418861"/>
      </p:ext>
    </p:extLst>
  </p:cSld>
  <p:clrMap bg1="lt1" tx1="dk1" bg2="lt2" tx2="dk2" accent1="accent1" accent2="accent2" accent3="accent3" accent4="accent4" accent5="accent5" accent6="accent6" hlink="hlink" folHlink="folHlink"/>
  <p:sldLayoutIdLst>
    <p:sldLayoutId id="2147483920" r:id="rId1"/>
    <p:sldLayoutId id="2147483910" r:id="rId2"/>
    <p:sldLayoutId id="2147483909" r:id="rId3"/>
    <p:sldLayoutId id="2147483925" r:id="rId4"/>
  </p:sldLayoutIdLst>
  <p:hf hdr="0" ftr="0" dt="0"/>
  <p:txStyles>
    <p:titleStyle>
      <a:lvl1pPr marL="342900" indent="-342900" algn="l" rtl="0" eaLnBrk="1" fontAlgn="base" hangingPunct="1">
        <a:spcBef>
          <a:spcPct val="0"/>
        </a:spcBef>
        <a:spcAft>
          <a:spcPct val="0"/>
        </a:spcAft>
        <a:defRPr b="1">
          <a:solidFill>
            <a:schemeClr val="tx1"/>
          </a:solidFill>
          <a:latin typeface="+mn-lt"/>
          <a:ea typeface="+mj-ea"/>
          <a:cs typeface="+mj-cs"/>
        </a:defRPr>
      </a:lvl1pPr>
      <a:lvl2pPr algn="l" rtl="0" eaLnBrk="1" fontAlgn="base" hangingPunct="1">
        <a:spcBef>
          <a:spcPct val="0"/>
        </a:spcBef>
        <a:spcAft>
          <a:spcPct val="0"/>
        </a:spcAft>
        <a:defRPr b="1">
          <a:solidFill>
            <a:schemeClr val="tx1"/>
          </a:solidFill>
          <a:latin typeface="Calibri" pitchFamily="34" charset="0"/>
        </a:defRPr>
      </a:lvl2pPr>
      <a:lvl3pPr algn="l" rtl="0" eaLnBrk="1" fontAlgn="base" hangingPunct="1">
        <a:spcBef>
          <a:spcPct val="0"/>
        </a:spcBef>
        <a:spcAft>
          <a:spcPct val="0"/>
        </a:spcAft>
        <a:defRPr b="1">
          <a:solidFill>
            <a:schemeClr val="tx1"/>
          </a:solidFill>
          <a:latin typeface="Calibri" pitchFamily="34" charset="0"/>
        </a:defRPr>
      </a:lvl3pPr>
      <a:lvl4pPr algn="l" rtl="0" eaLnBrk="1" fontAlgn="base" hangingPunct="1">
        <a:spcBef>
          <a:spcPct val="0"/>
        </a:spcBef>
        <a:spcAft>
          <a:spcPct val="0"/>
        </a:spcAft>
        <a:defRPr b="1">
          <a:solidFill>
            <a:schemeClr val="tx1"/>
          </a:solidFill>
          <a:latin typeface="Calibri" pitchFamily="34" charset="0"/>
        </a:defRPr>
      </a:lvl4pPr>
      <a:lvl5pPr algn="l" rtl="0" eaLnBrk="1" fontAlgn="base" hangingPunct="1">
        <a:spcBef>
          <a:spcPct val="0"/>
        </a:spcBef>
        <a:spcAft>
          <a:spcPct val="0"/>
        </a:spcAft>
        <a:defRPr b="1">
          <a:solidFill>
            <a:schemeClr val="tx1"/>
          </a:solidFill>
          <a:latin typeface="Calibri" pitchFamily="34" charset="0"/>
        </a:defRPr>
      </a:lvl5pPr>
      <a:lvl6pPr marL="457200" algn="l" rtl="0" eaLnBrk="1" fontAlgn="base" hangingPunct="1">
        <a:spcBef>
          <a:spcPct val="0"/>
        </a:spcBef>
        <a:spcAft>
          <a:spcPct val="0"/>
        </a:spcAft>
        <a:defRPr sz="2800" b="1">
          <a:solidFill>
            <a:schemeClr val="tx1"/>
          </a:solidFill>
          <a:latin typeface="Calibri" pitchFamily="34" charset="0"/>
        </a:defRPr>
      </a:lvl6pPr>
      <a:lvl7pPr marL="914400" algn="l" rtl="0" eaLnBrk="1" fontAlgn="base" hangingPunct="1">
        <a:spcBef>
          <a:spcPct val="0"/>
        </a:spcBef>
        <a:spcAft>
          <a:spcPct val="0"/>
        </a:spcAft>
        <a:defRPr sz="2800" b="1">
          <a:solidFill>
            <a:schemeClr val="tx1"/>
          </a:solidFill>
          <a:latin typeface="Calibri" pitchFamily="34" charset="0"/>
        </a:defRPr>
      </a:lvl7pPr>
      <a:lvl8pPr marL="1371600" algn="l" rtl="0" eaLnBrk="1" fontAlgn="base" hangingPunct="1">
        <a:spcBef>
          <a:spcPct val="0"/>
        </a:spcBef>
        <a:spcAft>
          <a:spcPct val="0"/>
        </a:spcAft>
        <a:defRPr sz="2800" b="1">
          <a:solidFill>
            <a:schemeClr val="tx1"/>
          </a:solidFill>
          <a:latin typeface="Calibri" pitchFamily="34" charset="0"/>
        </a:defRPr>
      </a:lvl8pPr>
      <a:lvl9pPr marL="1828800" algn="l" rtl="0" eaLnBrk="1" fontAlgn="base" hangingPunct="1">
        <a:spcBef>
          <a:spcPct val="0"/>
        </a:spcBef>
        <a:spcAft>
          <a:spcPct val="0"/>
        </a:spcAft>
        <a:defRPr sz="2800" b="1">
          <a:solidFill>
            <a:schemeClr val="tx1"/>
          </a:solidFill>
          <a:latin typeface="Calibri" pitchFamily="34" charset="0"/>
        </a:defRPr>
      </a:lvl9pPr>
    </p:titleStyle>
    <p:bodyStyle>
      <a:lvl1pPr marL="228600" indent="-228600" algn="l" rtl="0" eaLnBrk="1" fontAlgn="base" hangingPunct="1">
        <a:spcBef>
          <a:spcPct val="20000"/>
        </a:spcBef>
        <a:spcAft>
          <a:spcPct val="0"/>
        </a:spcAft>
        <a:buClr>
          <a:schemeClr val="accent1"/>
        </a:buClr>
        <a:buFont typeface="Wingdings" pitchFamily="2" charset="2"/>
        <a:buChar char="§"/>
        <a:defRPr sz="1600">
          <a:solidFill>
            <a:schemeClr val="tx1"/>
          </a:solidFill>
          <a:latin typeface="+mn-lt"/>
          <a:ea typeface="+mn-ea"/>
          <a:cs typeface="+mn-cs"/>
        </a:defRPr>
      </a:lvl1pPr>
      <a:lvl2pPr marL="685800" indent="-228600" algn="l" rtl="0" eaLnBrk="1" fontAlgn="base" hangingPunct="1">
        <a:spcBef>
          <a:spcPct val="20000"/>
        </a:spcBef>
        <a:spcAft>
          <a:spcPct val="0"/>
        </a:spcAft>
        <a:buClr>
          <a:schemeClr val="accent2"/>
        </a:buClr>
        <a:buChar char="•"/>
        <a:defRPr sz="1600">
          <a:solidFill>
            <a:schemeClr val="tx1"/>
          </a:solidFill>
          <a:latin typeface="+mn-lt"/>
        </a:defRPr>
      </a:lvl2pPr>
      <a:lvl3pPr marL="1143000" indent="-228600" algn="l" rtl="0" eaLnBrk="1" fontAlgn="base" hangingPunct="1">
        <a:spcBef>
          <a:spcPct val="20000"/>
        </a:spcBef>
        <a:spcAft>
          <a:spcPct val="0"/>
        </a:spcAft>
        <a:buClr>
          <a:schemeClr val="hlink"/>
        </a:buClr>
        <a:buChar char="o"/>
        <a:defRPr sz="1600">
          <a:solidFill>
            <a:schemeClr val="tx1"/>
          </a:solidFill>
          <a:latin typeface="+mn-lt"/>
        </a:defRPr>
      </a:lvl3pPr>
      <a:lvl4pPr marL="1600200" indent="-228600" algn="l" rtl="0" eaLnBrk="1" fontAlgn="base" hangingPunct="1">
        <a:spcBef>
          <a:spcPct val="20000"/>
        </a:spcBef>
        <a:spcAft>
          <a:spcPct val="0"/>
        </a:spcAft>
        <a:buChar char="–"/>
        <a:defRPr sz="1600">
          <a:solidFill>
            <a:schemeClr val="tx1"/>
          </a:solidFill>
          <a:latin typeface="+mn-lt"/>
        </a:defRPr>
      </a:lvl4pPr>
      <a:lvl5pPr marL="2057400" indent="-228600" algn="l" rtl="0" eaLnBrk="1" fontAlgn="base" hangingPunct="1">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jfif"/><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5.jpeg"/><Relationship Id="rId9" Type="http://schemas.openxmlformats.org/officeDocument/2006/relationships/image" Target="../media/image10.jp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3.jfif"/><Relationship Id="rId4" Type="http://schemas.openxmlformats.org/officeDocument/2006/relationships/image" Target="../media/image12.jfif"/></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chart" Target="../charts/chart5.xml"/><Relationship Id="rId4" Type="http://schemas.openxmlformats.org/officeDocument/2006/relationships/chart" Target="../charts/char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chart" Target="../charts/chart7.xml"/><Relationship Id="rId13" Type="http://schemas.openxmlformats.org/officeDocument/2006/relationships/chart" Target="../charts/chart12.xml"/><Relationship Id="rId3" Type="http://schemas.openxmlformats.org/officeDocument/2006/relationships/image" Target="../media/image4.png"/><Relationship Id="rId7" Type="http://schemas.openxmlformats.org/officeDocument/2006/relationships/chart" Target="../charts/chart6.xml"/><Relationship Id="rId12" Type="http://schemas.openxmlformats.org/officeDocument/2006/relationships/chart" Target="../charts/chart11.xml"/><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chart" Target="../charts/chart10.xml"/><Relationship Id="rId5" Type="http://schemas.openxmlformats.org/officeDocument/2006/relationships/image" Target="../media/image18.png"/><Relationship Id="rId15" Type="http://schemas.openxmlformats.org/officeDocument/2006/relationships/chart" Target="../charts/chart14.xml"/><Relationship Id="rId10" Type="http://schemas.openxmlformats.org/officeDocument/2006/relationships/chart" Target="../charts/chart9.xml"/><Relationship Id="rId4" Type="http://schemas.openxmlformats.org/officeDocument/2006/relationships/image" Target="../media/image17.jfif"/><Relationship Id="rId9" Type="http://schemas.openxmlformats.org/officeDocument/2006/relationships/chart" Target="../charts/chart8.xml"/><Relationship Id="rId14" Type="http://schemas.openxmlformats.org/officeDocument/2006/relationships/chart" Target="../charts/char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8696324" y="113095"/>
            <a:ext cx="1085851" cy="2154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altLang="zh-CN" sz="800" b="1" dirty="0">
                <a:solidFill>
                  <a:srgbClr val="FF0000"/>
                </a:solidFill>
                <a:latin typeface="Calibri" panose="020F0502020204030204" pitchFamily="34" charset="0"/>
                <a:cs typeface="Calibri" panose="020F0502020204030204" pitchFamily="34" charset="0"/>
              </a:rPr>
              <a:t>Strictly Confidential </a:t>
            </a:r>
            <a:endParaRPr lang="zh-CN" altLang="en-US" sz="800" b="1" dirty="0">
              <a:solidFill>
                <a:srgbClr val="FF0000"/>
              </a:solidFill>
              <a:latin typeface="Calibri" panose="020F0502020204030204" pitchFamily="34" charset="0"/>
              <a:cs typeface="Calibri" panose="020F0502020204030204" pitchFamily="34" charset="0"/>
            </a:endParaRPr>
          </a:p>
        </p:txBody>
      </p:sp>
      <p:sp>
        <p:nvSpPr>
          <p:cNvPr id="9" name="Title 8"/>
          <p:cNvSpPr>
            <a:spLocks noGrp="1"/>
          </p:cNvSpPr>
          <p:nvPr>
            <p:ph type="ctrTitle"/>
          </p:nvPr>
        </p:nvSpPr>
        <p:spPr/>
        <p:txBody>
          <a:bodyPr/>
          <a:lstStyle/>
          <a:p>
            <a:r>
              <a:rPr lang="en-US" dirty="0"/>
              <a:t>LF Logistics</a:t>
            </a:r>
          </a:p>
        </p:txBody>
      </p:sp>
      <p:sp>
        <p:nvSpPr>
          <p:cNvPr id="14" name="Subtitle 13"/>
          <p:cNvSpPr>
            <a:spLocks noGrp="1"/>
          </p:cNvSpPr>
          <p:nvPr>
            <p:ph type="subTitle" idx="1"/>
          </p:nvPr>
        </p:nvSpPr>
        <p:spPr/>
        <p:txBody>
          <a:bodyPr/>
          <a:lstStyle/>
          <a:p>
            <a:r>
              <a:rPr lang="en-US" dirty="0"/>
              <a:t>DBS’ Value-add to </a:t>
            </a:r>
            <a:r>
              <a:rPr lang="en-US" altLang="zh-CN" dirty="0"/>
              <a:t>LF Logistics’</a:t>
            </a:r>
            <a:r>
              <a:rPr lang="en-US" dirty="0"/>
              <a:t> Hong Kong IPO</a:t>
            </a:r>
          </a:p>
        </p:txBody>
      </p:sp>
      <p:sp>
        <p:nvSpPr>
          <p:cNvPr id="18" name="Text Placeholder 17"/>
          <p:cNvSpPr>
            <a:spLocks noGrp="1"/>
          </p:cNvSpPr>
          <p:nvPr>
            <p:ph type="body" sz="quarter" idx="10"/>
          </p:nvPr>
        </p:nvSpPr>
        <p:spPr/>
        <p:txBody>
          <a:bodyPr/>
          <a:lstStyle/>
          <a:p>
            <a:r>
              <a:rPr lang="en-US" dirty="0"/>
              <a:t>October 2019</a:t>
            </a:r>
          </a:p>
        </p:txBody>
      </p:sp>
      <p:sp>
        <p:nvSpPr>
          <p:cNvPr id="2" name="TextBox 1">
            <a:extLst>
              <a:ext uri="{FF2B5EF4-FFF2-40B4-BE49-F238E27FC236}">
                <a16:creationId xmlns:a16="http://schemas.microsoft.com/office/drawing/2014/main" id="{B04586F9-CDD8-4D11-BFDB-E8752026E1DD}"/>
              </a:ext>
            </a:extLst>
          </p:cNvPr>
          <p:cNvSpPr txBox="1"/>
          <p:nvPr/>
        </p:nvSpPr>
        <p:spPr>
          <a:xfrm>
            <a:off x="8243455" y="547727"/>
            <a:ext cx="1662545" cy="261610"/>
          </a:xfrm>
          <a:prstGeom prst="rect">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1100" b="1" dirty="0">
                <a:solidFill>
                  <a:sysClr val="windowText" lastClr="000000"/>
                </a:solidFill>
              </a:rPr>
              <a:t>To</a:t>
            </a:r>
            <a:r>
              <a:rPr lang="zh-CN" altLang="en-US" sz="1100" b="1" dirty="0">
                <a:solidFill>
                  <a:sysClr val="windowText" lastClr="000000"/>
                </a:solidFill>
              </a:rPr>
              <a:t> </a:t>
            </a:r>
            <a:r>
              <a:rPr lang="en-US" altLang="zh-CN" sz="1100" b="1" dirty="0">
                <a:solidFill>
                  <a:sysClr val="windowText" lastClr="000000"/>
                </a:solidFill>
              </a:rPr>
              <a:t>be</a:t>
            </a:r>
            <a:r>
              <a:rPr lang="zh-CN" altLang="en-US" sz="1100" b="1" dirty="0">
                <a:solidFill>
                  <a:sysClr val="windowText" lastClr="000000"/>
                </a:solidFill>
              </a:rPr>
              <a:t> </a:t>
            </a:r>
            <a:r>
              <a:rPr lang="en-US" altLang="zh-CN" sz="1100" b="1" dirty="0">
                <a:solidFill>
                  <a:sysClr val="windowText" lastClr="000000"/>
                </a:solidFill>
              </a:rPr>
              <a:t>updated</a:t>
            </a:r>
            <a:endParaRPr lang="en-US" sz="1100" b="1" dirty="0">
              <a:solidFill>
                <a:sysClr val="windowText" lastClr="000000"/>
              </a:solidFill>
            </a:endParaRPr>
          </a:p>
        </p:txBody>
      </p:sp>
    </p:spTree>
    <p:extLst>
      <p:ext uri="{BB962C8B-B14F-4D97-AF65-F5344CB8AC3E}">
        <p14:creationId xmlns:p14="http://schemas.microsoft.com/office/powerpoint/2010/main" val="238184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945D29-9F36-44F7-BFFE-9DAF56E6D226}"/>
              </a:ext>
            </a:extLst>
          </p:cNvPr>
          <p:cNvSpPr>
            <a:spLocks noGrp="1"/>
          </p:cNvSpPr>
          <p:nvPr>
            <p:ph type="sldNum" sz="quarter" idx="4"/>
          </p:nvPr>
        </p:nvSpPr>
        <p:spPr/>
        <p:txBody>
          <a:bodyPr/>
          <a:lstStyle/>
          <a:p>
            <a:fld id="{54750402-2FB9-4808-B45A-E9D8797657DF}" type="slidenum">
              <a:rPr lang="en-US" smtClean="0"/>
              <a:pPr/>
              <a:t>1</a:t>
            </a:fld>
            <a:endParaRPr lang="en-US" dirty="0"/>
          </a:p>
        </p:txBody>
      </p:sp>
      <p:sp>
        <p:nvSpPr>
          <p:cNvPr id="13" name="Title 12"/>
          <p:cNvSpPr>
            <a:spLocks noGrp="1"/>
          </p:cNvSpPr>
          <p:nvPr>
            <p:ph type="title"/>
          </p:nvPr>
        </p:nvSpPr>
        <p:spPr/>
        <p:txBody>
          <a:bodyPr/>
          <a:lstStyle/>
          <a:p>
            <a:r>
              <a:rPr lang="en-US" dirty="0"/>
              <a:t>Agenda</a:t>
            </a:r>
          </a:p>
        </p:txBody>
      </p:sp>
      <p:sp>
        <p:nvSpPr>
          <p:cNvPr id="14" name="Title 1">
            <a:extLst/>
          </p:cNvPr>
          <p:cNvSpPr txBox="1">
            <a:spLocks/>
          </p:cNvSpPr>
          <p:nvPr/>
        </p:nvSpPr>
        <p:spPr bwMode="auto">
          <a:xfrm>
            <a:off x="2945942" y="1480681"/>
            <a:ext cx="4023360" cy="365760"/>
          </a:xfrm>
          <a:prstGeom prst="rect">
            <a:avLst/>
          </a:prstGeom>
          <a:solidFill>
            <a:schemeClr val="accent1"/>
          </a:solidFill>
          <a:ln w="9525">
            <a:noFill/>
            <a:miter lim="800000"/>
            <a:headEnd/>
            <a:tailEnd/>
          </a:ln>
        </p:spPr>
        <p:txBody>
          <a:bodyPr vert="horz" wrap="square" lIns="91440" tIns="45720" rIns="91440" bIns="45720" numCol="1" anchor="b" anchorCtr="0" compatLnSpc="1">
            <a:prstTxWarp prst="textNoShape">
              <a:avLst/>
            </a:prstTxWarp>
          </a:bodyPr>
          <a:lstStyle>
            <a:lvl1pPr marL="342900" indent="-342900" algn="l" rtl="0" eaLnBrk="1" fontAlgn="base" hangingPunct="1">
              <a:spcBef>
                <a:spcPct val="0"/>
              </a:spcBef>
              <a:spcAft>
                <a:spcPct val="0"/>
              </a:spcAft>
              <a:defRPr b="1">
                <a:solidFill>
                  <a:schemeClr val="tx1"/>
                </a:solidFill>
                <a:latin typeface="+mn-lt"/>
                <a:ea typeface="+mj-ea"/>
                <a:cs typeface="+mj-cs"/>
              </a:defRPr>
            </a:lvl1pPr>
            <a:lvl2pPr algn="l" rtl="0" eaLnBrk="1" fontAlgn="base" hangingPunct="1">
              <a:spcBef>
                <a:spcPct val="0"/>
              </a:spcBef>
              <a:spcAft>
                <a:spcPct val="0"/>
              </a:spcAft>
              <a:defRPr b="1">
                <a:solidFill>
                  <a:schemeClr val="tx1"/>
                </a:solidFill>
                <a:latin typeface="Calibri" pitchFamily="34" charset="0"/>
              </a:defRPr>
            </a:lvl2pPr>
            <a:lvl3pPr algn="l" rtl="0" eaLnBrk="1" fontAlgn="base" hangingPunct="1">
              <a:spcBef>
                <a:spcPct val="0"/>
              </a:spcBef>
              <a:spcAft>
                <a:spcPct val="0"/>
              </a:spcAft>
              <a:defRPr b="1">
                <a:solidFill>
                  <a:schemeClr val="tx1"/>
                </a:solidFill>
                <a:latin typeface="Calibri" pitchFamily="34" charset="0"/>
              </a:defRPr>
            </a:lvl3pPr>
            <a:lvl4pPr algn="l" rtl="0" eaLnBrk="1" fontAlgn="base" hangingPunct="1">
              <a:spcBef>
                <a:spcPct val="0"/>
              </a:spcBef>
              <a:spcAft>
                <a:spcPct val="0"/>
              </a:spcAft>
              <a:defRPr b="1">
                <a:solidFill>
                  <a:schemeClr val="tx1"/>
                </a:solidFill>
                <a:latin typeface="Calibri" pitchFamily="34" charset="0"/>
              </a:defRPr>
            </a:lvl4pPr>
            <a:lvl5pPr algn="l" rtl="0" eaLnBrk="1" fontAlgn="base" hangingPunct="1">
              <a:spcBef>
                <a:spcPct val="0"/>
              </a:spcBef>
              <a:spcAft>
                <a:spcPct val="0"/>
              </a:spcAft>
              <a:defRPr b="1">
                <a:solidFill>
                  <a:schemeClr val="tx1"/>
                </a:solidFill>
                <a:latin typeface="Calibri" pitchFamily="34" charset="0"/>
              </a:defRPr>
            </a:lvl5pPr>
            <a:lvl6pPr marL="457200" algn="l" rtl="0" eaLnBrk="1" fontAlgn="base" hangingPunct="1">
              <a:spcBef>
                <a:spcPct val="0"/>
              </a:spcBef>
              <a:spcAft>
                <a:spcPct val="0"/>
              </a:spcAft>
              <a:defRPr sz="2800" b="1">
                <a:solidFill>
                  <a:schemeClr val="tx1"/>
                </a:solidFill>
                <a:latin typeface="Calibri" pitchFamily="34" charset="0"/>
              </a:defRPr>
            </a:lvl6pPr>
            <a:lvl7pPr marL="914400" algn="l" rtl="0" eaLnBrk="1" fontAlgn="base" hangingPunct="1">
              <a:spcBef>
                <a:spcPct val="0"/>
              </a:spcBef>
              <a:spcAft>
                <a:spcPct val="0"/>
              </a:spcAft>
              <a:defRPr sz="2800" b="1">
                <a:solidFill>
                  <a:schemeClr val="tx1"/>
                </a:solidFill>
                <a:latin typeface="Calibri" pitchFamily="34" charset="0"/>
              </a:defRPr>
            </a:lvl7pPr>
            <a:lvl8pPr marL="1371600" algn="l" rtl="0" eaLnBrk="1" fontAlgn="base" hangingPunct="1">
              <a:spcBef>
                <a:spcPct val="0"/>
              </a:spcBef>
              <a:spcAft>
                <a:spcPct val="0"/>
              </a:spcAft>
              <a:defRPr sz="2800" b="1">
                <a:solidFill>
                  <a:schemeClr val="tx1"/>
                </a:solidFill>
                <a:latin typeface="Calibri" pitchFamily="34" charset="0"/>
              </a:defRPr>
            </a:lvl8pPr>
            <a:lvl9pPr marL="1828800" algn="l" rtl="0" eaLnBrk="1" fontAlgn="base" hangingPunct="1">
              <a:spcBef>
                <a:spcPct val="0"/>
              </a:spcBef>
              <a:spcAft>
                <a:spcPct val="0"/>
              </a:spcAft>
              <a:defRPr sz="2800" b="1">
                <a:solidFill>
                  <a:schemeClr val="tx1"/>
                </a:solidFill>
                <a:latin typeface="Calibri" pitchFamily="34" charset="0"/>
              </a:defRPr>
            </a:lvl9pPr>
          </a:lstStyle>
          <a:p>
            <a:r>
              <a:rPr lang="en-US" kern="0" dirty="0">
                <a:solidFill>
                  <a:schemeClr val="bg1"/>
                </a:solidFill>
                <a:latin typeface="Calibri" pitchFamily="34" charset="0"/>
                <a:ea typeface="LF_Kai"/>
                <a:cs typeface="LF_Kai"/>
              </a:rPr>
              <a:t>1. </a:t>
            </a:r>
            <a:r>
              <a:rPr lang="en-US" altLang="zh-CN" kern="0" dirty="0">
                <a:solidFill>
                  <a:schemeClr val="bg1"/>
                </a:solidFill>
                <a:latin typeface="Calibri" pitchFamily="34" charset="0"/>
                <a:ea typeface="LF_Kai"/>
                <a:cs typeface="LF_Kai"/>
              </a:rPr>
              <a:t>Investment Highlights</a:t>
            </a:r>
            <a:endParaRPr lang="en-US" kern="0" dirty="0">
              <a:solidFill>
                <a:schemeClr val="bg1"/>
              </a:solidFill>
            </a:endParaRPr>
          </a:p>
        </p:txBody>
      </p:sp>
      <p:sp>
        <p:nvSpPr>
          <p:cNvPr id="16" name="Title 1">
            <a:extLst/>
          </p:cNvPr>
          <p:cNvSpPr txBox="1">
            <a:spLocks/>
          </p:cNvSpPr>
          <p:nvPr/>
        </p:nvSpPr>
        <p:spPr bwMode="auto">
          <a:xfrm>
            <a:off x="2945943" y="1909321"/>
            <a:ext cx="4023360" cy="36576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b="1">
                <a:solidFill>
                  <a:schemeClr val="tx1"/>
                </a:solidFill>
                <a:latin typeface="+mj-lt"/>
                <a:ea typeface="+mj-ea"/>
                <a:cs typeface="+mj-cs"/>
              </a:defRPr>
            </a:lvl1pPr>
            <a:lvl2pPr algn="l" rtl="0" eaLnBrk="1" fontAlgn="base" hangingPunct="1">
              <a:spcBef>
                <a:spcPct val="0"/>
              </a:spcBef>
              <a:spcAft>
                <a:spcPct val="0"/>
              </a:spcAft>
              <a:defRPr b="1">
                <a:solidFill>
                  <a:schemeClr val="tx1"/>
                </a:solidFill>
                <a:latin typeface="Calibri" pitchFamily="34" charset="0"/>
              </a:defRPr>
            </a:lvl2pPr>
            <a:lvl3pPr algn="l" rtl="0" eaLnBrk="1" fontAlgn="base" hangingPunct="1">
              <a:spcBef>
                <a:spcPct val="0"/>
              </a:spcBef>
              <a:spcAft>
                <a:spcPct val="0"/>
              </a:spcAft>
              <a:defRPr b="1">
                <a:solidFill>
                  <a:schemeClr val="tx1"/>
                </a:solidFill>
                <a:latin typeface="Calibri" pitchFamily="34" charset="0"/>
              </a:defRPr>
            </a:lvl3pPr>
            <a:lvl4pPr algn="l" rtl="0" eaLnBrk="1" fontAlgn="base" hangingPunct="1">
              <a:spcBef>
                <a:spcPct val="0"/>
              </a:spcBef>
              <a:spcAft>
                <a:spcPct val="0"/>
              </a:spcAft>
              <a:defRPr b="1">
                <a:solidFill>
                  <a:schemeClr val="tx1"/>
                </a:solidFill>
                <a:latin typeface="Calibri" pitchFamily="34" charset="0"/>
              </a:defRPr>
            </a:lvl4pPr>
            <a:lvl5pPr algn="l" rtl="0" eaLnBrk="1" fontAlgn="base" hangingPunct="1">
              <a:spcBef>
                <a:spcPct val="0"/>
              </a:spcBef>
              <a:spcAft>
                <a:spcPct val="0"/>
              </a:spcAft>
              <a:defRPr b="1">
                <a:solidFill>
                  <a:schemeClr val="tx1"/>
                </a:solidFill>
                <a:latin typeface="Calibri" pitchFamily="34" charset="0"/>
              </a:defRPr>
            </a:lvl5pPr>
            <a:lvl6pPr marL="457200" algn="l" rtl="0" eaLnBrk="1" fontAlgn="base" hangingPunct="1">
              <a:spcBef>
                <a:spcPct val="0"/>
              </a:spcBef>
              <a:spcAft>
                <a:spcPct val="0"/>
              </a:spcAft>
              <a:defRPr sz="2800" b="1">
                <a:solidFill>
                  <a:schemeClr val="tx1"/>
                </a:solidFill>
                <a:latin typeface="Calibri" pitchFamily="34" charset="0"/>
              </a:defRPr>
            </a:lvl6pPr>
            <a:lvl7pPr marL="914400" algn="l" rtl="0" eaLnBrk="1" fontAlgn="base" hangingPunct="1">
              <a:spcBef>
                <a:spcPct val="0"/>
              </a:spcBef>
              <a:spcAft>
                <a:spcPct val="0"/>
              </a:spcAft>
              <a:defRPr sz="2800" b="1">
                <a:solidFill>
                  <a:schemeClr val="tx1"/>
                </a:solidFill>
                <a:latin typeface="Calibri" pitchFamily="34" charset="0"/>
              </a:defRPr>
            </a:lvl7pPr>
            <a:lvl8pPr marL="1371600" algn="l" rtl="0" eaLnBrk="1" fontAlgn="base" hangingPunct="1">
              <a:spcBef>
                <a:spcPct val="0"/>
              </a:spcBef>
              <a:spcAft>
                <a:spcPct val="0"/>
              </a:spcAft>
              <a:defRPr sz="2800" b="1">
                <a:solidFill>
                  <a:schemeClr val="tx1"/>
                </a:solidFill>
                <a:latin typeface="Calibri" pitchFamily="34" charset="0"/>
              </a:defRPr>
            </a:lvl8pPr>
            <a:lvl9pPr marL="1828800" algn="l" rtl="0" eaLnBrk="1" fontAlgn="base" hangingPunct="1">
              <a:spcBef>
                <a:spcPct val="0"/>
              </a:spcBef>
              <a:spcAft>
                <a:spcPct val="0"/>
              </a:spcAft>
              <a:defRPr sz="2800" b="1">
                <a:solidFill>
                  <a:schemeClr val="tx1"/>
                </a:solidFill>
                <a:latin typeface="Calibri" pitchFamily="34" charset="0"/>
              </a:defRPr>
            </a:lvl9pPr>
          </a:lstStyle>
          <a:p>
            <a:r>
              <a:rPr lang="en-US" kern="0" dirty="0">
                <a:solidFill>
                  <a:schemeClr val="bg1">
                    <a:lumMod val="65000"/>
                  </a:schemeClr>
                </a:solidFill>
                <a:latin typeface="Calibri" pitchFamily="34" charset="0"/>
                <a:ea typeface="LF_Kai"/>
                <a:cs typeface="LF_Kai"/>
              </a:rPr>
              <a:t>2. </a:t>
            </a:r>
            <a:r>
              <a:rPr lang="en-US" kern="0" dirty="0">
                <a:solidFill>
                  <a:schemeClr val="bg1">
                    <a:lumMod val="65000"/>
                  </a:schemeClr>
                </a:solidFill>
              </a:rPr>
              <a:t>Indicative Valuation</a:t>
            </a:r>
          </a:p>
        </p:txBody>
      </p:sp>
    </p:spTree>
    <p:extLst>
      <p:ext uri="{BB962C8B-B14F-4D97-AF65-F5344CB8AC3E}">
        <p14:creationId xmlns:p14="http://schemas.microsoft.com/office/powerpoint/2010/main" val="157006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lide Number Placeholder 30"/>
          <p:cNvSpPr>
            <a:spLocks noGrp="1"/>
          </p:cNvSpPr>
          <p:nvPr>
            <p:ph type="sldNum" sz="quarter" idx="4"/>
          </p:nvPr>
        </p:nvSpPr>
        <p:spPr/>
        <p:txBody>
          <a:bodyPr/>
          <a:lstStyle/>
          <a:p>
            <a:pPr algn="r" eaLnBrk="0" fontAlgn="base" hangingPunct="0">
              <a:spcBef>
                <a:spcPct val="50000"/>
              </a:spcBef>
              <a:spcAft>
                <a:spcPct val="0"/>
              </a:spcAft>
              <a:defRPr/>
            </a:pPr>
            <a:fld id="{90FB4F5F-C942-40B6-AF50-16AA6C86747A}" type="slidenum">
              <a:rPr lang="en-US" altLang="en-US" sz="800">
                <a:solidFill>
                  <a:srgbClr val="000000"/>
                </a:solidFill>
                <a:latin typeface="Calibri"/>
                <a:ea typeface="DFKaiShu-GB5"/>
                <a:cs typeface="DFKaiShu-GB5"/>
              </a:rPr>
              <a:pPr algn="r" eaLnBrk="0" fontAlgn="base" hangingPunct="0">
                <a:spcBef>
                  <a:spcPct val="50000"/>
                </a:spcBef>
                <a:spcAft>
                  <a:spcPct val="0"/>
                </a:spcAft>
                <a:defRPr/>
              </a:pPr>
              <a:t>2</a:t>
            </a:fld>
            <a:endParaRPr lang="en-US" altLang="en-US" sz="800" dirty="0">
              <a:solidFill>
                <a:srgbClr val="000000"/>
              </a:solidFill>
              <a:latin typeface="Calibri"/>
              <a:ea typeface="DFKaiShu-GB5"/>
              <a:cs typeface="DFKaiShu-GB5"/>
            </a:endParaRPr>
          </a:p>
        </p:txBody>
      </p:sp>
      <p:sp>
        <p:nvSpPr>
          <p:cNvPr id="2" name="Title 1"/>
          <p:cNvSpPr>
            <a:spLocks noGrp="1"/>
          </p:cNvSpPr>
          <p:nvPr>
            <p:ph type="title"/>
          </p:nvPr>
        </p:nvSpPr>
        <p:spPr/>
        <p:txBody>
          <a:bodyPr/>
          <a:lstStyle/>
          <a:p>
            <a:r>
              <a:rPr lang="en-US" dirty="0"/>
              <a:t>Leading Pan-Asia Logistics Platform with Strong Asian Presence</a:t>
            </a:r>
          </a:p>
        </p:txBody>
      </p:sp>
      <p:sp>
        <p:nvSpPr>
          <p:cNvPr id="21" name="Text Box 2589">
            <a:extLst>
              <a:ext uri="{FF2B5EF4-FFF2-40B4-BE49-F238E27FC236}">
                <a16:creationId xmlns:a16="http://schemas.microsoft.com/office/drawing/2014/main" id="{ACE8258E-A730-46A3-A815-1D7690B76EDF}"/>
              </a:ext>
            </a:extLst>
          </p:cNvPr>
          <p:cNvSpPr txBox="1">
            <a:spLocks noChangeArrowheads="1"/>
          </p:cNvSpPr>
          <p:nvPr/>
        </p:nvSpPr>
        <p:spPr bwMode="gray">
          <a:xfrm>
            <a:off x="374119" y="1296514"/>
            <a:ext cx="2859532" cy="2215991"/>
          </a:xfrm>
          <a:prstGeom prst="rect">
            <a:avLst/>
          </a:prstGeom>
          <a:noFill/>
          <a:ln w="9525" cap="flat" cmpd="sng" algn="ctr">
            <a:noFill/>
            <a:prstDash val="solid"/>
            <a:headEnd/>
            <a:tailEnd/>
          </a:ln>
          <a:effectLst>
            <a:outerShdw blurRad="40000" dist="23000" dir="5400000" rotWithShape="0">
              <a:srgbClr val="000000">
                <a:alpha val="35000"/>
              </a:srgbClr>
            </a:outerShdw>
          </a:effectLst>
        </p:spPr>
        <p:txBody>
          <a:bodyPr wrap="square" lIns="91440" tIns="91440" rIns="91440" bIns="91440" anchor="t" anchorCtr="0">
            <a:spAutoFit/>
          </a:bodyPr>
          <a:lstStyle>
            <a:defPPr>
              <a:defRPr lang="en-US"/>
            </a:defPPr>
            <a:lvl1pPr marL="227013" lvl="0" indent="-227013" algn="just" defTabSz="457200" eaLnBrk="0" hangingPunct="0">
              <a:buClr>
                <a:srgbClr val="BE050A"/>
              </a:buClr>
              <a:buFont typeface="Wingdings" pitchFamily="2" charset="2"/>
              <a:buChar char="n"/>
              <a:tabLst>
                <a:tab pos="1371600" algn="l"/>
              </a:tabLst>
              <a:defRPr sz="1000" kern="0">
                <a:ea typeface="+mj-ea"/>
              </a:defRPr>
            </a:lvl1pPr>
          </a:lstStyle>
          <a:p>
            <a:pPr algn="l">
              <a:buFont typeface="Wingdings" panose="05000000000000000000" pitchFamily="2" charset="2"/>
              <a:buChar char="§"/>
            </a:pPr>
            <a:r>
              <a:rPr lang="en-US" altLang="zh-CN" sz="1100" dirty="0">
                <a:solidFill>
                  <a:sysClr val="windowText" lastClr="000000"/>
                </a:solidFill>
                <a:latin typeface="Calibri" panose="020F0502020204030204" pitchFamily="34" charset="0"/>
                <a:ea typeface="華康簡楷" pitchFamily="65" charset="-120"/>
                <a:cs typeface="Calibri" panose="020F0502020204030204" pitchFamily="34" charset="0"/>
              </a:rPr>
              <a:t>LF Logistics is one of the leading logistics services provider with strong presence in Asia, covering major economies including China, Hong Kong, Singapore, Malaysia, India, and many more</a:t>
            </a:r>
          </a:p>
          <a:p>
            <a:pPr algn="l">
              <a:buFont typeface="Wingdings" panose="05000000000000000000" pitchFamily="2" charset="2"/>
              <a:buChar char="§"/>
            </a:pPr>
            <a:r>
              <a:rPr lang="en-US" altLang="zh-CN" sz="1100" dirty="0">
                <a:solidFill>
                  <a:sysClr val="windowText" lastClr="000000"/>
                </a:solidFill>
                <a:latin typeface="Calibri" panose="020F0502020204030204" pitchFamily="34" charset="0"/>
                <a:ea typeface="華康簡楷" pitchFamily="65" charset="-120"/>
                <a:cs typeface="Calibri" panose="020F0502020204030204" pitchFamily="34" charset="0"/>
              </a:rPr>
              <a:t>With 48 warehouses and more than 8,500 employees, LF Logistics manages a total of 26 million </a:t>
            </a:r>
            <a:r>
              <a:rPr lang="en-US" altLang="zh-CN" sz="1100" dirty="0" err="1">
                <a:solidFill>
                  <a:sysClr val="windowText" lastClr="000000"/>
                </a:solidFill>
                <a:latin typeface="Calibri" panose="020F0502020204030204" pitchFamily="34" charset="0"/>
                <a:ea typeface="華康簡楷" pitchFamily="65" charset="-120"/>
                <a:cs typeface="Calibri" panose="020F0502020204030204" pitchFamily="34" charset="0"/>
              </a:rPr>
              <a:t>sq</a:t>
            </a:r>
            <a:r>
              <a:rPr lang="en-US" altLang="zh-CN" sz="1100" dirty="0">
                <a:solidFill>
                  <a:sysClr val="windowText" lastClr="000000"/>
                </a:solidFill>
                <a:latin typeface="Calibri" panose="020F0502020204030204" pitchFamily="34" charset="0"/>
                <a:ea typeface="華康簡楷" pitchFamily="65" charset="-120"/>
                <a:cs typeface="Calibri" panose="020F0502020204030204" pitchFamily="34" charset="0"/>
              </a:rPr>
              <a:t> ft warehouse space and handles more than 2.5 million SKUs and more than 19 billion pieces per annum</a:t>
            </a:r>
          </a:p>
          <a:p>
            <a:pPr algn="l">
              <a:buFont typeface="Wingdings" panose="05000000000000000000" pitchFamily="2" charset="2"/>
              <a:buChar char="§"/>
            </a:pPr>
            <a:r>
              <a:rPr lang="en-US" altLang="zh-CN" sz="1100" dirty="0">
                <a:solidFill>
                  <a:sysClr val="windowText" lastClr="000000"/>
                </a:solidFill>
                <a:latin typeface="Calibri" panose="020F0502020204030204" pitchFamily="34" charset="0"/>
                <a:ea typeface="華康簡楷" pitchFamily="65" charset="-120"/>
                <a:cs typeface="Calibri" panose="020F0502020204030204" pitchFamily="34" charset="0"/>
              </a:rPr>
              <a:t>Numerous accreditations claimed for outstanding practice</a:t>
            </a:r>
          </a:p>
        </p:txBody>
      </p:sp>
      <p:sp>
        <p:nvSpPr>
          <p:cNvPr id="23" name="Line 50">
            <a:extLst>
              <a:ext uri="{FF2B5EF4-FFF2-40B4-BE49-F238E27FC236}">
                <a16:creationId xmlns:a16="http://schemas.microsoft.com/office/drawing/2014/main" id="{2A95E0F2-C67F-426A-8431-AB2DAD36642B}"/>
              </a:ext>
            </a:extLst>
          </p:cNvPr>
          <p:cNvSpPr>
            <a:spLocks noChangeShapeType="1"/>
          </p:cNvSpPr>
          <p:nvPr/>
        </p:nvSpPr>
        <p:spPr bwMode="gray">
          <a:xfrm>
            <a:off x="3356954" y="734657"/>
            <a:ext cx="0" cy="5257800"/>
          </a:xfrm>
          <a:prstGeom prst="line">
            <a:avLst/>
          </a:prstGeom>
          <a:noFill/>
          <a:ln w="9525">
            <a:solidFill>
              <a:schemeClr val="accent1"/>
            </a:solidFill>
            <a:round/>
            <a:headEnd/>
            <a:tailEnd/>
          </a:ln>
          <a:effectLst/>
        </p:spPr>
        <p:txBody>
          <a:bodyPr wrap="none" anchor="ctr"/>
          <a:lstStyle/>
          <a:p>
            <a:pPr>
              <a:buClr>
                <a:schemeClr val="accent1"/>
              </a:buClr>
              <a:buFont typeface="Wingdings" pitchFamily="2" charset="2"/>
              <a:buNone/>
              <a:defRPr/>
            </a:pPr>
            <a:endParaRPr lang="en-US" sz="900" u="none" dirty="0">
              <a:solidFill>
                <a:srgbClr val="000000"/>
              </a:solidFill>
              <a:latin typeface="+mn-lt"/>
            </a:endParaRPr>
          </a:p>
        </p:txBody>
      </p:sp>
      <p:sp>
        <p:nvSpPr>
          <p:cNvPr id="24" name="TextBox 23">
            <a:extLst>
              <a:ext uri="{FF2B5EF4-FFF2-40B4-BE49-F238E27FC236}">
                <a16:creationId xmlns:a16="http://schemas.microsoft.com/office/drawing/2014/main" id="{78F0E77A-D96B-4E70-8BD7-34465C553FBD}"/>
              </a:ext>
            </a:extLst>
          </p:cNvPr>
          <p:cNvSpPr txBox="1"/>
          <p:nvPr/>
        </p:nvSpPr>
        <p:spPr>
          <a:xfrm>
            <a:off x="3513050" y="734657"/>
            <a:ext cx="2926080" cy="297444"/>
          </a:xfrm>
          <a:prstGeom prst="rect">
            <a:avLst/>
          </a:prstGeom>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w="12700">
            <a:noFill/>
          </a:ln>
        </p:spPr>
        <p:txBody>
          <a:bodyPr wrap="square" lIns="0" tIns="1828800" rIns="0" bIns="1828800" rtlCol="0" anchor="ctr" anchorCtr="0">
            <a:noAutofit/>
          </a:bodyPr>
          <a:lstStyle/>
          <a:p>
            <a:pPr algn="ctr" eaLnBrk="0" fontAlgn="base" hangingPunct="0">
              <a:spcBef>
                <a:spcPct val="50000"/>
              </a:spcBef>
              <a:spcAft>
                <a:spcPct val="0"/>
              </a:spcAft>
              <a:defRPr/>
            </a:pPr>
            <a:r>
              <a:rPr lang="en-US" sz="1000" b="1" dirty="0">
                <a:solidFill>
                  <a:srgbClr val="FFFFFF"/>
                </a:solidFill>
                <a:latin typeface="Calibri"/>
                <a:ea typeface="DFKaiShu-GB5"/>
                <a:cs typeface="DFKaiShu-GB5"/>
              </a:rPr>
              <a:t>ASEAN Growth</a:t>
            </a:r>
            <a:endParaRPr lang="en-US" altLang="zh-CN" sz="1000" b="1" dirty="0">
              <a:solidFill>
                <a:srgbClr val="FFFFFF"/>
              </a:solidFill>
              <a:latin typeface="Calibri"/>
              <a:ea typeface="DFKaiShu-GB5"/>
              <a:cs typeface="DFKaiShu-GB5"/>
            </a:endParaRPr>
          </a:p>
        </p:txBody>
      </p:sp>
      <p:sp>
        <p:nvSpPr>
          <p:cNvPr id="25" name="TextBox 24">
            <a:extLst>
              <a:ext uri="{FF2B5EF4-FFF2-40B4-BE49-F238E27FC236}">
                <a16:creationId xmlns:a16="http://schemas.microsoft.com/office/drawing/2014/main" id="{3CED1D8E-6DD6-48A3-9001-E915F6A0F4B2}"/>
              </a:ext>
            </a:extLst>
          </p:cNvPr>
          <p:cNvSpPr txBox="1"/>
          <p:nvPr/>
        </p:nvSpPr>
        <p:spPr>
          <a:xfrm>
            <a:off x="6595226" y="2350294"/>
            <a:ext cx="2926080" cy="297444"/>
          </a:xfrm>
          <a:prstGeom prst="rect">
            <a:avLst/>
          </a:prstGeom>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w="12700">
            <a:noFill/>
          </a:ln>
        </p:spPr>
        <p:txBody>
          <a:bodyPr wrap="square" lIns="0" tIns="1828800" rIns="0" bIns="1828800" rtlCol="0" anchor="ctr" anchorCtr="0">
            <a:noAutofit/>
          </a:bodyPr>
          <a:lstStyle/>
          <a:p>
            <a:pPr algn="ctr" eaLnBrk="0" fontAlgn="base" hangingPunct="0">
              <a:spcBef>
                <a:spcPct val="50000"/>
              </a:spcBef>
              <a:spcAft>
                <a:spcPct val="0"/>
              </a:spcAft>
              <a:defRPr/>
            </a:pPr>
            <a:r>
              <a:rPr lang="en-US" sz="1000" b="1" dirty="0">
                <a:solidFill>
                  <a:srgbClr val="FFFFFF"/>
                </a:solidFill>
                <a:latin typeface="Calibri"/>
                <a:ea typeface="DFKaiShu-GB5"/>
                <a:cs typeface="DFKaiShu-GB5"/>
              </a:rPr>
              <a:t>Opportunities in Greater Bay Area (“GBA”)</a:t>
            </a:r>
            <a:endParaRPr lang="en-US" altLang="zh-CN" sz="1000" b="1" dirty="0">
              <a:solidFill>
                <a:srgbClr val="FFFFFF"/>
              </a:solidFill>
              <a:latin typeface="Calibri"/>
              <a:ea typeface="DFKaiShu-GB5"/>
              <a:cs typeface="DFKaiShu-GB5"/>
            </a:endParaRPr>
          </a:p>
        </p:txBody>
      </p:sp>
      <p:sp>
        <p:nvSpPr>
          <p:cNvPr id="26" name="TextBox 25">
            <a:extLst>
              <a:ext uri="{FF2B5EF4-FFF2-40B4-BE49-F238E27FC236}">
                <a16:creationId xmlns:a16="http://schemas.microsoft.com/office/drawing/2014/main" id="{580B13D0-F885-48B4-9496-295955B10A06}"/>
              </a:ext>
            </a:extLst>
          </p:cNvPr>
          <p:cNvSpPr txBox="1"/>
          <p:nvPr/>
        </p:nvSpPr>
        <p:spPr>
          <a:xfrm>
            <a:off x="3513050" y="2350294"/>
            <a:ext cx="2926080" cy="297444"/>
          </a:xfrm>
          <a:prstGeom prst="rect">
            <a:avLst/>
          </a:prstGeom>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w="12700">
            <a:noFill/>
          </a:ln>
        </p:spPr>
        <p:txBody>
          <a:bodyPr wrap="square" lIns="0" tIns="1828800" rIns="0" bIns="1828800" rtlCol="0" anchor="ctr" anchorCtr="0">
            <a:noAutofit/>
          </a:bodyPr>
          <a:lstStyle/>
          <a:p>
            <a:pPr algn="ctr" eaLnBrk="0" fontAlgn="base" hangingPunct="0">
              <a:spcBef>
                <a:spcPct val="50000"/>
              </a:spcBef>
              <a:spcAft>
                <a:spcPct val="0"/>
              </a:spcAft>
              <a:defRPr/>
            </a:pPr>
            <a:r>
              <a:rPr lang="en-US" sz="1000" b="1" dirty="0">
                <a:solidFill>
                  <a:srgbClr val="FFFFFF"/>
                </a:solidFill>
                <a:latin typeface="Calibri"/>
                <a:ea typeface="DFKaiShu-GB5"/>
                <a:cs typeface="DFKaiShu-GB5"/>
              </a:rPr>
              <a:t>Belt and Road Initiative (“BRI”)</a:t>
            </a:r>
            <a:endParaRPr lang="en-US" altLang="zh-CN" sz="1000" b="1" dirty="0">
              <a:solidFill>
                <a:srgbClr val="FFFFFF"/>
              </a:solidFill>
              <a:latin typeface="Calibri"/>
              <a:ea typeface="DFKaiShu-GB5"/>
              <a:cs typeface="DFKaiShu-GB5"/>
            </a:endParaRPr>
          </a:p>
        </p:txBody>
      </p:sp>
      <p:pic>
        <p:nvPicPr>
          <p:cNvPr id="13" name="Picture 12" descr="A picture containing clipart&#10;&#10;Description automatically generated">
            <a:extLst>
              <a:ext uri="{FF2B5EF4-FFF2-40B4-BE49-F238E27FC236}">
                <a16:creationId xmlns:a16="http://schemas.microsoft.com/office/drawing/2014/main" id="{175FA7AB-5F6B-4FA1-955B-2CA47D6C4333}"/>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16130" y="872363"/>
            <a:ext cx="2194560" cy="351444"/>
          </a:xfrm>
          <a:prstGeom prst="rect">
            <a:avLst/>
          </a:prstGeom>
        </p:spPr>
      </p:pic>
      <p:sp>
        <p:nvSpPr>
          <p:cNvPr id="15" name="Text Placeholder 1">
            <a:extLst>
              <a:ext uri="{FF2B5EF4-FFF2-40B4-BE49-F238E27FC236}">
                <a16:creationId xmlns:a16="http://schemas.microsoft.com/office/drawing/2014/main" id="{88C60AD8-1090-46AE-A7FE-F9EFC11BCC06}"/>
              </a:ext>
            </a:extLst>
          </p:cNvPr>
          <p:cNvSpPr txBox="1">
            <a:spLocks/>
          </p:cNvSpPr>
          <p:nvPr/>
        </p:nvSpPr>
        <p:spPr bwMode="gray">
          <a:xfrm>
            <a:off x="374118" y="6077449"/>
            <a:ext cx="9208008" cy="107722"/>
          </a:xfrm>
          <a:prstGeom prst="rect">
            <a:avLst/>
          </a:prstGeom>
          <a:noFill/>
          <a:ln w="9525">
            <a:noFill/>
            <a:miter lim="800000"/>
            <a:headEnd/>
            <a:tailEnd/>
          </a:ln>
        </p:spPr>
        <p:txBody>
          <a:bodyPr vert="horz" wrap="square" lIns="0" tIns="0" rIns="0" bIns="0" numCol="1" anchor="b" anchorCtr="0" compatLnSpc="1">
            <a:prstTxWarp prst="textNoShape">
              <a:avLst/>
            </a:prstTxWarp>
            <a:spAutoFit/>
          </a:bodyPr>
          <a:lstStyle>
            <a:lvl1pPr marL="228600" indent="-228600" algn="l" rtl="0" eaLnBrk="1" fontAlgn="base" hangingPunct="1">
              <a:spcBef>
                <a:spcPct val="20000"/>
              </a:spcBef>
              <a:spcAft>
                <a:spcPct val="0"/>
              </a:spcAft>
              <a:buClr>
                <a:schemeClr val="accent1"/>
              </a:buClr>
              <a:buFont typeface="Wingdings" pitchFamily="2" charset="2"/>
              <a:buChar char="§"/>
              <a:defRPr sz="1600">
                <a:solidFill>
                  <a:schemeClr val="tx1"/>
                </a:solidFill>
                <a:latin typeface="+mn-lt"/>
                <a:ea typeface="+mn-ea"/>
                <a:cs typeface="+mn-cs"/>
              </a:defRPr>
            </a:lvl1pPr>
            <a:lvl2pPr marL="685800" indent="-228600" algn="l" rtl="0" eaLnBrk="1" fontAlgn="base" hangingPunct="1">
              <a:spcBef>
                <a:spcPct val="20000"/>
              </a:spcBef>
              <a:spcAft>
                <a:spcPct val="0"/>
              </a:spcAft>
              <a:buClr>
                <a:schemeClr val="accent2"/>
              </a:buClr>
              <a:buChar char="•"/>
              <a:defRPr sz="1600">
                <a:solidFill>
                  <a:schemeClr val="tx1"/>
                </a:solidFill>
                <a:latin typeface="+mn-lt"/>
              </a:defRPr>
            </a:lvl2pPr>
            <a:lvl3pPr marL="1143000" indent="-228600" algn="l" rtl="0" eaLnBrk="1" fontAlgn="base" hangingPunct="1">
              <a:spcBef>
                <a:spcPct val="20000"/>
              </a:spcBef>
              <a:spcAft>
                <a:spcPct val="0"/>
              </a:spcAft>
              <a:buClr>
                <a:schemeClr val="hlink"/>
              </a:buClr>
              <a:buChar char="o"/>
              <a:defRPr sz="1600">
                <a:solidFill>
                  <a:schemeClr val="tx1"/>
                </a:solidFill>
                <a:latin typeface="+mn-lt"/>
              </a:defRPr>
            </a:lvl3pPr>
            <a:lvl4pPr marL="1600200" indent="-228600" algn="l" rtl="0" eaLnBrk="1" fontAlgn="base" hangingPunct="1">
              <a:spcBef>
                <a:spcPct val="20000"/>
              </a:spcBef>
              <a:spcAft>
                <a:spcPct val="0"/>
              </a:spcAft>
              <a:buChar char="–"/>
              <a:defRPr sz="1600">
                <a:solidFill>
                  <a:schemeClr val="tx1"/>
                </a:solidFill>
                <a:latin typeface="+mn-lt"/>
              </a:defRPr>
            </a:lvl4pPr>
            <a:lvl5pPr marL="2057400" indent="-228600" algn="l" rtl="0" eaLnBrk="1" fontAlgn="base" hangingPunct="1">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pPr marL="0" indent="0">
              <a:spcBef>
                <a:spcPts val="0"/>
              </a:spcBef>
              <a:buNone/>
            </a:pPr>
            <a:r>
              <a:rPr lang="en-US" sz="700" i="1" kern="0" dirty="0"/>
              <a:t>Source: Company website, ASEAN, China Daily, World Data Lab, Center for Strategic &amp; International Studies, DBS Group Research</a:t>
            </a:r>
          </a:p>
        </p:txBody>
      </p:sp>
      <p:pic>
        <p:nvPicPr>
          <p:cNvPr id="5" name="Picture 4" descr="A close up of a logo&#10;&#10;Description automatically generated">
            <a:extLst>
              <a:ext uri="{FF2B5EF4-FFF2-40B4-BE49-F238E27FC236}">
                <a16:creationId xmlns:a16="http://schemas.microsoft.com/office/drawing/2014/main" id="{FBD60E5C-7F15-4B15-B15A-8988C76C6C21}"/>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36563" y="3520120"/>
            <a:ext cx="1188720" cy="1187324"/>
          </a:xfrm>
          <a:prstGeom prst="rect">
            <a:avLst/>
          </a:prstGeom>
        </p:spPr>
      </p:pic>
      <p:pic>
        <p:nvPicPr>
          <p:cNvPr id="8" name="Picture 7" descr="A close up of a sign&#10;&#10;Description automatically generated">
            <a:extLst>
              <a:ext uri="{FF2B5EF4-FFF2-40B4-BE49-F238E27FC236}">
                <a16:creationId xmlns:a16="http://schemas.microsoft.com/office/drawing/2014/main" id="{833CC783-BD8A-44E7-9755-7EC80E63A7C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42129" y="3565142"/>
            <a:ext cx="1463040" cy="1097280"/>
          </a:xfrm>
          <a:prstGeom prst="rect">
            <a:avLst/>
          </a:prstGeom>
        </p:spPr>
      </p:pic>
      <p:pic>
        <p:nvPicPr>
          <p:cNvPr id="10" name="Picture 9" descr="A close up of a sign&#10;&#10;Description automatically generated">
            <a:extLst>
              <a:ext uri="{FF2B5EF4-FFF2-40B4-BE49-F238E27FC236}">
                <a16:creationId xmlns:a16="http://schemas.microsoft.com/office/drawing/2014/main" id="{210F59BB-5E9B-4EA7-BAF6-5164897237C0}"/>
              </a:ext>
            </a:extLst>
          </p:cNvPr>
          <p:cNvPicPr>
            <a:picLocks noChangeAspect="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02673" y="4913066"/>
            <a:ext cx="1056500" cy="748606"/>
          </a:xfrm>
          <a:prstGeom prst="rect">
            <a:avLst/>
          </a:prstGeom>
        </p:spPr>
      </p:pic>
      <p:pic>
        <p:nvPicPr>
          <p:cNvPr id="12" name="Picture 11" descr="A picture containing clipart&#10;&#10;Description automatically generated">
            <a:extLst>
              <a:ext uri="{FF2B5EF4-FFF2-40B4-BE49-F238E27FC236}">
                <a16:creationId xmlns:a16="http://schemas.microsoft.com/office/drawing/2014/main" id="{0D9FC94E-28A4-4BA9-83EE-0C8992F0136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916449" y="4861555"/>
            <a:ext cx="914400" cy="943364"/>
          </a:xfrm>
          <a:prstGeom prst="rect">
            <a:avLst/>
          </a:prstGeom>
        </p:spPr>
      </p:pic>
      <p:pic>
        <p:nvPicPr>
          <p:cNvPr id="19" name="Picture 18">
            <a:extLst>
              <a:ext uri="{FF2B5EF4-FFF2-40B4-BE49-F238E27FC236}">
                <a16:creationId xmlns:a16="http://schemas.microsoft.com/office/drawing/2014/main" id="{B3098F4B-AF0E-42F0-AEEA-7E97C00BC49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513050" y="2689927"/>
            <a:ext cx="2926080" cy="1646965"/>
          </a:xfrm>
          <a:prstGeom prst="rect">
            <a:avLst/>
          </a:prstGeom>
        </p:spPr>
      </p:pic>
      <p:sp>
        <p:nvSpPr>
          <p:cNvPr id="30" name="Text Box 2589">
            <a:extLst>
              <a:ext uri="{FF2B5EF4-FFF2-40B4-BE49-F238E27FC236}">
                <a16:creationId xmlns:a16="http://schemas.microsoft.com/office/drawing/2014/main" id="{3E3C3203-C73C-43AF-866D-001D454FDA0A}"/>
              </a:ext>
            </a:extLst>
          </p:cNvPr>
          <p:cNvSpPr txBox="1">
            <a:spLocks noChangeArrowheads="1"/>
          </p:cNvSpPr>
          <p:nvPr/>
        </p:nvSpPr>
        <p:spPr bwMode="gray">
          <a:xfrm>
            <a:off x="3513050" y="4379081"/>
            <a:ext cx="2926080" cy="1477328"/>
          </a:xfrm>
          <a:prstGeom prst="rect">
            <a:avLst/>
          </a:prstGeom>
          <a:noFill/>
          <a:ln w="9525" cap="flat" cmpd="sng" algn="ctr">
            <a:noFill/>
            <a:prstDash val="solid"/>
            <a:headEnd/>
            <a:tailEnd/>
          </a:ln>
          <a:effectLst>
            <a:outerShdw blurRad="40000" dist="23000" dir="5400000" rotWithShape="0">
              <a:srgbClr val="000000">
                <a:alpha val="35000"/>
              </a:srgbClr>
            </a:outerShdw>
          </a:effectLst>
        </p:spPr>
        <p:txBody>
          <a:bodyPr wrap="square" lIns="0" tIns="0" rIns="0" bIns="0" anchor="t" anchorCtr="0">
            <a:spAutoFit/>
          </a:bodyPr>
          <a:lstStyle>
            <a:defPPr>
              <a:defRPr lang="en-US"/>
            </a:defPPr>
            <a:lvl1pPr marL="227013" lvl="0" indent="-227013" algn="just" defTabSz="457200" eaLnBrk="0" hangingPunct="0">
              <a:buClr>
                <a:srgbClr val="BE050A"/>
              </a:buClr>
              <a:buFont typeface="Wingdings" pitchFamily="2" charset="2"/>
              <a:buChar char="n"/>
              <a:tabLst>
                <a:tab pos="1371600" algn="l"/>
              </a:tabLst>
              <a:defRPr sz="1000" kern="0">
                <a:ea typeface="+mj-ea"/>
              </a:defRPr>
            </a:lvl1pPr>
          </a:lstStyle>
          <a:p>
            <a:pPr marL="109538" indent="-109538" algn="l">
              <a:buFont typeface="Wingdings" panose="05000000000000000000" pitchFamily="2" charset="2"/>
              <a:buChar char="§"/>
            </a:pP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The BRI aims to promote trades and investments across countries along the proposed trade routes that spans from Asia to Africa and Europe</a:t>
            </a:r>
          </a:p>
          <a:p>
            <a:pPr marL="109538" indent="-109538" algn="l">
              <a:buFont typeface="Wingdings" panose="05000000000000000000" pitchFamily="2" charset="2"/>
              <a:buChar char="§"/>
            </a:pP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The maritime silk road covers major Asian countries including China, Malaysia, Indonesia, India, Vietnam, and Sri Lanka</a:t>
            </a:r>
          </a:p>
          <a:p>
            <a:pPr marL="109538" indent="-109538" algn="l">
              <a:buFont typeface="Wingdings" panose="05000000000000000000" pitchFamily="2" charset="2"/>
              <a:buChar char="§"/>
            </a:pP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Trade between China and the other BRI countries amounted to USD3 trillion between 2014 and 2016, the BRI is expected to further increase the figure in the future</a:t>
            </a:r>
          </a:p>
          <a:p>
            <a:pPr marL="109538" indent="-109538" algn="l">
              <a:buFont typeface="Wingdings" panose="05000000000000000000" pitchFamily="2" charset="2"/>
              <a:buChar char="§"/>
            </a:pP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With the strong Asian presence, in particular in China and the ASEAN region, and plans to geographically expand to other ASEAN countries such as Vietnam and Indonesia, LF Logistics shall benefit from the increased trade under the BRI</a:t>
            </a:r>
          </a:p>
        </p:txBody>
      </p:sp>
      <p:pic>
        <p:nvPicPr>
          <p:cNvPr id="36" name="Picture 35" descr="A close up of a map&#10;&#10;Description automatically generated">
            <a:extLst>
              <a:ext uri="{FF2B5EF4-FFF2-40B4-BE49-F238E27FC236}">
                <a16:creationId xmlns:a16="http://schemas.microsoft.com/office/drawing/2014/main" id="{BE9530D0-0D65-48DC-A1E5-17B78B1E33B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931099" y="2689927"/>
            <a:ext cx="2254334" cy="1645920"/>
          </a:xfrm>
          <a:prstGeom prst="rect">
            <a:avLst/>
          </a:prstGeom>
        </p:spPr>
      </p:pic>
      <p:sp>
        <p:nvSpPr>
          <p:cNvPr id="37" name="Text Box 2589">
            <a:extLst>
              <a:ext uri="{FF2B5EF4-FFF2-40B4-BE49-F238E27FC236}">
                <a16:creationId xmlns:a16="http://schemas.microsoft.com/office/drawing/2014/main" id="{CA0BDB61-AD0A-4657-8589-B3E1DBE292B3}"/>
              </a:ext>
            </a:extLst>
          </p:cNvPr>
          <p:cNvSpPr txBox="1">
            <a:spLocks noChangeArrowheads="1"/>
          </p:cNvSpPr>
          <p:nvPr/>
        </p:nvSpPr>
        <p:spPr bwMode="gray">
          <a:xfrm>
            <a:off x="6595226" y="4379081"/>
            <a:ext cx="2926080" cy="1600438"/>
          </a:xfrm>
          <a:prstGeom prst="rect">
            <a:avLst/>
          </a:prstGeom>
          <a:noFill/>
          <a:ln w="9525" cap="flat" cmpd="sng" algn="ctr">
            <a:noFill/>
            <a:prstDash val="solid"/>
            <a:headEnd/>
            <a:tailEnd/>
          </a:ln>
          <a:effectLst>
            <a:outerShdw blurRad="40000" dist="23000" dir="5400000" rotWithShape="0">
              <a:srgbClr val="000000">
                <a:alpha val="35000"/>
              </a:srgbClr>
            </a:outerShdw>
          </a:effectLst>
        </p:spPr>
        <p:txBody>
          <a:bodyPr wrap="square" lIns="0" tIns="0" rIns="0" bIns="0" anchor="t" anchorCtr="0">
            <a:spAutoFit/>
          </a:bodyPr>
          <a:lstStyle>
            <a:defPPr>
              <a:defRPr lang="en-US"/>
            </a:defPPr>
            <a:lvl1pPr marL="227013" lvl="0" indent="-227013" algn="just" defTabSz="457200" eaLnBrk="0" hangingPunct="0">
              <a:buClr>
                <a:srgbClr val="BE050A"/>
              </a:buClr>
              <a:buFont typeface="Wingdings" pitchFamily="2" charset="2"/>
              <a:buChar char="n"/>
              <a:tabLst>
                <a:tab pos="1371600" algn="l"/>
              </a:tabLst>
              <a:defRPr sz="1000" kern="0">
                <a:ea typeface="+mj-ea"/>
              </a:defRPr>
            </a:lvl1pPr>
          </a:lstStyle>
          <a:p>
            <a:pPr marL="109538" indent="-109538" algn="l">
              <a:buFont typeface="Wingdings" panose="05000000000000000000" pitchFamily="2" charset="2"/>
              <a:buChar char="§"/>
            </a:pP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The GBA is a combination of 9 cities, including Guangzhou and Shenzhen, plus 2 cities, Hong Kong and Macau, in the Pearl River Delta, with an initiative to develop economically and strategically as a well-connected tier 1 bay area</a:t>
            </a:r>
          </a:p>
          <a:p>
            <a:pPr marL="109538" indent="-109538" algn="l">
              <a:buFont typeface="Wingdings" panose="05000000000000000000" pitchFamily="2" charset="2"/>
              <a:buChar char="§"/>
            </a:pP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The focus of development of the cities in the GBA will accelerate internationalization and urban modernization of the area, increase financial, technological, and trading activities</a:t>
            </a:r>
          </a:p>
          <a:p>
            <a:pPr marL="109538" indent="-109538" algn="l">
              <a:buFont typeface="Wingdings" panose="05000000000000000000" pitchFamily="2" charset="2"/>
              <a:buChar char="§"/>
            </a:pP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Free Trade Zones were established in the area, where foreign companies can engage in economic activities without interference from customs and the need of paying import duties</a:t>
            </a:r>
          </a:p>
          <a:p>
            <a:pPr marL="109538" indent="-109538" algn="l">
              <a:buFont typeface="Wingdings" panose="05000000000000000000" pitchFamily="2" charset="2"/>
              <a:buChar char="§"/>
            </a:pP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LF Logistics being one of the key logistics companies in </a:t>
            </a:r>
            <a:r>
              <a:rPr lang="en-US" altLang="zh-CN" sz="800" dirty="0" err="1">
                <a:solidFill>
                  <a:sysClr val="windowText" lastClr="000000"/>
                </a:solidFill>
                <a:latin typeface="Calibri" panose="020F0502020204030204" pitchFamily="34" charset="0"/>
                <a:ea typeface="華康簡楷" pitchFamily="65" charset="-120"/>
                <a:cs typeface="Calibri" panose="020F0502020204030204" pitchFamily="34" charset="0"/>
              </a:rPr>
              <a:t>Qianhai</a:t>
            </a: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 where China Inspection and Quarantine and customs are clear at once, shall benefit with the development of the area</a:t>
            </a:r>
          </a:p>
        </p:txBody>
      </p:sp>
      <p:sp>
        <p:nvSpPr>
          <p:cNvPr id="27" name="TextBox 26">
            <a:extLst>
              <a:ext uri="{FF2B5EF4-FFF2-40B4-BE49-F238E27FC236}">
                <a16:creationId xmlns:a16="http://schemas.microsoft.com/office/drawing/2014/main" id="{0636C5B0-1943-459D-824B-0DF7A5314C6E}"/>
              </a:ext>
            </a:extLst>
          </p:cNvPr>
          <p:cNvSpPr txBox="1"/>
          <p:nvPr/>
        </p:nvSpPr>
        <p:spPr>
          <a:xfrm>
            <a:off x="6595226" y="734657"/>
            <a:ext cx="2926080" cy="297444"/>
          </a:xfrm>
          <a:prstGeom prst="rect">
            <a:avLst/>
          </a:prstGeom>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w="12700">
            <a:noFill/>
          </a:ln>
        </p:spPr>
        <p:txBody>
          <a:bodyPr wrap="square" lIns="0" tIns="1828800" rIns="0" bIns="1828800" rtlCol="0" anchor="ctr" anchorCtr="0">
            <a:noAutofit/>
          </a:bodyPr>
          <a:lstStyle/>
          <a:p>
            <a:pPr algn="ctr" eaLnBrk="0" fontAlgn="base" hangingPunct="0">
              <a:spcBef>
                <a:spcPct val="50000"/>
              </a:spcBef>
              <a:spcAft>
                <a:spcPct val="0"/>
              </a:spcAft>
              <a:defRPr/>
            </a:pPr>
            <a:r>
              <a:rPr lang="en-US" sz="1000" b="1" dirty="0">
                <a:solidFill>
                  <a:srgbClr val="FFFFFF"/>
                </a:solidFill>
                <a:latin typeface="Calibri"/>
                <a:ea typeface="DFKaiShu-GB5"/>
                <a:cs typeface="DFKaiShu-GB5"/>
              </a:rPr>
              <a:t>New Middle Class in Asia</a:t>
            </a:r>
            <a:endParaRPr lang="en-US" altLang="zh-CN" sz="1000" b="1" dirty="0">
              <a:solidFill>
                <a:srgbClr val="FFFFFF"/>
              </a:solidFill>
              <a:latin typeface="Calibri"/>
              <a:ea typeface="DFKaiShu-GB5"/>
              <a:cs typeface="DFKaiShu-GB5"/>
            </a:endParaRPr>
          </a:p>
        </p:txBody>
      </p:sp>
      <p:sp>
        <p:nvSpPr>
          <p:cNvPr id="38" name="Text Box 2589">
            <a:extLst>
              <a:ext uri="{FF2B5EF4-FFF2-40B4-BE49-F238E27FC236}">
                <a16:creationId xmlns:a16="http://schemas.microsoft.com/office/drawing/2014/main" id="{F120BE10-B21A-41E7-8AA8-D5F027B038D6}"/>
              </a:ext>
            </a:extLst>
          </p:cNvPr>
          <p:cNvSpPr txBox="1">
            <a:spLocks noChangeArrowheads="1"/>
          </p:cNvSpPr>
          <p:nvPr/>
        </p:nvSpPr>
        <p:spPr bwMode="gray">
          <a:xfrm>
            <a:off x="6595226" y="1064337"/>
            <a:ext cx="2926080" cy="1107996"/>
          </a:xfrm>
          <a:prstGeom prst="rect">
            <a:avLst/>
          </a:prstGeom>
          <a:noFill/>
          <a:ln w="9525" cap="flat" cmpd="sng" algn="ctr">
            <a:noFill/>
            <a:prstDash val="solid"/>
            <a:headEnd/>
            <a:tailEnd/>
          </a:ln>
          <a:effectLst>
            <a:outerShdw blurRad="40000" dist="23000" dir="5400000" rotWithShape="0">
              <a:srgbClr val="000000">
                <a:alpha val="35000"/>
              </a:srgbClr>
            </a:outerShdw>
          </a:effectLst>
        </p:spPr>
        <p:txBody>
          <a:bodyPr wrap="square" lIns="0" tIns="0" rIns="0" bIns="0" anchor="t" anchorCtr="0">
            <a:spAutoFit/>
          </a:bodyPr>
          <a:lstStyle>
            <a:defPPr>
              <a:defRPr lang="en-US"/>
            </a:defPPr>
            <a:lvl1pPr marL="227013" lvl="0" indent="-227013" algn="just" defTabSz="457200" eaLnBrk="0" hangingPunct="0">
              <a:buClr>
                <a:srgbClr val="BE050A"/>
              </a:buClr>
              <a:buFont typeface="Wingdings" pitchFamily="2" charset="2"/>
              <a:buChar char="n"/>
              <a:tabLst>
                <a:tab pos="1371600" algn="l"/>
              </a:tabLst>
              <a:defRPr sz="1000" kern="0">
                <a:ea typeface="+mj-ea"/>
              </a:defRPr>
            </a:lvl1pPr>
          </a:lstStyle>
          <a:p>
            <a:pPr marL="109538" indent="-109538" algn="l">
              <a:buFont typeface="Wingdings" panose="05000000000000000000" pitchFamily="2" charset="2"/>
              <a:buChar char="§"/>
            </a:pP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World Data Lab projects an increase of 1.7 billion in the global middle incomes class population during the period from 2020 to 2030, of which 85% of this growth comes from Asia</a:t>
            </a:r>
          </a:p>
          <a:p>
            <a:pPr marL="109538" indent="-109538" algn="l">
              <a:buFont typeface="Wingdings" panose="05000000000000000000" pitchFamily="2" charset="2"/>
              <a:buChar char="§"/>
            </a:pP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By 2030, Asia is expected to account for 50% of the global middle class spending, as compared to the 10% proportion in 2000</a:t>
            </a:r>
          </a:p>
          <a:p>
            <a:pPr marL="109538" indent="-109538" algn="l">
              <a:buFont typeface="Wingdings" panose="05000000000000000000" pitchFamily="2" charset="2"/>
              <a:buChar char="§"/>
            </a:pP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The general surge in middle class population in Asia may be translated into higher disposable income in the area, accelerating economic development and trading activities, which shall benefit LF Logistics, with Asia being its focused market</a:t>
            </a:r>
          </a:p>
        </p:txBody>
      </p:sp>
      <p:sp>
        <p:nvSpPr>
          <p:cNvPr id="40" name="Text Box 2589">
            <a:extLst>
              <a:ext uri="{FF2B5EF4-FFF2-40B4-BE49-F238E27FC236}">
                <a16:creationId xmlns:a16="http://schemas.microsoft.com/office/drawing/2014/main" id="{9EC548BC-E2BD-45D2-8D5B-5D30DD11618D}"/>
              </a:ext>
            </a:extLst>
          </p:cNvPr>
          <p:cNvSpPr txBox="1">
            <a:spLocks noChangeArrowheads="1"/>
          </p:cNvSpPr>
          <p:nvPr/>
        </p:nvSpPr>
        <p:spPr bwMode="gray">
          <a:xfrm>
            <a:off x="3513050" y="1064337"/>
            <a:ext cx="2926080" cy="1231106"/>
          </a:xfrm>
          <a:prstGeom prst="rect">
            <a:avLst/>
          </a:prstGeom>
          <a:noFill/>
          <a:ln w="9525" cap="flat" cmpd="sng" algn="ctr">
            <a:noFill/>
            <a:prstDash val="solid"/>
            <a:headEnd/>
            <a:tailEnd/>
          </a:ln>
          <a:effectLst>
            <a:outerShdw blurRad="40000" dist="23000" dir="5400000" rotWithShape="0">
              <a:srgbClr val="000000">
                <a:alpha val="35000"/>
              </a:srgbClr>
            </a:outerShdw>
          </a:effectLst>
        </p:spPr>
        <p:txBody>
          <a:bodyPr wrap="square" lIns="0" tIns="0" rIns="0" bIns="0" anchor="t" anchorCtr="0">
            <a:spAutoFit/>
          </a:bodyPr>
          <a:lstStyle>
            <a:defPPr>
              <a:defRPr lang="en-US"/>
            </a:defPPr>
            <a:lvl1pPr marL="227013" lvl="0" indent="-227013" algn="just" defTabSz="457200" eaLnBrk="0" hangingPunct="0">
              <a:buClr>
                <a:srgbClr val="BE050A"/>
              </a:buClr>
              <a:buFont typeface="Wingdings" pitchFamily="2" charset="2"/>
              <a:buChar char="n"/>
              <a:tabLst>
                <a:tab pos="1371600" algn="l"/>
              </a:tabLst>
              <a:defRPr sz="1000" kern="0">
                <a:ea typeface="+mj-ea"/>
              </a:defRPr>
            </a:lvl1pPr>
          </a:lstStyle>
          <a:p>
            <a:pPr marL="109538" indent="-109538" algn="l">
              <a:buFont typeface="Wingdings" panose="05000000000000000000" pitchFamily="2" charset="2"/>
              <a:buChar char="§"/>
            </a:pP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With a population of more than 650 million and a total traded value of more than USD5.3 trillion in 2019, the ASEAN has became the fourth largest exporting region around the globe</a:t>
            </a:r>
          </a:p>
          <a:p>
            <a:pPr marL="109538" indent="-109538" algn="l">
              <a:buFont typeface="Wingdings" panose="05000000000000000000" pitchFamily="2" charset="2"/>
              <a:buChar char="§"/>
            </a:pP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ASEAN became the second largest trading partner of China in the first half of 2019 as China-ASEAN trade rose 10.5% to USD288 billion for the period</a:t>
            </a:r>
          </a:p>
          <a:p>
            <a:pPr marL="109538" indent="-109538" algn="l">
              <a:buFont typeface="Wingdings" panose="05000000000000000000" pitchFamily="2" charset="2"/>
              <a:buChar char="§"/>
            </a:pP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ASEAN economic growth continues to average 5.4% in 2019, and is predicted to become the fourth largest economy in the world by 2030, led by the US, China, and the EU</a:t>
            </a:r>
          </a:p>
          <a:p>
            <a:pPr marL="109538" indent="-109538" algn="l">
              <a:buFont typeface="Wingdings" panose="05000000000000000000" pitchFamily="2" charset="2"/>
              <a:buChar char="§"/>
            </a:pP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LF Logistics shall benefit from the continued growth of ASEAN</a:t>
            </a:r>
          </a:p>
        </p:txBody>
      </p:sp>
    </p:spTree>
    <p:extLst>
      <p:ext uri="{BB962C8B-B14F-4D97-AF65-F5344CB8AC3E}">
        <p14:creationId xmlns:p14="http://schemas.microsoft.com/office/powerpoint/2010/main" val="2621122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lide Number Placeholder 30"/>
          <p:cNvSpPr>
            <a:spLocks noGrp="1"/>
          </p:cNvSpPr>
          <p:nvPr>
            <p:ph type="sldNum" sz="quarter" idx="4"/>
          </p:nvPr>
        </p:nvSpPr>
        <p:spPr/>
        <p:txBody>
          <a:bodyPr/>
          <a:lstStyle/>
          <a:p>
            <a:pPr algn="r" eaLnBrk="0" fontAlgn="base" hangingPunct="0">
              <a:spcBef>
                <a:spcPct val="50000"/>
              </a:spcBef>
              <a:spcAft>
                <a:spcPct val="0"/>
              </a:spcAft>
              <a:defRPr/>
            </a:pPr>
            <a:fld id="{90FB4F5F-C942-40B6-AF50-16AA6C86747A}" type="slidenum">
              <a:rPr lang="en-US" altLang="en-US" sz="800">
                <a:solidFill>
                  <a:srgbClr val="000000"/>
                </a:solidFill>
                <a:latin typeface="Calibri"/>
                <a:ea typeface="DFKaiShu-GB5"/>
                <a:cs typeface="DFKaiShu-GB5"/>
              </a:rPr>
              <a:pPr algn="r" eaLnBrk="0" fontAlgn="base" hangingPunct="0">
                <a:spcBef>
                  <a:spcPct val="50000"/>
                </a:spcBef>
                <a:spcAft>
                  <a:spcPct val="0"/>
                </a:spcAft>
                <a:defRPr/>
              </a:pPr>
              <a:t>3</a:t>
            </a:fld>
            <a:endParaRPr lang="en-US" altLang="en-US" sz="800" dirty="0">
              <a:solidFill>
                <a:srgbClr val="000000"/>
              </a:solidFill>
              <a:latin typeface="Calibri"/>
              <a:ea typeface="DFKaiShu-GB5"/>
              <a:cs typeface="DFKaiShu-GB5"/>
            </a:endParaRPr>
          </a:p>
        </p:txBody>
      </p:sp>
      <p:sp>
        <p:nvSpPr>
          <p:cNvPr id="2" name="Title 1"/>
          <p:cNvSpPr>
            <a:spLocks noGrp="1"/>
          </p:cNvSpPr>
          <p:nvPr>
            <p:ph type="title"/>
          </p:nvPr>
        </p:nvSpPr>
        <p:spPr/>
        <p:txBody>
          <a:bodyPr/>
          <a:lstStyle/>
          <a:p>
            <a:r>
              <a:rPr lang="en-US" dirty="0"/>
              <a:t>Growing eCommerce to Boost Asian Logistics Volume</a:t>
            </a:r>
          </a:p>
        </p:txBody>
      </p:sp>
      <p:sp>
        <p:nvSpPr>
          <p:cNvPr id="15" name="Text Placeholder 1">
            <a:extLst>
              <a:ext uri="{FF2B5EF4-FFF2-40B4-BE49-F238E27FC236}">
                <a16:creationId xmlns:a16="http://schemas.microsoft.com/office/drawing/2014/main" id="{88C60AD8-1090-46AE-A7FE-F9EFC11BCC06}"/>
              </a:ext>
            </a:extLst>
          </p:cNvPr>
          <p:cNvSpPr txBox="1">
            <a:spLocks/>
          </p:cNvSpPr>
          <p:nvPr/>
        </p:nvSpPr>
        <p:spPr bwMode="gray">
          <a:xfrm>
            <a:off x="374118" y="6077449"/>
            <a:ext cx="9208008" cy="107722"/>
          </a:xfrm>
          <a:prstGeom prst="rect">
            <a:avLst/>
          </a:prstGeom>
          <a:noFill/>
          <a:ln w="9525">
            <a:noFill/>
            <a:miter lim="800000"/>
            <a:headEnd/>
            <a:tailEnd/>
          </a:ln>
        </p:spPr>
        <p:txBody>
          <a:bodyPr vert="horz" wrap="square" lIns="0" tIns="0" rIns="0" bIns="0" numCol="1" anchor="b" anchorCtr="0" compatLnSpc="1">
            <a:prstTxWarp prst="textNoShape">
              <a:avLst/>
            </a:prstTxWarp>
            <a:spAutoFit/>
          </a:bodyPr>
          <a:lstStyle>
            <a:lvl1pPr marL="228600" indent="-228600" algn="l" rtl="0" eaLnBrk="1" fontAlgn="base" hangingPunct="1">
              <a:spcBef>
                <a:spcPct val="20000"/>
              </a:spcBef>
              <a:spcAft>
                <a:spcPct val="0"/>
              </a:spcAft>
              <a:buClr>
                <a:schemeClr val="accent1"/>
              </a:buClr>
              <a:buFont typeface="Wingdings" pitchFamily="2" charset="2"/>
              <a:buChar char="§"/>
              <a:defRPr sz="1600">
                <a:solidFill>
                  <a:schemeClr val="tx1"/>
                </a:solidFill>
                <a:latin typeface="+mn-lt"/>
                <a:ea typeface="+mn-ea"/>
                <a:cs typeface="+mn-cs"/>
              </a:defRPr>
            </a:lvl1pPr>
            <a:lvl2pPr marL="685800" indent="-228600" algn="l" rtl="0" eaLnBrk="1" fontAlgn="base" hangingPunct="1">
              <a:spcBef>
                <a:spcPct val="20000"/>
              </a:spcBef>
              <a:spcAft>
                <a:spcPct val="0"/>
              </a:spcAft>
              <a:buClr>
                <a:schemeClr val="accent2"/>
              </a:buClr>
              <a:buChar char="•"/>
              <a:defRPr sz="1600">
                <a:solidFill>
                  <a:schemeClr val="tx1"/>
                </a:solidFill>
                <a:latin typeface="+mn-lt"/>
              </a:defRPr>
            </a:lvl2pPr>
            <a:lvl3pPr marL="1143000" indent="-228600" algn="l" rtl="0" eaLnBrk="1" fontAlgn="base" hangingPunct="1">
              <a:spcBef>
                <a:spcPct val="20000"/>
              </a:spcBef>
              <a:spcAft>
                <a:spcPct val="0"/>
              </a:spcAft>
              <a:buClr>
                <a:schemeClr val="hlink"/>
              </a:buClr>
              <a:buChar char="o"/>
              <a:defRPr sz="1600">
                <a:solidFill>
                  <a:schemeClr val="tx1"/>
                </a:solidFill>
                <a:latin typeface="+mn-lt"/>
              </a:defRPr>
            </a:lvl3pPr>
            <a:lvl4pPr marL="1600200" indent="-228600" algn="l" rtl="0" eaLnBrk="1" fontAlgn="base" hangingPunct="1">
              <a:spcBef>
                <a:spcPct val="20000"/>
              </a:spcBef>
              <a:spcAft>
                <a:spcPct val="0"/>
              </a:spcAft>
              <a:buChar char="–"/>
              <a:defRPr sz="1600">
                <a:solidFill>
                  <a:schemeClr val="tx1"/>
                </a:solidFill>
                <a:latin typeface="+mn-lt"/>
              </a:defRPr>
            </a:lvl4pPr>
            <a:lvl5pPr marL="2057400" indent="-228600" algn="l" rtl="0" eaLnBrk="1" fontAlgn="base" hangingPunct="1">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pPr marL="0" indent="0">
              <a:spcBef>
                <a:spcPts val="0"/>
              </a:spcBef>
              <a:buFont typeface="Wingdings" pitchFamily="2" charset="2"/>
              <a:buNone/>
            </a:pPr>
            <a:r>
              <a:rPr lang="en-US" sz="700" i="1" kern="0" dirty="0"/>
              <a:t>Source: </a:t>
            </a:r>
            <a:r>
              <a:rPr lang="en-US" sz="700" i="1" kern="0" dirty="0" err="1"/>
              <a:t>iResearch</a:t>
            </a:r>
            <a:r>
              <a:rPr lang="en-US" sz="700" i="1" kern="0" dirty="0"/>
              <a:t> China, CNNIC, e-</a:t>
            </a:r>
            <a:r>
              <a:rPr lang="en-US" sz="700" i="1" kern="0" dirty="0" err="1"/>
              <a:t>Conomy</a:t>
            </a:r>
            <a:r>
              <a:rPr lang="en-US" sz="700" i="1" kern="0" dirty="0"/>
              <a:t> SEA,  Fung Business Intelligence</a:t>
            </a:r>
          </a:p>
        </p:txBody>
      </p:sp>
      <p:sp>
        <p:nvSpPr>
          <p:cNvPr id="7" name="Text Box 2589">
            <a:extLst>
              <a:ext uri="{FF2B5EF4-FFF2-40B4-BE49-F238E27FC236}">
                <a16:creationId xmlns:a16="http://schemas.microsoft.com/office/drawing/2014/main" id="{AE3E663D-B5A9-435C-8103-26C6C59009B8}"/>
              </a:ext>
            </a:extLst>
          </p:cNvPr>
          <p:cNvSpPr txBox="1">
            <a:spLocks noChangeArrowheads="1"/>
          </p:cNvSpPr>
          <p:nvPr/>
        </p:nvSpPr>
        <p:spPr bwMode="gray">
          <a:xfrm>
            <a:off x="374119" y="687032"/>
            <a:ext cx="2859532" cy="5262979"/>
          </a:xfrm>
          <a:prstGeom prst="rect">
            <a:avLst/>
          </a:prstGeom>
          <a:noFill/>
          <a:ln w="9525" cap="flat" cmpd="sng" algn="ctr">
            <a:noFill/>
            <a:prstDash val="solid"/>
            <a:headEnd/>
            <a:tailEnd/>
          </a:ln>
          <a:effectLst>
            <a:outerShdw blurRad="40000" dist="23000" dir="5400000" rotWithShape="0">
              <a:srgbClr val="000000">
                <a:alpha val="35000"/>
              </a:srgbClr>
            </a:outerShdw>
          </a:effectLst>
        </p:spPr>
        <p:txBody>
          <a:bodyPr wrap="square" lIns="91440" tIns="91440" rIns="91440" bIns="91440" anchor="t" anchorCtr="0">
            <a:spAutoFit/>
          </a:bodyPr>
          <a:lstStyle>
            <a:defPPr>
              <a:defRPr lang="en-US"/>
            </a:defPPr>
            <a:lvl1pPr marL="227013" lvl="0" indent="-227013" algn="just" defTabSz="457200" eaLnBrk="0" hangingPunct="0">
              <a:buClr>
                <a:srgbClr val="BE050A"/>
              </a:buClr>
              <a:buFont typeface="Wingdings" pitchFamily="2" charset="2"/>
              <a:buChar char="n"/>
              <a:tabLst>
                <a:tab pos="1371600" algn="l"/>
              </a:tabLst>
              <a:defRPr sz="1000" kern="0">
                <a:ea typeface="+mj-ea"/>
              </a:defRPr>
            </a:lvl1pPr>
          </a:lstStyle>
          <a:p>
            <a:pPr algn="l">
              <a:buFont typeface="Wingdings" panose="05000000000000000000" pitchFamily="2" charset="2"/>
              <a:buChar char="§"/>
            </a:pPr>
            <a:r>
              <a:rPr lang="en-US" altLang="zh-CN" sz="1100" dirty="0">
                <a:solidFill>
                  <a:sysClr val="windowText" lastClr="000000"/>
                </a:solidFill>
                <a:latin typeface="Calibri" panose="020F0502020204030204" pitchFamily="34" charset="0"/>
                <a:ea typeface="華康簡楷" pitchFamily="65" charset="-120"/>
                <a:cs typeface="Calibri" panose="020F0502020204030204" pitchFamily="34" charset="0"/>
              </a:rPr>
              <a:t>LF Logistics continued to achieve its double-digit organic growth in recent years as increase eCommerce penetration in China and the South East Asia region fueled the expansion</a:t>
            </a:r>
          </a:p>
          <a:p>
            <a:pPr algn="l">
              <a:buFont typeface="Wingdings" panose="05000000000000000000" pitchFamily="2" charset="2"/>
              <a:buChar char="§"/>
            </a:pPr>
            <a:r>
              <a:rPr lang="en-US" altLang="zh-CN" sz="1100" dirty="0">
                <a:solidFill>
                  <a:sysClr val="windowText" lastClr="000000"/>
                </a:solidFill>
                <a:latin typeface="Calibri" panose="020F0502020204030204" pitchFamily="34" charset="0"/>
                <a:ea typeface="華康簡楷" pitchFamily="65" charset="-120"/>
                <a:cs typeface="Calibri" panose="020F0502020204030204" pitchFamily="34" charset="0"/>
              </a:rPr>
              <a:t>eCommerce has been the driver of growth in the logistics industry, with the increased popularity of online shopping, alongside the increased internet access and online penetration in China and the South East Asia region, eCommerce will continue to be the major driving force for the Asian logistics industry</a:t>
            </a:r>
          </a:p>
          <a:p>
            <a:pPr algn="l">
              <a:buFont typeface="Wingdings" panose="05000000000000000000" pitchFamily="2" charset="2"/>
              <a:buChar char="§"/>
            </a:pPr>
            <a:r>
              <a:rPr lang="en-US" altLang="zh-CN" sz="1100" dirty="0">
                <a:solidFill>
                  <a:sysClr val="windowText" lastClr="000000"/>
                </a:solidFill>
                <a:latin typeface="Calibri" panose="020F0502020204030204" pitchFamily="34" charset="0"/>
                <a:ea typeface="華康簡楷" pitchFamily="65" charset="-120"/>
                <a:cs typeface="Calibri" panose="020F0502020204030204" pitchFamily="34" charset="0"/>
              </a:rPr>
              <a:t>Robust growth in the eCommerce market is expected for both China and the South East Asia region, with LF Logistics’ operations focusing on China and South East Asia, particularly covering key economies such as Indonesia and Singapore, LF Logistics will be able to capture the potential development of the market and the economies</a:t>
            </a:r>
          </a:p>
          <a:p>
            <a:pPr algn="l">
              <a:buFont typeface="Wingdings" panose="05000000000000000000" pitchFamily="2" charset="2"/>
              <a:buChar char="§"/>
            </a:pPr>
            <a:r>
              <a:rPr lang="en-US" altLang="zh-CN" sz="1100" dirty="0">
                <a:solidFill>
                  <a:sysClr val="windowText" lastClr="000000"/>
                </a:solidFill>
                <a:latin typeface="Calibri" panose="020F0502020204030204" pitchFamily="34" charset="0"/>
                <a:ea typeface="華康簡楷" pitchFamily="65" charset="-120"/>
                <a:cs typeface="Calibri" panose="020F0502020204030204" pitchFamily="34" charset="0"/>
              </a:rPr>
              <a:t>In South East Asia, logistics networks have developed to cope with the rapid increase of delivery demand, growing from about 800,000 deliveries per day in 2015 to more than 3 million per day in 2018, with peaks of more than three times daily averages experienced around shopping festivals like the China’s “Singles Day”</a:t>
            </a:r>
          </a:p>
        </p:txBody>
      </p:sp>
      <p:sp>
        <p:nvSpPr>
          <p:cNvPr id="8" name="Line 50">
            <a:extLst>
              <a:ext uri="{FF2B5EF4-FFF2-40B4-BE49-F238E27FC236}">
                <a16:creationId xmlns:a16="http://schemas.microsoft.com/office/drawing/2014/main" id="{5E2884C2-47A1-48CD-9AB2-F18BF90097DF}"/>
              </a:ext>
            </a:extLst>
          </p:cNvPr>
          <p:cNvSpPr>
            <a:spLocks noChangeShapeType="1"/>
          </p:cNvSpPr>
          <p:nvPr/>
        </p:nvSpPr>
        <p:spPr bwMode="gray">
          <a:xfrm>
            <a:off x="3356954" y="734657"/>
            <a:ext cx="0" cy="5257800"/>
          </a:xfrm>
          <a:prstGeom prst="line">
            <a:avLst/>
          </a:prstGeom>
          <a:noFill/>
          <a:ln w="9525">
            <a:solidFill>
              <a:schemeClr val="accent1"/>
            </a:solidFill>
            <a:round/>
            <a:headEnd/>
            <a:tailEnd/>
          </a:ln>
          <a:effectLst/>
        </p:spPr>
        <p:txBody>
          <a:bodyPr wrap="none" anchor="ctr"/>
          <a:lstStyle/>
          <a:p>
            <a:pPr>
              <a:buClr>
                <a:schemeClr val="accent1"/>
              </a:buClr>
              <a:buFont typeface="Wingdings" pitchFamily="2" charset="2"/>
              <a:buNone/>
              <a:defRPr/>
            </a:pPr>
            <a:endParaRPr lang="en-US" sz="900" u="none" dirty="0">
              <a:solidFill>
                <a:srgbClr val="000000"/>
              </a:solidFill>
              <a:latin typeface="+mn-lt"/>
            </a:endParaRPr>
          </a:p>
        </p:txBody>
      </p:sp>
      <p:sp>
        <p:nvSpPr>
          <p:cNvPr id="13" name="TextBox 12">
            <a:extLst>
              <a:ext uri="{FF2B5EF4-FFF2-40B4-BE49-F238E27FC236}">
                <a16:creationId xmlns:a16="http://schemas.microsoft.com/office/drawing/2014/main" id="{7F363629-A8D5-4135-AEBF-A321D31A289B}"/>
              </a:ext>
            </a:extLst>
          </p:cNvPr>
          <p:cNvSpPr txBox="1"/>
          <p:nvPr/>
        </p:nvSpPr>
        <p:spPr>
          <a:xfrm>
            <a:off x="3513050" y="734657"/>
            <a:ext cx="6007608" cy="297444"/>
          </a:xfrm>
          <a:prstGeom prst="rect">
            <a:avLst/>
          </a:prstGeom>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w="12700">
            <a:noFill/>
          </a:ln>
        </p:spPr>
        <p:txBody>
          <a:bodyPr wrap="square" lIns="0" tIns="1828800" rIns="0" bIns="1828800" rtlCol="0" anchor="ctr" anchorCtr="0">
            <a:noAutofit/>
          </a:bodyPr>
          <a:lstStyle/>
          <a:p>
            <a:pPr algn="ctr" eaLnBrk="0" fontAlgn="base" hangingPunct="0">
              <a:spcBef>
                <a:spcPct val="50000"/>
              </a:spcBef>
              <a:spcAft>
                <a:spcPct val="0"/>
              </a:spcAft>
              <a:defRPr/>
            </a:pPr>
            <a:r>
              <a:rPr lang="en-US" sz="1000" b="1" dirty="0">
                <a:solidFill>
                  <a:srgbClr val="FFFFFF"/>
                </a:solidFill>
                <a:latin typeface="Calibri"/>
                <a:ea typeface="DFKaiShu-GB5"/>
                <a:cs typeface="DFKaiShu-GB5"/>
              </a:rPr>
              <a:t>Substantial Growth in China’s eCommerce Market</a:t>
            </a:r>
            <a:endParaRPr lang="en-US" altLang="zh-CN" sz="1000" b="1" dirty="0">
              <a:solidFill>
                <a:srgbClr val="FFFFFF"/>
              </a:solidFill>
              <a:latin typeface="Calibri"/>
              <a:ea typeface="DFKaiShu-GB5"/>
              <a:cs typeface="DFKaiShu-GB5"/>
            </a:endParaRPr>
          </a:p>
        </p:txBody>
      </p:sp>
      <p:sp>
        <p:nvSpPr>
          <p:cNvPr id="14" name="TextBox 13">
            <a:extLst>
              <a:ext uri="{FF2B5EF4-FFF2-40B4-BE49-F238E27FC236}">
                <a16:creationId xmlns:a16="http://schemas.microsoft.com/office/drawing/2014/main" id="{E25CE43D-CB3E-4DB0-BB38-9B3D8677EFD7}"/>
              </a:ext>
            </a:extLst>
          </p:cNvPr>
          <p:cNvSpPr txBox="1"/>
          <p:nvPr/>
        </p:nvSpPr>
        <p:spPr>
          <a:xfrm>
            <a:off x="7438900" y="3369469"/>
            <a:ext cx="2082405" cy="297444"/>
          </a:xfrm>
          <a:prstGeom prst="rect">
            <a:avLst/>
          </a:prstGeom>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w="12700">
            <a:noFill/>
          </a:ln>
        </p:spPr>
        <p:txBody>
          <a:bodyPr wrap="square" lIns="0" tIns="1828800" rIns="0" bIns="1828800" rtlCol="0" anchor="ctr" anchorCtr="0">
            <a:noAutofit/>
          </a:bodyPr>
          <a:lstStyle/>
          <a:p>
            <a:pPr algn="ctr" eaLnBrk="0" fontAlgn="base" hangingPunct="0">
              <a:spcBef>
                <a:spcPct val="50000"/>
              </a:spcBef>
              <a:spcAft>
                <a:spcPct val="0"/>
              </a:spcAft>
              <a:defRPr/>
            </a:pPr>
            <a:r>
              <a:rPr lang="en-US" sz="1000" b="1" dirty="0">
                <a:solidFill>
                  <a:srgbClr val="FFFFFF"/>
                </a:solidFill>
                <a:latin typeface="Calibri"/>
                <a:ea typeface="DFKaiShu-GB5"/>
                <a:cs typeface="DFKaiShu-GB5"/>
              </a:rPr>
              <a:t>The Rise of Social Commerce</a:t>
            </a:r>
            <a:endParaRPr lang="en-US" altLang="zh-CN" sz="1000" b="1" dirty="0">
              <a:solidFill>
                <a:srgbClr val="FFFFFF"/>
              </a:solidFill>
              <a:latin typeface="Calibri"/>
              <a:ea typeface="DFKaiShu-GB5"/>
              <a:cs typeface="DFKaiShu-GB5"/>
            </a:endParaRPr>
          </a:p>
        </p:txBody>
      </p:sp>
      <p:sp>
        <p:nvSpPr>
          <p:cNvPr id="16" name="TextBox 15">
            <a:extLst>
              <a:ext uri="{FF2B5EF4-FFF2-40B4-BE49-F238E27FC236}">
                <a16:creationId xmlns:a16="http://schemas.microsoft.com/office/drawing/2014/main" id="{B0EB662D-F722-4A6F-991A-ADB26FE5EE8B}"/>
              </a:ext>
            </a:extLst>
          </p:cNvPr>
          <p:cNvSpPr txBox="1"/>
          <p:nvPr/>
        </p:nvSpPr>
        <p:spPr>
          <a:xfrm>
            <a:off x="3513049" y="3369469"/>
            <a:ext cx="3769758" cy="297444"/>
          </a:xfrm>
          <a:prstGeom prst="rect">
            <a:avLst/>
          </a:prstGeom>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w="12700">
            <a:noFill/>
          </a:ln>
        </p:spPr>
        <p:txBody>
          <a:bodyPr wrap="square" lIns="0" tIns="1828800" rIns="0" bIns="1828800" rtlCol="0" anchor="ctr" anchorCtr="0">
            <a:noAutofit/>
          </a:bodyPr>
          <a:lstStyle/>
          <a:p>
            <a:pPr algn="ctr" eaLnBrk="0" fontAlgn="base" hangingPunct="0">
              <a:spcBef>
                <a:spcPct val="50000"/>
              </a:spcBef>
              <a:spcAft>
                <a:spcPct val="0"/>
              </a:spcAft>
              <a:defRPr/>
            </a:pPr>
            <a:r>
              <a:rPr lang="en-US" altLang="zh-CN" sz="1000" b="1" dirty="0">
                <a:solidFill>
                  <a:srgbClr val="FFFFFF"/>
                </a:solidFill>
                <a:latin typeface="Calibri"/>
                <a:ea typeface="DFKaiShu-GB5"/>
                <a:cs typeface="DFKaiShu-GB5"/>
              </a:rPr>
              <a:t>Increasing Online Penetration to Drive SEA’s eCommerce</a:t>
            </a:r>
          </a:p>
        </p:txBody>
      </p:sp>
      <p:graphicFrame>
        <p:nvGraphicFramePr>
          <p:cNvPr id="17" name="Chart 16">
            <a:extLst>
              <a:ext uri="{FF2B5EF4-FFF2-40B4-BE49-F238E27FC236}">
                <a16:creationId xmlns:a16="http://schemas.microsoft.com/office/drawing/2014/main" id="{D2C390CE-30EB-46D3-8970-D5AC481A0BD5}"/>
              </a:ext>
            </a:extLst>
          </p:cNvPr>
          <p:cNvGraphicFramePr/>
          <p:nvPr>
            <p:extLst>
              <p:ext uri="{D42A27DB-BD31-4B8C-83A1-F6EECF244321}">
                <p14:modId xmlns:p14="http://schemas.microsoft.com/office/powerpoint/2010/main" val="2868919588"/>
              </p:ext>
            </p:extLst>
          </p:nvPr>
        </p:nvGraphicFramePr>
        <p:xfrm>
          <a:off x="3513050" y="1032102"/>
          <a:ext cx="3421145" cy="2294504"/>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 Box 2589">
            <a:extLst>
              <a:ext uri="{FF2B5EF4-FFF2-40B4-BE49-F238E27FC236}">
                <a16:creationId xmlns:a16="http://schemas.microsoft.com/office/drawing/2014/main" id="{BE0D3A29-F2AE-44F1-A166-8D2ACC3A249A}"/>
              </a:ext>
            </a:extLst>
          </p:cNvPr>
          <p:cNvSpPr txBox="1">
            <a:spLocks noChangeArrowheads="1"/>
          </p:cNvSpPr>
          <p:nvPr/>
        </p:nvSpPr>
        <p:spPr bwMode="gray">
          <a:xfrm>
            <a:off x="3655925" y="1076552"/>
            <a:ext cx="731520" cy="123111"/>
          </a:xfrm>
          <a:prstGeom prst="rect">
            <a:avLst/>
          </a:prstGeom>
          <a:noFill/>
          <a:ln w="9525" cap="flat" cmpd="sng" algn="ctr">
            <a:noFill/>
            <a:prstDash val="solid"/>
            <a:headEnd/>
            <a:tailEnd/>
          </a:ln>
          <a:effectLst>
            <a:outerShdw blurRad="40000" dist="23000" dir="5400000" rotWithShape="0">
              <a:srgbClr val="000000">
                <a:alpha val="35000"/>
              </a:srgbClr>
            </a:outerShdw>
          </a:effectLst>
        </p:spPr>
        <p:txBody>
          <a:bodyPr wrap="square" lIns="0" tIns="0" rIns="0" bIns="0" anchor="t" anchorCtr="0">
            <a:spAutoFit/>
          </a:bodyPr>
          <a:lstStyle>
            <a:defPPr>
              <a:defRPr lang="en-US"/>
            </a:defPPr>
            <a:lvl1pPr marL="227013" lvl="0" indent="-227013" algn="just" defTabSz="457200" eaLnBrk="0" hangingPunct="0">
              <a:buClr>
                <a:srgbClr val="BE050A"/>
              </a:buClr>
              <a:buFont typeface="Wingdings" pitchFamily="2" charset="2"/>
              <a:buChar char="n"/>
              <a:tabLst>
                <a:tab pos="1371600" algn="l"/>
              </a:tabLst>
              <a:defRPr sz="1000" kern="0">
                <a:ea typeface="+mj-ea"/>
              </a:defRPr>
            </a:lvl1pPr>
          </a:lstStyle>
          <a:p>
            <a:pPr marL="0" indent="0" algn="l">
              <a:buNone/>
            </a:pP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GMV, </a:t>
            </a:r>
            <a:r>
              <a:rPr lang="en-US" altLang="zh-CN" sz="800" dirty="0" err="1">
                <a:solidFill>
                  <a:sysClr val="windowText" lastClr="000000"/>
                </a:solidFill>
                <a:latin typeface="Calibri" panose="020F0502020204030204" pitchFamily="34" charset="0"/>
                <a:ea typeface="華康簡楷" pitchFamily="65" charset="-120"/>
                <a:cs typeface="Calibri" panose="020F0502020204030204" pitchFamily="34" charset="0"/>
              </a:rPr>
              <a:t>RMB’t</a:t>
            </a:r>
            <a:endPar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endParaRPr>
          </a:p>
        </p:txBody>
      </p:sp>
      <p:sp>
        <p:nvSpPr>
          <p:cNvPr id="19" name="Arrow: Chevron 18">
            <a:extLst>
              <a:ext uri="{FF2B5EF4-FFF2-40B4-BE49-F238E27FC236}">
                <a16:creationId xmlns:a16="http://schemas.microsoft.com/office/drawing/2014/main" id="{4C287942-F11D-41C4-8E72-A89AB3EE491B}"/>
              </a:ext>
            </a:extLst>
          </p:cNvPr>
          <p:cNvSpPr/>
          <p:nvPr/>
        </p:nvSpPr>
        <p:spPr bwMode="gray">
          <a:xfrm rot="-1440000">
            <a:off x="3723745" y="1914183"/>
            <a:ext cx="2194560" cy="104775"/>
          </a:xfrm>
          <a:prstGeom prst="chevron">
            <a:avLst/>
          </a:prstGeom>
          <a:gradFill flip="none" rotWithShape="1">
            <a:gsLst>
              <a:gs pos="0">
                <a:schemeClr val="bg2">
                  <a:lumMod val="60000"/>
                  <a:lumOff val="40000"/>
                </a:schemeClr>
              </a:gs>
              <a:gs pos="80000">
                <a:srgbClr val="EAEAEA"/>
              </a:gs>
              <a:gs pos="100000">
                <a:srgbClr val="EAEAEA"/>
              </a:gs>
            </a:gsLst>
            <a:lin ang="10800000" scaled="1"/>
            <a:tileRect/>
          </a:gradFill>
          <a:ln>
            <a:noFill/>
            <a:round/>
            <a:headEnd/>
            <a:tailEnd/>
          </a:ln>
        </p:spPr>
        <p:style>
          <a:lnRef idx="2">
            <a:schemeClr val="accent1"/>
          </a:lnRef>
          <a:fillRef idx="1">
            <a:schemeClr val="lt1"/>
          </a:fillRef>
          <a:effectRef idx="0">
            <a:schemeClr val="accent1"/>
          </a:effectRef>
          <a:fontRef idx="minor">
            <a:schemeClr val="dk1"/>
          </a:fontRef>
        </p:style>
        <p:txBody>
          <a:bodyPr lIns="45720" tIns="0" rIns="45720" rtlCol="0" anchor="ctr"/>
          <a:lstStyle/>
          <a:p>
            <a:pPr marL="231775" indent="-112713" algn="ctr">
              <a:spcAft>
                <a:spcPts val="600"/>
              </a:spcAft>
              <a:buClr>
                <a:schemeClr val="accent1"/>
              </a:buClr>
              <a:buSzPct val="80000"/>
              <a:buFont typeface="Wingdings" pitchFamily="2" charset="2"/>
              <a:buChar char="§"/>
            </a:pPr>
            <a:endParaRPr lang="en-US" sz="1000" b="1" u="none" dirty="0"/>
          </a:p>
        </p:txBody>
      </p:sp>
      <p:sp>
        <p:nvSpPr>
          <p:cNvPr id="21" name="Text Box 2589">
            <a:extLst>
              <a:ext uri="{FF2B5EF4-FFF2-40B4-BE49-F238E27FC236}">
                <a16:creationId xmlns:a16="http://schemas.microsoft.com/office/drawing/2014/main" id="{5D6CDDD5-1458-4760-9CAA-0F6C6954131C}"/>
              </a:ext>
            </a:extLst>
          </p:cNvPr>
          <p:cNvSpPr txBox="1">
            <a:spLocks noChangeArrowheads="1"/>
          </p:cNvSpPr>
          <p:nvPr/>
        </p:nvSpPr>
        <p:spPr bwMode="gray">
          <a:xfrm rot="-1440000">
            <a:off x="4455265" y="1771877"/>
            <a:ext cx="731520" cy="123111"/>
          </a:xfrm>
          <a:prstGeom prst="rect">
            <a:avLst/>
          </a:prstGeom>
          <a:noFill/>
          <a:ln w="9525" cap="flat" cmpd="sng" algn="ctr">
            <a:noFill/>
            <a:prstDash val="solid"/>
            <a:headEnd/>
            <a:tailEnd/>
          </a:ln>
          <a:effectLst>
            <a:outerShdw blurRad="40000" dist="23000" dir="5400000" rotWithShape="0">
              <a:srgbClr val="000000">
                <a:alpha val="35000"/>
              </a:srgbClr>
            </a:outerShdw>
          </a:effectLst>
        </p:spPr>
        <p:txBody>
          <a:bodyPr wrap="square" lIns="0" tIns="0" rIns="0" bIns="0" anchor="t" anchorCtr="0">
            <a:spAutoFit/>
          </a:bodyPr>
          <a:lstStyle>
            <a:defPPr>
              <a:defRPr lang="en-US"/>
            </a:defPPr>
            <a:lvl1pPr marL="227013" lvl="0" indent="-227013" algn="just" defTabSz="457200" eaLnBrk="0" hangingPunct="0">
              <a:buClr>
                <a:srgbClr val="BE050A"/>
              </a:buClr>
              <a:buFont typeface="Wingdings" pitchFamily="2" charset="2"/>
              <a:buChar char="n"/>
              <a:tabLst>
                <a:tab pos="1371600" algn="l"/>
              </a:tabLst>
              <a:defRPr sz="1000" kern="0">
                <a:ea typeface="+mj-ea"/>
              </a:defRPr>
            </a:lvl1pPr>
          </a:lstStyle>
          <a:p>
            <a:pPr marL="0" indent="0" algn="ctr">
              <a:buNone/>
            </a:pP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CAGR: 33.3%</a:t>
            </a:r>
          </a:p>
        </p:txBody>
      </p:sp>
      <p:sp>
        <p:nvSpPr>
          <p:cNvPr id="22" name="Text Box 2589">
            <a:extLst>
              <a:ext uri="{FF2B5EF4-FFF2-40B4-BE49-F238E27FC236}">
                <a16:creationId xmlns:a16="http://schemas.microsoft.com/office/drawing/2014/main" id="{5E720404-DE45-4FF9-B26D-73813B2B520A}"/>
              </a:ext>
            </a:extLst>
          </p:cNvPr>
          <p:cNvSpPr txBox="1">
            <a:spLocks noChangeArrowheads="1"/>
          </p:cNvSpPr>
          <p:nvPr/>
        </p:nvSpPr>
        <p:spPr bwMode="gray">
          <a:xfrm>
            <a:off x="7006058" y="1064337"/>
            <a:ext cx="2514600" cy="2215991"/>
          </a:xfrm>
          <a:prstGeom prst="rect">
            <a:avLst/>
          </a:prstGeom>
          <a:noFill/>
          <a:ln w="9525" cap="flat" cmpd="sng" algn="ctr">
            <a:noFill/>
            <a:prstDash val="solid"/>
            <a:headEnd/>
            <a:tailEnd/>
          </a:ln>
          <a:effectLst>
            <a:outerShdw blurRad="40000" dist="23000" dir="5400000" rotWithShape="0">
              <a:srgbClr val="000000">
                <a:alpha val="35000"/>
              </a:srgbClr>
            </a:outerShdw>
          </a:effectLst>
        </p:spPr>
        <p:txBody>
          <a:bodyPr wrap="square" lIns="0" tIns="0" rIns="0" bIns="0" anchor="t" anchorCtr="0">
            <a:spAutoFit/>
          </a:bodyPr>
          <a:lstStyle>
            <a:defPPr>
              <a:defRPr lang="en-US"/>
            </a:defPPr>
            <a:lvl1pPr marL="227013" lvl="0" indent="-227013" algn="just" defTabSz="457200" eaLnBrk="0" hangingPunct="0">
              <a:buClr>
                <a:srgbClr val="BE050A"/>
              </a:buClr>
              <a:buFont typeface="Wingdings" pitchFamily="2" charset="2"/>
              <a:buChar char="n"/>
              <a:tabLst>
                <a:tab pos="1371600" algn="l"/>
              </a:tabLst>
              <a:defRPr sz="1000" kern="0">
                <a:ea typeface="+mj-ea"/>
              </a:defRPr>
            </a:lvl1pPr>
          </a:lstStyle>
          <a:p>
            <a:pPr marL="109538" indent="-109538" algn="l">
              <a:buFont typeface="Wingdings" panose="05000000000000000000" pitchFamily="2" charset="2"/>
              <a:buChar char="§"/>
            </a:pPr>
            <a:r>
              <a:rPr lang="en-US" altLang="zh-CN" sz="900" dirty="0">
                <a:solidFill>
                  <a:sysClr val="windowText" lastClr="000000"/>
                </a:solidFill>
                <a:latin typeface="Calibri" panose="020F0502020204030204" pitchFamily="34" charset="0"/>
                <a:ea typeface="華康簡楷" pitchFamily="65" charset="-120"/>
                <a:cs typeface="Calibri" panose="020F0502020204030204" pitchFamily="34" charset="0"/>
              </a:rPr>
              <a:t>Driven by the expansion and increased online penetration of the China retail market, the eCommerce market has experienced substantial growth from a total gross merchandise value of RMB1.9 trillion in 2013 to RMB8.0 trillion in 2018, representing a CAGR of 33.3%, and is expected to reach RMB11.3 trillion by 2020, further growing 41.3% as of 2018</a:t>
            </a:r>
          </a:p>
          <a:p>
            <a:pPr marL="109538" indent="-109538" algn="l">
              <a:buFont typeface="Wingdings" panose="05000000000000000000" pitchFamily="2" charset="2"/>
              <a:buChar char="§"/>
            </a:pPr>
            <a:r>
              <a:rPr lang="en-US" altLang="zh-CN" sz="900" dirty="0">
                <a:solidFill>
                  <a:sysClr val="windowText" lastClr="000000"/>
                </a:solidFill>
                <a:latin typeface="Calibri" panose="020F0502020204030204" pitchFamily="34" charset="0"/>
                <a:ea typeface="華康簡楷" pitchFamily="65" charset="-120"/>
                <a:cs typeface="Calibri" panose="020F0502020204030204" pitchFamily="34" charset="0"/>
              </a:rPr>
              <a:t>The online shopping population in China has also expanded throughout the years, number of online shoppers has more than doubled since 2013 to 2018, rising from 302 million to 610 million, accounting for 73.6% of total internet user in China</a:t>
            </a:r>
          </a:p>
          <a:p>
            <a:pPr marL="109538" indent="-109538" algn="l">
              <a:buFont typeface="Wingdings" panose="05000000000000000000" pitchFamily="2" charset="2"/>
              <a:buChar char="§"/>
            </a:pPr>
            <a:r>
              <a:rPr lang="en-US" altLang="zh-CN" sz="900" dirty="0">
                <a:solidFill>
                  <a:sysClr val="windowText" lastClr="000000"/>
                </a:solidFill>
                <a:latin typeface="Calibri" panose="020F0502020204030204" pitchFamily="34" charset="0"/>
                <a:ea typeface="華康簡楷" pitchFamily="65" charset="-120"/>
                <a:cs typeface="Calibri" panose="020F0502020204030204" pitchFamily="34" charset="0"/>
              </a:rPr>
              <a:t>With more than half of the revenue coming from China, the continued rise of eCommerce will further boost LF Logistics’ growth in revenue</a:t>
            </a:r>
          </a:p>
        </p:txBody>
      </p:sp>
      <p:sp>
        <p:nvSpPr>
          <p:cNvPr id="23" name="Line 50">
            <a:extLst>
              <a:ext uri="{FF2B5EF4-FFF2-40B4-BE49-F238E27FC236}">
                <a16:creationId xmlns:a16="http://schemas.microsoft.com/office/drawing/2014/main" id="{8A0C7447-FB76-4E1D-A55F-DDA7F5540B36}"/>
              </a:ext>
            </a:extLst>
          </p:cNvPr>
          <p:cNvSpPr>
            <a:spLocks noChangeShapeType="1"/>
          </p:cNvSpPr>
          <p:nvPr/>
        </p:nvSpPr>
        <p:spPr bwMode="gray">
          <a:xfrm>
            <a:off x="6033479" y="1183628"/>
            <a:ext cx="0" cy="2066544"/>
          </a:xfrm>
          <a:prstGeom prst="line">
            <a:avLst/>
          </a:prstGeom>
          <a:noFill/>
          <a:ln w="9525">
            <a:solidFill>
              <a:schemeClr val="tx1">
                <a:lumMod val="65000"/>
                <a:lumOff val="35000"/>
              </a:schemeClr>
            </a:solidFill>
            <a:prstDash val="dash"/>
            <a:round/>
            <a:headEnd/>
            <a:tailEnd/>
          </a:ln>
          <a:effectLst/>
        </p:spPr>
        <p:txBody>
          <a:bodyPr wrap="none" anchor="ctr"/>
          <a:lstStyle/>
          <a:p>
            <a:pPr>
              <a:buClr>
                <a:schemeClr val="accent1"/>
              </a:buClr>
              <a:buFont typeface="Wingdings" pitchFamily="2" charset="2"/>
              <a:buNone/>
              <a:defRPr/>
            </a:pPr>
            <a:endParaRPr lang="en-US" sz="900" u="none" dirty="0">
              <a:solidFill>
                <a:srgbClr val="000000"/>
              </a:solidFill>
              <a:latin typeface="+mn-lt"/>
            </a:endParaRPr>
          </a:p>
        </p:txBody>
      </p:sp>
      <p:graphicFrame>
        <p:nvGraphicFramePr>
          <p:cNvPr id="24" name="Chart 23">
            <a:extLst>
              <a:ext uri="{FF2B5EF4-FFF2-40B4-BE49-F238E27FC236}">
                <a16:creationId xmlns:a16="http://schemas.microsoft.com/office/drawing/2014/main" id="{B4C47A84-BB41-4AE0-9999-1B8E8CC4337F}"/>
              </a:ext>
            </a:extLst>
          </p:cNvPr>
          <p:cNvGraphicFramePr/>
          <p:nvPr>
            <p:extLst>
              <p:ext uri="{D42A27DB-BD31-4B8C-83A1-F6EECF244321}">
                <p14:modId xmlns:p14="http://schemas.microsoft.com/office/powerpoint/2010/main" val="3109046009"/>
              </p:ext>
            </p:extLst>
          </p:nvPr>
        </p:nvGraphicFramePr>
        <p:xfrm>
          <a:off x="3513050" y="3707127"/>
          <a:ext cx="2135269" cy="2297153"/>
        </p:xfrm>
        <a:graphic>
          <a:graphicData uri="http://schemas.openxmlformats.org/drawingml/2006/chart">
            <c:chart xmlns:c="http://schemas.openxmlformats.org/drawingml/2006/chart" xmlns:r="http://schemas.openxmlformats.org/officeDocument/2006/relationships" r:id="rId4"/>
          </a:graphicData>
        </a:graphic>
      </p:graphicFrame>
      <p:sp>
        <p:nvSpPr>
          <p:cNvPr id="25" name="Text Box 2589">
            <a:extLst>
              <a:ext uri="{FF2B5EF4-FFF2-40B4-BE49-F238E27FC236}">
                <a16:creationId xmlns:a16="http://schemas.microsoft.com/office/drawing/2014/main" id="{675BF9F0-F8A2-4973-A172-4ADCA4408E55}"/>
              </a:ext>
            </a:extLst>
          </p:cNvPr>
          <p:cNvSpPr txBox="1">
            <a:spLocks noChangeArrowheads="1"/>
          </p:cNvSpPr>
          <p:nvPr/>
        </p:nvSpPr>
        <p:spPr bwMode="gray">
          <a:xfrm>
            <a:off x="3684500" y="3707128"/>
            <a:ext cx="731520" cy="107722"/>
          </a:xfrm>
          <a:prstGeom prst="rect">
            <a:avLst/>
          </a:prstGeom>
          <a:noFill/>
          <a:ln w="9525" cap="flat" cmpd="sng" algn="ctr">
            <a:noFill/>
            <a:prstDash val="solid"/>
            <a:headEnd/>
            <a:tailEnd/>
          </a:ln>
          <a:effectLst>
            <a:outerShdw blurRad="40000" dist="23000" dir="5400000" rotWithShape="0">
              <a:srgbClr val="000000">
                <a:alpha val="35000"/>
              </a:srgbClr>
            </a:outerShdw>
          </a:effectLst>
        </p:spPr>
        <p:txBody>
          <a:bodyPr wrap="square" lIns="0" tIns="0" rIns="0" bIns="0" anchor="t" anchorCtr="0">
            <a:spAutoFit/>
          </a:bodyPr>
          <a:lstStyle>
            <a:defPPr>
              <a:defRPr lang="en-US"/>
            </a:defPPr>
            <a:lvl1pPr marL="227013" lvl="0" indent="-227013" algn="just" defTabSz="457200" eaLnBrk="0" hangingPunct="0">
              <a:buClr>
                <a:srgbClr val="BE050A"/>
              </a:buClr>
              <a:buFont typeface="Wingdings" pitchFamily="2" charset="2"/>
              <a:buChar char="n"/>
              <a:tabLst>
                <a:tab pos="1371600" algn="l"/>
              </a:tabLst>
              <a:defRPr sz="1000" kern="0">
                <a:ea typeface="+mj-ea"/>
              </a:defRPr>
            </a:lvl1pPr>
          </a:lstStyle>
          <a:p>
            <a:pPr marL="0" indent="0" algn="l">
              <a:buNone/>
            </a:pPr>
            <a:r>
              <a:rPr lang="en-US" altLang="zh-CN" sz="700" dirty="0">
                <a:solidFill>
                  <a:sysClr val="windowText" lastClr="000000"/>
                </a:solidFill>
                <a:latin typeface="Calibri" panose="020F0502020204030204" pitchFamily="34" charset="0"/>
                <a:ea typeface="華康簡楷" pitchFamily="65" charset="-120"/>
                <a:cs typeface="Calibri" panose="020F0502020204030204" pitchFamily="34" charset="0"/>
              </a:rPr>
              <a:t>GMV, </a:t>
            </a:r>
            <a:r>
              <a:rPr lang="en-US" altLang="zh-CN" sz="700" dirty="0" err="1">
                <a:solidFill>
                  <a:sysClr val="windowText" lastClr="000000"/>
                </a:solidFill>
                <a:latin typeface="Calibri" panose="020F0502020204030204" pitchFamily="34" charset="0"/>
                <a:ea typeface="華康簡楷" pitchFamily="65" charset="-120"/>
                <a:cs typeface="Calibri" panose="020F0502020204030204" pitchFamily="34" charset="0"/>
              </a:rPr>
              <a:t>USD’b</a:t>
            </a:r>
            <a:endParaRPr lang="en-US" altLang="zh-CN" sz="700" dirty="0">
              <a:solidFill>
                <a:sysClr val="windowText" lastClr="000000"/>
              </a:solidFill>
              <a:latin typeface="Calibri" panose="020F0502020204030204" pitchFamily="34" charset="0"/>
              <a:ea typeface="華康簡楷" pitchFamily="65" charset="-120"/>
              <a:cs typeface="Calibri" panose="020F0502020204030204" pitchFamily="34" charset="0"/>
            </a:endParaRPr>
          </a:p>
        </p:txBody>
      </p:sp>
      <p:sp>
        <p:nvSpPr>
          <p:cNvPr id="26" name="Arrow: Chevron 25">
            <a:extLst>
              <a:ext uri="{FF2B5EF4-FFF2-40B4-BE49-F238E27FC236}">
                <a16:creationId xmlns:a16="http://schemas.microsoft.com/office/drawing/2014/main" id="{84673A34-9F14-42DC-AA0C-5E83DD92B1A5}"/>
              </a:ext>
            </a:extLst>
          </p:cNvPr>
          <p:cNvSpPr/>
          <p:nvPr/>
        </p:nvSpPr>
        <p:spPr bwMode="gray">
          <a:xfrm rot="-1080000">
            <a:off x="3800898" y="5097011"/>
            <a:ext cx="1024128" cy="91440"/>
          </a:xfrm>
          <a:prstGeom prst="chevron">
            <a:avLst/>
          </a:prstGeom>
          <a:gradFill flip="none" rotWithShape="1">
            <a:gsLst>
              <a:gs pos="0">
                <a:schemeClr val="bg2">
                  <a:lumMod val="60000"/>
                  <a:lumOff val="40000"/>
                </a:schemeClr>
              </a:gs>
              <a:gs pos="80000">
                <a:srgbClr val="EAEAEA"/>
              </a:gs>
              <a:gs pos="100000">
                <a:srgbClr val="EAEAEA"/>
              </a:gs>
            </a:gsLst>
            <a:lin ang="10800000" scaled="1"/>
            <a:tileRect/>
          </a:gradFill>
          <a:ln>
            <a:noFill/>
            <a:round/>
            <a:headEnd/>
            <a:tailEnd/>
          </a:ln>
        </p:spPr>
        <p:style>
          <a:lnRef idx="2">
            <a:schemeClr val="accent1"/>
          </a:lnRef>
          <a:fillRef idx="1">
            <a:schemeClr val="lt1"/>
          </a:fillRef>
          <a:effectRef idx="0">
            <a:schemeClr val="accent1"/>
          </a:effectRef>
          <a:fontRef idx="minor">
            <a:schemeClr val="dk1"/>
          </a:fontRef>
        </p:style>
        <p:txBody>
          <a:bodyPr lIns="45720" tIns="0" rIns="45720" rtlCol="0" anchor="ctr"/>
          <a:lstStyle/>
          <a:p>
            <a:pPr marL="231775" indent="-112713" algn="ctr">
              <a:spcAft>
                <a:spcPts val="600"/>
              </a:spcAft>
              <a:buClr>
                <a:schemeClr val="accent1"/>
              </a:buClr>
              <a:buSzPct val="80000"/>
              <a:buFont typeface="Wingdings" pitchFamily="2" charset="2"/>
              <a:buChar char="§"/>
            </a:pPr>
            <a:endParaRPr lang="en-US" sz="1000" b="1" u="none" dirty="0"/>
          </a:p>
        </p:txBody>
      </p:sp>
      <p:sp>
        <p:nvSpPr>
          <p:cNvPr id="27" name="Text Box 2589">
            <a:extLst>
              <a:ext uri="{FF2B5EF4-FFF2-40B4-BE49-F238E27FC236}">
                <a16:creationId xmlns:a16="http://schemas.microsoft.com/office/drawing/2014/main" id="{E66F11CB-2C82-46C6-8619-48CBB30B11A2}"/>
              </a:ext>
            </a:extLst>
          </p:cNvPr>
          <p:cNvSpPr txBox="1">
            <a:spLocks noChangeArrowheads="1"/>
          </p:cNvSpPr>
          <p:nvPr/>
        </p:nvSpPr>
        <p:spPr bwMode="gray">
          <a:xfrm rot="-1080000">
            <a:off x="3947202" y="4953227"/>
            <a:ext cx="731520" cy="123111"/>
          </a:xfrm>
          <a:prstGeom prst="rect">
            <a:avLst/>
          </a:prstGeom>
          <a:noFill/>
          <a:ln w="9525" cap="flat" cmpd="sng" algn="ctr">
            <a:noFill/>
            <a:prstDash val="solid"/>
            <a:headEnd/>
            <a:tailEnd/>
          </a:ln>
          <a:effectLst>
            <a:outerShdw blurRad="40000" dist="23000" dir="5400000" rotWithShape="0">
              <a:srgbClr val="000000">
                <a:alpha val="35000"/>
              </a:srgbClr>
            </a:outerShdw>
          </a:effectLst>
        </p:spPr>
        <p:txBody>
          <a:bodyPr wrap="square" lIns="0" tIns="0" rIns="0" bIns="0" anchor="t" anchorCtr="0">
            <a:spAutoFit/>
          </a:bodyPr>
          <a:lstStyle>
            <a:defPPr>
              <a:defRPr lang="en-US"/>
            </a:defPPr>
            <a:lvl1pPr marL="227013" lvl="0" indent="-227013" algn="just" defTabSz="457200" eaLnBrk="0" hangingPunct="0">
              <a:buClr>
                <a:srgbClr val="BE050A"/>
              </a:buClr>
              <a:buFont typeface="Wingdings" pitchFamily="2" charset="2"/>
              <a:buChar char="n"/>
              <a:tabLst>
                <a:tab pos="1371600" algn="l"/>
              </a:tabLst>
              <a:defRPr sz="1000" kern="0">
                <a:ea typeface="+mj-ea"/>
              </a:defRPr>
            </a:lvl1pPr>
          </a:lstStyle>
          <a:p>
            <a:pPr marL="0" indent="0" algn="ctr">
              <a:buNone/>
            </a:pP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CAGR: 61.7%</a:t>
            </a:r>
          </a:p>
        </p:txBody>
      </p:sp>
      <p:sp>
        <p:nvSpPr>
          <p:cNvPr id="28" name="Line 50">
            <a:extLst>
              <a:ext uri="{FF2B5EF4-FFF2-40B4-BE49-F238E27FC236}">
                <a16:creationId xmlns:a16="http://schemas.microsoft.com/office/drawing/2014/main" id="{9398B5AD-01B5-4156-99B3-01B2D6BEB940}"/>
              </a:ext>
            </a:extLst>
          </p:cNvPr>
          <p:cNvSpPr>
            <a:spLocks noChangeShapeType="1"/>
          </p:cNvSpPr>
          <p:nvPr/>
        </p:nvSpPr>
        <p:spPr bwMode="gray">
          <a:xfrm>
            <a:off x="5052404" y="3889227"/>
            <a:ext cx="0" cy="2011680"/>
          </a:xfrm>
          <a:prstGeom prst="line">
            <a:avLst/>
          </a:prstGeom>
          <a:noFill/>
          <a:ln w="9525">
            <a:solidFill>
              <a:schemeClr val="tx1">
                <a:lumMod val="65000"/>
                <a:lumOff val="35000"/>
              </a:schemeClr>
            </a:solidFill>
            <a:prstDash val="dash"/>
            <a:round/>
            <a:headEnd/>
            <a:tailEnd/>
          </a:ln>
          <a:effectLst/>
        </p:spPr>
        <p:txBody>
          <a:bodyPr wrap="none" anchor="ctr"/>
          <a:lstStyle/>
          <a:p>
            <a:pPr>
              <a:buClr>
                <a:schemeClr val="accent1"/>
              </a:buClr>
              <a:buFont typeface="Wingdings" pitchFamily="2" charset="2"/>
              <a:buNone/>
              <a:defRPr/>
            </a:pPr>
            <a:endParaRPr lang="en-US" sz="900" u="none" dirty="0">
              <a:solidFill>
                <a:srgbClr val="000000"/>
              </a:solidFill>
              <a:latin typeface="+mn-lt"/>
            </a:endParaRPr>
          </a:p>
        </p:txBody>
      </p:sp>
      <p:sp>
        <p:nvSpPr>
          <p:cNvPr id="29" name="Text Box 2589">
            <a:extLst>
              <a:ext uri="{FF2B5EF4-FFF2-40B4-BE49-F238E27FC236}">
                <a16:creationId xmlns:a16="http://schemas.microsoft.com/office/drawing/2014/main" id="{11D53F21-5D49-4071-A365-7C35E4878458}"/>
              </a:ext>
            </a:extLst>
          </p:cNvPr>
          <p:cNvSpPr txBox="1">
            <a:spLocks noChangeArrowheads="1"/>
          </p:cNvSpPr>
          <p:nvPr/>
        </p:nvSpPr>
        <p:spPr bwMode="gray">
          <a:xfrm>
            <a:off x="5545453" y="3707128"/>
            <a:ext cx="1737360" cy="2354491"/>
          </a:xfrm>
          <a:prstGeom prst="rect">
            <a:avLst/>
          </a:prstGeom>
          <a:noFill/>
          <a:ln w="9525" cap="flat" cmpd="sng" algn="ctr">
            <a:noFill/>
            <a:prstDash val="solid"/>
            <a:headEnd/>
            <a:tailEnd/>
          </a:ln>
          <a:effectLst>
            <a:outerShdw blurRad="40000" dist="23000" dir="5400000" rotWithShape="0">
              <a:srgbClr val="000000">
                <a:alpha val="35000"/>
              </a:srgbClr>
            </a:outerShdw>
          </a:effectLst>
        </p:spPr>
        <p:txBody>
          <a:bodyPr wrap="square" lIns="0" tIns="0" rIns="0" bIns="0" anchor="t" anchorCtr="0">
            <a:spAutoFit/>
          </a:bodyPr>
          <a:lstStyle>
            <a:defPPr>
              <a:defRPr lang="en-US"/>
            </a:defPPr>
            <a:lvl1pPr marL="227013" lvl="0" indent="-227013" algn="just" defTabSz="457200" eaLnBrk="0" hangingPunct="0">
              <a:buClr>
                <a:srgbClr val="BE050A"/>
              </a:buClr>
              <a:buFont typeface="Wingdings" pitchFamily="2" charset="2"/>
              <a:buChar char="n"/>
              <a:tabLst>
                <a:tab pos="1371600" algn="l"/>
              </a:tabLst>
              <a:defRPr sz="1000" kern="0">
                <a:ea typeface="+mj-ea"/>
              </a:defRPr>
            </a:lvl1pPr>
          </a:lstStyle>
          <a:p>
            <a:pPr marL="109538" indent="-109538" algn="l">
              <a:buFont typeface="Wingdings" panose="05000000000000000000" pitchFamily="2" charset="2"/>
              <a:buChar char="§"/>
            </a:pPr>
            <a:r>
              <a:rPr lang="en-US" altLang="zh-CN" sz="900" dirty="0">
                <a:solidFill>
                  <a:sysClr val="windowText" lastClr="000000"/>
                </a:solidFill>
                <a:latin typeface="Calibri" panose="020F0502020204030204" pitchFamily="34" charset="0"/>
                <a:ea typeface="華康簡楷" pitchFamily="65" charset="-120"/>
                <a:cs typeface="Calibri" panose="020F0502020204030204" pitchFamily="34" charset="0"/>
              </a:rPr>
              <a:t>The gross merchandise value of South East Asia region, namely collectively Indonesia, Malaysia, the Philippines, Singapore, Thailand, and Vietnam, has grown more than 4 times since 2015, representing a CAGR of 61.7%</a:t>
            </a:r>
          </a:p>
          <a:p>
            <a:pPr marL="109538" indent="-109538" algn="l">
              <a:buFont typeface="Wingdings" panose="05000000000000000000" pitchFamily="2" charset="2"/>
              <a:buChar char="§"/>
            </a:pPr>
            <a:r>
              <a:rPr lang="en-US" altLang="zh-CN" sz="900" dirty="0">
                <a:solidFill>
                  <a:sysClr val="windowText" lastClr="000000"/>
                </a:solidFill>
                <a:latin typeface="Calibri" panose="020F0502020204030204" pitchFamily="34" charset="0"/>
                <a:ea typeface="華康簡楷" pitchFamily="65" charset="-120"/>
                <a:cs typeface="Calibri" panose="020F0502020204030204" pitchFamily="34" charset="0"/>
              </a:rPr>
              <a:t>Complemented by the faster and more affordable mobile internet access as well as  increased customer trust in eCommerce in the region, gross merchandise value is expected to exceed USD100 billion by 2025</a:t>
            </a:r>
          </a:p>
          <a:p>
            <a:pPr marL="109538" indent="-109538" algn="l">
              <a:buFont typeface="Wingdings" panose="05000000000000000000" pitchFamily="2" charset="2"/>
              <a:buChar char="§"/>
            </a:pPr>
            <a:r>
              <a:rPr lang="en-US" altLang="zh-CN" sz="900" dirty="0">
                <a:solidFill>
                  <a:sysClr val="windowText" lastClr="000000"/>
                </a:solidFill>
                <a:latin typeface="Calibri" panose="020F0502020204030204" pitchFamily="34" charset="0"/>
                <a:ea typeface="華康簡楷" pitchFamily="65" charset="-120"/>
                <a:cs typeface="Calibri" panose="020F0502020204030204" pitchFamily="34" charset="0"/>
              </a:rPr>
              <a:t>The region will continue to demonstrate robust growth which shall benefit LF Logistics</a:t>
            </a:r>
          </a:p>
        </p:txBody>
      </p:sp>
      <p:sp>
        <p:nvSpPr>
          <p:cNvPr id="30" name="Text Box 2589">
            <a:extLst>
              <a:ext uri="{FF2B5EF4-FFF2-40B4-BE49-F238E27FC236}">
                <a16:creationId xmlns:a16="http://schemas.microsoft.com/office/drawing/2014/main" id="{E691FB74-1CEB-48AC-88E7-47A571642DE7}"/>
              </a:ext>
            </a:extLst>
          </p:cNvPr>
          <p:cNvSpPr txBox="1">
            <a:spLocks noChangeArrowheads="1"/>
          </p:cNvSpPr>
          <p:nvPr/>
        </p:nvSpPr>
        <p:spPr bwMode="gray">
          <a:xfrm>
            <a:off x="7436473" y="3707128"/>
            <a:ext cx="2084832" cy="2354491"/>
          </a:xfrm>
          <a:prstGeom prst="rect">
            <a:avLst/>
          </a:prstGeom>
          <a:noFill/>
          <a:ln w="9525" cap="flat" cmpd="sng" algn="ctr">
            <a:noFill/>
            <a:prstDash val="solid"/>
            <a:headEnd/>
            <a:tailEnd/>
          </a:ln>
          <a:effectLst>
            <a:outerShdw blurRad="40000" dist="23000" dir="5400000" rotWithShape="0">
              <a:srgbClr val="000000">
                <a:alpha val="35000"/>
              </a:srgbClr>
            </a:outerShdw>
          </a:effectLst>
        </p:spPr>
        <p:txBody>
          <a:bodyPr wrap="square" lIns="0" tIns="0" rIns="0" bIns="0" anchor="t" anchorCtr="0">
            <a:spAutoFit/>
          </a:bodyPr>
          <a:lstStyle>
            <a:defPPr>
              <a:defRPr lang="en-US"/>
            </a:defPPr>
            <a:lvl1pPr marL="227013" lvl="0" indent="-227013" algn="just" defTabSz="457200" eaLnBrk="0" hangingPunct="0">
              <a:buClr>
                <a:srgbClr val="BE050A"/>
              </a:buClr>
              <a:buFont typeface="Wingdings" pitchFamily="2" charset="2"/>
              <a:buChar char="n"/>
              <a:tabLst>
                <a:tab pos="1371600" algn="l"/>
              </a:tabLst>
              <a:defRPr sz="1000" kern="0">
                <a:ea typeface="+mj-ea"/>
              </a:defRPr>
            </a:lvl1pPr>
          </a:lstStyle>
          <a:p>
            <a:pPr marL="109538" indent="-109538" algn="l">
              <a:buFont typeface="Wingdings" panose="05000000000000000000" pitchFamily="2" charset="2"/>
              <a:buChar char="§"/>
            </a:pPr>
            <a:r>
              <a:rPr lang="en-US" altLang="zh-CN" sz="900" dirty="0">
                <a:solidFill>
                  <a:sysClr val="windowText" lastClr="000000"/>
                </a:solidFill>
                <a:latin typeface="Calibri" panose="020F0502020204030204" pitchFamily="34" charset="0"/>
                <a:ea typeface="華康簡楷" pitchFamily="65" charset="-120"/>
                <a:cs typeface="Calibri" panose="020F0502020204030204" pitchFamily="34" charset="0"/>
              </a:rPr>
              <a:t>Social commerce has became increasingly popular, especially in China, whereby traditional eCommerce fulfilled user demand through search, social commerce stimulates user demand through social networking and sharing</a:t>
            </a:r>
          </a:p>
          <a:p>
            <a:pPr marL="109538" indent="-109538" algn="l">
              <a:buFont typeface="Wingdings" panose="05000000000000000000" pitchFamily="2" charset="2"/>
              <a:buChar char="§"/>
            </a:pPr>
            <a:r>
              <a:rPr lang="en-US" altLang="zh-CN" sz="900" dirty="0">
                <a:solidFill>
                  <a:sysClr val="windowText" lastClr="000000"/>
                </a:solidFill>
                <a:latin typeface="Calibri" panose="020F0502020204030204" pitchFamily="34" charset="0"/>
                <a:ea typeface="華康簡楷" pitchFamily="65" charset="-120"/>
                <a:cs typeface="Calibri" panose="020F0502020204030204" pitchFamily="34" charset="0"/>
              </a:rPr>
              <a:t>The online group buying market has leveraged on social commerce to provide offers at reduced prices through its unique “team purchase” model, in turn boosting sales volume</a:t>
            </a:r>
          </a:p>
          <a:p>
            <a:pPr marL="109538" indent="-109538" algn="l">
              <a:buFont typeface="Wingdings" panose="05000000000000000000" pitchFamily="2" charset="2"/>
              <a:buChar char="§"/>
            </a:pPr>
            <a:r>
              <a:rPr lang="en-US" altLang="zh-CN" sz="900" dirty="0">
                <a:solidFill>
                  <a:sysClr val="windowText" lastClr="000000"/>
                </a:solidFill>
                <a:latin typeface="Calibri" panose="020F0502020204030204" pitchFamily="34" charset="0"/>
                <a:ea typeface="華康簡楷" pitchFamily="65" charset="-120"/>
                <a:cs typeface="Calibri" panose="020F0502020204030204" pitchFamily="34" charset="0"/>
              </a:rPr>
              <a:t>The rise of social commerce benefits the logistics industry as parcel volume surges, accompanied by the increased cross border logistics, LF Logistics shall benefit as the trend penetrates the retail sector of China</a:t>
            </a:r>
          </a:p>
        </p:txBody>
      </p:sp>
    </p:spTree>
    <p:extLst>
      <p:ext uri="{BB962C8B-B14F-4D97-AF65-F5344CB8AC3E}">
        <p14:creationId xmlns:p14="http://schemas.microsoft.com/office/powerpoint/2010/main" val="1443536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lide Number Placeholder 30"/>
          <p:cNvSpPr>
            <a:spLocks noGrp="1"/>
          </p:cNvSpPr>
          <p:nvPr>
            <p:ph type="sldNum" sz="quarter" idx="4"/>
          </p:nvPr>
        </p:nvSpPr>
        <p:spPr/>
        <p:txBody>
          <a:bodyPr/>
          <a:lstStyle/>
          <a:p>
            <a:pPr algn="r" eaLnBrk="0" fontAlgn="base" hangingPunct="0">
              <a:spcBef>
                <a:spcPct val="50000"/>
              </a:spcBef>
              <a:spcAft>
                <a:spcPct val="0"/>
              </a:spcAft>
              <a:defRPr/>
            </a:pPr>
            <a:fld id="{90FB4F5F-C942-40B6-AF50-16AA6C86747A}" type="slidenum">
              <a:rPr lang="en-US" altLang="en-US" sz="800">
                <a:solidFill>
                  <a:srgbClr val="000000"/>
                </a:solidFill>
                <a:latin typeface="Calibri"/>
                <a:ea typeface="DFKaiShu-GB5"/>
                <a:cs typeface="DFKaiShu-GB5"/>
              </a:rPr>
              <a:pPr algn="r" eaLnBrk="0" fontAlgn="base" hangingPunct="0">
                <a:spcBef>
                  <a:spcPct val="50000"/>
                </a:spcBef>
                <a:spcAft>
                  <a:spcPct val="0"/>
                </a:spcAft>
                <a:defRPr/>
              </a:pPr>
              <a:t>4</a:t>
            </a:fld>
            <a:endParaRPr lang="en-US" altLang="en-US" sz="800" dirty="0">
              <a:solidFill>
                <a:srgbClr val="000000"/>
              </a:solidFill>
              <a:latin typeface="Calibri"/>
              <a:ea typeface="DFKaiShu-GB5"/>
              <a:cs typeface="DFKaiShu-GB5"/>
            </a:endParaRPr>
          </a:p>
        </p:txBody>
      </p:sp>
      <p:sp>
        <p:nvSpPr>
          <p:cNvPr id="2" name="Title 1"/>
          <p:cNvSpPr>
            <a:spLocks noGrp="1"/>
          </p:cNvSpPr>
          <p:nvPr>
            <p:ph type="title"/>
          </p:nvPr>
        </p:nvSpPr>
        <p:spPr/>
        <p:txBody>
          <a:bodyPr/>
          <a:lstStyle/>
          <a:p>
            <a:r>
              <a:rPr lang="en-US" dirty="0"/>
              <a:t>Innovative Digitalization to Create Competitive Advantage over Competitors</a:t>
            </a:r>
          </a:p>
        </p:txBody>
      </p:sp>
      <p:sp>
        <p:nvSpPr>
          <p:cNvPr id="15" name="Text Placeholder 1">
            <a:extLst>
              <a:ext uri="{FF2B5EF4-FFF2-40B4-BE49-F238E27FC236}">
                <a16:creationId xmlns:a16="http://schemas.microsoft.com/office/drawing/2014/main" id="{88C60AD8-1090-46AE-A7FE-F9EFC11BCC06}"/>
              </a:ext>
            </a:extLst>
          </p:cNvPr>
          <p:cNvSpPr txBox="1">
            <a:spLocks/>
          </p:cNvSpPr>
          <p:nvPr/>
        </p:nvSpPr>
        <p:spPr bwMode="gray">
          <a:xfrm>
            <a:off x="374118" y="6077449"/>
            <a:ext cx="9208008" cy="107722"/>
          </a:xfrm>
          <a:prstGeom prst="rect">
            <a:avLst/>
          </a:prstGeom>
          <a:noFill/>
          <a:ln w="9525">
            <a:noFill/>
            <a:miter lim="800000"/>
            <a:headEnd/>
            <a:tailEnd/>
          </a:ln>
        </p:spPr>
        <p:txBody>
          <a:bodyPr vert="horz" wrap="square" lIns="0" tIns="0" rIns="0" bIns="0" numCol="1" anchor="b" anchorCtr="0" compatLnSpc="1">
            <a:prstTxWarp prst="textNoShape">
              <a:avLst/>
            </a:prstTxWarp>
            <a:spAutoFit/>
          </a:bodyPr>
          <a:lstStyle>
            <a:lvl1pPr marL="228600" indent="-228600" algn="l" rtl="0" eaLnBrk="1" fontAlgn="base" hangingPunct="1">
              <a:spcBef>
                <a:spcPct val="20000"/>
              </a:spcBef>
              <a:spcAft>
                <a:spcPct val="0"/>
              </a:spcAft>
              <a:buClr>
                <a:schemeClr val="accent1"/>
              </a:buClr>
              <a:buFont typeface="Wingdings" pitchFamily="2" charset="2"/>
              <a:buChar char="§"/>
              <a:defRPr sz="1600">
                <a:solidFill>
                  <a:schemeClr val="tx1"/>
                </a:solidFill>
                <a:latin typeface="+mn-lt"/>
                <a:ea typeface="+mn-ea"/>
                <a:cs typeface="+mn-cs"/>
              </a:defRPr>
            </a:lvl1pPr>
            <a:lvl2pPr marL="685800" indent="-228600" algn="l" rtl="0" eaLnBrk="1" fontAlgn="base" hangingPunct="1">
              <a:spcBef>
                <a:spcPct val="20000"/>
              </a:spcBef>
              <a:spcAft>
                <a:spcPct val="0"/>
              </a:spcAft>
              <a:buClr>
                <a:schemeClr val="accent2"/>
              </a:buClr>
              <a:buChar char="•"/>
              <a:defRPr sz="1600">
                <a:solidFill>
                  <a:schemeClr val="tx1"/>
                </a:solidFill>
                <a:latin typeface="+mn-lt"/>
              </a:defRPr>
            </a:lvl2pPr>
            <a:lvl3pPr marL="1143000" indent="-228600" algn="l" rtl="0" eaLnBrk="1" fontAlgn="base" hangingPunct="1">
              <a:spcBef>
                <a:spcPct val="20000"/>
              </a:spcBef>
              <a:spcAft>
                <a:spcPct val="0"/>
              </a:spcAft>
              <a:buClr>
                <a:schemeClr val="hlink"/>
              </a:buClr>
              <a:buChar char="o"/>
              <a:defRPr sz="1600">
                <a:solidFill>
                  <a:schemeClr val="tx1"/>
                </a:solidFill>
                <a:latin typeface="+mn-lt"/>
              </a:defRPr>
            </a:lvl3pPr>
            <a:lvl4pPr marL="1600200" indent="-228600" algn="l" rtl="0" eaLnBrk="1" fontAlgn="base" hangingPunct="1">
              <a:spcBef>
                <a:spcPct val="20000"/>
              </a:spcBef>
              <a:spcAft>
                <a:spcPct val="0"/>
              </a:spcAft>
              <a:buChar char="–"/>
              <a:defRPr sz="1600">
                <a:solidFill>
                  <a:schemeClr val="tx1"/>
                </a:solidFill>
                <a:latin typeface="+mn-lt"/>
              </a:defRPr>
            </a:lvl4pPr>
            <a:lvl5pPr marL="2057400" indent="-228600" algn="l" rtl="0" eaLnBrk="1" fontAlgn="base" hangingPunct="1">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pPr marL="0" indent="0">
              <a:spcBef>
                <a:spcPts val="0"/>
              </a:spcBef>
              <a:buFont typeface="Wingdings" pitchFamily="2" charset="2"/>
              <a:buNone/>
            </a:pPr>
            <a:r>
              <a:rPr lang="en-US" sz="700" i="1" kern="0" dirty="0"/>
              <a:t>Source: Company website, Hong Kong </a:t>
            </a:r>
            <a:r>
              <a:rPr lang="en-US" altLang="zh-CN" sz="700" i="1" kern="0" dirty="0"/>
              <a:t>Business magazine</a:t>
            </a:r>
            <a:endParaRPr lang="en-US" sz="700" i="1" kern="0" dirty="0"/>
          </a:p>
        </p:txBody>
      </p:sp>
      <p:sp>
        <p:nvSpPr>
          <p:cNvPr id="7" name="Line 50">
            <a:extLst>
              <a:ext uri="{FF2B5EF4-FFF2-40B4-BE49-F238E27FC236}">
                <a16:creationId xmlns:a16="http://schemas.microsoft.com/office/drawing/2014/main" id="{C8DAC369-8A1D-4102-BCDE-5A35F5CC015F}"/>
              </a:ext>
            </a:extLst>
          </p:cNvPr>
          <p:cNvSpPr>
            <a:spLocks noChangeShapeType="1"/>
          </p:cNvSpPr>
          <p:nvPr/>
        </p:nvSpPr>
        <p:spPr bwMode="gray">
          <a:xfrm>
            <a:off x="3614129" y="734657"/>
            <a:ext cx="0" cy="5257800"/>
          </a:xfrm>
          <a:prstGeom prst="line">
            <a:avLst/>
          </a:prstGeom>
          <a:noFill/>
          <a:ln w="9525">
            <a:solidFill>
              <a:schemeClr val="accent1"/>
            </a:solidFill>
            <a:round/>
            <a:headEnd/>
            <a:tailEnd/>
          </a:ln>
          <a:effectLst/>
        </p:spPr>
        <p:txBody>
          <a:bodyPr wrap="none" anchor="ctr"/>
          <a:lstStyle/>
          <a:p>
            <a:pPr>
              <a:buClr>
                <a:schemeClr val="accent1"/>
              </a:buClr>
              <a:buFont typeface="Wingdings" pitchFamily="2" charset="2"/>
              <a:buNone/>
              <a:defRPr/>
            </a:pPr>
            <a:endParaRPr lang="en-US" sz="900" u="none" dirty="0">
              <a:solidFill>
                <a:srgbClr val="000000"/>
              </a:solidFill>
              <a:latin typeface="+mn-lt"/>
            </a:endParaRPr>
          </a:p>
        </p:txBody>
      </p:sp>
      <p:sp>
        <p:nvSpPr>
          <p:cNvPr id="8" name="Text Box 2589">
            <a:extLst>
              <a:ext uri="{FF2B5EF4-FFF2-40B4-BE49-F238E27FC236}">
                <a16:creationId xmlns:a16="http://schemas.microsoft.com/office/drawing/2014/main" id="{DE2CC76E-707E-4194-B994-89A007E82A8F}"/>
              </a:ext>
            </a:extLst>
          </p:cNvPr>
          <p:cNvSpPr txBox="1">
            <a:spLocks noChangeArrowheads="1"/>
          </p:cNvSpPr>
          <p:nvPr/>
        </p:nvSpPr>
        <p:spPr bwMode="gray">
          <a:xfrm>
            <a:off x="374117" y="687032"/>
            <a:ext cx="3108960" cy="4585871"/>
          </a:xfrm>
          <a:prstGeom prst="rect">
            <a:avLst/>
          </a:prstGeom>
          <a:noFill/>
          <a:ln w="9525" cap="flat" cmpd="sng" algn="ctr">
            <a:noFill/>
            <a:prstDash val="solid"/>
            <a:headEnd/>
            <a:tailEnd/>
          </a:ln>
          <a:effectLst>
            <a:outerShdw blurRad="40000" dist="23000" dir="5400000" rotWithShape="0">
              <a:srgbClr val="000000">
                <a:alpha val="35000"/>
              </a:srgbClr>
            </a:outerShdw>
          </a:effectLst>
        </p:spPr>
        <p:txBody>
          <a:bodyPr wrap="square" lIns="91440" tIns="91440" rIns="91440" bIns="91440" anchor="t" anchorCtr="0">
            <a:spAutoFit/>
          </a:bodyPr>
          <a:lstStyle>
            <a:defPPr>
              <a:defRPr lang="en-US"/>
            </a:defPPr>
            <a:lvl1pPr marL="227013" lvl="0" indent="-227013" algn="just" defTabSz="457200" eaLnBrk="0" hangingPunct="0">
              <a:buClr>
                <a:srgbClr val="BE050A"/>
              </a:buClr>
              <a:buFont typeface="Wingdings" pitchFamily="2" charset="2"/>
              <a:buChar char="n"/>
              <a:tabLst>
                <a:tab pos="1371600" algn="l"/>
              </a:tabLst>
              <a:defRPr sz="1000" kern="0">
                <a:ea typeface="+mj-ea"/>
              </a:defRPr>
            </a:lvl1pPr>
          </a:lstStyle>
          <a:p>
            <a:pPr algn="l">
              <a:buFont typeface="Wingdings" panose="05000000000000000000" pitchFamily="2" charset="2"/>
              <a:buChar char="§"/>
            </a:pPr>
            <a:r>
              <a:rPr lang="en-US" altLang="zh-CN" sz="1100" dirty="0">
                <a:solidFill>
                  <a:sysClr val="windowText" lastClr="000000"/>
                </a:solidFill>
                <a:latin typeface="Calibri" panose="020F0502020204030204" pitchFamily="34" charset="0"/>
                <a:ea typeface="華康簡楷" pitchFamily="65" charset="-120"/>
                <a:cs typeface="Calibri" panose="020F0502020204030204" pitchFamily="34" charset="0"/>
              </a:rPr>
              <a:t>Supported by the three-year plan of the Li &amp; Fung group that emphasizes speed, innovation, and digitalization, LF Logistics engaged in exceptional technological advancement in enhancing operating efficiency, promoting data analytics, and ultimately creating value for customers</a:t>
            </a:r>
          </a:p>
          <a:p>
            <a:pPr algn="l">
              <a:buFont typeface="Wingdings" panose="05000000000000000000" pitchFamily="2" charset="2"/>
              <a:buChar char="§"/>
            </a:pPr>
            <a:r>
              <a:rPr lang="en-US" altLang="zh-CN" sz="1100" dirty="0">
                <a:solidFill>
                  <a:sysClr val="windowText" lastClr="000000"/>
                </a:solidFill>
                <a:latin typeface="Calibri" panose="020F0502020204030204" pitchFamily="34" charset="0"/>
                <a:ea typeface="華康簡楷" pitchFamily="65" charset="-120"/>
                <a:cs typeface="Calibri" panose="020F0502020204030204" pitchFamily="34" charset="0"/>
              </a:rPr>
              <a:t>In the process of digitalization, LF Logistics developed its information technology solutions, while also focused on collecting data in enhancing its supply chain analytics services, enabling its customers to draw insights from data and to subsequently effectively execute operational decisions with visibility and speed</a:t>
            </a:r>
          </a:p>
          <a:p>
            <a:pPr algn="l">
              <a:buFont typeface="Wingdings" panose="05000000000000000000" pitchFamily="2" charset="2"/>
              <a:buChar char="§"/>
            </a:pPr>
            <a:r>
              <a:rPr lang="en-US" altLang="zh-CN" sz="1100" dirty="0">
                <a:solidFill>
                  <a:sysClr val="windowText" lastClr="000000"/>
                </a:solidFill>
                <a:latin typeface="Calibri" panose="020F0502020204030204" pitchFamily="34" charset="0"/>
                <a:ea typeface="華康簡楷" pitchFamily="65" charset="-120"/>
                <a:cs typeface="Calibri" panose="020F0502020204030204" pitchFamily="34" charset="0"/>
              </a:rPr>
              <a:t>LF Logistics’ efforts in technological advancement was recognized as LF Logistics claims the Hong Kong Business Technology Excellence Award for its “Speed, Innovation, and Digitalization” project</a:t>
            </a:r>
          </a:p>
          <a:p>
            <a:pPr algn="l">
              <a:buFont typeface="Wingdings" panose="05000000000000000000" pitchFamily="2" charset="2"/>
              <a:buChar char="§"/>
            </a:pPr>
            <a:r>
              <a:rPr lang="en-US" altLang="zh-CN" sz="1100" dirty="0">
                <a:solidFill>
                  <a:sysClr val="windowText" lastClr="000000"/>
                </a:solidFill>
                <a:latin typeface="Calibri" panose="020F0502020204030204" pitchFamily="34" charset="0"/>
                <a:ea typeface="華康簡楷" pitchFamily="65" charset="-120"/>
                <a:cs typeface="Calibri" panose="020F0502020204030204" pitchFamily="34" charset="0"/>
              </a:rPr>
              <a:t>LF Logistics demonstrated speed, innovation, and digitalization by handling 8 million orders and 11.32 million units during China’s “Single’s Day” in 2018, the use of a field operations control tower as well as advanced technologies such as drones, voice and vision picking, and its customized equipment and digital platform</a:t>
            </a:r>
          </a:p>
        </p:txBody>
      </p:sp>
      <p:pic>
        <p:nvPicPr>
          <p:cNvPr id="4" name="Picture 3">
            <a:extLst>
              <a:ext uri="{FF2B5EF4-FFF2-40B4-BE49-F238E27FC236}">
                <a16:creationId xmlns:a16="http://schemas.microsoft.com/office/drawing/2014/main" id="{7CF3CF95-8189-4CB0-8AA0-E62D30D5449C}"/>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37389" y="5260937"/>
            <a:ext cx="1982417" cy="731520"/>
          </a:xfrm>
          <a:prstGeom prst="rect">
            <a:avLst/>
          </a:prstGeom>
        </p:spPr>
      </p:pic>
      <p:sp>
        <p:nvSpPr>
          <p:cNvPr id="9" name="TextBox 8">
            <a:extLst>
              <a:ext uri="{FF2B5EF4-FFF2-40B4-BE49-F238E27FC236}">
                <a16:creationId xmlns:a16="http://schemas.microsoft.com/office/drawing/2014/main" id="{D0EC3416-6E2E-4E55-B581-79F0FB30C19F}"/>
              </a:ext>
            </a:extLst>
          </p:cNvPr>
          <p:cNvSpPr txBox="1"/>
          <p:nvPr/>
        </p:nvSpPr>
        <p:spPr>
          <a:xfrm>
            <a:off x="3778797" y="2125307"/>
            <a:ext cx="2788920" cy="297444"/>
          </a:xfrm>
          <a:prstGeom prst="rect">
            <a:avLst/>
          </a:prstGeom>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w="12700">
            <a:noFill/>
          </a:ln>
        </p:spPr>
        <p:txBody>
          <a:bodyPr wrap="square" lIns="0" tIns="1828800" rIns="0" bIns="1828800" rtlCol="0" anchor="ctr" anchorCtr="0">
            <a:noAutofit/>
          </a:bodyPr>
          <a:lstStyle/>
          <a:p>
            <a:pPr algn="ctr" eaLnBrk="0" fontAlgn="base" hangingPunct="0">
              <a:spcBef>
                <a:spcPct val="50000"/>
              </a:spcBef>
              <a:spcAft>
                <a:spcPct val="0"/>
              </a:spcAft>
              <a:defRPr/>
            </a:pPr>
            <a:r>
              <a:rPr lang="en-US" sz="1000" b="1" dirty="0">
                <a:solidFill>
                  <a:srgbClr val="FFFFFF"/>
                </a:solidFill>
                <a:latin typeface="Calibri"/>
                <a:ea typeface="DFKaiShu-GB5"/>
                <a:cs typeface="DFKaiShu-GB5"/>
              </a:rPr>
              <a:t>Information Technology</a:t>
            </a:r>
            <a:endParaRPr lang="en-US" altLang="zh-CN" sz="1000" b="1" dirty="0">
              <a:solidFill>
                <a:srgbClr val="FFFFFF"/>
              </a:solidFill>
              <a:latin typeface="Calibri"/>
              <a:ea typeface="DFKaiShu-GB5"/>
              <a:cs typeface="DFKaiShu-GB5"/>
            </a:endParaRPr>
          </a:p>
        </p:txBody>
      </p:sp>
      <p:sp>
        <p:nvSpPr>
          <p:cNvPr id="13" name="TextBox 12">
            <a:extLst>
              <a:ext uri="{FF2B5EF4-FFF2-40B4-BE49-F238E27FC236}">
                <a16:creationId xmlns:a16="http://schemas.microsoft.com/office/drawing/2014/main" id="{7AEB5242-9BEE-4FB1-A3B2-184C86E382CD}"/>
              </a:ext>
            </a:extLst>
          </p:cNvPr>
          <p:cNvSpPr txBox="1"/>
          <p:nvPr/>
        </p:nvSpPr>
        <p:spPr>
          <a:xfrm>
            <a:off x="6732386" y="2125307"/>
            <a:ext cx="2788920" cy="297444"/>
          </a:xfrm>
          <a:prstGeom prst="rect">
            <a:avLst/>
          </a:prstGeom>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w="12700">
            <a:noFill/>
          </a:ln>
        </p:spPr>
        <p:txBody>
          <a:bodyPr wrap="square" lIns="0" tIns="1828800" rIns="0" bIns="1828800" rtlCol="0" anchor="ctr" anchorCtr="0">
            <a:noAutofit/>
          </a:bodyPr>
          <a:lstStyle/>
          <a:p>
            <a:pPr algn="ctr" eaLnBrk="0" fontAlgn="base" hangingPunct="0">
              <a:spcBef>
                <a:spcPct val="50000"/>
              </a:spcBef>
              <a:spcAft>
                <a:spcPct val="0"/>
              </a:spcAft>
              <a:defRPr/>
            </a:pPr>
            <a:r>
              <a:rPr lang="en-US" sz="1000" b="1" dirty="0">
                <a:solidFill>
                  <a:srgbClr val="FFFFFF"/>
                </a:solidFill>
                <a:latin typeface="Calibri"/>
                <a:ea typeface="DFKaiShu-GB5"/>
                <a:cs typeface="DFKaiShu-GB5"/>
              </a:rPr>
              <a:t>Supply Chain Analytics</a:t>
            </a:r>
            <a:endParaRPr lang="en-US" altLang="zh-CN" sz="1000" b="1" dirty="0">
              <a:solidFill>
                <a:srgbClr val="FFFFFF"/>
              </a:solidFill>
              <a:latin typeface="Calibri"/>
              <a:ea typeface="DFKaiShu-GB5"/>
              <a:cs typeface="DFKaiShu-GB5"/>
            </a:endParaRPr>
          </a:p>
        </p:txBody>
      </p:sp>
      <p:sp>
        <p:nvSpPr>
          <p:cNvPr id="14" name="Text Box 2589">
            <a:extLst>
              <a:ext uri="{FF2B5EF4-FFF2-40B4-BE49-F238E27FC236}">
                <a16:creationId xmlns:a16="http://schemas.microsoft.com/office/drawing/2014/main" id="{F6317D3D-22D0-4C15-999C-285BEB86278C}"/>
              </a:ext>
            </a:extLst>
          </p:cNvPr>
          <p:cNvSpPr txBox="1">
            <a:spLocks noChangeArrowheads="1"/>
          </p:cNvSpPr>
          <p:nvPr/>
        </p:nvSpPr>
        <p:spPr bwMode="gray">
          <a:xfrm>
            <a:off x="3778797" y="2454987"/>
            <a:ext cx="2788920" cy="3600986"/>
          </a:xfrm>
          <a:prstGeom prst="rect">
            <a:avLst/>
          </a:prstGeom>
          <a:noFill/>
          <a:ln w="9525" cap="flat" cmpd="sng" algn="ctr">
            <a:noFill/>
            <a:prstDash val="solid"/>
            <a:headEnd/>
            <a:tailEnd/>
          </a:ln>
          <a:effectLst>
            <a:outerShdw blurRad="40000" dist="23000" dir="5400000" rotWithShape="0">
              <a:srgbClr val="000000">
                <a:alpha val="35000"/>
              </a:srgbClr>
            </a:outerShdw>
          </a:effectLst>
        </p:spPr>
        <p:txBody>
          <a:bodyPr wrap="square" lIns="0" tIns="0" rIns="0" bIns="0" anchor="t" anchorCtr="0">
            <a:spAutoFit/>
          </a:bodyPr>
          <a:lstStyle>
            <a:defPPr>
              <a:defRPr lang="en-US"/>
            </a:defPPr>
            <a:lvl1pPr marL="227013" lvl="0" indent="-227013" algn="just" defTabSz="457200" eaLnBrk="0" hangingPunct="0">
              <a:buClr>
                <a:srgbClr val="BE050A"/>
              </a:buClr>
              <a:buFont typeface="Wingdings" pitchFamily="2" charset="2"/>
              <a:buChar char="n"/>
              <a:tabLst>
                <a:tab pos="1371600" algn="l"/>
              </a:tabLst>
              <a:defRPr sz="1000" kern="0">
                <a:ea typeface="+mj-ea"/>
              </a:defRPr>
            </a:lvl1pPr>
          </a:lstStyle>
          <a:p>
            <a:pPr marL="109538" indent="-109538" algn="l">
              <a:buFont typeface="Wingdings" panose="05000000000000000000" pitchFamily="2" charset="2"/>
              <a:buChar char="§"/>
            </a:pPr>
            <a:r>
              <a:rPr lang="en-US" altLang="zh-CN" sz="900" dirty="0">
                <a:solidFill>
                  <a:sysClr val="windowText" lastClr="000000"/>
                </a:solidFill>
                <a:latin typeface="Calibri" panose="020F0502020204030204" pitchFamily="34" charset="0"/>
                <a:ea typeface="華康簡楷" pitchFamily="65" charset="-120"/>
                <a:cs typeface="Calibri" panose="020F0502020204030204" pitchFamily="34" charset="0"/>
              </a:rPr>
              <a:t>The information technology solutions provided to customers aim to deliver visibility, velocity, and value, a set of tools to enhance productivity and to create unique customer solutions quickly</a:t>
            </a:r>
          </a:p>
          <a:p>
            <a:pPr marL="109538" indent="-109538" algn="l">
              <a:buFont typeface="Wingdings" panose="05000000000000000000" pitchFamily="2" charset="2"/>
              <a:buChar char="§"/>
            </a:pPr>
            <a:r>
              <a:rPr lang="en-US" altLang="zh-CN" sz="900" dirty="0">
                <a:solidFill>
                  <a:sysClr val="windowText" lastClr="000000"/>
                </a:solidFill>
                <a:latin typeface="Calibri" panose="020F0502020204030204" pitchFamily="34" charset="0"/>
                <a:ea typeface="華康簡楷" pitchFamily="65" charset="-120"/>
                <a:cs typeface="Calibri" panose="020F0502020204030204" pitchFamily="34" charset="0"/>
              </a:rPr>
              <a:t>The scalable and high-availability infrastructure covering 40 economies, 3 global data centers, more than 1,000 servers, 22,000 computers, 130 video conference sites, 14,000 IPT phones, and 37,000 email accounts supports all information technology systems being used and managed by LF Logistics</a:t>
            </a:r>
          </a:p>
          <a:p>
            <a:pPr marL="109538" indent="-109538" algn="l">
              <a:buFont typeface="Wingdings" panose="05000000000000000000" pitchFamily="2" charset="2"/>
              <a:buChar char="§"/>
            </a:pPr>
            <a:r>
              <a:rPr lang="en-US" altLang="zh-CN" sz="900" dirty="0">
                <a:solidFill>
                  <a:sysClr val="windowText" lastClr="000000"/>
                </a:solidFill>
                <a:latin typeface="Calibri" panose="020F0502020204030204" pitchFamily="34" charset="0"/>
                <a:ea typeface="華康簡楷" pitchFamily="65" charset="-120"/>
                <a:cs typeface="Calibri" panose="020F0502020204030204" pitchFamily="34" charset="0"/>
              </a:rPr>
              <a:t>Most notable applications in the portfolio are the warehouse management system, with transportation management solution, and freight forwarding solution</a:t>
            </a:r>
          </a:p>
          <a:p>
            <a:pPr marL="109538" indent="-109538" algn="l">
              <a:buFont typeface="Wingdings" panose="05000000000000000000" pitchFamily="2" charset="2"/>
              <a:buChar char="§"/>
            </a:pPr>
            <a:r>
              <a:rPr lang="en-US" altLang="zh-CN" sz="900" dirty="0">
                <a:solidFill>
                  <a:sysClr val="windowText" lastClr="000000"/>
                </a:solidFill>
                <a:latin typeface="Calibri" panose="020F0502020204030204" pitchFamily="34" charset="0"/>
                <a:ea typeface="華康簡楷" pitchFamily="65" charset="-120"/>
                <a:cs typeface="Calibri" panose="020F0502020204030204" pitchFamily="34" charset="0"/>
              </a:rPr>
              <a:t>The warehouse management system is flexible and scalable, with fully integrated system directed RF, RFID, and voice and lights solutions, enabling LF Logistics to configure and tailor solutions for customers regardless of industry and size</a:t>
            </a:r>
          </a:p>
          <a:p>
            <a:pPr marL="109538" indent="-109538" algn="l">
              <a:buFont typeface="Wingdings" panose="05000000000000000000" pitchFamily="2" charset="2"/>
              <a:buChar char="§"/>
            </a:pPr>
            <a:r>
              <a:rPr lang="en-US" altLang="zh-CN" sz="900" dirty="0">
                <a:solidFill>
                  <a:sysClr val="windowText" lastClr="000000"/>
                </a:solidFill>
                <a:latin typeface="Calibri" panose="020F0502020204030204" pitchFamily="34" charset="0"/>
                <a:ea typeface="華康簡楷" pitchFamily="65" charset="-120"/>
                <a:cs typeface="Calibri" panose="020F0502020204030204" pitchFamily="34" charset="0"/>
              </a:rPr>
              <a:t>The transportation management solution is integrated to the warehouse management which streamlines transportation planning, execution, freight payment, and process automation for all modes of transportation from full truckload to complex multiple-leg deliveries, lowers transportation costs and improves asset utilization</a:t>
            </a:r>
          </a:p>
          <a:p>
            <a:pPr marL="109538" indent="-109538" algn="l">
              <a:buFont typeface="Wingdings" panose="05000000000000000000" pitchFamily="2" charset="2"/>
              <a:buChar char="§"/>
            </a:pPr>
            <a:r>
              <a:rPr lang="en-US" altLang="zh-CN" sz="900" dirty="0">
                <a:solidFill>
                  <a:sysClr val="windowText" lastClr="000000"/>
                </a:solidFill>
                <a:latin typeface="Calibri" panose="020F0502020204030204" pitchFamily="34" charset="0"/>
                <a:ea typeface="華康簡楷" pitchFamily="65" charset="-120"/>
                <a:cs typeface="Calibri" panose="020F0502020204030204" pitchFamily="34" charset="0"/>
              </a:rPr>
              <a:t>The freight forwarding solution is also integrated and handles all types of shipments including consolidations</a:t>
            </a:r>
          </a:p>
        </p:txBody>
      </p:sp>
      <p:pic>
        <p:nvPicPr>
          <p:cNvPr id="6" name="Picture 5">
            <a:extLst>
              <a:ext uri="{FF2B5EF4-FFF2-40B4-BE49-F238E27FC236}">
                <a16:creationId xmlns:a16="http://schemas.microsoft.com/office/drawing/2014/main" id="{19D32A52-3AB3-4160-980B-FBBEB6EBAF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78874" y="734657"/>
            <a:ext cx="2722617" cy="1252989"/>
          </a:xfrm>
          <a:prstGeom prst="rect">
            <a:avLst/>
          </a:prstGeom>
        </p:spPr>
      </p:pic>
      <p:pic>
        <p:nvPicPr>
          <p:cNvPr id="17" name="Picture 16" descr="A picture containing indoor, red, container&#10;&#10;Description automatically generated">
            <a:extLst>
              <a:ext uri="{FF2B5EF4-FFF2-40B4-BE49-F238E27FC236}">
                <a16:creationId xmlns:a16="http://schemas.microsoft.com/office/drawing/2014/main" id="{5F633DD8-8AE7-47D4-91D2-BB6EA746E27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05934" y="734657"/>
            <a:ext cx="3015372" cy="1252989"/>
          </a:xfrm>
          <a:prstGeom prst="rect">
            <a:avLst/>
          </a:prstGeom>
        </p:spPr>
      </p:pic>
      <p:sp>
        <p:nvSpPr>
          <p:cNvPr id="16" name="Text Box 2589">
            <a:extLst>
              <a:ext uri="{FF2B5EF4-FFF2-40B4-BE49-F238E27FC236}">
                <a16:creationId xmlns:a16="http://schemas.microsoft.com/office/drawing/2014/main" id="{292B490F-8510-40A5-A3EC-CAE904ADDFDE}"/>
              </a:ext>
            </a:extLst>
          </p:cNvPr>
          <p:cNvSpPr txBox="1">
            <a:spLocks noChangeArrowheads="1"/>
          </p:cNvSpPr>
          <p:nvPr/>
        </p:nvSpPr>
        <p:spPr bwMode="gray">
          <a:xfrm>
            <a:off x="6732386" y="2454987"/>
            <a:ext cx="2788920" cy="3600986"/>
          </a:xfrm>
          <a:prstGeom prst="rect">
            <a:avLst/>
          </a:prstGeom>
          <a:noFill/>
          <a:ln w="9525" cap="flat" cmpd="sng" algn="ctr">
            <a:noFill/>
            <a:prstDash val="solid"/>
            <a:headEnd/>
            <a:tailEnd/>
          </a:ln>
          <a:effectLst>
            <a:outerShdw blurRad="40000" dist="23000" dir="5400000" rotWithShape="0">
              <a:srgbClr val="000000">
                <a:alpha val="35000"/>
              </a:srgbClr>
            </a:outerShdw>
          </a:effectLst>
        </p:spPr>
        <p:txBody>
          <a:bodyPr wrap="square" lIns="0" tIns="0" rIns="0" bIns="0" anchor="t" anchorCtr="0">
            <a:spAutoFit/>
          </a:bodyPr>
          <a:lstStyle>
            <a:defPPr>
              <a:defRPr lang="en-US"/>
            </a:defPPr>
            <a:lvl1pPr marL="227013" lvl="0" indent="-227013" algn="just" defTabSz="457200" eaLnBrk="0" hangingPunct="0">
              <a:buClr>
                <a:srgbClr val="BE050A"/>
              </a:buClr>
              <a:buFont typeface="Wingdings" pitchFamily="2" charset="2"/>
              <a:buChar char="n"/>
              <a:tabLst>
                <a:tab pos="1371600" algn="l"/>
              </a:tabLst>
              <a:defRPr sz="1000" kern="0">
                <a:ea typeface="+mj-ea"/>
              </a:defRPr>
            </a:lvl1pPr>
          </a:lstStyle>
          <a:p>
            <a:pPr marL="109538" indent="-109538" algn="l">
              <a:buFont typeface="Wingdings" panose="05000000000000000000" pitchFamily="2" charset="2"/>
              <a:buChar char="§"/>
            </a:pPr>
            <a:r>
              <a:rPr lang="en-US" altLang="zh-CN" sz="900" dirty="0">
                <a:solidFill>
                  <a:sysClr val="windowText" lastClr="000000"/>
                </a:solidFill>
                <a:latin typeface="Calibri" panose="020F0502020204030204" pitchFamily="34" charset="0"/>
                <a:ea typeface="華康簡楷" pitchFamily="65" charset="-120"/>
                <a:cs typeface="Calibri" panose="020F0502020204030204" pitchFamily="34" charset="0"/>
              </a:rPr>
              <a:t>Supply chain analytics realizes the power of data-driven analysis, mathematical optimization, and collaboration to support decision making and provide holistic solutions</a:t>
            </a:r>
          </a:p>
          <a:p>
            <a:pPr marL="109538" indent="-109538" algn="l">
              <a:buFont typeface="Wingdings" panose="05000000000000000000" pitchFamily="2" charset="2"/>
              <a:buChar char="§"/>
            </a:pPr>
            <a:r>
              <a:rPr lang="en-US" altLang="zh-CN" sz="900" dirty="0">
                <a:solidFill>
                  <a:sysClr val="windowText" lastClr="000000"/>
                </a:solidFill>
                <a:latin typeface="Calibri" panose="020F0502020204030204" pitchFamily="34" charset="0"/>
                <a:ea typeface="華康簡楷" pitchFamily="65" charset="-120"/>
                <a:cs typeface="Calibri" panose="020F0502020204030204" pitchFamily="34" charset="0"/>
              </a:rPr>
              <a:t>Analytics allows LF Logistics in designing the optimal configuration for customers in managing supply chains by specifying the ideal number and location of distribution center facilities and the corresponding optimal transport routes and networks</a:t>
            </a:r>
          </a:p>
          <a:p>
            <a:pPr marL="109538" indent="-109538" algn="l">
              <a:buFont typeface="Wingdings" panose="05000000000000000000" pitchFamily="2" charset="2"/>
              <a:buChar char="§"/>
            </a:pPr>
            <a:r>
              <a:rPr lang="en-US" altLang="zh-CN" sz="900" dirty="0">
                <a:solidFill>
                  <a:sysClr val="windowText" lastClr="000000"/>
                </a:solidFill>
                <a:latin typeface="Calibri" panose="020F0502020204030204" pitchFamily="34" charset="0"/>
                <a:ea typeface="華康簡楷" pitchFamily="65" charset="-120"/>
                <a:cs typeface="Calibri" panose="020F0502020204030204" pitchFamily="34" charset="0"/>
              </a:rPr>
              <a:t>Through recommendation of optimal fleet capacity and shipment plans to achieve establishment of cost-effective transport networks, maximation of operational efficiency, and delivery of a holistic lean transportation solution</a:t>
            </a:r>
          </a:p>
          <a:p>
            <a:pPr marL="109538" indent="-109538" algn="l">
              <a:buFont typeface="Wingdings" panose="05000000000000000000" pitchFamily="2" charset="2"/>
              <a:buChar char="§"/>
            </a:pPr>
            <a:r>
              <a:rPr lang="en-US" altLang="zh-CN" sz="900" dirty="0">
                <a:solidFill>
                  <a:sysClr val="windowText" lastClr="000000"/>
                </a:solidFill>
                <a:latin typeface="Calibri" panose="020F0502020204030204" pitchFamily="34" charset="0"/>
                <a:ea typeface="華康簡楷" pitchFamily="65" charset="-120"/>
                <a:cs typeface="Calibri" panose="020F0502020204030204" pitchFamily="34" charset="0"/>
              </a:rPr>
              <a:t>Supplemented by dynamic simulation modeling, taking into account for any statistical variations over the entire process cycle of warehousing and distribution, productivity of labor and equipment may be maximized with waste reduced and delays eliminated through dynamic dock and yard capacity planning and scheduling and warehouse space utilization</a:t>
            </a:r>
          </a:p>
          <a:p>
            <a:pPr marL="109538" indent="-109538" algn="l">
              <a:buFont typeface="Wingdings" panose="05000000000000000000" pitchFamily="2" charset="2"/>
              <a:buChar char="§"/>
            </a:pPr>
            <a:r>
              <a:rPr lang="en-US" altLang="zh-CN" sz="900" dirty="0">
                <a:solidFill>
                  <a:sysClr val="windowText" lastClr="000000"/>
                </a:solidFill>
                <a:latin typeface="Calibri" panose="020F0502020204030204" pitchFamily="34" charset="0"/>
                <a:ea typeface="華康簡楷" pitchFamily="65" charset="-120"/>
                <a:cs typeface="Calibri" panose="020F0502020204030204" pitchFamily="34" charset="0"/>
              </a:rPr>
              <a:t>Coupled with the geographical information system analysis and predictive analysis, supply chain analytics shall enable optimization of inventories to match supply with demand, reduction of inventory holding and corresponding costs and risks, and minimization of costs of order fulfillment, warehousing, and tax</a:t>
            </a:r>
          </a:p>
        </p:txBody>
      </p:sp>
    </p:spTree>
    <p:extLst>
      <p:ext uri="{BB962C8B-B14F-4D97-AF65-F5344CB8AC3E}">
        <p14:creationId xmlns:p14="http://schemas.microsoft.com/office/powerpoint/2010/main" val="3423937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lide Number Placeholder 30"/>
          <p:cNvSpPr>
            <a:spLocks noGrp="1"/>
          </p:cNvSpPr>
          <p:nvPr>
            <p:ph type="sldNum" sz="quarter" idx="4"/>
          </p:nvPr>
        </p:nvSpPr>
        <p:spPr/>
        <p:txBody>
          <a:bodyPr/>
          <a:lstStyle/>
          <a:p>
            <a:pPr algn="r" eaLnBrk="0" fontAlgn="base" hangingPunct="0">
              <a:spcBef>
                <a:spcPct val="50000"/>
              </a:spcBef>
              <a:spcAft>
                <a:spcPct val="0"/>
              </a:spcAft>
              <a:defRPr/>
            </a:pPr>
            <a:fld id="{90FB4F5F-C942-40B6-AF50-16AA6C86747A}" type="slidenum">
              <a:rPr lang="en-US" altLang="en-US" sz="800">
                <a:solidFill>
                  <a:srgbClr val="000000"/>
                </a:solidFill>
                <a:latin typeface="Calibri"/>
                <a:ea typeface="DFKaiShu-GB5"/>
                <a:cs typeface="DFKaiShu-GB5"/>
              </a:rPr>
              <a:pPr algn="r" eaLnBrk="0" fontAlgn="base" hangingPunct="0">
                <a:spcBef>
                  <a:spcPct val="50000"/>
                </a:spcBef>
                <a:spcAft>
                  <a:spcPct val="0"/>
                </a:spcAft>
                <a:defRPr/>
              </a:pPr>
              <a:t>5</a:t>
            </a:fld>
            <a:endParaRPr lang="en-US" altLang="en-US" sz="800" dirty="0">
              <a:solidFill>
                <a:srgbClr val="000000"/>
              </a:solidFill>
              <a:latin typeface="Calibri"/>
              <a:ea typeface="DFKaiShu-GB5"/>
              <a:cs typeface="DFKaiShu-GB5"/>
            </a:endParaRPr>
          </a:p>
        </p:txBody>
      </p:sp>
      <p:sp>
        <p:nvSpPr>
          <p:cNvPr id="2" name="Title 1"/>
          <p:cNvSpPr>
            <a:spLocks noGrp="1"/>
          </p:cNvSpPr>
          <p:nvPr>
            <p:ph type="title"/>
          </p:nvPr>
        </p:nvSpPr>
        <p:spPr/>
        <p:txBody>
          <a:bodyPr/>
          <a:lstStyle/>
          <a:p>
            <a:r>
              <a:rPr lang="en-US" dirty="0"/>
              <a:t>Distinctive Parental Support to Enable Competitive Advantages</a:t>
            </a:r>
          </a:p>
        </p:txBody>
      </p:sp>
      <p:sp>
        <p:nvSpPr>
          <p:cNvPr id="20" name="TextBox 19">
            <a:extLst>
              <a:ext uri="{FF2B5EF4-FFF2-40B4-BE49-F238E27FC236}">
                <a16:creationId xmlns:a16="http://schemas.microsoft.com/office/drawing/2014/main" id="{DC30A250-9DFB-4ED0-957B-98A20C225230}"/>
              </a:ext>
            </a:extLst>
          </p:cNvPr>
          <p:cNvSpPr txBox="1"/>
          <p:nvPr/>
        </p:nvSpPr>
        <p:spPr>
          <a:xfrm>
            <a:off x="8243455" y="198593"/>
            <a:ext cx="1662545" cy="261610"/>
          </a:xfrm>
          <a:prstGeom prst="rect">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1100" b="1" dirty="0">
                <a:solidFill>
                  <a:sysClr val="windowText" lastClr="000000"/>
                </a:solidFill>
              </a:rPr>
              <a:t>To</a:t>
            </a:r>
            <a:r>
              <a:rPr lang="zh-CN" altLang="en-US" sz="1100" b="1" dirty="0">
                <a:solidFill>
                  <a:sysClr val="windowText" lastClr="000000"/>
                </a:solidFill>
              </a:rPr>
              <a:t> </a:t>
            </a:r>
            <a:r>
              <a:rPr lang="en-US" altLang="zh-CN" sz="1100" b="1" dirty="0">
                <a:solidFill>
                  <a:sysClr val="windowText" lastClr="000000"/>
                </a:solidFill>
              </a:rPr>
              <a:t>be</a:t>
            </a:r>
            <a:r>
              <a:rPr lang="zh-CN" altLang="en-US" sz="1100" b="1" dirty="0">
                <a:solidFill>
                  <a:sysClr val="windowText" lastClr="000000"/>
                </a:solidFill>
              </a:rPr>
              <a:t> </a:t>
            </a:r>
            <a:r>
              <a:rPr lang="en-US" altLang="zh-CN" sz="1100" b="1" dirty="0">
                <a:solidFill>
                  <a:sysClr val="windowText" lastClr="000000"/>
                </a:solidFill>
              </a:rPr>
              <a:t>updated</a:t>
            </a:r>
            <a:endParaRPr lang="en-US" sz="1100" b="1" dirty="0">
              <a:solidFill>
                <a:sysClr val="windowText" lastClr="000000"/>
              </a:solidFill>
            </a:endParaRPr>
          </a:p>
        </p:txBody>
      </p:sp>
      <p:sp>
        <p:nvSpPr>
          <p:cNvPr id="5" name="Text Box 2589">
            <a:extLst>
              <a:ext uri="{FF2B5EF4-FFF2-40B4-BE49-F238E27FC236}">
                <a16:creationId xmlns:a16="http://schemas.microsoft.com/office/drawing/2014/main" id="{FA127AF2-57CD-4521-B6D4-4BACE9E26A07}"/>
              </a:ext>
            </a:extLst>
          </p:cNvPr>
          <p:cNvSpPr txBox="1">
            <a:spLocks noChangeArrowheads="1"/>
          </p:cNvSpPr>
          <p:nvPr/>
        </p:nvSpPr>
        <p:spPr bwMode="gray">
          <a:xfrm>
            <a:off x="374119" y="687032"/>
            <a:ext cx="2859532" cy="4078039"/>
          </a:xfrm>
          <a:prstGeom prst="rect">
            <a:avLst/>
          </a:prstGeom>
          <a:noFill/>
          <a:ln w="9525" cap="flat" cmpd="sng" algn="ctr">
            <a:noFill/>
            <a:prstDash val="solid"/>
            <a:headEnd/>
            <a:tailEnd/>
          </a:ln>
          <a:effectLst>
            <a:outerShdw blurRad="40000" dist="23000" dir="5400000" rotWithShape="0">
              <a:srgbClr val="000000">
                <a:alpha val="35000"/>
              </a:srgbClr>
            </a:outerShdw>
          </a:effectLst>
        </p:spPr>
        <p:txBody>
          <a:bodyPr wrap="square" lIns="91440" tIns="91440" rIns="91440" bIns="91440" anchor="t" anchorCtr="0">
            <a:spAutoFit/>
          </a:bodyPr>
          <a:lstStyle>
            <a:defPPr>
              <a:defRPr lang="en-US"/>
            </a:defPPr>
            <a:lvl1pPr marL="227013" lvl="0" indent="-227013" algn="just" defTabSz="457200" eaLnBrk="0" hangingPunct="0">
              <a:buClr>
                <a:srgbClr val="BE050A"/>
              </a:buClr>
              <a:buFont typeface="Wingdings" pitchFamily="2" charset="2"/>
              <a:buChar char="n"/>
              <a:tabLst>
                <a:tab pos="1371600" algn="l"/>
              </a:tabLst>
              <a:defRPr sz="1000" kern="0">
                <a:ea typeface="+mj-ea"/>
              </a:defRPr>
            </a:lvl1pPr>
          </a:lstStyle>
          <a:p>
            <a:pPr algn="l">
              <a:buFont typeface="Wingdings" panose="05000000000000000000" pitchFamily="2" charset="2"/>
              <a:buChar char="§"/>
            </a:pPr>
            <a:r>
              <a:rPr lang="en-US" altLang="zh-CN" sz="1100" dirty="0">
                <a:solidFill>
                  <a:sysClr val="windowText" lastClr="000000"/>
                </a:solidFill>
                <a:latin typeface="Calibri" panose="020F0502020204030204" pitchFamily="34" charset="0"/>
                <a:ea typeface="華康簡楷" pitchFamily="65" charset="-120"/>
                <a:cs typeface="Calibri" panose="020F0502020204030204" pitchFamily="34" charset="0"/>
              </a:rPr>
              <a:t>With the support from parent company and strategic investor, namely Li &amp; Fung and Temasek respectively, LF Logistics has been able to leverage on the success from its shareholders to enable its competitive advantages</a:t>
            </a:r>
          </a:p>
          <a:p>
            <a:pPr algn="l">
              <a:buFont typeface="Wingdings" panose="05000000000000000000" pitchFamily="2" charset="2"/>
              <a:buChar char="§"/>
            </a:pPr>
            <a:r>
              <a:rPr lang="en-US" altLang="zh-CN" sz="1100" dirty="0">
                <a:solidFill>
                  <a:sysClr val="windowText" lastClr="000000"/>
                </a:solidFill>
                <a:latin typeface="Calibri" panose="020F0502020204030204" pitchFamily="34" charset="0"/>
                <a:ea typeface="華康簡楷" pitchFamily="65" charset="-120"/>
                <a:cs typeface="Calibri" panose="020F0502020204030204" pitchFamily="34" charset="0"/>
              </a:rPr>
              <a:t>The scale of the operations of LF Logistics shall be elevated by Li &amp; Fung Group’s connections and experiences in the supply chain solutions industry</a:t>
            </a:r>
          </a:p>
          <a:p>
            <a:pPr algn="l">
              <a:buFont typeface="Wingdings" panose="05000000000000000000" pitchFamily="2" charset="2"/>
              <a:buChar char="§"/>
            </a:pPr>
            <a:r>
              <a:rPr lang="en-US" altLang="zh-CN" sz="1100" dirty="0">
                <a:solidFill>
                  <a:sysClr val="windowText" lastClr="000000"/>
                </a:solidFill>
                <a:latin typeface="Calibri" panose="020F0502020204030204" pitchFamily="34" charset="0"/>
                <a:ea typeface="華康簡楷" pitchFamily="65" charset="-120"/>
                <a:cs typeface="Calibri" panose="020F0502020204030204" pitchFamily="34" charset="0"/>
              </a:rPr>
              <a:t>The technological advancement of LF Logistics shall be stimulated by the continual investment in speed, innovation, and digitalization by Li &amp; Fung’s Group</a:t>
            </a:r>
          </a:p>
          <a:p>
            <a:pPr algn="l">
              <a:buFont typeface="Wingdings" panose="05000000000000000000" pitchFamily="2" charset="2"/>
              <a:buChar char="§"/>
            </a:pPr>
            <a:r>
              <a:rPr lang="en-US" altLang="zh-CN" sz="1100" dirty="0">
                <a:solidFill>
                  <a:sysClr val="windowText" lastClr="000000"/>
                </a:solidFill>
                <a:latin typeface="Calibri" panose="020F0502020204030204" pitchFamily="34" charset="0"/>
                <a:ea typeface="華康簡楷" pitchFamily="65" charset="-120"/>
                <a:cs typeface="Calibri" panose="020F0502020204030204" pitchFamily="34" charset="0"/>
              </a:rPr>
              <a:t>The domestic penetration of the local logistic market in the Asia region shall be accelerated by the presence and connections Temasek possesses through its investments in the local Asian cities</a:t>
            </a:r>
          </a:p>
          <a:p>
            <a:pPr algn="l">
              <a:buFont typeface="Wingdings" panose="05000000000000000000" pitchFamily="2" charset="2"/>
              <a:buChar char="§"/>
            </a:pPr>
            <a:r>
              <a:rPr lang="en-US" altLang="zh-CN" sz="1100" dirty="0">
                <a:solidFill>
                  <a:sysClr val="windowText" lastClr="000000"/>
                </a:solidFill>
                <a:latin typeface="Calibri" panose="020F0502020204030204" pitchFamily="34" charset="0"/>
                <a:ea typeface="華康簡楷" pitchFamily="65" charset="-120"/>
                <a:cs typeface="Calibri" panose="020F0502020204030204" pitchFamily="34" charset="0"/>
              </a:rPr>
              <a:t>Synergies between LF Logistics and Li &amp; Fung and Temasek shall further deepen as LF Logistics further develops in new geographies and verticals</a:t>
            </a:r>
          </a:p>
        </p:txBody>
      </p:sp>
      <p:pic>
        <p:nvPicPr>
          <p:cNvPr id="4" name="Picture 3" descr="A picture containing clipart&#10;&#10;Description automatically generated">
            <a:extLst>
              <a:ext uri="{FF2B5EF4-FFF2-40B4-BE49-F238E27FC236}">
                <a16:creationId xmlns:a16="http://schemas.microsoft.com/office/drawing/2014/main" id="{560BAE7D-64FB-4741-862B-6824575637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70200" y="3655218"/>
            <a:ext cx="3566160" cy="481429"/>
          </a:xfrm>
          <a:prstGeom prst="rect">
            <a:avLst/>
          </a:prstGeom>
        </p:spPr>
      </p:pic>
      <p:pic>
        <p:nvPicPr>
          <p:cNvPr id="8" name="Picture 7" descr="A close up of a logo&#10;&#10;Description automatically generated">
            <a:extLst>
              <a:ext uri="{FF2B5EF4-FFF2-40B4-BE49-F238E27FC236}">
                <a16:creationId xmlns:a16="http://schemas.microsoft.com/office/drawing/2014/main" id="{1FDA0441-B5C5-4A23-9267-ABD47E669068}"/>
              </a:ext>
            </a:extLst>
          </p:cNvPr>
          <p:cNvPicPr>
            <a:picLocks noChangeAspect="1"/>
          </p:cNvPicPr>
          <p:nvPr/>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l="6694" t="40662" r="6718" b="43632"/>
          <a:stretch/>
        </p:blipFill>
        <p:spPr>
          <a:xfrm>
            <a:off x="3513050" y="734657"/>
            <a:ext cx="3566160" cy="646872"/>
          </a:xfrm>
          <a:prstGeom prst="rect">
            <a:avLst/>
          </a:prstGeom>
        </p:spPr>
      </p:pic>
      <p:sp>
        <p:nvSpPr>
          <p:cNvPr id="16" name="Line 50">
            <a:extLst>
              <a:ext uri="{FF2B5EF4-FFF2-40B4-BE49-F238E27FC236}">
                <a16:creationId xmlns:a16="http://schemas.microsoft.com/office/drawing/2014/main" id="{1BC902BF-13B0-4FB2-AAED-AB586063AF0E}"/>
              </a:ext>
            </a:extLst>
          </p:cNvPr>
          <p:cNvSpPr>
            <a:spLocks noChangeShapeType="1"/>
          </p:cNvSpPr>
          <p:nvPr/>
        </p:nvSpPr>
        <p:spPr bwMode="gray">
          <a:xfrm>
            <a:off x="3356954" y="734657"/>
            <a:ext cx="0" cy="5257800"/>
          </a:xfrm>
          <a:prstGeom prst="line">
            <a:avLst/>
          </a:prstGeom>
          <a:noFill/>
          <a:ln w="9525">
            <a:solidFill>
              <a:schemeClr val="accent1"/>
            </a:solidFill>
            <a:round/>
            <a:headEnd/>
            <a:tailEnd/>
          </a:ln>
          <a:effectLst/>
        </p:spPr>
        <p:txBody>
          <a:bodyPr wrap="none" anchor="ctr"/>
          <a:lstStyle/>
          <a:p>
            <a:pPr>
              <a:buClr>
                <a:schemeClr val="accent1"/>
              </a:buClr>
              <a:buFont typeface="Wingdings" pitchFamily="2" charset="2"/>
              <a:buNone/>
              <a:defRPr/>
            </a:pPr>
            <a:endParaRPr lang="en-US" sz="900" u="none" dirty="0">
              <a:solidFill>
                <a:srgbClr val="000000"/>
              </a:solidFill>
              <a:latin typeface="+mn-lt"/>
            </a:endParaRPr>
          </a:p>
        </p:txBody>
      </p:sp>
      <p:sp>
        <p:nvSpPr>
          <p:cNvPr id="17" name="Text Box 2589">
            <a:extLst>
              <a:ext uri="{FF2B5EF4-FFF2-40B4-BE49-F238E27FC236}">
                <a16:creationId xmlns:a16="http://schemas.microsoft.com/office/drawing/2014/main" id="{1FF8DEA1-FAA1-4D02-8D33-D6E8F18E0D14}"/>
              </a:ext>
            </a:extLst>
          </p:cNvPr>
          <p:cNvSpPr txBox="1">
            <a:spLocks noChangeArrowheads="1"/>
          </p:cNvSpPr>
          <p:nvPr/>
        </p:nvSpPr>
        <p:spPr bwMode="gray">
          <a:xfrm>
            <a:off x="3513049" y="1435812"/>
            <a:ext cx="6068985" cy="2031325"/>
          </a:xfrm>
          <a:prstGeom prst="rect">
            <a:avLst/>
          </a:prstGeom>
          <a:noFill/>
          <a:ln w="9525" cap="flat" cmpd="sng" algn="ctr">
            <a:noFill/>
            <a:prstDash val="solid"/>
            <a:headEnd/>
            <a:tailEnd/>
          </a:ln>
          <a:effectLst>
            <a:outerShdw blurRad="40000" dist="23000" dir="5400000" rotWithShape="0">
              <a:srgbClr val="000000">
                <a:alpha val="35000"/>
              </a:srgbClr>
            </a:outerShdw>
          </a:effectLst>
        </p:spPr>
        <p:txBody>
          <a:bodyPr wrap="square" lIns="0" tIns="0" rIns="0" bIns="0" anchor="t" anchorCtr="0">
            <a:spAutoFit/>
          </a:bodyPr>
          <a:lstStyle>
            <a:defPPr>
              <a:defRPr lang="en-US"/>
            </a:defPPr>
            <a:lvl1pPr marL="227013" lvl="0" indent="-227013" algn="just" defTabSz="457200" eaLnBrk="0" hangingPunct="0">
              <a:buClr>
                <a:srgbClr val="BE050A"/>
              </a:buClr>
              <a:buFont typeface="Wingdings" pitchFamily="2" charset="2"/>
              <a:buChar char="n"/>
              <a:tabLst>
                <a:tab pos="1371600" algn="l"/>
              </a:tabLst>
              <a:defRPr sz="1000" kern="0">
                <a:ea typeface="+mj-ea"/>
              </a:defRPr>
            </a:lvl1pPr>
          </a:lstStyle>
          <a:p>
            <a:pPr marL="109538" indent="-109538" algn="l">
              <a:buFont typeface="Wingdings" panose="05000000000000000000" pitchFamily="2" charset="2"/>
              <a:buChar char="§"/>
            </a:pPr>
            <a:r>
              <a:rPr lang="en-US" altLang="zh-CN" sz="1100" dirty="0">
                <a:solidFill>
                  <a:sysClr val="windowText" lastClr="000000"/>
                </a:solidFill>
                <a:latin typeface="Calibri" panose="020F0502020204030204" pitchFamily="34" charset="0"/>
                <a:ea typeface="華康簡楷" pitchFamily="65" charset="-120"/>
                <a:cs typeface="Calibri" panose="020F0502020204030204" pitchFamily="34" charset="0"/>
              </a:rPr>
              <a:t>With a strong foundation and well-established business, Li &amp; Fung operates one of the most extensive global supply chain networks in the world, employing more than 16,000 people in more than 230 offices and 280 distribution centers across 50 different markets</a:t>
            </a:r>
          </a:p>
          <a:p>
            <a:pPr marL="109538" indent="-109538" algn="l">
              <a:buFont typeface="Wingdings" panose="05000000000000000000" pitchFamily="2" charset="2"/>
              <a:buChar char="§"/>
            </a:pPr>
            <a:r>
              <a:rPr lang="en-US" altLang="zh-CN" sz="1100" dirty="0">
                <a:solidFill>
                  <a:sysClr val="windowText" lastClr="000000"/>
                </a:solidFill>
                <a:latin typeface="Calibri" panose="020F0502020204030204" pitchFamily="34" charset="0"/>
                <a:ea typeface="華康簡楷" pitchFamily="65" charset="-120"/>
                <a:cs typeface="Calibri" panose="020F0502020204030204" pitchFamily="34" charset="0"/>
              </a:rPr>
              <a:t>Leveraging on the success of Li &amp; Fung’s supply chain solutions segment, LF Logistics has access to existing customers and suppliers of Li &amp; Fung, accelerating its development through cross-selling with Li &amp; Fung’s end-to-end supply chain solutions that provides product design, raw materials procurement, production and quality control, warehouse management, and last mile delivery to retail stores or end-customers</a:t>
            </a:r>
          </a:p>
          <a:p>
            <a:pPr marL="109538" indent="-109538" algn="l">
              <a:buFont typeface="Wingdings" panose="05000000000000000000" pitchFamily="2" charset="2"/>
              <a:buChar char="§"/>
            </a:pPr>
            <a:r>
              <a:rPr lang="en-US" altLang="zh-CN" sz="1100" dirty="0">
                <a:solidFill>
                  <a:sysClr val="windowText" lastClr="000000"/>
                </a:solidFill>
                <a:latin typeface="Calibri" panose="020F0502020204030204" pitchFamily="34" charset="0"/>
                <a:ea typeface="華康簡楷" pitchFamily="65" charset="-120"/>
                <a:cs typeface="Calibri" panose="020F0502020204030204" pitchFamily="34" charset="0"/>
              </a:rPr>
              <a:t>Li &amp; Fung Group’s strategy in focusing in enhancing speed, delivering innovation, and promoting digitalization has also allowed LF Logistics in developing its competitive advantage over its competitors, the investment in technology has differentiated LF Logistics as one of the comparatively more capable and efficient logistics services provider in the operating region</a:t>
            </a:r>
          </a:p>
        </p:txBody>
      </p:sp>
      <p:sp>
        <p:nvSpPr>
          <p:cNvPr id="18" name="Text Box 2589">
            <a:extLst>
              <a:ext uri="{FF2B5EF4-FFF2-40B4-BE49-F238E27FC236}">
                <a16:creationId xmlns:a16="http://schemas.microsoft.com/office/drawing/2014/main" id="{0BDCE701-71A3-4022-988C-37D6386B6D13}"/>
              </a:ext>
            </a:extLst>
          </p:cNvPr>
          <p:cNvSpPr txBox="1">
            <a:spLocks noChangeArrowheads="1"/>
          </p:cNvSpPr>
          <p:nvPr/>
        </p:nvSpPr>
        <p:spPr bwMode="gray">
          <a:xfrm>
            <a:off x="3513049" y="4245687"/>
            <a:ext cx="6068985" cy="1615827"/>
          </a:xfrm>
          <a:prstGeom prst="rect">
            <a:avLst/>
          </a:prstGeom>
          <a:noFill/>
          <a:ln w="9525" cap="flat" cmpd="sng" algn="ctr">
            <a:noFill/>
            <a:prstDash val="solid"/>
            <a:headEnd/>
            <a:tailEnd/>
          </a:ln>
          <a:effectLst>
            <a:outerShdw blurRad="40000" dist="23000" dir="5400000" rotWithShape="0">
              <a:srgbClr val="000000">
                <a:alpha val="35000"/>
              </a:srgbClr>
            </a:outerShdw>
          </a:effectLst>
        </p:spPr>
        <p:txBody>
          <a:bodyPr wrap="square" lIns="0" tIns="0" rIns="0" bIns="0" anchor="t" anchorCtr="0">
            <a:spAutoFit/>
          </a:bodyPr>
          <a:lstStyle>
            <a:defPPr>
              <a:defRPr lang="en-US"/>
            </a:defPPr>
            <a:lvl1pPr marL="227013" lvl="0" indent="-227013" algn="just" defTabSz="457200" eaLnBrk="0" hangingPunct="0">
              <a:buClr>
                <a:srgbClr val="BE050A"/>
              </a:buClr>
              <a:buFont typeface="Wingdings" pitchFamily="2" charset="2"/>
              <a:buChar char="n"/>
              <a:tabLst>
                <a:tab pos="1371600" algn="l"/>
              </a:tabLst>
              <a:defRPr sz="1000" kern="0">
                <a:ea typeface="+mj-ea"/>
              </a:defRPr>
            </a:lvl1pPr>
          </a:lstStyle>
          <a:p>
            <a:pPr marL="109538" indent="-109538" algn="l">
              <a:buFont typeface="Wingdings" panose="05000000000000000000" pitchFamily="2" charset="2"/>
              <a:buChar char="§"/>
            </a:pPr>
            <a:r>
              <a:rPr lang="en-US" altLang="zh-CN" sz="1050" dirty="0">
                <a:solidFill>
                  <a:sysClr val="windowText" lastClr="000000"/>
                </a:solidFill>
                <a:latin typeface="Calibri" panose="020F0502020204030204" pitchFamily="34" charset="0"/>
                <a:ea typeface="華康簡楷" pitchFamily="65" charset="-120"/>
                <a:cs typeface="Calibri" panose="020F0502020204030204" pitchFamily="34" charset="0"/>
              </a:rPr>
              <a:t>Temasek is a global investment company headquartered in Singapore with 11 offices established globally and SGD313 billion worth of asset under management</a:t>
            </a:r>
          </a:p>
          <a:p>
            <a:pPr marL="109538" indent="-109538" algn="l">
              <a:buFont typeface="Wingdings" panose="05000000000000000000" pitchFamily="2" charset="2"/>
              <a:buChar char="§"/>
            </a:pPr>
            <a:r>
              <a:rPr lang="en-US" altLang="zh-CN" sz="1050" dirty="0">
                <a:solidFill>
                  <a:sysClr val="windowText" lastClr="000000"/>
                </a:solidFill>
                <a:latin typeface="Calibri" panose="020F0502020204030204" pitchFamily="34" charset="0"/>
                <a:ea typeface="華康簡楷" pitchFamily="65" charset="-120"/>
                <a:cs typeface="Calibri" panose="020F0502020204030204" pitchFamily="34" charset="0"/>
              </a:rPr>
              <a:t>As an active long term investor with four key investment themes; transforming economies, growing middle income populations, deepening comparative advantages, and emerging champions, Temasek invested USD300 million into LF Logistics, not only allowing LF Logistics to geographically expand in new locations including Vietnam, Japan, and Korea, vertically expand into the electronics industry, but also recognizing LF Logistics as one of the future leaders of the Asian logistics industry</a:t>
            </a:r>
          </a:p>
          <a:p>
            <a:pPr marL="109538" indent="-109538" algn="l">
              <a:buFont typeface="Wingdings" panose="05000000000000000000" pitchFamily="2" charset="2"/>
              <a:buChar char="§"/>
            </a:pPr>
            <a:r>
              <a:rPr lang="en-US" altLang="zh-CN" sz="1050" dirty="0">
                <a:solidFill>
                  <a:sysClr val="windowText" lastClr="000000"/>
                </a:solidFill>
                <a:latin typeface="Calibri" panose="020F0502020204030204" pitchFamily="34" charset="0"/>
                <a:ea typeface="華康簡楷" pitchFamily="65" charset="-120"/>
                <a:cs typeface="Calibri" panose="020F0502020204030204" pitchFamily="34" charset="0"/>
              </a:rPr>
              <a:t>Furthermore, with Temasek’s existing presence in the Asian region, particularly in Singapore, one of the major operating countries of LF Logistics, the synergy between Temasek and LF Logistics will enhance LF Logistics’ operating efficiency in the region, and allow efficient integration when expanding into new geographies</a:t>
            </a:r>
          </a:p>
        </p:txBody>
      </p:sp>
      <p:sp>
        <p:nvSpPr>
          <p:cNvPr id="19" name="Text Placeholder 1">
            <a:extLst>
              <a:ext uri="{FF2B5EF4-FFF2-40B4-BE49-F238E27FC236}">
                <a16:creationId xmlns:a16="http://schemas.microsoft.com/office/drawing/2014/main" id="{396B7E98-5EF7-443D-9AF8-4158E7CAB9B9}"/>
              </a:ext>
            </a:extLst>
          </p:cNvPr>
          <p:cNvSpPr txBox="1">
            <a:spLocks/>
          </p:cNvSpPr>
          <p:nvPr/>
        </p:nvSpPr>
        <p:spPr bwMode="gray">
          <a:xfrm>
            <a:off x="374118" y="6077449"/>
            <a:ext cx="9208008" cy="107722"/>
          </a:xfrm>
          <a:prstGeom prst="rect">
            <a:avLst/>
          </a:prstGeom>
          <a:noFill/>
          <a:ln w="9525">
            <a:noFill/>
            <a:miter lim="800000"/>
            <a:headEnd/>
            <a:tailEnd/>
          </a:ln>
        </p:spPr>
        <p:txBody>
          <a:bodyPr vert="horz" wrap="square" lIns="0" tIns="0" rIns="0" bIns="0" numCol="1" anchor="b" anchorCtr="0" compatLnSpc="1">
            <a:prstTxWarp prst="textNoShape">
              <a:avLst/>
            </a:prstTxWarp>
            <a:spAutoFit/>
          </a:bodyPr>
          <a:lstStyle>
            <a:lvl1pPr marL="228600" indent="-228600" algn="l" rtl="0" eaLnBrk="1" fontAlgn="base" hangingPunct="1">
              <a:spcBef>
                <a:spcPct val="20000"/>
              </a:spcBef>
              <a:spcAft>
                <a:spcPct val="0"/>
              </a:spcAft>
              <a:buClr>
                <a:schemeClr val="accent1"/>
              </a:buClr>
              <a:buFont typeface="Wingdings" pitchFamily="2" charset="2"/>
              <a:buChar char="§"/>
              <a:defRPr sz="1600">
                <a:solidFill>
                  <a:schemeClr val="tx1"/>
                </a:solidFill>
                <a:latin typeface="+mn-lt"/>
                <a:ea typeface="+mn-ea"/>
                <a:cs typeface="+mn-cs"/>
              </a:defRPr>
            </a:lvl1pPr>
            <a:lvl2pPr marL="685800" indent="-228600" algn="l" rtl="0" eaLnBrk="1" fontAlgn="base" hangingPunct="1">
              <a:spcBef>
                <a:spcPct val="20000"/>
              </a:spcBef>
              <a:spcAft>
                <a:spcPct val="0"/>
              </a:spcAft>
              <a:buClr>
                <a:schemeClr val="accent2"/>
              </a:buClr>
              <a:buChar char="•"/>
              <a:defRPr sz="1600">
                <a:solidFill>
                  <a:schemeClr val="tx1"/>
                </a:solidFill>
                <a:latin typeface="+mn-lt"/>
              </a:defRPr>
            </a:lvl2pPr>
            <a:lvl3pPr marL="1143000" indent="-228600" algn="l" rtl="0" eaLnBrk="1" fontAlgn="base" hangingPunct="1">
              <a:spcBef>
                <a:spcPct val="20000"/>
              </a:spcBef>
              <a:spcAft>
                <a:spcPct val="0"/>
              </a:spcAft>
              <a:buClr>
                <a:schemeClr val="hlink"/>
              </a:buClr>
              <a:buChar char="o"/>
              <a:defRPr sz="1600">
                <a:solidFill>
                  <a:schemeClr val="tx1"/>
                </a:solidFill>
                <a:latin typeface="+mn-lt"/>
              </a:defRPr>
            </a:lvl3pPr>
            <a:lvl4pPr marL="1600200" indent="-228600" algn="l" rtl="0" eaLnBrk="1" fontAlgn="base" hangingPunct="1">
              <a:spcBef>
                <a:spcPct val="20000"/>
              </a:spcBef>
              <a:spcAft>
                <a:spcPct val="0"/>
              </a:spcAft>
              <a:buChar char="–"/>
              <a:defRPr sz="1600">
                <a:solidFill>
                  <a:schemeClr val="tx1"/>
                </a:solidFill>
                <a:latin typeface="+mn-lt"/>
              </a:defRPr>
            </a:lvl4pPr>
            <a:lvl5pPr marL="2057400" indent="-228600" algn="l" rtl="0" eaLnBrk="1" fontAlgn="base" hangingPunct="1">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pPr marL="0" indent="0">
              <a:spcBef>
                <a:spcPts val="0"/>
              </a:spcBef>
              <a:buFont typeface="Wingdings" pitchFamily="2" charset="2"/>
              <a:buNone/>
            </a:pPr>
            <a:r>
              <a:rPr lang="en-US" sz="700" i="1" kern="0" dirty="0"/>
              <a:t>Source: Li &amp; Fung website, Temasek website</a:t>
            </a:r>
          </a:p>
        </p:txBody>
      </p:sp>
    </p:spTree>
    <p:extLst>
      <p:ext uri="{BB962C8B-B14F-4D97-AF65-F5344CB8AC3E}">
        <p14:creationId xmlns:p14="http://schemas.microsoft.com/office/powerpoint/2010/main" val="1486557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lide Number Placeholder 30"/>
          <p:cNvSpPr>
            <a:spLocks noGrp="1"/>
          </p:cNvSpPr>
          <p:nvPr>
            <p:ph type="sldNum" sz="quarter" idx="4"/>
          </p:nvPr>
        </p:nvSpPr>
        <p:spPr/>
        <p:txBody>
          <a:bodyPr/>
          <a:lstStyle/>
          <a:p>
            <a:pPr algn="r" eaLnBrk="0" fontAlgn="base" hangingPunct="0">
              <a:spcBef>
                <a:spcPct val="50000"/>
              </a:spcBef>
              <a:spcAft>
                <a:spcPct val="0"/>
              </a:spcAft>
              <a:defRPr/>
            </a:pPr>
            <a:fld id="{90FB4F5F-C942-40B6-AF50-16AA6C86747A}" type="slidenum">
              <a:rPr lang="en-US" altLang="en-US" sz="800">
                <a:solidFill>
                  <a:srgbClr val="000000"/>
                </a:solidFill>
                <a:latin typeface="Calibri"/>
                <a:ea typeface="DFKaiShu-GB5"/>
                <a:cs typeface="DFKaiShu-GB5"/>
              </a:rPr>
              <a:pPr algn="r" eaLnBrk="0" fontAlgn="base" hangingPunct="0">
                <a:spcBef>
                  <a:spcPct val="50000"/>
                </a:spcBef>
                <a:spcAft>
                  <a:spcPct val="0"/>
                </a:spcAft>
                <a:defRPr/>
              </a:pPr>
              <a:t>6</a:t>
            </a:fld>
            <a:endParaRPr lang="en-US" altLang="en-US" sz="800" dirty="0">
              <a:solidFill>
                <a:srgbClr val="000000"/>
              </a:solidFill>
              <a:latin typeface="Calibri"/>
              <a:ea typeface="DFKaiShu-GB5"/>
              <a:cs typeface="DFKaiShu-GB5"/>
            </a:endParaRPr>
          </a:p>
        </p:txBody>
      </p:sp>
      <p:sp>
        <p:nvSpPr>
          <p:cNvPr id="2" name="Title 1"/>
          <p:cNvSpPr>
            <a:spLocks noGrp="1"/>
          </p:cNvSpPr>
          <p:nvPr>
            <p:ph type="title"/>
          </p:nvPr>
        </p:nvSpPr>
        <p:spPr/>
        <p:txBody>
          <a:bodyPr/>
          <a:lstStyle/>
          <a:p>
            <a:r>
              <a:rPr lang="en-US" dirty="0"/>
              <a:t>Proven Track Record in Strong Growth in Revenue and Consistently High Margins</a:t>
            </a:r>
          </a:p>
        </p:txBody>
      </p:sp>
      <p:sp>
        <p:nvSpPr>
          <p:cNvPr id="5" name="Text Box 2589">
            <a:extLst>
              <a:ext uri="{FF2B5EF4-FFF2-40B4-BE49-F238E27FC236}">
                <a16:creationId xmlns:a16="http://schemas.microsoft.com/office/drawing/2014/main" id="{7A818F47-435F-4E85-A925-132165F860ED}"/>
              </a:ext>
            </a:extLst>
          </p:cNvPr>
          <p:cNvSpPr txBox="1">
            <a:spLocks noChangeArrowheads="1"/>
          </p:cNvSpPr>
          <p:nvPr/>
        </p:nvSpPr>
        <p:spPr bwMode="gray">
          <a:xfrm>
            <a:off x="374119" y="687032"/>
            <a:ext cx="2859532" cy="5432256"/>
          </a:xfrm>
          <a:prstGeom prst="rect">
            <a:avLst/>
          </a:prstGeom>
          <a:noFill/>
          <a:ln w="9525" cap="flat" cmpd="sng" algn="ctr">
            <a:noFill/>
            <a:prstDash val="solid"/>
            <a:headEnd/>
            <a:tailEnd/>
          </a:ln>
          <a:effectLst>
            <a:outerShdw blurRad="40000" dist="23000" dir="5400000" rotWithShape="0">
              <a:srgbClr val="000000">
                <a:alpha val="35000"/>
              </a:srgbClr>
            </a:outerShdw>
          </a:effectLst>
        </p:spPr>
        <p:txBody>
          <a:bodyPr wrap="square" lIns="91440" tIns="91440" rIns="91440" bIns="91440" anchor="t" anchorCtr="0">
            <a:spAutoFit/>
          </a:bodyPr>
          <a:lstStyle>
            <a:defPPr>
              <a:defRPr lang="en-US"/>
            </a:defPPr>
            <a:lvl1pPr marL="227013" lvl="0" indent="-227013" algn="just" defTabSz="457200" eaLnBrk="0" hangingPunct="0">
              <a:buClr>
                <a:srgbClr val="BE050A"/>
              </a:buClr>
              <a:buFont typeface="Wingdings" pitchFamily="2" charset="2"/>
              <a:buChar char="n"/>
              <a:tabLst>
                <a:tab pos="1371600" algn="l"/>
              </a:tabLst>
              <a:defRPr sz="1000" kern="0">
                <a:ea typeface="+mj-ea"/>
              </a:defRPr>
            </a:lvl1pPr>
          </a:lstStyle>
          <a:p>
            <a:pPr algn="l">
              <a:buFont typeface="Wingdings" panose="05000000000000000000" pitchFamily="2" charset="2"/>
              <a:buChar char="§"/>
            </a:pPr>
            <a:r>
              <a:rPr lang="en-US" altLang="zh-CN" sz="1100" dirty="0">
                <a:solidFill>
                  <a:sysClr val="windowText" lastClr="000000"/>
                </a:solidFill>
                <a:latin typeface="Calibri" panose="020F0502020204030204" pitchFamily="34" charset="0"/>
                <a:ea typeface="華康簡楷" pitchFamily="65" charset="-120"/>
                <a:cs typeface="Calibri" panose="020F0502020204030204" pitchFamily="34" charset="0"/>
              </a:rPr>
              <a:t>LF Logistics has been able to achieve strong growth in revenue and to consistently maintain favorable margin level</a:t>
            </a:r>
          </a:p>
          <a:p>
            <a:pPr algn="l">
              <a:buFont typeface="Wingdings" panose="05000000000000000000" pitchFamily="2" charset="2"/>
              <a:buChar char="§"/>
            </a:pPr>
            <a:r>
              <a:rPr lang="en-US" altLang="zh-CN" sz="1100" dirty="0">
                <a:solidFill>
                  <a:sysClr val="windowText" lastClr="000000"/>
                </a:solidFill>
                <a:latin typeface="Calibri" panose="020F0502020204030204" pitchFamily="34" charset="0"/>
                <a:ea typeface="華康簡楷" pitchFamily="65" charset="-120"/>
                <a:cs typeface="Calibri" panose="020F0502020204030204" pitchFamily="34" charset="0"/>
              </a:rPr>
              <a:t>Revenue has risen from USD874 million in 2014 to USD1,133 million in 2018, representing a strong CAGR of 6.7%, largely driven by the continued double-digit growth of the in-country logistics segment, as demonstrated by the surge of revenue of the segment from USD619 million in 2017 to USD732 million in 2018, an exceptional 18.3% increase in one year</a:t>
            </a:r>
          </a:p>
          <a:p>
            <a:pPr algn="l">
              <a:buFont typeface="Wingdings" panose="05000000000000000000" pitchFamily="2" charset="2"/>
              <a:buChar char="§"/>
            </a:pPr>
            <a:r>
              <a:rPr lang="en-US" altLang="zh-CN" sz="1100" dirty="0">
                <a:solidFill>
                  <a:sysClr val="windowText" lastClr="000000"/>
                </a:solidFill>
                <a:latin typeface="Calibri" panose="020F0502020204030204" pitchFamily="34" charset="0"/>
                <a:ea typeface="華康簡楷" pitchFamily="65" charset="-120"/>
                <a:cs typeface="Calibri" panose="020F0502020204030204" pitchFamily="34" charset="0"/>
              </a:rPr>
              <a:t>Total margin, the sum of gross margin and other income, has also experienced strong and steady growth from 2014 to 2018, at a CAGR of 12.9%, reaching a consistent total margin percentage of slightly higher than 34% from 2016 to 2018</a:t>
            </a:r>
          </a:p>
          <a:p>
            <a:pPr algn="l">
              <a:buFont typeface="Wingdings" panose="05000000000000000000" pitchFamily="2" charset="2"/>
              <a:buChar char="§"/>
            </a:pPr>
            <a:r>
              <a:rPr lang="en-US" altLang="zh-CN" sz="1100" dirty="0">
                <a:solidFill>
                  <a:sysClr val="windowText" lastClr="000000"/>
                </a:solidFill>
                <a:latin typeface="Calibri" panose="020F0502020204030204" pitchFamily="34" charset="0"/>
                <a:ea typeface="華康簡楷" pitchFamily="65" charset="-120"/>
                <a:cs typeface="Calibri" panose="020F0502020204030204" pitchFamily="34" charset="0"/>
              </a:rPr>
              <a:t>Core operating profit, a similar parameter to the EBITDA and excluding any one-off items, has seen continued growth with a CAGR of 16.9%, while core operating profit margin also surged from 5.3% in 2014 to 7.6% in 2018, demonstrating consistent continued growth and increased cost efficiency</a:t>
            </a:r>
          </a:p>
          <a:p>
            <a:pPr algn="l">
              <a:buFont typeface="Wingdings" panose="05000000000000000000" pitchFamily="2" charset="2"/>
              <a:buChar char="§"/>
            </a:pPr>
            <a:r>
              <a:rPr lang="en-US" altLang="zh-CN" sz="1100" dirty="0">
                <a:solidFill>
                  <a:sysClr val="windowText" lastClr="000000"/>
                </a:solidFill>
                <a:latin typeface="Calibri" panose="020F0502020204030204" pitchFamily="34" charset="0"/>
                <a:ea typeface="華康簡楷" pitchFamily="65" charset="-120"/>
                <a:cs typeface="Calibri" panose="020F0502020204030204" pitchFamily="34" charset="0"/>
              </a:rPr>
              <a:t>Growth in revenue and margin is expected to continue with the upsurge in overall consumption and e-commerce</a:t>
            </a:r>
          </a:p>
        </p:txBody>
      </p:sp>
      <p:sp>
        <p:nvSpPr>
          <p:cNvPr id="6" name="Line 50">
            <a:extLst>
              <a:ext uri="{FF2B5EF4-FFF2-40B4-BE49-F238E27FC236}">
                <a16:creationId xmlns:a16="http://schemas.microsoft.com/office/drawing/2014/main" id="{E6D36FB6-2413-4F21-B631-F5CEF0AA1ED7}"/>
              </a:ext>
            </a:extLst>
          </p:cNvPr>
          <p:cNvSpPr>
            <a:spLocks noChangeShapeType="1"/>
          </p:cNvSpPr>
          <p:nvPr/>
        </p:nvSpPr>
        <p:spPr bwMode="gray">
          <a:xfrm>
            <a:off x="3356954" y="734657"/>
            <a:ext cx="0" cy="5257800"/>
          </a:xfrm>
          <a:prstGeom prst="line">
            <a:avLst/>
          </a:prstGeom>
          <a:noFill/>
          <a:ln w="9525">
            <a:solidFill>
              <a:schemeClr val="accent1"/>
            </a:solidFill>
            <a:round/>
            <a:headEnd/>
            <a:tailEnd/>
          </a:ln>
          <a:effectLst/>
        </p:spPr>
        <p:txBody>
          <a:bodyPr wrap="none" anchor="ctr"/>
          <a:lstStyle/>
          <a:p>
            <a:pPr>
              <a:buClr>
                <a:schemeClr val="accent1"/>
              </a:buClr>
              <a:buFont typeface="Wingdings" pitchFamily="2" charset="2"/>
              <a:buNone/>
              <a:defRPr/>
            </a:pPr>
            <a:endParaRPr lang="en-US" sz="900" u="none" dirty="0">
              <a:solidFill>
                <a:srgbClr val="000000"/>
              </a:solidFill>
              <a:latin typeface="+mn-lt"/>
            </a:endParaRPr>
          </a:p>
        </p:txBody>
      </p:sp>
      <p:sp>
        <p:nvSpPr>
          <p:cNvPr id="7" name="TextBox 6">
            <a:extLst>
              <a:ext uri="{FF2B5EF4-FFF2-40B4-BE49-F238E27FC236}">
                <a16:creationId xmlns:a16="http://schemas.microsoft.com/office/drawing/2014/main" id="{4C9DF0B4-DA98-4323-AC6F-A0E0CB94D79A}"/>
              </a:ext>
            </a:extLst>
          </p:cNvPr>
          <p:cNvSpPr txBox="1"/>
          <p:nvPr/>
        </p:nvSpPr>
        <p:spPr>
          <a:xfrm>
            <a:off x="3513050" y="734657"/>
            <a:ext cx="6007608" cy="297444"/>
          </a:xfrm>
          <a:prstGeom prst="rect">
            <a:avLst/>
          </a:prstGeom>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w="12700">
            <a:noFill/>
          </a:ln>
        </p:spPr>
        <p:txBody>
          <a:bodyPr wrap="square" lIns="0" tIns="1828800" rIns="0" bIns="1828800" rtlCol="0" anchor="ctr" anchorCtr="0">
            <a:noAutofit/>
          </a:bodyPr>
          <a:lstStyle/>
          <a:p>
            <a:pPr algn="ctr" eaLnBrk="0" fontAlgn="base" hangingPunct="0">
              <a:spcBef>
                <a:spcPct val="50000"/>
              </a:spcBef>
              <a:spcAft>
                <a:spcPct val="0"/>
              </a:spcAft>
              <a:defRPr/>
            </a:pPr>
            <a:r>
              <a:rPr lang="en-US" sz="1000" b="1" dirty="0">
                <a:solidFill>
                  <a:srgbClr val="FFFFFF"/>
                </a:solidFill>
                <a:latin typeface="Calibri"/>
                <a:ea typeface="DFKaiShu-GB5"/>
                <a:cs typeface="DFKaiShu-GB5"/>
              </a:rPr>
              <a:t>Strong CAGR in Revenue</a:t>
            </a:r>
            <a:endParaRPr lang="en-US" altLang="zh-CN" sz="1000" b="1" dirty="0">
              <a:solidFill>
                <a:srgbClr val="FFFFFF"/>
              </a:solidFill>
              <a:latin typeface="Calibri"/>
              <a:ea typeface="DFKaiShu-GB5"/>
              <a:cs typeface="DFKaiShu-GB5"/>
            </a:endParaRPr>
          </a:p>
        </p:txBody>
      </p:sp>
      <p:sp>
        <p:nvSpPr>
          <p:cNvPr id="8" name="TextBox 7">
            <a:extLst>
              <a:ext uri="{FF2B5EF4-FFF2-40B4-BE49-F238E27FC236}">
                <a16:creationId xmlns:a16="http://schemas.microsoft.com/office/drawing/2014/main" id="{F8E6AA51-0A8C-4C5F-9813-317474193BF0}"/>
              </a:ext>
            </a:extLst>
          </p:cNvPr>
          <p:cNvSpPr txBox="1"/>
          <p:nvPr/>
        </p:nvSpPr>
        <p:spPr>
          <a:xfrm>
            <a:off x="6595226" y="3607594"/>
            <a:ext cx="2926080" cy="297444"/>
          </a:xfrm>
          <a:prstGeom prst="rect">
            <a:avLst/>
          </a:prstGeom>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w="12700">
            <a:noFill/>
          </a:ln>
        </p:spPr>
        <p:txBody>
          <a:bodyPr wrap="square" lIns="0" tIns="1828800" rIns="0" bIns="1828800" rtlCol="0" anchor="ctr" anchorCtr="0">
            <a:noAutofit/>
          </a:bodyPr>
          <a:lstStyle/>
          <a:p>
            <a:pPr algn="ctr" eaLnBrk="0" fontAlgn="base" hangingPunct="0">
              <a:spcBef>
                <a:spcPct val="50000"/>
              </a:spcBef>
              <a:spcAft>
                <a:spcPct val="0"/>
              </a:spcAft>
              <a:defRPr/>
            </a:pPr>
            <a:r>
              <a:rPr lang="en-US" sz="1000" b="1" dirty="0">
                <a:solidFill>
                  <a:srgbClr val="FFFFFF"/>
                </a:solidFill>
                <a:latin typeface="Calibri"/>
                <a:ea typeface="DFKaiShu-GB5"/>
                <a:cs typeface="DFKaiShu-GB5"/>
              </a:rPr>
              <a:t>Continued Growth in Core Operating Profit Margin</a:t>
            </a:r>
            <a:endParaRPr lang="en-US" altLang="zh-CN" sz="1000" b="1" dirty="0">
              <a:solidFill>
                <a:srgbClr val="FFFFFF"/>
              </a:solidFill>
              <a:latin typeface="Calibri"/>
              <a:ea typeface="DFKaiShu-GB5"/>
              <a:cs typeface="DFKaiShu-GB5"/>
            </a:endParaRPr>
          </a:p>
        </p:txBody>
      </p:sp>
      <p:sp>
        <p:nvSpPr>
          <p:cNvPr id="9" name="TextBox 8">
            <a:extLst>
              <a:ext uri="{FF2B5EF4-FFF2-40B4-BE49-F238E27FC236}">
                <a16:creationId xmlns:a16="http://schemas.microsoft.com/office/drawing/2014/main" id="{4A2F5459-A8EA-434F-8588-96FA6606CF59}"/>
              </a:ext>
            </a:extLst>
          </p:cNvPr>
          <p:cNvSpPr txBox="1"/>
          <p:nvPr/>
        </p:nvSpPr>
        <p:spPr>
          <a:xfrm>
            <a:off x="3513050" y="3607594"/>
            <a:ext cx="2926080" cy="297444"/>
          </a:xfrm>
          <a:prstGeom prst="rect">
            <a:avLst/>
          </a:prstGeom>
          <a:gradFill>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w="12700">
            <a:noFill/>
          </a:ln>
        </p:spPr>
        <p:txBody>
          <a:bodyPr wrap="square" lIns="0" tIns="1828800" rIns="0" bIns="1828800" rtlCol="0" anchor="ctr" anchorCtr="0">
            <a:noAutofit/>
          </a:bodyPr>
          <a:lstStyle/>
          <a:p>
            <a:pPr algn="ctr" eaLnBrk="0" fontAlgn="base" hangingPunct="0">
              <a:spcBef>
                <a:spcPct val="50000"/>
              </a:spcBef>
              <a:spcAft>
                <a:spcPct val="0"/>
              </a:spcAft>
              <a:defRPr/>
            </a:pPr>
            <a:r>
              <a:rPr lang="en-US" altLang="zh-CN" sz="1000" b="1" dirty="0">
                <a:solidFill>
                  <a:srgbClr val="FFFFFF"/>
                </a:solidFill>
                <a:latin typeface="Calibri"/>
                <a:ea typeface="DFKaiShu-GB5"/>
                <a:cs typeface="DFKaiShu-GB5"/>
              </a:rPr>
              <a:t>Consistently High Total Margin</a:t>
            </a:r>
          </a:p>
        </p:txBody>
      </p:sp>
      <p:graphicFrame>
        <p:nvGraphicFramePr>
          <p:cNvPr id="12" name="Chart 11">
            <a:extLst>
              <a:ext uri="{FF2B5EF4-FFF2-40B4-BE49-F238E27FC236}">
                <a16:creationId xmlns:a16="http://schemas.microsoft.com/office/drawing/2014/main" id="{FAEDD798-C06B-472E-BA2A-0BC3355ACACC}"/>
              </a:ext>
            </a:extLst>
          </p:cNvPr>
          <p:cNvGraphicFramePr/>
          <p:nvPr>
            <p:extLst>
              <p:ext uri="{D42A27DB-BD31-4B8C-83A1-F6EECF244321}">
                <p14:modId xmlns:p14="http://schemas.microsoft.com/office/powerpoint/2010/main" val="1396036305"/>
              </p:ext>
            </p:extLst>
          </p:nvPr>
        </p:nvGraphicFramePr>
        <p:xfrm>
          <a:off x="3513050" y="1032102"/>
          <a:ext cx="6007608" cy="2407046"/>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 Box 2589">
            <a:extLst>
              <a:ext uri="{FF2B5EF4-FFF2-40B4-BE49-F238E27FC236}">
                <a16:creationId xmlns:a16="http://schemas.microsoft.com/office/drawing/2014/main" id="{ABCC5010-8BE0-4D7E-9DF2-9DC64BB3FF50}"/>
              </a:ext>
            </a:extLst>
          </p:cNvPr>
          <p:cNvSpPr txBox="1">
            <a:spLocks noChangeArrowheads="1"/>
          </p:cNvSpPr>
          <p:nvPr/>
        </p:nvSpPr>
        <p:spPr bwMode="gray">
          <a:xfrm>
            <a:off x="3655925" y="1076552"/>
            <a:ext cx="457200" cy="123111"/>
          </a:xfrm>
          <a:prstGeom prst="rect">
            <a:avLst/>
          </a:prstGeom>
          <a:noFill/>
          <a:ln w="9525" cap="flat" cmpd="sng" algn="ctr">
            <a:noFill/>
            <a:prstDash val="solid"/>
            <a:headEnd/>
            <a:tailEnd/>
          </a:ln>
          <a:effectLst>
            <a:outerShdw blurRad="40000" dist="23000" dir="5400000" rotWithShape="0">
              <a:srgbClr val="000000">
                <a:alpha val="35000"/>
              </a:srgbClr>
            </a:outerShdw>
          </a:effectLst>
        </p:spPr>
        <p:txBody>
          <a:bodyPr wrap="square" lIns="0" tIns="0" rIns="0" bIns="0" anchor="t" anchorCtr="0">
            <a:spAutoFit/>
          </a:bodyPr>
          <a:lstStyle>
            <a:defPPr>
              <a:defRPr lang="en-US"/>
            </a:defPPr>
            <a:lvl1pPr marL="227013" lvl="0" indent="-227013" algn="just" defTabSz="457200" eaLnBrk="0" hangingPunct="0">
              <a:buClr>
                <a:srgbClr val="BE050A"/>
              </a:buClr>
              <a:buFont typeface="Wingdings" pitchFamily="2" charset="2"/>
              <a:buChar char="n"/>
              <a:tabLst>
                <a:tab pos="1371600" algn="l"/>
              </a:tabLst>
              <a:defRPr sz="1000" kern="0">
                <a:ea typeface="+mj-ea"/>
              </a:defRPr>
            </a:lvl1pPr>
          </a:lstStyle>
          <a:p>
            <a:pPr marL="0" indent="0" algn="l">
              <a:buNone/>
            </a:pPr>
            <a:r>
              <a:rPr lang="en-US" altLang="zh-CN" sz="800" dirty="0" err="1">
                <a:solidFill>
                  <a:sysClr val="windowText" lastClr="000000"/>
                </a:solidFill>
                <a:latin typeface="Calibri" panose="020F0502020204030204" pitchFamily="34" charset="0"/>
                <a:ea typeface="華康簡楷" pitchFamily="65" charset="-120"/>
                <a:cs typeface="Calibri" panose="020F0502020204030204" pitchFamily="34" charset="0"/>
              </a:rPr>
              <a:t>USD’m</a:t>
            </a:r>
            <a:endPar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endParaRPr>
          </a:p>
        </p:txBody>
      </p:sp>
      <p:sp>
        <p:nvSpPr>
          <p:cNvPr id="16" name="Line 50">
            <a:extLst>
              <a:ext uri="{FF2B5EF4-FFF2-40B4-BE49-F238E27FC236}">
                <a16:creationId xmlns:a16="http://schemas.microsoft.com/office/drawing/2014/main" id="{3D333DBA-8B3F-4F4C-9B37-7A2ECF8400CA}"/>
              </a:ext>
            </a:extLst>
          </p:cNvPr>
          <p:cNvSpPr>
            <a:spLocks noChangeShapeType="1"/>
          </p:cNvSpPr>
          <p:nvPr/>
        </p:nvSpPr>
        <p:spPr bwMode="gray">
          <a:xfrm>
            <a:off x="7747979" y="1421753"/>
            <a:ext cx="0" cy="1920240"/>
          </a:xfrm>
          <a:prstGeom prst="line">
            <a:avLst/>
          </a:prstGeom>
          <a:noFill/>
          <a:ln w="9525">
            <a:solidFill>
              <a:schemeClr val="tx1">
                <a:lumMod val="65000"/>
                <a:lumOff val="35000"/>
              </a:schemeClr>
            </a:solidFill>
            <a:prstDash val="dash"/>
            <a:round/>
            <a:headEnd/>
            <a:tailEnd/>
          </a:ln>
          <a:effectLst/>
        </p:spPr>
        <p:txBody>
          <a:bodyPr wrap="none" anchor="ctr"/>
          <a:lstStyle/>
          <a:p>
            <a:pPr>
              <a:buClr>
                <a:schemeClr val="accent1"/>
              </a:buClr>
              <a:buFont typeface="Wingdings" pitchFamily="2" charset="2"/>
              <a:buNone/>
              <a:defRPr/>
            </a:pPr>
            <a:endParaRPr lang="en-US" sz="900" u="none" dirty="0">
              <a:solidFill>
                <a:srgbClr val="000000"/>
              </a:solidFill>
              <a:latin typeface="+mn-lt"/>
            </a:endParaRPr>
          </a:p>
        </p:txBody>
      </p:sp>
      <p:sp>
        <p:nvSpPr>
          <p:cNvPr id="13" name="Arrow: Chevron 12">
            <a:extLst>
              <a:ext uri="{FF2B5EF4-FFF2-40B4-BE49-F238E27FC236}">
                <a16:creationId xmlns:a16="http://schemas.microsoft.com/office/drawing/2014/main" id="{66A606E0-69D0-42CE-BC74-A78AC01F807E}"/>
              </a:ext>
            </a:extLst>
          </p:cNvPr>
          <p:cNvSpPr/>
          <p:nvPr/>
        </p:nvSpPr>
        <p:spPr bwMode="gray">
          <a:xfrm rot="-360000">
            <a:off x="4043812" y="1434669"/>
            <a:ext cx="3291840" cy="104775"/>
          </a:xfrm>
          <a:prstGeom prst="chevron">
            <a:avLst/>
          </a:prstGeom>
          <a:gradFill flip="none" rotWithShape="1">
            <a:gsLst>
              <a:gs pos="0">
                <a:schemeClr val="bg2">
                  <a:lumMod val="60000"/>
                  <a:lumOff val="40000"/>
                </a:schemeClr>
              </a:gs>
              <a:gs pos="80000">
                <a:srgbClr val="EAEAEA"/>
              </a:gs>
              <a:gs pos="100000">
                <a:srgbClr val="EAEAEA"/>
              </a:gs>
            </a:gsLst>
            <a:lin ang="10800000" scaled="1"/>
            <a:tileRect/>
          </a:gradFill>
          <a:ln>
            <a:noFill/>
            <a:round/>
            <a:headEnd/>
            <a:tailEnd/>
          </a:ln>
        </p:spPr>
        <p:style>
          <a:lnRef idx="2">
            <a:schemeClr val="accent1"/>
          </a:lnRef>
          <a:fillRef idx="1">
            <a:schemeClr val="lt1"/>
          </a:fillRef>
          <a:effectRef idx="0">
            <a:schemeClr val="accent1"/>
          </a:effectRef>
          <a:fontRef idx="minor">
            <a:schemeClr val="dk1"/>
          </a:fontRef>
        </p:style>
        <p:txBody>
          <a:bodyPr lIns="45720" tIns="0" rIns="45720" rtlCol="0" anchor="ctr"/>
          <a:lstStyle/>
          <a:p>
            <a:pPr marL="231775" indent="-112713" algn="ctr">
              <a:spcAft>
                <a:spcPts val="600"/>
              </a:spcAft>
              <a:buClr>
                <a:schemeClr val="accent1"/>
              </a:buClr>
              <a:buSzPct val="80000"/>
              <a:buFont typeface="Wingdings" pitchFamily="2" charset="2"/>
              <a:buChar char="§"/>
            </a:pPr>
            <a:endParaRPr lang="en-US" sz="1000" b="1" u="none" dirty="0"/>
          </a:p>
        </p:txBody>
      </p:sp>
      <p:sp>
        <p:nvSpPr>
          <p:cNvPr id="19" name="Text Box 2589">
            <a:extLst>
              <a:ext uri="{FF2B5EF4-FFF2-40B4-BE49-F238E27FC236}">
                <a16:creationId xmlns:a16="http://schemas.microsoft.com/office/drawing/2014/main" id="{3CD3CAE6-1169-426F-94ED-80C6B3E4A704}"/>
              </a:ext>
            </a:extLst>
          </p:cNvPr>
          <p:cNvSpPr txBox="1">
            <a:spLocks noChangeArrowheads="1"/>
          </p:cNvSpPr>
          <p:nvPr/>
        </p:nvSpPr>
        <p:spPr bwMode="gray">
          <a:xfrm rot="-360000">
            <a:off x="5323972" y="1286102"/>
            <a:ext cx="731520" cy="123111"/>
          </a:xfrm>
          <a:prstGeom prst="rect">
            <a:avLst/>
          </a:prstGeom>
          <a:noFill/>
          <a:ln w="9525" cap="flat" cmpd="sng" algn="ctr">
            <a:noFill/>
            <a:prstDash val="solid"/>
            <a:headEnd/>
            <a:tailEnd/>
          </a:ln>
          <a:effectLst>
            <a:outerShdw blurRad="40000" dist="23000" dir="5400000" rotWithShape="0">
              <a:srgbClr val="000000">
                <a:alpha val="35000"/>
              </a:srgbClr>
            </a:outerShdw>
          </a:effectLst>
        </p:spPr>
        <p:txBody>
          <a:bodyPr wrap="square" lIns="0" tIns="0" rIns="0" bIns="0" anchor="t" anchorCtr="0">
            <a:spAutoFit/>
          </a:bodyPr>
          <a:lstStyle>
            <a:defPPr>
              <a:defRPr lang="en-US"/>
            </a:defPPr>
            <a:lvl1pPr marL="227013" lvl="0" indent="-227013" algn="just" defTabSz="457200" eaLnBrk="0" hangingPunct="0">
              <a:buClr>
                <a:srgbClr val="BE050A"/>
              </a:buClr>
              <a:buFont typeface="Wingdings" pitchFamily="2" charset="2"/>
              <a:buChar char="n"/>
              <a:tabLst>
                <a:tab pos="1371600" algn="l"/>
              </a:tabLst>
              <a:defRPr sz="1000" kern="0">
                <a:ea typeface="+mj-ea"/>
              </a:defRPr>
            </a:lvl1pPr>
          </a:lstStyle>
          <a:p>
            <a:pPr marL="0" indent="0" algn="ctr">
              <a:buNone/>
            </a:pP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CAGR: 6.7%</a:t>
            </a:r>
          </a:p>
        </p:txBody>
      </p:sp>
      <p:sp>
        <p:nvSpPr>
          <p:cNvPr id="25" name="Line 50">
            <a:extLst>
              <a:ext uri="{FF2B5EF4-FFF2-40B4-BE49-F238E27FC236}">
                <a16:creationId xmlns:a16="http://schemas.microsoft.com/office/drawing/2014/main" id="{5973F98A-A04B-45F2-8B8A-F9AE5C772315}"/>
              </a:ext>
            </a:extLst>
          </p:cNvPr>
          <p:cNvSpPr>
            <a:spLocks noChangeShapeType="1"/>
          </p:cNvSpPr>
          <p:nvPr/>
        </p:nvSpPr>
        <p:spPr bwMode="gray">
          <a:xfrm>
            <a:off x="5519129" y="4236383"/>
            <a:ext cx="0" cy="1645920"/>
          </a:xfrm>
          <a:prstGeom prst="line">
            <a:avLst/>
          </a:prstGeom>
          <a:noFill/>
          <a:ln w="9525">
            <a:solidFill>
              <a:schemeClr val="tx1">
                <a:lumMod val="65000"/>
                <a:lumOff val="35000"/>
              </a:schemeClr>
            </a:solidFill>
            <a:prstDash val="dash"/>
            <a:round/>
            <a:headEnd/>
            <a:tailEnd/>
          </a:ln>
          <a:effectLst/>
        </p:spPr>
        <p:txBody>
          <a:bodyPr wrap="none" anchor="ctr"/>
          <a:lstStyle/>
          <a:p>
            <a:pPr>
              <a:buClr>
                <a:schemeClr val="accent1"/>
              </a:buClr>
              <a:buFont typeface="Wingdings" pitchFamily="2" charset="2"/>
              <a:buNone/>
              <a:defRPr/>
            </a:pPr>
            <a:endParaRPr lang="en-US" sz="900" u="none" dirty="0">
              <a:solidFill>
                <a:srgbClr val="000000"/>
              </a:solidFill>
              <a:latin typeface="+mn-lt"/>
            </a:endParaRPr>
          </a:p>
        </p:txBody>
      </p:sp>
      <p:graphicFrame>
        <p:nvGraphicFramePr>
          <p:cNvPr id="23" name="Chart 22">
            <a:extLst>
              <a:ext uri="{FF2B5EF4-FFF2-40B4-BE49-F238E27FC236}">
                <a16:creationId xmlns:a16="http://schemas.microsoft.com/office/drawing/2014/main" id="{6548110E-3C45-4144-96B4-39EB5914B0FB}"/>
              </a:ext>
            </a:extLst>
          </p:cNvPr>
          <p:cNvGraphicFramePr/>
          <p:nvPr>
            <p:extLst>
              <p:ext uri="{D42A27DB-BD31-4B8C-83A1-F6EECF244321}">
                <p14:modId xmlns:p14="http://schemas.microsoft.com/office/powerpoint/2010/main" val="3666669731"/>
              </p:ext>
            </p:extLst>
          </p:nvPr>
        </p:nvGraphicFramePr>
        <p:xfrm>
          <a:off x="3513050" y="3924299"/>
          <a:ext cx="2926080" cy="2068158"/>
        </p:xfrm>
        <a:graphic>
          <a:graphicData uri="http://schemas.openxmlformats.org/drawingml/2006/chart">
            <c:chart xmlns:c="http://schemas.openxmlformats.org/drawingml/2006/chart" xmlns:r="http://schemas.openxmlformats.org/officeDocument/2006/relationships" r:id="rId4"/>
          </a:graphicData>
        </a:graphic>
      </p:graphicFrame>
      <p:sp>
        <p:nvSpPr>
          <p:cNvPr id="26" name="Text Box 2589">
            <a:extLst>
              <a:ext uri="{FF2B5EF4-FFF2-40B4-BE49-F238E27FC236}">
                <a16:creationId xmlns:a16="http://schemas.microsoft.com/office/drawing/2014/main" id="{25F49E21-FA0B-4D3E-99FF-E5CBB3884112}"/>
              </a:ext>
            </a:extLst>
          </p:cNvPr>
          <p:cNvSpPr txBox="1">
            <a:spLocks noChangeArrowheads="1"/>
          </p:cNvSpPr>
          <p:nvPr/>
        </p:nvSpPr>
        <p:spPr bwMode="gray">
          <a:xfrm>
            <a:off x="3684500" y="3945253"/>
            <a:ext cx="457200" cy="107722"/>
          </a:xfrm>
          <a:prstGeom prst="rect">
            <a:avLst/>
          </a:prstGeom>
          <a:noFill/>
          <a:ln w="9525" cap="flat" cmpd="sng" algn="ctr">
            <a:noFill/>
            <a:prstDash val="solid"/>
            <a:headEnd/>
            <a:tailEnd/>
          </a:ln>
          <a:effectLst>
            <a:outerShdw blurRad="40000" dist="23000" dir="5400000" rotWithShape="0">
              <a:srgbClr val="000000">
                <a:alpha val="35000"/>
              </a:srgbClr>
            </a:outerShdw>
          </a:effectLst>
        </p:spPr>
        <p:txBody>
          <a:bodyPr wrap="square" lIns="0" tIns="0" rIns="0" bIns="0" anchor="t" anchorCtr="0">
            <a:spAutoFit/>
          </a:bodyPr>
          <a:lstStyle>
            <a:defPPr>
              <a:defRPr lang="en-US"/>
            </a:defPPr>
            <a:lvl1pPr marL="227013" lvl="0" indent="-227013" algn="just" defTabSz="457200" eaLnBrk="0" hangingPunct="0">
              <a:buClr>
                <a:srgbClr val="BE050A"/>
              </a:buClr>
              <a:buFont typeface="Wingdings" pitchFamily="2" charset="2"/>
              <a:buChar char="n"/>
              <a:tabLst>
                <a:tab pos="1371600" algn="l"/>
              </a:tabLst>
              <a:defRPr sz="1000" kern="0">
                <a:ea typeface="+mj-ea"/>
              </a:defRPr>
            </a:lvl1pPr>
          </a:lstStyle>
          <a:p>
            <a:pPr marL="0" indent="0" algn="l">
              <a:buNone/>
            </a:pPr>
            <a:r>
              <a:rPr lang="en-US" altLang="zh-CN" sz="700" dirty="0" err="1">
                <a:solidFill>
                  <a:sysClr val="windowText" lastClr="000000"/>
                </a:solidFill>
                <a:latin typeface="Calibri" panose="020F0502020204030204" pitchFamily="34" charset="0"/>
                <a:ea typeface="華康簡楷" pitchFamily="65" charset="-120"/>
                <a:cs typeface="Calibri" panose="020F0502020204030204" pitchFamily="34" charset="0"/>
              </a:rPr>
              <a:t>USD’m</a:t>
            </a:r>
            <a:endParaRPr lang="en-US" altLang="zh-CN" sz="700" dirty="0">
              <a:solidFill>
                <a:sysClr val="windowText" lastClr="000000"/>
              </a:solidFill>
              <a:latin typeface="Calibri" panose="020F0502020204030204" pitchFamily="34" charset="0"/>
              <a:ea typeface="華康簡楷" pitchFamily="65" charset="-120"/>
              <a:cs typeface="Calibri" panose="020F0502020204030204" pitchFamily="34" charset="0"/>
            </a:endParaRPr>
          </a:p>
        </p:txBody>
      </p:sp>
      <p:graphicFrame>
        <p:nvGraphicFramePr>
          <p:cNvPr id="30" name="Chart 29">
            <a:extLst>
              <a:ext uri="{FF2B5EF4-FFF2-40B4-BE49-F238E27FC236}">
                <a16:creationId xmlns:a16="http://schemas.microsoft.com/office/drawing/2014/main" id="{2B8C262D-D05D-41D9-BF8A-A0A9403E71C7}"/>
              </a:ext>
            </a:extLst>
          </p:cNvPr>
          <p:cNvGraphicFramePr/>
          <p:nvPr>
            <p:extLst>
              <p:ext uri="{D42A27DB-BD31-4B8C-83A1-F6EECF244321}">
                <p14:modId xmlns:p14="http://schemas.microsoft.com/office/powerpoint/2010/main" val="2036224246"/>
              </p:ext>
            </p:extLst>
          </p:nvPr>
        </p:nvGraphicFramePr>
        <p:xfrm>
          <a:off x="6595226" y="3924299"/>
          <a:ext cx="2926080" cy="2068158"/>
        </p:xfrm>
        <a:graphic>
          <a:graphicData uri="http://schemas.openxmlformats.org/drawingml/2006/chart">
            <c:chart xmlns:c="http://schemas.openxmlformats.org/drawingml/2006/chart" xmlns:r="http://schemas.openxmlformats.org/officeDocument/2006/relationships" r:id="rId5"/>
          </a:graphicData>
        </a:graphic>
      </p:graphicFrame>
      <p:sp>
        <p:nvSpPr>
          <p:cNvPr id="32" name="Line 50">
            <a:extLst>
              <a:ext uri="{FF2B5EF4-FFF2-40B4-BE49-F238E27FC236}">
                <a16:creationId xmlns:a16="http://schemas.microsoft.com/office/drawing/2014/main" id="{38A322DB-45D8-4BE9-B160-82D34078E51E}"/>
              </a:ext>
            </a:extLst>
          </p:cNvPr>
          <p:cNvSpPr>
            <a:spLocks noChangeShapeType="1"/>
          </p:cNvSpPr>
          <p:nvPr/>
        </p:nvSpPr>
        <p:spPr bwMode="gray">
          <a:xfrm>
            <a:off x="8601305" y="4236383"/>
            <a:ext cx="0" cy="1645920"/>
          </a:xfrm>
          <a:prstGeom prst="line">
            <a:avLst/>
          </a:prstGeom>
          <a:noFill/>
          <a:ln w="9525">
            <a:solidFill>
              <a:schemeClr val="tx1">
                <a:lumMod val="65000"/>
                <a:lumOff val="35000"/>
              </a:schemeClr>
            </a:solidFill>
            <a:prstDash val="dash"/>
            <a:round/>
            <a:headEnd/>
            <a:tailEnd/>
          </a:ln>
          <a:effectLst/>
        </p:spPr>
        <p:txBody>
          <a:bodyPr wrap="none" anchor="ctr"/>
          <a:lstStyle/>
          <a:p>
            <a:pPr>
              <a:buClr>
                <a:schemeClr val="accent1"/>
              </a:buClr>
              <a:buFont typeface="Wingdings" pitchFamily="2" charset="2"/>
              <a:buNone/>
              <a:defRPr/>
            </a:pPr>
            <a:endParaRPr lang="en-US" sz="900" u="none" dirty="0">
              <a:solidFill>
                <a:srgbClr val="000000"/>
              </a:solidFill>
              <a:latin typeface="+mn-lt"/>
            </a:endParaRPr>
          </a:p>
        </p:txBody>
      </p:sp>
      <p:sp>
        <p:nvSpPr>
          <p:cNvPr id="33" name="Text Box 2589">
            <a:extLst>
              <a:ext uri="{FF2B5EF4-FFF2-40B4-BE49-F238E27FC236}">
                <a16:creationId xmlns:a16="http://schemas.microsoft.com/office/drawing/2014/main" id="{B9B71231-993B-4450-AA97-B6A3E769F52B}"/>
              </a:ext>
            </a:extLst>
          </p:cNvPr>
          <p:cNvSpPr txBox="1">
            <a:spLocks noChangeArrowheads="1"/>
          </p:cNvSpPr>
          <p:nvPr/>
        </p:nvSpPr>
        <p:spPr bwMode="gray">
          <a:xfrm>
            <a:off x="6766676" y="3945253"/>
            <a:ext cx="457200" cy="107722"/>
          </a:xfrm>
          <a:prstGeom prst="rect">
            <a:avLst/>
          </a:prstGeom>
          <a:noFill/>
          <a:ln w="9525" cap="flat" cmpd="sng" algn="ctr">
            <a:noFill/>
            <a:prstDash val="solid"/>
            <a:headEnd/>
            <a:tailEnd/>
          </a:ln>
          <a:effectLst>
            <a:outerShdw blurRad="40000" dist="23000" dir="5400000" rotWithShape="0">
              <a:srgbClr val="000000">
                <a:alpha val="35000"/>
              </a:srgbClr>
            </a:outerShdw>
          </a:effectLst>
        </p:spPr>
        <p:txBody>
          <a:bodyPr wrap="square" lIns="0" tIns="0" rIns="0" bIns="0" anchor="t" anchorCtr="0">
            <a:spAutoFit/>
          </a:bodyPr>
          <a:lstStyle>
            <a:defPPr>
              <a:defRPr lang="en-US"/>
            </a:defPPr>
            <a:lvl1pPr marL="227013" lvl="0" indent="-227013" algn="just" defTabSz="457200" eaLnBrk="0" hangingPunct="0">
              <a:buClr>
                <a:srgbClr val="BE050A"/>
              </a:buClr>
              <a:buFont typeface="Wingdings" pitchFamily="2" charset="2"/>
              <a:buChar char="n"/>
              <a:tabLst>
                <a:tab pos="1371600" algn="l"/>
              </a:tabLst>
              <a:defRPr sz="1000" kern="0">
                <a:ea typeface="+mj-ea"/>
              </a:defRPr>
            </a:lvl1pPr>
          </a:lstStyle>
          <a:p>
            <a:pPr marL="0" indent="0" algn="l">
              <a:buNone/>
            </a:pPr>
            <a:r>
              <a:rPr lang="en-US" altLang="zh-CN" sz="700" dirty="0" err="1">
                <a:solidFill>
                  <a:sysClr val="windowText" lastClr="000000"/>
                </a:solidFill>
                <a:latin typeface="Calibri" panose="020F0502020204030204" pitchFamily="34" charset="0"/>
                <a:ea typeface="華康簡楷" pitchFamily="65" charset="-120"/>
                <a:cs typeface="Calibri" panose="020F0502020204030204" pitchFamily="34" charset="0"/>
              </a:rPr>
              <a:t>USD’m</a:t>
            </a:r>
            <a:endParaRPr lang="en-US" altLang="zh-CN" sz="700" dirty="0">
              <a:solidFill>
                <a:sysClr val="windowText" lastClr="000000"/>
              </a:solidFill>
              <a:latin typeface="Calibri" panose="020F0502020204030204" pitchFamily="34" charset="0"/>
              <a:ea typeface="華康簡楷" pitchFamily="65" charset="-120"/>
              <a:cs typeface="Calibri" panose="020F0502020204030204" pitchFamily="34" charset="0"/>
            </a:endParaRPr>
          </a:p>
        </p:txBody>
      </p:sp>
      <p:sp>
        <p:nvSpPr>
          <p:cNvPr id="35" name="Text Placeholder 1">
            <a:extLst>
              <a:ext uri="{FF2B5EF4-FFF2-40B4-BE49-F238E27FC236}">
                <a16:creationId xmlns:a16="http://schemas.microsoft.com/office/drawing/2014/main" id="{8BA79BFD-63DB-4112-933C-C45D26C41528}"/>
              </a:ext>
            </a:extLst>
          </p:cNvPr>
          <p:cNvSpPr txBox="1">
            <a:spLocks/>
          </p:cNvSpPr>
          <p:nvPr/>
        </p:nvSpPr>
        <p:spPr bwMode="gray">
          <a:xfrm>
            <a:off x="374118" y="6077449"/>
            <a:ext cx="9208008" cy="107722"/>
          </a:xfrm>
          <a:prstGeom prst="rect">
            <a:avLst/>
          </a:prstGeom>
          <a:noFill/>
          <a:ln w="9525">
            <a:noFill/>
            <a:miter lim="800000"/>
            <a:headEnd/>
            <a:tailEnd/>
          </a:ln>
        </p:spPr>
        <p:txBody>
          <a:bodyPr vert="horz" wrap="square" lIns="0" tIns="0" rIns="0" bIns="0" numCol="1" anchor="b" anchorCtr="0" compatLnSpc="1">
            <a:prstTxWarp prst="textNoShape">
              <a:avLst/>
            </a:prstTxWarp>
            <a:spAutoFit/>
          </a:bodyPr>
          <a:lstStyle>
            <a:lvl1pPr marL="228600" indent="-228600" algn="l" rtl="0" eaLnBrk="1" fontAlgn="base" hangingPunct="1">
              <a:spcBef>
                <a:spcPct val="20000"/>
              </a:spcBef>
              <a:spcAft>
                <a:spcPct val="0"/>
              </a:spcAft>
              <a:buClr>
                <a:schemeClr val="accent1"/>
              </a:buClr>
              <a:buFont typeface="Wingdings" pitchFamily="2" charset="2"/>
              <a:buChar char="§"/>
              <a:defRPr sz="1600">
                <a:solidFill>
                  <a:schemeClr val="tx1"/>
                </a:solidFill>
                <a:latin typeface="+mn-lt"/>
                <a:ea typeface="+mn-ea"/>
                <a:cs typeface="+mn-cs"/>
              </a:defRPr>
            </a:lvl1pPr>
            <a:lvl2pPr marL="685800" indent="-228600" algn="l" rtl="0" eaLnBrk="1" fontAlgn="base" hangingPunct="1">
              <a:spcBef>
                <a:spcPct val="20000"/>
              </a:spcBef>
              <a:spcAft>
                <a:spcPct val="0"/>
              </a:spcAft>
              <a:buClr>
                <a:schemeClr val="accent2"/>
              </a:buClr>
              <a:buChar char="•"/>
              <a:defRPr sz="1600">
                <a:solidFill>
                  <a:schemeClr val="tx1"/>
                </a:solidFill>
                <a:latin typeface="+mn-lt"/>
              </a:defRPr>
            </a:lvl2pPr>
            <a:lvl3pPr marL="1143000" indent="-228600" algn="l" rtl="0" eaLnBrk="1" fontAlgn="base" hangingPunct="1">
              <a:spcBef>
                <a:spcPct val="20000"/>
              </a:spcBef>
              <a:spcAft>
                <a:spcPct val="0"/>
              </a:spcAft>
              <a:buClr>
                <a:schemeClr val="hlink"/>
              </a:buClr>
              <a:buChar char="o"/>
              <a:defRPr sz="1600">
                <a:solidFill>
                  <a:schemeClr val="tx1"/>
                </a:solidFill>
                <a:latin typeface="+mn-lt"/>
              </a:defRPr>
            </a:lvl3pPr>
            <a:lvl4pPr marL="1600200" indent="-228600" algn="l" rtl="0" eaLnBrk="1" fontAlgn="base" hangingPunct="1">
              <a:spcBef>
                <a:spcPct val="20000"/>
              </a:spcBef>
              <a:spcAft>
                <a:spcPct val="0"/>
              </a:spcAft>
              <a:buChar char="–"/>
              <a:defRPr sz="1600">
                <a:solidFill>
                  <a:schemeClr val="tx1"/>
                </a:solidFill>
                <a:latin typeface="+mn-lt"/>
              </a:defRPr>
            </a:lvl4pPr>
            <a:lvl5pPr marL="2057400" indent="-228600" algn="l" rtl="0" eaLnBrk="1" fontAlgn="base" hangingPunct="1">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pPr marL="0" indent="0">
              <a:spcBef>
                <a:spcPts val="0"/>
              </a:spcBef>
              <a:buFont typeface="Wingdings" pitchFamily="2" charset="2"/>
              <a:buNone/>
            </a:pPr>
            <a:r>
              <a:rPr lang="en-US" sz="700" i="1" kern="0" dirty="0"/>
              <a:t>Source: Li &amp; Fung Annual Reports</a:t>
            </a:r>
          </a:p>
        </p:txBody>
      </p:sp>
    </p:spTree>
    <p:extLst>
      <p:ext uri="{BB962C8B-B14F-4D97-AF65-F5344CB8AC3E}">
        <p14:creationId xmlns:p14="http://schemas.microsoft.com/office/powerpoint/2010/main" val="5176745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945D29-9F36-44F7-BFFE-9DAF56E6D226}"/>
              </a:ext>
            </a:extLst>
          </p:cNvPr>
          <p:cNvSpPr>
            <a:spLocks noGrp="1"/>
          </p:cNvSpPr>
          <p:nvPr>
            <p:ph type="sldNum" sz="quarter" idx="4"/>
          </p:nvPr>
        </p:nvSpPr>
        <p:spPr/>
        <p:txBody>
          <a:bodyPr/>
          <a:lstStyle/>
          <a:p>
            <a:fld id="{54750402-2FB9-4808-B45A-E9D8797657DF}" type="slidenum">
              <a:rPr lang="en-US" smtClean="0"/>
              <a:pPr/>
              <a:t>7</a:t>
            </a:fld>
            <a:endParaRPr lang="en-US" dirty="0"/>
          </a:p>
        </p:txBody>
      </p:sp>
      <p:sp>
        <p:nvSpPr>
          <p:cNvPr id="23" name="Title 22"/>
          <p:cNvSpPr>
            <a:spLocks noGrp="1"/>
          </p:cNvSpPr>
          <p:nvPr>
            <p:ph type="title"/>
          </p:nvPr>
        </p:nvSpPr>
        <p:spPr/>
        <p:txBody>
          <a:bodyPr/>
          <a:lstStyle/>
          <a:p>
            <a:r>
              <a:rPr lang="en-US" dirty="0"/>
              <a:t>Agenda</a:t>
            </a:r>
          </a:p>
        </p:txBody>
      </p:sp>
      <p:sp>
        <p:nvSpPr>
          <p:cNvPr id="14" name="Title 1">
            <a:extLst/>
          </p:cNvPr>
          <p:cNvSpPr txBox="1">
            <a:spLocks/>
          </p:cNvSpPr>
          <p:nvPr/>
        </p:nvSpPr>
        <p:spPr bwMode="auto">
          <a:xfrm>
            <a:off x="2902048" y="1315433"/>
            <a:ext cx="4023360" cy="36576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marL="342900" indent="-342900" algn="l" rtl="0" eaLnBrk="1" fontAlgn="base" hangingPunct="1">
              <a:spcBef>
                <a:spcPct val="0"/>
              </a:spcBef>
              <a:spcAft>
                <a:spcPct val="0"/>
              </a:spcAft>
              <a:defRPr b="1">
                <a:solidFill>
                  <a:schemeClr val="tx1"/>
                </a:solidFill>
                <a:latin typeface="+mn-lt"/>
                <a:ea typeface="+mj-ea"/>
                <a:cs typeface="+mj-cs"/>
              </a:defRPr>
            </a:lvl1pPr>
            <a:lvl2pPr algn="l" rtl="0" eaLnBrk="1" fontAlgn="base" hangingPunct="1">
              <a:spcBef>
                <a:spcPct val="0"/>
              </a:spcBef>
              <a:spcAft>
                <a:spcPct val="0"/>
              </a:spcAft>
              <a:defRPr b="1">
                <a:solidFill>
                  <a:schemeClr val="tx1"/>
                </a:solidFill>
                <a:latin typeface="Calibri" pitchFamily="34" charset="0"/>
              </a:defRPr>
            </a:lvl2pPr>
            <a:lvl3pPr algn="l" rtl="0" eaLnBrk="1" fontAlgn="base" hangingPunct="1">
              <a:spcBef>
                <a:spcPct val="0"/>
              </a:spcBef>
              <a:spcAft>
                <a:spcPct val="0"/>
              </a:spcAft>
              <a:defRPr b="1">
                <a:solidFill>
                  <a:schemeClr val="tx1"/>
                </a:solidFill>
                <a:latin typeface="Calibri" pitchFamily="34" charset="0"/>
              </a:defRPr>
            </a:lvl3pPr>
            <a:lvl4pPr algn="l" rtl="0" eaLnBrk="1" fontAlgn="base" hangingPunct="1">
              <a:spcBef>
                <a:spcPct val="0"/>
              </a:spcBef>
              <a:spcAft>
                <a:spcPct val="0"/>
              </a:spcAft>
              <a:defRPr b="1">
                <a:solidFill>
                  <a:schemeClr val="tx1"/>
                </a:solidFill>
                <a:latin typeface="Calibri" pitchFamily="34" charset="0"/>
              </a:defRPr>
            </a:lvl4pPr>
            <a:lvl5pPr algn="l" rtl="0" eaLnBrk="1" fontAlgn="base" hangingPunct="1">
              <a:spcBef>
                <a:spcPct val="0"/>
              </a:spcBef>
              <a:spcAft>
                <a:spcPct val="0"/>
              </a:spcAft>
              <a:defRPr b="1">
                <a:solidFill>
                  <a:schemeClr val="tx1"/>
                </a:solidFill>
                <a:latin typeface="Calibri" pitchFamily="34" charset="0"/>
              </a:defRPr>
            </a:lvl5pPr>
            <a:lvl6pPr marL="457200" algn="l" rtl="0" eaLnBrk="1" fontAlgn="base" hangingPunct="1">
              <a:spcBef>
                <a:spcPct val="0"/>
              </a:spcBef>
              <a:spcAft>
                <a:spcPct val="0"/>
              </a:spcAft>
              <a:defRPr sz="2800" b="1">
                <a:solidFill>
                  <a:schemeClr val="tx1"/>
                </a:solidFill>
                <a:latin typeface="Calibri" pitchFamily="34" charset="0"/>
              </a:defRPr>
            </a:lvl6pPr>
            <a:lvl7pPr marL="914400" algn="l" rtl="0" eaLnBrk="1" fontAlgn="base" hangingPunct="1">
              <a:spcBef>
                <a:spcPct val="0"/>
              </a:spcBef>
              <a:spcAft>
                <a:spcPct val="0"/>
              </a:spcAft>
              <a:defRPr sz="2800" b="1">
                <a:solidFill>
                  <a:schemeClr val="tx1"/>
                </a:solidFill>
                <a:latin typeface="Calibri" pitchFamily="34" charset="0"/>
              </a:defRPr>
            </a:lvl7pPr>
            <a:lvl8pPr marL="1371600" algn="l" rtl="0" eaLnBrk="1" fontAlgn="base" hangingPunct="1">
              <a:spcBef>
                <a:spcPct val="0"/>
              </a:spcBef>
              <a:spcAft>
                <a:spcPct val="0"/>
              </a:spcAft>
              <a:defRPr sz="2800" b="1">
                <a:solidFill>
                  <a:schemeClr val="tx1"/>
                </a:solidFill>
                <a:latin typeface="Calibri" pitchFamily="34" charset="0"/>
              </a:defRPr>
            </a:lvl8pPr>
            <a:lvl9pPr marL="1828800" algn="l" rtl="0" eaLnBrk="1" fontAlgn="base" hangingPunct="1">
              <a:spcBef>
                <a:spcPct val="0"/>
              </a:spcBef>
              <a:spcAft>
                <a:spcPct val="0"/>
              </a:spcAft>
              <a:defRPr sz="2800" b="1">
                <a:solidFill>
                  <a:schemeClr val="tx1"/>
                </a:solidFill>
                <a:latin typeface="Calibri" pitchFamily="34" charset="0"/>
              </a:defRPr>
            </a:lvl9pPr>
          </a:lstStyle>
          <a:p>
            <a:r>
              <a:rPr lang="en-US" kern="0" dirty="0">
                <a:solidFill>
                  <a:schemeClr val="bg1">
                    <a:lumMod val="65000"/>
                  </a:schemeClr>
                </a:solidFill>
                <a:latin typeface="Calibri" pitchFamily="34" charset="0"/>
              </a:rPr>
              <a:t>1. Investment Highlights</a:t>
            </a:r>
          </a:p>
        </p:txBody>
      </p:sp>
      <p:sp>
        <p:nvSpPr>
          <p:cNvPr id="16" name="Title 1">
            <a:extLst/>
          </p:cNvPr>
          <p:cNvSpPr txBox="1">
            <a:spLocks/>
          </p:cNvSpPr>
          <p:nvPr/>
        </p:nvSpPr>
        <p:spPr bwMode="auto">
          <a:xfrm>
            <a:off x="2902048" y="1763640"/>
            <a:ext cx="4023360" cy="365760"/>
          </a:xfrm>
          <a:prstGeom prst="rect">
            <a:avLst/>
          </a:prstGeom>
          <a:solidFill>
            <a:schemeClr val="accent1"/>
          </a:solidFill>
          <a:ln w="9525">
            <a:solidFill>
              <a:schemeClr val="accent1"/>
            </a:solidFill>
            <a:miter lim="800000"/>
            <a:headEnd/>
            <a:tailEnd/>
          </a:ln>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b="1">
                <a:solidFill>
                  <a:schemeClr val="tx1"/>
                </a:solidFill>
                <a:latin typeface="+mj-lt"/>
                <a:ea typeface="+mj-ea"/>
                <a:cs typeface="+mj-cs"/>
              </a:defRPr>
            </a:lvl1pPr>
            <a:lvl2pPr algn="l" rtl="0" eaLnBrk="1" fontAlgn="base" hangingPunct="1">
              <a:spcBef>
                <a:spcPct val="0"/>
              </a:spcBef>
              <a:spcAft>
                <a:spcPct val="0"/>
              </a:spcAft>
              <a:defRPr b="1">
                <a:solidFill>
                  <a:schemeClr val="tx1"/>
                </a:solidFill>
                <a:latin typeface="Calibri" pitchFamily="34" charset="0"/>
              </a:defRPr>
            </a:lvl2pPr>
            <a:lvl3pPr algn="l" rtl="0" eaLnBrk="1" fontAlgn="base" hangingPunct="1">
              <a:spcBef>
                <a:spcPct val="0"/>
              </a:spcBef>
              <a:spcAft>
                <a:spcPct val="0"/>
              </a:spcAft>
              <a:defRPr b="1">
                <a:solidFill>
                  <a:schemeClr val="tx1"/>
                </a:solidFill>
                <a:latin typeface="Calibri" pitchFamily="34" charset="0"/>
              </a:defRPr>
            </a:lvl3pPr>
            <a:lvl4pPr algn="l" rtl="0" eaLnBrk="1" fontAlgn="base" hangingPunct="1">
              <a:spcBef>
                <a:spcPct val="0"/>
              </a:spcBef>
              <a:spcAft>
                <a:spcPct val="0"/>
              </a:spcAft>
              <a:defRPr b="1">
                <a:solidFill>
                  <a:schemeClr val="tx1"/>
                </a:solidFill>
                <a:latin typeface="Calibri" pitchFamily="34" charset="0"/>
              </a:defRPr>
            </a:lvl4pPr>
            <a:lvl5pPr algn="l" rtl="0" eaLnBrk="1" fontAlgn="base" hangingPunct="1">
              <a:spcBef>
                <a:spcPct val="0"/>
              </a:spcBef>
              <a:spcAft>
                <a:spcPct val="0"/>
              </a:spcAft>
              <a:defRPr b="1">
                <a:solidFill>
                  <a:schemeClr val="tx1"/>
                </a:solidFill>
                <a:latin typeface="Calibri" pitchFamily="34" charset="0"/>
              </a:defRPr>
            </a:lvl5pPr>
            <a:lvl6pPr marL="457200" algn="l" rtl="0" eaLnBrk="1" fontAlgn="base" hangingPunct="1">
              <a:spcBef>
                <a:spcPct val="0"/>
              </a:spcBef>
              <a:spcAft>
                <a:spcPct val="0"/>
              </a:spcAft>
              <a:defRPr sz="2800" b="1">
                <a:solidFill>
                  <a:schemeClr val="tx1"/>
                </a:solidFill>
                <a:latin typeface="Calibri" pitchFamily="34" charset="0"/>
              </a:defRPr>
            </a:lvl6pPr>
            <a:lvl7pPr marL="914400" algn="l" rtl="0" eaLnBrk="1" fontAlgn="base" hangingPunct="1">
              <a:spcBef>
                <a:spcPct val="0"/>
              </a:spcBef>
              <a:spcAft>
                <a:spcPct val="0"/>
              </a:spcAft>
              <a:defRPr sz="2800" b="1">
                <a:solidFill>
                  <a:schemeClr val="tx1"/>
                </a:solidFill>
                <a:latin typeface="Calibri" pitchFamily="34" charset="0"/>
              </a:defRPr>
            </a:lvl7pPr>
            <a:lvl8pPr marL="1371600" algn="l" rtl="0" eaLnBrk="1" fontAlgn="base" hangingPunct="1">
              <a:spcBef>
                <a:spcPct val="0"/>
              </a:spcBef>
              <a:spcAft>
                <a:spcPct val="0"/>
              </a:spcAft>
              <a:defRPr sz="2800" b="1">
                <a:solidFill>
                  <a:schemeClr val="tx1"/>
                </a:solidFill>
                <a:latin typeface="Calibri" pitchFamily="34" charset="0"/>
              </a:defRPr>
            </a:lvl8pPr>
            <a:lvl9pPr marL="1828800" algn="l" rtl="0" eaLnBrk="1" fontAlgn="base" hangingPunct="1">
              <a:spcBef>
                <a:spcPct val="0"/>
              </a:spcBef>
              <a:spcAft>
                <a:spcPct val="0"/>
              </a:spcAft>
              <a:defRPr sz="2800" b="1">
                <a:solidFill>
                  <a:schemeClr val="tx1"/>
                </a:solidFill>
                <a:latin typeface="Calibri" pitchFamily="34" charset="0"/>
              </a:defRPr>
            </a:lvl9pPr>
          </a:lstStyle>
          <a:p>
            <a:r>
              <a:rPr lang="en-US" kern="0" dirty="0">
                <a:solidFill>
                  <a:schemeClr val="bg1"/>
                </a:solidFill>
                <a:latin typeface="Calibri" pitchFamily="34" charset="0"/>
                <a:ea typeface="LF_Kai"/>
                <a:cs typeface="LF_Kai"/>
              </a:rPr>
              <a:t>2. </a:t>
            </a:r>
            <a:r>
              <a:rPr lang="en-US" kern="0" dirty="0">
                <a:solidFill>
                  <a:schemeClr val="bg1"/>
                </a:solidFill>
              </a:rPr>
              <a:t>Indicative Valuation</a:t>
            </a:r>
          </a:p>
        </p:txBody>
      </p:sp>
    </p:spTree>
    <p:extLst>
      <p:ext uri="{BB962C8B-B14F-4D97-AF65-F5344CB8AC3E}">
        <p14:creationId xmlns:p14="http://schemas.microsoft.com/office/powerpoint/2010/main" val="30314657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74119" y="95250"/>
            <a:ext cx="9207917" cy="533400"/>
          </a:xfrm>
        </p:spPr>
        <p:txBody>
          <a:bodyPr/>
          <a:lstStyle/>
          <a:p>
            <a:r>
              <a:rPr lang="en-US" dirty="0"/>
              <a:t>Comparable Companies Trading Statistics – Core and ASEAN Comparable Companies</a:t>
            </a:r>
          </a:p>
        </p:txBody>
      </p:sp>
      <p:sp>
        <p:nvSpPr>
          <p:cNvPr id="8" name="Slide Number Placeholder 1">
            <a:extLst/>
          </p:cNvPr>
          <p:cNvSpPr>
            <a:spLocks noGrp="1"/>
          </p:cNvSpPr>
          <p:nvPr>
            <p:ph type="sldNum" sz="quarter" idx="4"/>
          </p:nvPr>
        </p:nvSpPr>
        <p:spPr>
          <a:xfrm>
            <a:off x="9294706" y="6457701"/>
            <a:ext cx="306494" cy="215444"/>
          </a:xfrm>
        </p:spPr>
        <p:txBody>
          <a:bodyPr/>
          <a:lstStyle/>
          <a:p>
            <a:fld id="{54750402-2FB9-4808-B45A-E9D8797657DF}" type="slidenum">
              <a:rPr lang="en-US" smtClean="0"/>
              <a:pPr/>
              <a:t>8</a:t>
            </a:fld>
            <a:endParaRPr lang="en-US" dirty="0"/>
          </a:p>
        </p:txBody>
      </p:sp>
      <p:graphicFrame>
        <p:nvGraphicFramePr>
          <p:cNvPr id="49" name="Table 48">
            <a:extLst>
              <a:ext uri="{FF2B5EF4-FFF2-40B4-BE49-F238E27FC236}">
                <a16:creationId xmlns:a16="http://schemas.microsoft.com/office/drawing/2014/main" id="{3032BC49-D970-4DAC-8120-BDA9EC4B86A0}"/>
              </a:ext>
            </a:extLst>
          </p:cNvPr>
          <p:cNvGraphicFramePr>
            <a:graphicFrameLocks noGrp="1"/>
          </p:cNvGraphicFramePr>
          <p:nvPr>
            <p:extLst>
              <p:ext uri="{D42A27DB-BD31-4B8C-83A1-F6EECF244321}">
                <p14:modId xmlns:p14="http://schemas.microsoft.com/office/powerpoint/2010/main" val="3761591479"/>
              </p:ext>
            </p:extLst>
          </p:nvPr>
        </p:nvGraphicFramePr>
        <p:xfrm>
          <a:off x="374119" y="724979"/>
          <a:ext cx="9207922" cy="5360361"/>
        </p:xfrm>
        <a:graphic>
          <a:graphicData uri="http://schemas.openxmlformats.org/drawingml/2006/table">
            <a:tbl>
              <a:tblPr/>
              <a:tblGrid>
                <a:gridCol w="2142293">
                  <a:extLst>
                    <a:ext uri="{9D8B030D-6E8A-4147-A177-3AD203B41FA5}">
                      <a16:colId xmlns:a16="http://schemas.microsoft.com/office/drawing/2014/main" val="2494670260"/>
                    </a:ext>
                  </a:extLst>
                </a:gridCol>
                <a:gridCol w="1120283">
                  <a:extLst>
                    <a:ext uri="{9D8B030D-6E8A-4147-A177-3AD203B41FA5}">
                      <a16:colId xmlns:a16="http://schemas.microsoft.com/office/drawing/2014/main" val="4044956155"/>
                    </a:ext>
                  </a:extLst>
                </a:gridCol>
                <a:gridCol w="540486">
                  <a:extLst>
                    <a:ext uri="{9D8B030D-6E8A-4147-A177-3AD203B41FA5}">
                      <a16:colId xmlns:a16="http://schemas.microsoft.com/office/drawing/2014/main" val="3581543076"/>
                    </a:ext>
                  </a:extLst>
                </a:gridCol>
                <a:gridCol w="540486">
                  <a:extLst>
                    <a:ext uri="{9D8B030D-6E8A-4147-A177-3AD203B41FA5}">
                      <a16:colId xmlns:a16="http://schemas.microsoft.com/office/drawing/2014/main" val="2868863002"/>
                    </a:ext>
                  </a:extLst>
                </a:gridCol>
                <a:gridCol w="540486">
                  <a:extLst>
                    <a:ext uri="{9D8B030D-6E8A-4147-A177-3AD203B41FA5}">
                      <a16:colId xmlns:a16="http://schemas.microsoft.com/office/drawing/2014/main" val="1735448162"/>
                    </a:ext>
                  </a:extLst>
                </a:gridCol>
                <a:gridCol w="540486">
                  <a:extLst>
                    <a:ext uri="{9D8B030D-6E8A-4147-A177-3AD203B41FA5}">
                      <a16:colId xmlns:a16="http://schemas.microsoft.com/office/drawing/2014/main" val="2740320065"/>
                    </a:ext>
                  </a:extLst>
                </a:gridCol>
                <a:gridCol w="540486">
                  <a:extLst>
                    <a:ext uri="{9D8B030D-6E8A-4147-A177-3AD203B41FA5}">
                      <a16:colId xmlns:a16="http://schemas.microsoft.com/office/drawing/2014/main" val="1101137592"/>
                    </a:ext>
                  </a:extLst>
                </a:gridCol>
                <a:gridCol w="540486">
                  <a:extLst>
                    <a:ext uri="{9D8B030D-6E8A-4147-A177-3AD203B41FA5}">
                      <a16:colId xmlns:a16="http://schemas.microsoft.com/office/drawing/2014/main" val="1366944165"/>
                    </a:ext>
                  </a:extLst>
                </a:gridCol>
                <a:gridCol w="540486">
                  <a:extLst>
                    <a:ext uri="{9D8B030D-6E8A-4147-A177-3AD203B41FA5}">
                      <a16:colId xmlns:a16="http://schemas.microsoft.com/office/drawing/2014/main" val="894246630"/>
                    </a:ext>
                  </a:extLst>
                </a:gridCol>
                <a:gridCol w="540486">
                  <a:extLst>
                    <a:ext uri="{9D8B030D-6E8A-4147-A177-3AD203B41FA5}">
                      <a16:colId xmlns:a16="http://schemas.microsoft.com/office/drawing/2014/main" val="3808749527"/>
                    </a:ext>
                  </a:extLst>
                </a:gridCol>
                <a:gridCol w="540486">
                  <a:extLst>
                    <a:ext uri="{9D8B030D-6E8A-4147-A177-3AD203B41FA5}">
                      <a16:colId xmlns:a16="http://schemas.microsoft.com/office/drawing/2014/main" val="2561746114"/>
                    </a:ext>
                  </a:extLst>
                </a:gridCol>
                <a:gridCol w="540486">
                  <a:extLst>
                    <a:ext uri="{9D8B030D-6E8A-4147-A177-3AD203B41FA5}">
                      <a16:colId xmlns:a16="http://schemas.microsoft.com/office/drawing/2014/main" val="3157390845"/>
                    </a:ext>
                  </a:extLst>
                </a:gridCol>
                <a:gridCol w="540486">
                  <a:extLst>
                    <a:ext uri="{9D8B030D-6E8A-4147-A177-3AD203B41FA5}">
                      <a16:colId xmlns:a16="http://schemas.microsoft.com/office/drawing/2014/main" val="713776528"/>
                    </a:ext>
                  </a:extLst>
                </a:gridCol>
              </a:tblGrid>
              <a:tr h="155978">
                <a:tc rowSpan="3">
                  <a:txBody>
                    <a:bodyPr/>
                    <a:lstStyle/>
                    <a:p>
                      <a:pPr algn="ctr" fontAlgn="ctr"/>
                      <a:r>
                        <a:rPr lang="en-US" sz="800" b="1" i="0" u="none" strike="noStrike" dirty="0">
                          <a:solidFill>
                            <a:srgbClr val="FFFFFF"/>
                          </a:solidFill>
                          <a:effectLst/>
                          <a:latin typeface="+mj-lt"/>
                          <a:ea typeface="宋体" panose="02010600030101010101" pitchFamily="2" charset="-122"/>
                        </a:rPr>
                        <a:t>Company Name</a:t>
                      </a:r>
                    </a:p>
                  </a:txBody>
                  <a:tcPr marL="4062" marR="4062" marT="4062" marB="0" anchor="ctr">
                    <a:lnL>
                      <a:noFill/>
                    </a:lnL>
                    <a:lnR w="19050" cap="flat" cmpd="sng" algn="ctr">
                      <a:solidFill>
                        <a:srgbClr val="FFFFFF"/>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solidFill>
                      <a:srgbClr val="800000"/>
                    </a:solidFill>
                  </a:tcPr>
                </a:tc>
                <a:tc rowSpan="3">
                  <a:txBody>
                    <a:bodyPr/>
                    <a:lstStyle/>
                    <a:p>
                      <a:pPr algn="ctr" fontAlgn="ctr"/>
                      <a:r>
                        <a:rPr lang="en-US" sz="800" b="1" i="0" u="none" strike="noStrike" dirty="0">
                          <a:solidFill>
                            <a:srgbClr val="FFFFFF"/>
                          </a:solidFill>
                          <a:effectLst/>
                          <a:latin typeface="+mj-lt"/>
                          <a:ea typeface="宋体" panose="02010600030101010101" pitchFamily="2" charset="-122"/>
                        </a:rPr>
                        <a:t>Stock Code</a:t>
                      </a:r>
                    </a:p>
                  </a:txBody>
                  <a:tcPr marL="4062" marR="4062" marT="4062"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solidFill>
                      <a:srgbClr val="800000"/>
                    </a:solidFill>
                  </a:tcPr>
                </a:tc>
                <a:tc gridSpan="5">
                  <a:txBody>
                    <a:bodyPr/>
                    <a:lstStyle/>
                    <a:p>
                      <a:pPr algn="ctr" fontAlgn="ctr"/>
                      <a:r>
                        <a:rPr lang="en-US" sz="800" b="1" i="0" u="none" strike="noStrike" dirty="0">
                          <a:solidFill>
                            <a:srgbClr val="FFFFFF"/>
                          </a:solidFill>
                          <a:effectLst/>
                          <a:latin typeface="+mj-lt"/>
                          <a:ea typeface="宋体" panose="02010600030101010101" pitchFamily="2" charset="-122"/>
                        </a:rPr>
                        <a:t>Operation</a:t>
                      </a:r>
                    </a:p>
                  </a:txBody>
                  <a:tcPr marL="4062" marR="4062" marT="4062" marB="0" anchor="ctr">
                    <a:lnL w="19050" cap="flat" cmpd="sng" algn="ctr">
                      <a:solidFill>
                        <a:srgbClr val="FFFFFF"/>
                      </a:solidFill>
                      <a:prstDash val="solid"/>
                      <a:round/>
                      <a:headEnd type="none" w="med" len="med"/>
                      <a:tailEnd type="none" w="med" len="med"/>
                    </a:lnL>
                    <a:lnR w="19050" cap="flat" cmpd="sng" algn="ctr">
                      <a:solidFill>
                        <a:schemeClr val="bg1"/>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8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algn="ctr" fontAlgn="ctr"/>
                      <a:r>
                        <a:rPr lang="en-US" sz="800" b="1" i="0" u="none" strike="noStrike">
                          <a:solidFill>
                            <a:srgbClr val="FFFFFF"/>
                          </a:solidFill>
                          <a:effectLst/>
                          <a:latin typeface="+mj-lt"/>
                          <a:ea typeface="宋体" panose="02010600030101010101" pitchFamily="2" charset="-122"/>
                        </a:rPr>
                        <a:t>Valuation</a:t>
                      </a:r>
                    </a:p>
                  </a:txBody>
                  <a:tcPr marL="4062" marR="4062" marT="4062" marB="0" anchor="ctr">
                    <a:lnL w="19050" cap="flat" cmpd="sng" algn="ctr">
                      <a:solidFill>
                        <a:schemeClr val="bg1"/>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800000"/>
                    </a:solidFill>
                  </a:tcPr>
                </a:tc>
                <a:tc hMerge="1">
                  <a:txBody>
                    <a:bodyPr/>
                    <a:lstStyle/>
                    <a:p>
                      <a:endParaRPr lang="en-US"/>
                    </a:p>
                  </a:txBody>
                  <a:tcPr/>
                </a:tc>
                <a:tc hMerge="1">
                  <a:txBody>
                    <a:bodyPr/>
                    <a:lstStyle/>
                    <a:p>
                      <a:endParaRPr lang="en-US"/>
                    </a:p>
                  </a:txBody>
                  <a:tcPr/>
                </a:tc>
                <a:tc gridSpan="3">
                  <a:txBody>
                    <a:bodyPr/>
                    <a:lstStyle/>
                    <a:p>
                      <a:pPr algn="ctr" fontAlgn="ctr"/>
                      <a:r>
                        <a:rPr lang="en-US" sz="800" b="1" i="0" u="none" strike="noStrike">
                          <a:solidFill>
                            <a:srgbClr val="FFFFFF"/>
                          </a:solidFill>
                          <a:effectLst/>
                          <a:latin typeface="+mj-lt"/>
                          <a:ea typeface="宋体" panose="02010600030101010101" pitchFamily="2" charset="-122"/>
                        </a:rPr>
                        <a:t>Trading</a:t>
                      </a:r>
                    </a:p>
                  </a:txBody>
                  <a:tcPr marL="4062" marR="4062" marT="4062"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800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85570207"/>
                  </a:ext>
                </a:extLst>
              </a:tr>
              <a:tr h="155978">
                <a:tc vMerge="1">
                  <a:txBody>
                    <a:bodyPr/>
                    <a:lstStyle/>
                    <a:p>
                      <a:endParaRPr lang="en-US"/>
                    </a:p>
                  </a:txBody>
                  <a:tcPr/>
                </a:tc>
                <a:tc vMerge="1">
                  <a:txBody>
                    <a:bodyPr/>
                    <a:lstStyle/>
                    <a:p>
                      <a:endParaRPr lang="en-US"/>
                    </a:p>
                  </a:txBody>
                  <a:tcPr/>
                </a:tc>
                <a:tc rowSpan="2">
                  <a:txBody>
                    <a:bodyPr/>
                    <a:lstStyle/>
                    <a:p>
                      <a:pPr algn="ctr" fontAlgn="ctr"/>
                      <a:r>
                        <a:rPr lang="en-US" sz="800" b="1" i="0" u="none" strike="noStrike">
                          <a:effectLst/>
                          <a:latin typeface="+mj-lt"/>
                          <a:ea typeface="宋体" panose="02010600030101010101" pitchFamily="2" charset="-122"/>
                        </a:rPr>
                        <a:t>Market Cap</a:t>
                      </a:r>
                      <a:br>
                        <a:rPr lang="en-US" sz="800" b="1" i="0" u="none" strike="noStrike">
                          <a:effectLst/>
                          <a:latin typeface="+mj-lt"/>
                          <a:ea typeface="宋体" panose="02010600030101010101" pitchFamily="2" charset="-122"/>
                        </a:rPr>
                      </a:br>
                      <a:r>
                        <a:rPr lang="en-US" sz="800" b="1" i="0" u="none" strike="noStrike">
                          <a:effectLst/>
                          <a:latin typeface="+mj-lt"/>
                          <a:ea typeface="宋体" panose="02010600030101010101" pitchFamily="2" charset="-122"/>
                        </a:rPr>
                        <a:t>(USD'm)</a:t>
                      </a:r>
                    </a:p>
                  </a:txBody>
                  <a:tcPr marL="4062" marR="4062" marT="4062"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rowSpan="2">
                  <a:txBody>
                    <a:bodyPr/>
                    <a:lstStyle/>
                    <a:p>
                      <a:pPr algn="ctr" fontAlgn="ctr"/>
                      <a:r>
                        <a:rPr lang="en-US" sz="800" b="1" i="0" u="none" strike="noStrike">
                          <a:effectLst/>
                          <a:latin typeface="+mj-lt"/>
                          <a:ea typeface="宋体" panose="02010600030101010101" pitchFamily="2" charset="-122"/>
                        </a:rPr>
                        <a:t>Price</a:t>
                      </a:r>
                      <a:br>
                        <a:rPr lang="en-US" sz="800" b="1" i="0" u="none" strike="noStrike">
                          <a:effectLst/>
                          <a:latin typeface="+mj-lt"/>
                          <a:ea typeface="宋体" panose="02010600030101010101" pitchFamily="2" charset="-122"/>
                        </a:rPr>
                      </a:br>
                      <a:r>
                        <a:rPr lang="en-US" sz="800" b="1" i="0" u="none" strike="noStrike">
                          <a:effectLst/>
                          <a:latin typeface="+mj-lt"/>
                          <a:ea typeface="宋体" panose="02010600030101010101" pitchFamily="2" charset="-122"/>
                        </a:rPr>
                        <a:t>(Traded Curncy)</a:t>
                      </a:r>
                    </a:p>
                  </a:txBody>
                  <a:tcPr marL="4062" marR="4062" marT="4062"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rowSpan="2">
                  <a:txBody>
                    <a:bodyPr/>
                    <a:lstStyle/>
                    <a:p>
                      <a:pPr algn="ctr" fontAlgn="ctr"/>
                      <a:r>
                        <a:rPr lang="en-US" sz="800" b="1" i="0" u="none" strike="noStrike">
                          <a:effectLst/>
                          <a:latin typeface="+mj-lt"/>
                          <a:ea typeface="宋体" panose="02010600030101010101" pitchFamily="2" charset="-122"/>
                        </a:rPr>
                        <a:t>Net Asset </a:t>
                      </a:r>
                      <a:br>
                        <a:rPr lang="en-US" sz="800" b="1" i="0" u="none" strike="noStrike">
                          <a:effectLst/>
                          <a:latin typeface="+mj-lt"/>
                          <a:ea typeface="宋体" panose="02010600030101010101" pitchFamily="2" charset="-122"/>
                        </a:rPr>
                      </a:br>
                      <a:r>
                        <a:rPr lang="en-US" sz="800" b="1" i="0" u="none" strike="noStrike">
                          <a:effectLst/>
                          <a:latin typeface="+mj-lt"/>
                          <a:ea typeface="宋体" panose="02010600030101010101" pitchFamily="2" charset="-122"/>
                        </a:rPr>
                        <a:t>(USD'm)</a:t>
                      </a:r>
                    </a:p>
                  </a:txBody>
                  <a:tcPr marL="4062" marR="4062" marT="4062"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rowSpan="2">
                  <a:txBody>
                    <a:bodyPr/>
                    <a:lstStyle/>
                    <a:p>
                      <a:pPr algn="ctr" fontAlgn="ctr"/>
                      <a:r>
                        <a:rPr lang="en-US" sz="800" b="1" i="0" u="none" strike="noStrike">
                          <a:effectLst/>
                          <a:latin typeface="+mj-lt"/>
                          <a:ea typeface="宋体" panose="02010600030101010101" pitchFamily="2" charset="-122"/>
                        </a:rPr>
                        <a:t>Revenue </a:t>
                      </a:r>
                      <a:br>
                        <a:rPr lang="en-US" sz="800" b="1" i="0" u="none" strike="noStrike">
                          <a:effectLst/>
                          <a:latin typeface="+mj-lt"/>
                          <a:ea typeface="宋体" panose="02010600030101010101" pitchFamily="2" charset="-122"/>
                        </a:rPr>
                      </a:br>
                      <a:r>
                        <a:rPr lang="en-US" sz="800" b="1" i="0" u="none" strike="noStrike">
                          <a:effectLst/>
                          <a:latin typeface="+mj-lt"/>
                          <a:ea typeface="宋体" panose="02010600030101010101" pitchFamily="2" charset="-122"/>
                        </a:rPr>
                        <a:t>(USD'm)</a:t>
                      </a:r>
                    </a:p>
                  </a:txBody>
                  <a:tcPr marL="4062" marR="4062" marT="4062"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rowSpan="2">
                  <a:txBody>
                    <a:bodyPr/>
                    <a:lstStyle/>
                    <a:p>
                      <a:pPr algn="ctr" fontAlgn="ctr"/>
                      <a:r>
                        <a:rPr lang="en-US" sz="800" b="1" i="0" u="none" strike="noStrike">
                          <a:effectLst/>
                          <a:latin typeface="+mj-lt"/>
                          <a:ea typeface="宋体" panose="02010600030101010101" pitchFamily="2" charset="-122"/>
                        </a:rPr>
                        <a:t>Net Prof</a:t>
                      </a:r>
                      <a:br>
                        <a:rPr lang="en-US" sz="800" b="1" i="0" u="none" strike="noStrike">
                          <a:effectLst/>
                          <a:latin typeface="+mj-lt"/>
                          <a:ea typeface="宋体" panose="02010600030101010101" pitchFamily="2" charset="-122"/>
                        </a:rPr>
                      </a:br>
                      <a:r>
                        <a:rPr lang="en-US" sz="800" b="1" i="0" u="none" strike="noStrike">
                          <a:effectLst/>
                          <a:latin typeface="+mj-lt"/>
                          <a:ea typeface="宋体" panose="02010600030101010101" pitchFamily="2" charset="-122"/>
                        </a:rPr>
                        <a:t>(USD'm)</a:t>
                      </a:r>
                    </a:p>
                  </a:txBody>
                  <a:tcPr marL="4062" marR="4062" marT="4062"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gridSpan="3">
                  <a:txBody>
                    <a:bodyPr/>
                    <a:lstStyle/>
                    <a:p>
                      <a:pPr algn="ctr" fontAlgn="ctr"/>
                      <a:r>
                        <a:rPr lang="en-US" sz="800" b="1" i="0" u="none" strike="noStrike" dirty="0">
                          <a:solidFill>
                            <a:srgbClr val="FFFFFF"/>
                          </a:solidFill>
                          <a:effectLst/>
                          <a:latin typeface="+mj-lt"/>
                          <a:ea typeface="宋体" panose="02010600030101010101" pitchFamily="2" charset="-122"/>
                        </a:rPr>
                        <a:t>P/E (x)</a:t>
                      </a:r>
                    </a:p>
                  </a:txBody>
                  <a:tcPr marL="4062" marR="4062" marT="4062"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0000"/>
                    </a:solidFill>
                  </a:tcPr>
                </a:tc>
                <a:tc hMerge="1">
                  <a:txBody>
                    <a:bodyPr/>
                    <a:lstStyle/>
                    <a:p>
                      <a:endParaRPr lang="en-US"/>
                    </a:p>
                  </a:txBody>
                  <a:tcPr/>
                </a:tc>
                <a:tc hMerge="1">
                  <a:txBody>
                    <a:bodyPr/>
                    <a:lstStyle/>
                    <a:p>
                      <a:endParaRPr lang="en-US"/>
                    </a:p>
                  </a:txBody>
                  <a:tcPr/>
                </a:tc>
                <a:tc rowSpan="2">
                  <a:txBody>
                    <a:bodyPr/>
                    <a:lstStyle/>
                    <a:p>
                      <a:pPr algn="ctr" fontAlgn="ctr"/>
                      <a:r>
                        <a:rPr lang="en-US" sz="800" b="1" i="0" u="none" strike="noStrike">
                          <a:effectLst/>
                          <a:latin typeface="+mj-lt"/>
                          <a:ea typeface="宋体" panose="02010600030101010101" pitchFamily="2" charset="-122"/>
                        </a:rPr>
                        <a:t>1M Return</a:t>
                      </a:r>
                    </a:p>
                  </a:txBody>
                  <a:tcPr marL="4062" marR="4062" marT="4062"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rowSpan="2">
                  <a:txBody>
                    <a:bodyPr/>
                    <a:lstStyle/>
                    <a:p>
                      <a:pPr algn="ctr" fontAlgn="ctr"/>
                      <a:r>
                        <a:rPr lang="en-US" sz="800" b="1" i="0" u="none" strike="noStrike">
                          <a:effectLst/>
                          <a:latin typeface="+mj-lt"/>
                          <a:ea typeface="宋体" panose="02010600030101010101" pitchFamily="2" charset="-122"/>
                        </a:rPr>
                        <a:t>6M Return</a:t>
                      </a:r>
                    </a:p>
                  </a:txBody>
                  <a:tcPr marL="4062" marR="4062" marT="4062"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rowSpan="2">
                  <a:txBody>
                    <a:bodyPr/>
                    <a:lstStyle/>
                    <a:p>
                      <a:pPr algn="ctr" fontAlgn="ctr"/>
                      <a:r>
                        <a:rPr lang="en-US" sz="800" b="1" i="0" u="none" strike="noStrike">
                          <a:effectLst/>
                          <a:latin typeface="+mj-lt"/>
                          <a:ea typeface="宋体" panose="02010600030101010101" pitchFamily="2" charset="-122"/>
                        </a:rPr>
                        <a:t>YTD Return</a:t>
                      </a:r>
                    </a:p>
                  </a:txBody>
                  <a:tcPr marL="4062" marR="4062" marT="4062"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extLst>
                  <a:ext uri="{0D108BD9-81ED-4DB2-BD59-A6C34878D82A}">
                    <a16:rowId xmlns:a16="http://schemas.microsoft.com/office/drawing/2014/main" val="556954001"/>
                  </a:ext>
                </a:extLst>
              </a:tr>
              <a:tr h="186848">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800" b="1" i="0" u="none" strike="noStrike">
                          <a:effectLst/>
                          <a:latin typeface="+mj-lt"/>
                          <a:ea typeface="宋体" panose="02010600030101010101" pitchFamily="2" charset="-122"/>
                        </a:rPr>
                        <a:t>TTM</a:t>
                      </a:r>
                    </a:p>
                  </a:txBody>
                  <a:tcPr marL="4062" marR="4062" marT="4062"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a:txBody>
                    <a:bodyPr/>
                    <a:lstStyle/>
                    <a:p>
                      <a:pPr algn="ctr" fontAlgn="ctr"/>
                      <a:r>
                        <a:rPr lang="en-US" sz="800" b="1" i="0" u="none" strike="noStrike">
                          <a:effectLst/>
                          <a:latin typeface="+mj-lt"/>
                          <a:ea typeface="宋体" panose="02010600030101010101" pitchFamily="2" charset="-122"/>
                        </a:rPr>
                        <a:t>2019e</a:t>
                      </a:r>
                    </a:p>
                  </a:txBody>
                  <a:tcPr marL="4062" marR="4062" marT="4062"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a:txBody>
                    <a:bodyPr/>
                    <a:lstStyle/>
                    <a:p>
                      <a:pPr algn="ctr" fontAlgn="ctr"/>
                      <a:r>
                        <a:rPr lang="en-US" sz="800" b="1" i="0" u="none" strike="noStrike" dirty="0">
                          <a:effectLst/>
                          <a:latin typeface="+mj-lt"/>
                          <a:ea typeface="宋体" panose="02010600030101010101" pitchFamily="2" charset="-122"/>
                        </a:rPr>
                        <a:t>2020e</a:t>
                      </a:r>
                    </a:p>
                  </a:txBody>
                  <a:tcPr marL="4062" marR="4062" marT="4062"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040551272"/>
                  </a:ext>
                </a:extLst>
              </a:tr>
              <a:tr h="155978">
                <a:tc>
                  <a:txBody>
                    <a:bodyPr/>
                    <a:lstStyle/>
                    <a:p>
                      <a:pPr algn="l" fontAlgn="ctr"/>
                      <a:r>
                        <a:rPr lang="en-US" sz="800" b="1" i="0" u="none" strike="noStrike">
                          <a:effectLst/>
                          <a:latin typeface="+mj-lt"/>
                          <a:ea typeface="宋体" panose="02010600030101010101" pitchFamily="2" charset="-122"/>
                        </a:rPr>
                        <a:t>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r>
                        <a:rPr lang="en-US" sz="800" b="0" i="0" u="none" strike="noStrike">
                          <a:effectLst/>
                          <a:latin typeface="+mj-lt"/>
                          <a:ea typeface="宋体" panose="02010600030101010101" pitchFamily="2" charset="-122"/>
                        </a:rPr>
                        <a:t>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dirty="0">
                          <a:effectLst/>
                          <a:latin typeface="+mj-lt"/>
                          <a:ea typeface="宋体" panose="02010600030101010101" pitchFamily="2" charset="-122"/>
                        </a:rPr>
                        <a:t>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1883608824"/>
                  </a:ext>
                </a:extLst>
              </a:tr>
              <a:tr h="155978">
                <a:tc>
                  <a:txBody>
                    <a:bodyPr/>
                    <a:lstStyle/>
                    <a:p>
                      <a:pPr algn="l" fontAlgn="ctr"/>
                      <a:r>
                        <a:rPr lang="en-US" sz="800" b="1" i="0" u="none" strike="noStrike">
                          <a:solidFill>
                            <a:srgbClr val="FFFFFF"/>
                          </a:solidFill>
                          <a:effectLst/>
                          <a:latin typeface="+mj-lt"/>
                          <a:ea typeface="宋体" panose="02010600030101010101" pitchFamily="2" charset="-122"/>
                        </a:rPr>
                        <a:t>Core Comparable Companies</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404040"/>
                    </a:solidFill>
                  </a:tcPr>
                </a:tc>
                <a:tc>
                  <a:txBody>
                    <a:bodyPr/>
                    <a:lstStyle/>
                    <a:p>
                      <a:pPr algn="l" fontAlgn="ctr"/>
                      <a:r>
                        <a:rPr lang="en-US" sz="800" b="1" i="0" u="none" strike="noStrike">
                          <a:solidFill>
                            <a:srgbClr val="FFFFFF"/>
                          </a:solidFill>
                          <a:effectLst/>
                          <a:latin typeface="+mj-lt"/>
                          <a:ea typeface="宋体" panose="02010600030101010101" pitchFamily="2" charset="-122"/>
                        </a:rPr>
                        <a:t>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404040"/>
                    </a:solidFill>
                  </a:tcPr>
                </a:tc>
                <a:tc>
                  <a:txBody>
                    <a:bodyPr/>
                    <a:lstStyle/>
                    <a:p>
                      <a:pPr algn="l" fontAlgn="ctr"/>
                      <a:r>
                        <a:rPr lang="en-US" sz="800" b="1" i="0" u="none" strike="noStrike">
                          <a:solidFill>
                            <a:srgbClr val="FFFFFF"/>
                          </a:solidFill>
                          <a:effectLst/>
                          <a:latin typeface="+mj-lt"/>
                          <a:ea typeface="宋体" panose="02010600030101010101" pitchFamily="2" charset="-122"/>
                        </a:rPr>
                        <a:t>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404040"/>
                    </a:solidFill>
                  </a:tcPr>
                </a:tc>
                <a:tc>
                  <a:txBody>
                    <a:bodyPr/>
                    <a:lstStyle/>
                    <a:p>
                      <a:pPr algn="l" fontAlgn="ctr"/>
                      <a:r>
                        <a:rPr lang="en-US" sz="800" b="1" i="0" u="none" strike="noStrike">
                          <a:solidFill>
                            <a:srgbClr val="FFFFFF"/>
                          </a:solidFill>
                          <a:effectLst/>
                          <a:latin typeface="+mj-lt"/>
                          <a:ea typeface="宋体" panose="02010600030101010101" pitchFamily="2" charset="-122"/>
                        </a:rPr>
                        <a:t>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r>
                        <a:rPr lang="en-US" sz="800" b="1" i="0" u="none" strike="noStrike">
                          <a:effectLst/>
                          <a:latin typeface="+mj-lt"/>
                          <a:ea typeface="宋体" panose="02010600030101010101" pitchFamily="2" charset="-122"/>
                        </a:rPr>
                        <a:t>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r>
                        <a:rPr lang="en-US" sz="800" b="1" i="0" u="none" strike="noStrike">
                          <a:effectLst/>
                          <a:latin typeface="+mj-lt"/>
                          <a:ea typeface="宋体" panose="02010600030101010101" pitchFamily="2" charset="-122"/>
                        </a:rPr>
                        <a:t>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r>
                        <a:rPr lang="en-US" sz="800" b="1" i="0" u="none" strike="noStrike">
                          <a:effectLst/>
                          <a:latin typeface="+mj-lt"/>
                          <a:ea typeface="宋体" panose="02010600030101010101" pitchFamily="2" charset="-122"/>
                        </a:rPr>
                        <a:t>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r>
                        <a:rPr lang="en-US" sz="800" b="0" i="0" u="none" strike="noStrike">
                          <a:effectLst/>
                          <a:latin typeface="+mj-lt"/>
                          <a:ea typeface="宋体" panose="02010600030101010101" pitchFamily="2" charset="-122"/>
                        </a:rPr>
                        <a:t>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r>
                        <a:rPr lang="en-US" sz="800" b="0" i="0" u="none" strike="noStrike">
                          <a:effectLst/>
                          <a:latin typeface="+mj-lt"/>
                          <a:ea typeface="宋体" panose="02010600030101010101" pitchFamily="2" charset="-122"/>
                        </a:rPr>
                        <a:t>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r>
                        <a:rPr lang="en-US" sz="800" b="0" i="0" u="none" strike="noStrike">
                          <a:effectLst/>
                          <a:latin typeface="+mj-lt"/>
                          <a:ea typeface="宋体" panose="02010600030101010101" pitchFamily="2" charset="-122"/>
                        </a:rPr>
                        <a:t>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r>
                        <a:rPr lang="en-US" sz="800" b="0" i="0" u="none" strike="noStrike">
                          <a:effectLst/>
                          <a:latin typeface="+mj-lt"/>
                          <a:ea typeface="宋体" panose="02010600030101010101" pitchFamily="2" charset="-122"/>
                        </a:rPr>
                        <a:t>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r>
                        <a:rPr lang="en-US" sz="800" b="0" i="0" u="none" strike="noStrike">
                          <a:effectLst/>
                          <a:latin typeface="+mj-lt"/>
                          <a:ea typeface="宋体" panose="02010600030101010101" pitchFamily="2" charset="-122"/>
                        </a:rPr>
                        <a:t>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r>
                        <a:rPr lang="en-US" sz="800" b="0" i="0" u="none" strike="noStrike" dirty="0">
                          <a:effectLst/>
                          <a:latin typeface="+mj-lt"/>
                          <a:ea typeface="宋体" panose="02010600030101010101" pitchFamily="2" charset="-122"/>
                        </a:rPr>
                        <a:t>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404040"/>
                    </a:solidFill>
                  </a:tcPr>
                </a:tc>
                <a:extLst>
                  <a:ext uri="{0D108BD9-81ED-4DB2-BD59-A6C34878D82A}">
                    <a16:rowId xmlns:a16="http://schemas.microsoft.com/office/drawing/2014/main" val="57251143"/>
                  </a:ext>
                </a:extLst>
              </a:tr>
              <a:tr h="243715">
                <a:tc>
                  <a:txBody>
                    <a:bodyPr/>
                    <a:lstStyle/>
                    <a:p>
                      <a:pPr algn="l" fontAlgn="ctr"/>
                      <a:r>
                        <a:rPr lang="en-US" sz="800" b="1" i="0" u="none" strike="noStrike">
                          <a:effectLst/>
                          <a:latin typeface="+mj-lt"/>
                          <a:ea typeface="宋体" panose="02010600030101010101" pitchFamily="2" charset="-122"/>
                        </a:rPr>
                        <a:t>SF Holding Co Ltd</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r>
                        <a:rPr lang="en-US" sz="800" b="0" i="0" u="none" strike="noStrike">
                          <a:effectLst/>
                          <a:latin typeface="+mj-lt"/>
                          <a:ea typeface="宋体" panose="02010600030101010101" pitchFamily="2" charset="-122"/>
                        </a:rPr>
                        <a:t>002352 CH Equity</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dirty="0">
                          <a:effectLst/>
                          <a:latin typeface="+mj-lt"/>
                          <a:ea typeface="宋体" panose="02010600030101010101" pitchFamily="2" charset="-122"/>
                        </a:rPr>
                        <a:t>24,916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dirty="0">
                          <a:effectLst/>
                          <a:latin typeface="+mj-lt"/>
                          <a:ea typeface="宋体" panose="02010600030101010101" pitchFamily="2" charset="-122"/>
                        </a:rPr>
                        <a:t>40.47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5,367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13,725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689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32.80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34.83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28.78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9.97%</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10.45%</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23.57%</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3749293998"/>
                  </a:ext>
                </a:extLst>
              </a:tr>
              <a:tr h="243715">
                <a:tc>
                  <a:txBody>
                    <a:bodyPr/>
                    <a:lstStyle/>
                    <a:p>
                      <a:pPr algn="l" fontAlgn="ctr"/>
                      <a:r>
                        <a:rPr lang="en-US" sz="800" b="1" i="0" u="none" strike="noStrike">
                          <a:effectLst/>
                          <a:latin typeface="+mj-lt"/>
                          <a:ea typeface="宋体" panose="02010600030101010101" pitchFamily="2" charset="-122"/>
                        </a:rPr>
                        <a:t>Sinotrans Ltd</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r>
                        <a:rPr lang="en-US" sz="800" b="0" i="0" u="none" strike="noStrike">
                          <a:effectLst/>
                          <a:latin typeface="+mj-lt"/>
                          <a:ea typeface="宋体" panose="02010600030101010101" pitchFamily="2" charset="-122"/>
                        </a:rPr>
                        <a:t>598 HK Equity</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3,978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2.54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4,049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11,668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409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5.16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6.73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6.05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-3.42%</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-32.80%</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-25.29%</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4217552530"/>
                  </a:ext>
                </a:extLst>
              </a:tr>
              <a:tr h="243715">
                <a:tc>
                  <a:txBody>
                    <a:bodyPr/>
                    <a:lstStyle/>
                    <a:p>
                      <a:pPr algn="l" fontAlgn="ctr"/>
                      <a:r>
                        <a:rPr lang="en-US" sz="800" b="1" i="0" u="none" strike="noStrike">
                          <a:effectLst/>
                          <a:latin typeface="+mj-lt"/>
                          <a:ea typeface="宋体" panose="02010600030101010101" pitchFamily="2" charset="-122"/>
                        </a:rPr>
                        <a:t>Kerry Logistics Network Ltd</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r>
                        <a:rPr lang="en-US" sz="800" b="0" i="0" u="none" strike="noStrike">
                          <a:effectLst/>
                          <a:latin typeface="+mj-lt"/>
                          <a:ea typeface="宋体" panose="02010600030101010101" pitchFamily="2" charset="-122"/>
                        </a:rPr>
                        <a:t>636 HK Equity</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2,624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12.00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3,022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4,866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311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4.79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10.74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11.96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-6.98%</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-9.97%</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dirty="0">
                          <a:effectLst/>
                          <a:latin typeface="+mj-lt"/>
                          <a:ea typeface="宋体" panose="02010600030101010101" pitchFamily="2" charset="-122"/>
                        </a:rPr>
                        <a:t>5.83%</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3073582883"/>
                  </a:ext>
                </a:extLst>
              </a:tr>
              <a:tr h="243715">
                <a:tc>
                  <a:txBody>
                    <a:bodyPr/>
                    <a:lstStyle/>
                    <a:p>
                      <a:pPr algn="l" fontAlgn="ctr"/>
                      <a:r>
                        <a:rPr lang="en-US" sz="800" b="1" i="0" u="none" strike="noStrike">
                          <a:effectLst/>
                          <a:latin typeface="+mj-lt"/>
                          <a:ea typeface="宋体" panose="02010600030101010101" pitchFamily="2" charset="-122"/>
                        </a:rPr>
                        <a:t>YTO Express Holdings Ltd</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r>
                        <a:rPr lang="en-US" sz="800" b="0" i="0" u="none" strike="noStrike">
                          <a:effectLst/>
                          <a:latin typeface="+mj-lt"/>
                          <a:ea typeface="宋体" panose="02010600030101010101" pitchFamily="2" charset="-122"/>
                        </a:rPr>
                        <a:t>6123 HK Equity</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106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2.00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74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569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13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11.62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6.45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-19.35%</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-36.10%</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-40.30%</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3113830776"/>
                  </a:ext>
                </a:extLst>
              </a:tr>
              <a:tr h="155978">
                <a:tc>
                  <a:txBody>
                    <a:bodyPr/>
                    <a:lstStyle/>
                    <a:p>
                      <a:pPr algn="l" fontAlgn="ctr"/>
                      <a:endParaRPr lang="en-US" sz="800" b="1" i="0" u="none" strike="noStrike">
                        <a:effectLst/>
                        <a:latin typeface="+mj-lt"/>
                        <a:ea typeface="宋体" panose="02010600030101010101" pitchFamily="2" charset="-122"/>
                      </a:endParaRPr>
                    </a:p>
                  </a:txBody>
                  <a:tcPr marL="4062" marR="4062" marT="4062" marB="0" anchor="ctr">
                    <a:lnL>
                      <a:noFill/>
                    </a:lnL>
                    <a:lnR>
                      <a:noFill/>
                    </a:lnR>
                    <a:lnT w="6350" cap="flat" cmpd="sng" algn="ctr">
                      <a:solidFill>
                        <a:srgbClr val="000000"/>
                      </a:solidFill>
                      <a:prstDash val="dot"/>
                      <a:round/>
                      <a:headEnd type="none" w="med" len="med"/>
                      <a:tailEnd type="none" w="med" len="med"/>
                    </a:lnT>
                    <a:lnB>
                      <a:noFill/>
                    </a:lnB>
                  </a:tcPr>
                </a:tc>
                <a:tc>
                  <a:txBody>
                    <a:bodyPr/>
                    <a:lstStyle/>
                    <a:p>
                      <a:pPr algn="l"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w="6350" cap="flat" cmpd="sng" algn="ctr">
                      <a:solidFill>
                        <a:srgbClr val="000000"/>
                      </a:solidFill>
                      <a:prstDash val="dot"/>
                      <a:round/>
                      <a:headEnd type="none" w="med" len="med"/>
                      <a:tailEnd type="none" w="med" len="med"/>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w="6350" cap="flat" cmpd="sng" algn="ctr">
                      <a:solidFill>
                        <a:srgbClr val="000000"/>
                      </a:solidFill>
                      <a:prstDash val="dot"/>
                      <a:round/>
                      <a:headEnd type="none" w="med" len="med"/>
                      <a:tailEnd type="none" w="med" len="med"/>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w="6350" cap="flat" cmpd="sng" algn="ctr">
                      <a:solidFill>
                        <a:srgbClr val="000000"/>
                      </a:solidFill>
                      <a:prstDash val="dot"/>
                      <a:round/>
                      <a:headEnd type="none" w="med" len="med"/>
                      <a:tailEnd type="none" w="med" len="med"/>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w="6350" cap="flat" cmpd="sng" algn="ctr">
                      <a:solidFill>
                        <a:srgbClr val="000000"/>
                      </a:solidFill>
                      <a:prstDash val="dot"/>
                      <a:round/>
                      <a:headEnd type="none" w="med" len="med"/>
                      <a:tailEnd type="none" w="med" len="med"/>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w="6350" cap="flat" cmpd="sng" algn="ctr">
                      <a:solidFill>
                        <a:srgbClr val="000000"/>
                      </a:solidFill>
                      <a:prstDash val="dot"/>
                      <a:round/>
                      <a:headEnd type="none" w="med" len="med"/>
                      <a:tailEnd type="none" w="med" len="med"/>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6576936"/>
                  </a:ext>
                </a:extLst>
              </a:tr>
              <a:tr h="155978">
                <a:tc>
                  <a:txBody>
                    <a:bodyPr/>
                    <a:lstStyle/>
                    <a:p>
                      <a:pPr algn="l" fontAlgn="ctr"/>
                      <a:endParaRPr lang="en-US" sz="800" b="1"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l"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r>
                        <a:rPr lang="en-US" sz="800" b="0" i="1" u="none" strike="noStrike">
                          <a:effectLst/>
                          <a:latin typeface="+mj-lt"/>
                          <a:ea typeface="宋体" panose="02010600030101010101" pitchFamily="2" charset="-122"/>
                        </a:rPr>
                        <a:t>Max</a:t>
                      </a:r>
                    </a:p>
                  </a:txBody>
                  <a:tcPr marL="4062" marR="4062" marT="4062"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ctr"/>
                      <a:r>
                        <a:rPr lang="en-US" sz="800" b="0" i="1" u="none" strike="noStrike">
                          <a:effectLst/>
                          <a:latin typeface="+mj-lt"/>
                          <a:ea typeface="宋体" panose="02010600030101010101" pitchFamily="2" charset="-122"/>
                        </a:rPr>
                        <a:t>32.80 </a:t>
                      </a:r>
                    </a:p>
                  </a:txBody>
                  <a:tcPr marL="4062" marR="4062" marT="4062"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ctr"/>
                      <a:r>
                        <a:rPr lang="en-US" sz="800" b="0" i="1" u="none" strike="noStrike">
                          <a:effectLst/>
                          <a:latin typeface="+mj-lt"/>
                          <a:ea typeface="宋体" panose="02010600030101010101" pitchFamily="2" charset="-122"/>
                        </a:rPr>
                        <a:t>34.83 </a:t>
                      </a:r>
                    </a:p>
                  </a:txBody>
                  <a:tcPr marL="4062" marR="4062" marT="4062"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ctr"/>
                      <a:r>
                        <a:rPr lang="en-US" sz="800" b="0" i="1" u="none" strike="noStrike">
                          <a:effectLst/>
                          <a:latin typeface="+mj-lt"/>
                          <a:ea typeface="宋体" panose="02010600030101010101" pitchFamily="2" charset="-122"/>
                        </a:rPr>
                        <a:t>28.78 </a:t>
                      </a:r>
                    </a:p>
                  </a:txBody>
                  <a:tcPr marL="4062" marR="4062" marT="4062"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ctr"/>
                      <a:r>
                        <a:rPr lang="en-US" sz="800" b="0" i="1" u="none" strike="noStrike">
                          <a:effectLst/>
                          <a:latin typeface="+mj-lt"/>
                          <a:ea typeface="宋体" panose="02010600030101010101" pitchFamily="2" charset="-122"/>
                        </a:rPr>
                        <a:t>9.97%</a:t>
                      </a:r>
                    </a:p>
                  </a:txBody>
                  <a:tcPr marL="4062" marR="4062" marT="4062"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ctr"/>
                      <a:r>
                        <a:rPr lang="en-US" sz="800" b="0" i="1" u="none" strike="noStrike">
                          <a:effectLst/>
                          <a:latin typeface="+mj-lt"/>
                          <a:ea typeface="宋体" panose="02010600030101010101" pitchFamily="2" charset="-122"/>
                        </a:rPr>
                        <a:t>10.45%</a:t>
                      </a:r>
                    </a:p>
                  </a:txBody>
                  <a:tcPr marL="4062" marR="4062" marT="4062"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ctr"/>
                      <a:r>
                        <a:rPr lang="en-US" sz="800" b="0" i="1" u="none" strike="noStrike">
                          <a:effectLst/>
                          <a:latin typeface="+mj-lt"/>
                          <a:ea typeface="宋体" panose="02010600030101010101" pitchFamily="2" charset="-122"/>
                        </a:rPr>
                        <a:t>23.57%</a:t>
                      </a:r>
                    </a:p>
                  </a:txBody>
                  <a:tcPr marL="4062" marR="4062" marT="4062"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extLst>
                  <a:ext uri="{0D108BD9-81ED-4DB2-BD59-A6C34878D82A}">
                    <a16:rowId xmlns:a16="http://schemas.microsoft.com/office/drawing/2014/main" val="3833248782"/>
                  </a:ext>
                </a:extLst>
              </a:tr>
              <a:tr h="155978">
                <a:tc>
                  <a:txBody>
                    <a:bodyPr/>
                    <a:lstStyle/>
                    <a:p>
                      <a:pPr algn="l" fontAlgn="ctr"/>
                      <a:endParaRPr lang="en-US" sz="800" b="1"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l"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r>
                        <a:rPr lang="en-US" sz="800" b="1" i="1" u="none" strike="noStrike">
                          <a:effectLst/>
                          <a:latin typeface="+mj-lt"/>
                          <a:ea typeface="宋体" panose="02010600030101010101" pitchFamily="2" charset="-122"/>
                        </a:rPr>
                        <a:t>Med</a:t>
                      </a:r>
                    </a:p>
                  </a:txBody>
                  <a:tcPr marL="4062" marR="4062" marT="4062" marB="0" anchor="ctr">
                    <a:lnL>
                      <a:noFill/>
                    </a:lnL>
                    <a:lnR>
                      <a:noFill/>
                    </a:lnR>
                    <a:lnT>
                      <a:noFill/>
                    </a:lnT>
                    <a:lnB>
                      <a:noFill/>
                    </a:lnB>
                    <a:solidFill>
                      <a:srgbClr val="D9D9D9"/>
                    </a:solidFill>
                  </a:tcPr>
                </a:tc>
                <a:tc>
                  <a:txBody>
                    <a:bodyPr/>
                    <a:lstStyle/>
                    <a:p>
                      <a:pPr algn="ctr" fontAlgn="ctr"/>
                      <a:r>
                        <a:rPr lang="en-US" sz="800" b="1" i="1" u="none" strike="noStrike">
                          <a:effectLst/>
                          <a:latin typeface="+mj-lt"/>
                          <a:ea typeface="宋体" panose="02010600030101010101" pitchFamily="2" charset="-122"/>
                        </a:rPr>
                        <a:t>8.39 </a:t>
                      </a:r>
                    </a:p>
                  </a:txBody>
                  <a:tcPr marL="4062" marR="4062" marT="4062" marB="0" anchor="ctr">
                    <a:lnL>
                      <a:noFill/>
                    </a:lnL>
                    <a:lnR>
                      <a:noFill/>
                    </a:lnR>
                    <a:lnT>
                      <a:noFill/>
                    </a:lnT>
                    <a:lnB>
                      <a:noFill/>
                    </a:lnB>
                    <a:solidFill>
                      <a:srgbClr val="D9D9D9"/>
                    </a:solidFill>
                  </a:tcPr>
                </a:tc>
                <a:tc>
                  <a:txBody>
                    <a:bodyPr/>
                    <a:lstStyle/>
                    <a:p>
                      <a:pPr algn="ctr" fontAlgn="ctr"/>
                      <a:r>
                        <a:rPr lang="en-US" sz="800" b="1" i="1" u="none" strike="noStrike">
                          <a:effectLst/>
                          <a:latin typeface="+mj-lt"/>
                          <a:ea typeface="宋体" panose="02010600030101010101" pitchFamily="2" charset="-122"/>
                        </a:rPr>
                        <a:t>8.74 </a:t>
                      </a:r>
                    </a:p>
                  </a:txBody>
                  <a:tcPr marL="4062" marR="4062" marT="4062" marB="0" anchor="ctr">
                    <a:lnL>
                      <a:noFill/>
                    </a:lnL>
                    <a:lnR>
                      <a:noFill/>
                    </a:lnR>
                    <a:lnT>
                      <a:noFill/>
                    </a:lnT>
                    <a:lnB>
                      <a:noFill/>
                    </a:lnB>
                    <a:solidFill>
                      <a:srgbClr val="D9D9D9"/>
                    </a:solidFill>
                  </a:tcPr>
                </a:tc>
                <a:tc>
                  <a:txBody>
                    <a:bodyPr/>
                    <a:lstStyle/>
                    <a:p>
                      <a:pPr algn="ctr" fontAlgn="ctr"/>
                      <a:r>
                        <a:rPr lang="en-US" sz="800" b="1" i="1" u="none" strike="noStrike">
                          <a:effectLst/>
                          <a:latin typeface="+mj-lt"/>
                          <a:ea typeface="宋体" panose="02010600030101010101" pitchFamily="2" charset="-122"/>
                        </a:rPr>
                        <a:t>11.96 </a:t>
                      </a:r>
                    </a:p>
                  </a:txBody>
                  <a:tcPr marL="4062" marR="4062" marT="4062" marB="0" anchor="ctr">
                    <a:lnL>
                      <a:noFill/>
                    </a:lnL>
                    <a:lnR>
                      <a:noFill/>
                    </a:lnR>
                    <a:lnT>
                      <a:noFill/>
                    </a:lnT>
                    <a:lnB>
                      <a:noFill/>
                    </a:lnB>
                    <a:solidFill>
                      <a:srgbClr val="D9D9D9"/>
                    </a:solidFill>
                  </a:tcPr>
                </a:tc>
                <a:tc>
                  <a:txBody>
                    <a:bodyPr/>
                    <a:lstStyle/>
                    <a:p>
                      <a:pPr algn="ctr" fontAlgn="ctr"/>
                      <a:r>
                        <a:rPr lang="en-US" sz="800" b="1" i="1" u="none" strike="noStrike">
                          <a:effectLst/>
                          <a:latin typeface="+mj-lt"/>
                          <a:ea typeface="宋体" panose="02010600030101010101" pitchFamily="2" charset="-122"/>
                        </a:rPr>
                        <a:t>-5.20%</a:t>
                      </a:r>
                    </a:p>
                  </a:txBody>
                  <a:tcPr marL="4062" marR="4062" marT="4062" marB="0" anchor="ctr">
                    <a:lnL>
                      <a:noFill/>
                    </a:lnL>
                    <a:lnR>
                      <a:noFill/>
                    </a:lnR>
                    <a:lnT>
                      <a:noFill/>
                    </a:lnT>
                    <a:lnB>
                      <a:noFill/>
                    </a:lnB>
                    <a:solidFill>
                      <a:srgbClr val="D9D9D9"/>
                    </a:solidFill>
                  </a:tcPr>
                </a:tc>
                <a:tc>
                  <a:txBody>
                    <a:bodyPr/>
                    <a:lstStyle/>
                    <a:p>
                      <a:pPr algn="ctr" fontAlgn="ctr"/>
                      <a:r>
                        <a:rPr lang="en-US" sz="800" b="1" i="1" u="none" strike="noStrike">
                          <a:effectLst/>
                          <a:latin typeface="+mj-lt"/>
                          <a:ea typeface="宋体" panose="02010600030101010101" pitchFamily="2" charset="-122"/>
                        </a:rPr>
                        <a:t>-21.39%</a:t>
                      </a:r>
                    </a:p>
                  </a:txBody>
                  <a:tcPr marL="4062" marR="4062" marT="4062" marB="0" anchor="ctr">
                    <a:lnL>
                      <a:noFill/>
                    </a:lnL>
                    <a:lnR>
                      <a:noFill/>
                    </a:lnR>
                    <a:lnT>
                      <a:noFill/>
                    </a:lnT>
                    <a:lnB>
                      <a:noFill/>
                    </a:lnB>
                    <a:solidFill>
                      <a:srgbClr val="D9D9D9"/>
                    </a:solidFill>
                  </a:tcPr>
                </a:tc>
                <a:tc>
                  <a:txBody>
                    <a:bodyPr/>
                    <a:lstStyle/>
                    <a:p>
                      <a:pPr algn="ctr" fontAlgn="ctr"/>
                      <a:r>
                        <a:rPr lang="en-US" sz="800" b="1" i="1" u="none" strike="noStrike">
                          <a:effectLst/>
                          <a:latin typeface="+mj-lt"/>
                          <a:ea typeface="宋体" panose="02010600030101010101" pitchFamily="2" charset="-122"/>
                        </a:rPr>
                        <a:t>-9.73%</a:t>
                      </a:r>
                    </a:p>
                  </a:txBody>
                  <a:tcPr marL="4062" marR="4062" marT="4062" marB="0" anchor="ctr">
                    <a:lnL>
                      <a:noFill/>
                    </a:lnL>
                    <a:lnR>
                      <a:noFill/>
                    </a:lnR>
                    <a:lnT>
                      <a:noFill/>
                    </a:lnT>
                    <a:lnB>
                      <a:noFill/>
                    </a:lnB>
                    <a:solidFill>
                      <a:srgbClr val="D9D9D9"/>
                    </a:solidFill>
                  </a:tcPr>
                </a:tc>
                <a:extLst>
                  <a:ext uri="{0D108BD9-81ED-4DB2-BD59-A6C34878D82A}">
                    <a16:rowId xmlns:a16="http://schemas.microsoft.com/office/drawing/2014/main" val="643889579"/>
                  </a:ext>
                </a:extLst>
              </a:tr>
              <a:tr h="155978">
                <a:tc>
                  <a:txBody>
                    <a:bodyPr/>
                    <a:lstStyle/>
                    <a:p>
                      <a:pPr algn="l" fontAlgn="ctr"/>
                      <a:endParaRPr lang="en-US" sz="800" b="1"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l"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r>
                        <a:rPr lang="en-US" sz="800" b="1" i="1" u="none" strike="noStrike">
                          <a:effectLst/>
                          <a:latin typeface="+mj-lt"/>
                          <a:ea typeface="宋体" panose="02010600030101010101" pitchFamily="2" charset="-122"/>
                        </a:rPr>
                        <a:t>Avg</a:t>
                      </a:r>
                    </a:p>
                  </a:txBody>
                  <a:tcPr marL="4062" marR="4062" marT="4062" marB="0" anchor="ctr">
                    <a:lnL>
                      <a:noFill/>
                    </a:lnL>
                    <a:lnR>
                      <a:noFill/>
                    </a:lnR>
                    <a:lnT>
                      <a:noFill/>
                    </a:lnT>
                    <a:lnB>
                      <a:noFill/>
                    </a:lnB>
                    <a:solidFill>
                      <a:srgbClr val="D9D9D9"/>
                    </a:solidFill>
                  </a:tcPr>
                </a:tc>
                <a:tc>
                  <a:txBody>
                    <a:bodyPr/>
                    <a:lstStyle/>
                    <a:p>
                      <a:pPr algn="ctr" fontAlgn="ctr"/>
                      <a:r>
                        <a:rPr lang="en-US" sz="800" b="1" i="1" u="none" strike="noStrike">
                          <a:effectLst/>
                          <a:latin typeface="+mj-lt"/>
                          <a:ea typeface="宋体" panose="02010600030101010101" pitchFamily="2" charset="-122"/>
                        </a:rPr>
                        <a:t>13.59 </a:t>
                      </a:r>
                    </a:p>
                  </a:txBody>
                  <a:tcPr marL="4062" marR="4062" marT="4062" marB="0" anchor="ctr">
                    <a:lnL>
                      <a:noFill/>
                    </a:lnL>
                    <a:lnR>
                      <a:noFill/>
                    </a:lnR>
                    <a:lnT>
                      <a:noFill/>
                    </a:lnT>
                    <a:lnB>
                      <a:noFill/>
                    </a:lnB>
                    <a:solidFill>
                      <a:srgbClr val="D9D9D9"/>
                    </a:solidFill>
                  </a:tcPr>
                </a:tc>
                <a:tc>
                  <a:txBody>
                    <a:bodyPr/>
                    <a:lstStyle/>
                    <a:p>
                      <a:pPr algn="ctr" fontAlgn="ctr"/>
                      <a:r>
                        <a:rPr lang="en-US" sz="800" b="1" i="1" u="none" strike="noStrike" dirty="0">
                          <a:effectLst/>
                          <a:latin typeface="+mj-lt"/>
                          <a:ea typeface="宋体" panose="02010600030101010101" pitchFamily="2" charset="-122"/>
                        </a:rPr>
                        <a:t>14.69 </a:t>
                      </a:r>
                    </a:p>
                  </a:txBody>
                  <a:tcPr marL="4062" marR="4062" marT="4062" marB="0" anchor="ctr">
                    <a:lnL>
                      <a:noFill/>
                    </a:lnL>
                    <a:lnR>
                      <a:noFill/>
                    </a:lnR>
                    <a:lnT>
                      <a:noFill/>
                    </a:lnT>
                    <a:lnB>
                      <a:noFill/>
                    </a:lnB>
                    <a:solidFill>
                      <a:srgbClr val="D9D9D9"/>
                    </a:solidFill>
                  </a:tcPr>
                </a:tc>
                <a:tc>
                  <a:txBody>
                    <a:bodyPr/>
                    <a:lstStyle/>
                    <a:p>
                      <a:pPr algn="ctr" fontAlgn="ctr"/>
                      <a:r>
                        <a:rPr lang="en-US" sz="800" b="1" i="1" u="none" strike="noStrike">
                          <a:effectLst/>
                          <a:latin typeface="+mj-lt"/>
                          <a:ea typeface="宋体" panose="02010600030101010101" pitchFamily="2" charset="-122"/>
                        </a:rPr>
                        <a:t>15.60 </a:t>
                      </a:r>
                    </a:p>
                  </a:txBody>
                  <a:tcPr marL="4062" marR="4062" marT="4062" marB="0" anchor="ctr">
                    <a:lnL>
                      <a:noFill/>
                    </a:lnL>
                    <a:lnR>
                      <a:noFill/>
                    </a:lnR>
                    <a:lnT>
                      <a:noFill/>
                    </a:lnT>
                    <a:lnB>
                      <a:noFill/>
                    </a:lnB>
                    <a:solidFill>
                      <a:srgbClr val="D9D9D9"/>
                    </a:solidFill>
                  </a:tcPr>
                </a:tc>
                <a:tc>
                  <a:txBody>
                    <a:bodyPr/>
                    <a:lstStyle/>
                    <a:p>
                      <a:pPr algn="ctr" fontAlgn="ctr"/>
                      <a:r>
                        <a:rPr lang="en-US" sz="800" b="1" i="1" u="none" strike="noStrike">
                          <a:effectLst/>
                          <a:latin typeface="+mj-lt"/>
                          <a:ea typeface="宋体" panose="02010600030101010101" pitchFamily="2" charset="-122"/>
                        </a:rPr>
                        <a:t>-4.95%</a:t>
                      </a:r>
                    </a:p>
                  </a:txBody>
                  <a:tcPr marL="4062" marR="4062" marT="4062" marB="0" anchor="ctr">
                    <a:lnL>
                      <a:noFill/>
                    </a:lnL>
                    <a:lnR>
                      <a:noFill/>
                    </a:lnR>
                    <a:lnT>
                      <a:noFill/>
                    </a:lnT>
                    <a:lnB>
                      <a:noFill/>
                    </a:lnB>
                    <a:solidFill>
                      <a:srgbClr val="D9D9D9"/>
                    </a:solidFill>
                  </a:tcPr>
                </a:tc>
                <a:tc>
                  <a:txBody>
                    <a:bodyPr/>
                    <a:lstStyle/>
                    <a:p>
                      <a:pPr algn="ctr" fontAlgn="ctr"/>
                      <a:r>
                        <a:rPr lang="en-US" sz="800" b="1" i="1" u="none" strike="noStrike">
                          <a:effectLst/>
                          <a:latin typeface="+mj-lt"/>
                          <a:ea typeface="宋体" panose="02010600030101010101" pitchFamily="2" charset="-122"/>
                        </a:rPr>
                        <a:t>-17.11%</a:t>
                      </a:r>
                    </a:p>
                  </a:txBody>
                  <a:tcPr marL="4062" marR="4062" marT="4062" marB="0" anchor="ctr">
                    <a:lnL>
                      <a:noFill/>
                    </a:lnL>
                    <a:lnR>
                      <a:noFill/>
                    </a:lnR>
                    <a:lnT>
                      <a:noFill/>
                    </a:lnT>
                    <a:lnB>
                      <a:noFill/>
                    </a:lnB>
                    <a:solidFill>
                      <a:srgbClr val="D9D9D9"/>
                    </a:solidFill>
                  </a:tcPr>
                </a:tc>
                <a:tc>
                  <a:txBody>
                    <a:bodyPr/>
                    <a:lstStyle/>
                    <a:p>
                      <a:pPr algn="ctr" fontAlgn="ctr"/>
                      <a:r>
                        <a:rPr lang="en-US" sz="800" b="1" i="1" u="none" strike="noStrike">
                          <a:effectLst/>
                          <a:latin typeface="+mj-lt"/>
                          <a:ea typeface="宋体" panose="02010600030101010101" pitchFamily="2" charset="-122"/>
                        </a:rPr>
                        <a:t>-9.05%</a:t>
                      </a:r>
                    </a:p>
                  </a:txBody>
                  <a:tcPr marL="4062" marR="4062" marT="4062" marB="0" anchor="ctr">
                    <a:lnL>
                      <a:noFill/>
                    </a:lnL>
                    <a:lnR>
                      <a:noFill/>
                    </a:lnR>
                    <a:lnT>
                      <a:noFill/>
                    </a:lnT>
                    <a:lnB>
                      <a:noFill/>
                    </a:lnB>
                    <a:solidFill>
                      <a:srgbClr val="D9D9D9"/>
                    </a:solidFill>
                  </a:tcPr>
                </a:tc>
                <a:extLst>
                  <a:ext uri="{0D108BD9-81ED-4DB2-BD59-A6C34878D82A}">
                    <a16:rowId xmlns:a16="http://schemas.microsoft.com/office/drawing/2014/main" val="3392921307"/>
                  </a:ext>
                </a:extLst>
              </a:tr>
              <a:tr h="155978">
                <a:tc>
                  <a:txBody>
                    <a:bodyPr/>
                    <a:lstStyle/>
                    <a:p>
                      <a:pPr algn="l" fontAlgn="ctr"/>
                      <a:endParaRPr lang="en-US" sz="800" b="1"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l"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r>
                        <a:rPr lang="en-US" sz="800" b="0" i="1" u="none" strike="noStrike">
                          <a:effectLst/>
                          <a:latin typeface="+mj-lt"/>
                          <a:ea typeface="宋体" panose="02010600030101010101" pitchFamily="2" charset="-122"/>
                        </a:rPr>
                        <a:t>Min</a:t>
                      </a:r>
                    </a:p>
                  </a:txBody>
                  <a:tcPr marL="4062" marR="4062" marT="4062" marB="0" anchor="ctr">
                    <a:lnL>
                      <a:noFill/>
                    </a:lnL>
                    <a:lnR>
                      <a:noFill/>
                    </a:lnR>
                    <a:lnT>
                      <a:noFill/>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1" u="none" strike="noStrike">
                          <a:effectLst/>
                          <a:latin typeface="+mj-lt"/>
                          <a:ea typeface="宋体" panose="02010600030101010101" pitchFamily="2" charset="-122"/>
                        </a:rPr>
                        <a:t>4.79 </a:t>
                      </a:r>
                    </a:p>
                  </a:txBody>
                  <a:tcPr marL="4062" marR="4062" marT="4062" marB="0" anchor="ctr">
                    <a:lnL>
                      <a:noFill/>
                    </a:lnL>
                    <a:lnR>
                      <a:noFill/>
                    </a:lnR>
                    <a:lnT>
                      <a:noFill/>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1" u="none" strike="noStrike">
                          <a:effectLst/>
                          <a:latin typeface="+mj-lt"/>
                          <a:ea typeface="宋体" panose="02010600030101010101" pitchFamily="2" charset="-122"/>
                        </a:rPr>
                        <a:t>6.45 </a:t>
                      </a:r>
                    </a:p>
                  </a:txBody>
                  <a:tcPr marL="4062" marR="4062" marT="4062" marB="0" anchor="ctr">
                    <a:lnL>
                      <a:noFill/>
                    </a:lnL>
                    <a:lnR>
                      <a:noFill/>
                    </a:lnR>
                    <a:lnT>
                      <a:noFill/>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1" u="none" strike="noStrike">
                          <a:effectLst/>
                          <a:latin typeface="+mj-lt"/>
                          <a:ea typeface="宋体" panose="02010600030101010101" pitchFamily="2" charset="-122"/>
                        </a:rPr>
                        <a:t>6.05 </a:t>
                      </a:r>
                    </a:p>
                  </a:txBody>
                  <a:tcPr marL="4062" marR="4062" marT="4062" marB="0" anchor="ctr">
                    <a:lnL>
                      <a:noFill/>
                    </a:lnL>
                    <a:lnR>
                      <a:noFill/>
                    </a:lnR>
                    <a:lnT>
                      <a:noFill/>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1" u="none" strike="noStrike">
                          <a:effectLst/>
                          <a:latin typeface="+mj-lt"/>
                          <a:ea typeface="宋体" panose="02010600030101010101" pitchFamily="2" charset="-122"/>
                        </a:rPr>
                        <a:t>-19.35%</a:t>
                      </a:r>
                    </a:p>
                  </a:txBody>
                  <a:tcPr marL="4062" marR="4062" marT="4062" marB="0" anchor="ctr">
                    <a:lnL>
                      <a:noFill/>
                    </a:lnL>
                    <a:lnR>
                      <a:noFill/>
                    </a:lnR>
                    <a:lnT>
                      <a:noFill/>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1" u="none" strike="noStrike">
                          <a:effectLst/>
                          <a:latin typeface="+mj-lt"/>
                          <a:ea typeface="宋体" panose="02010600030101010101" pitchFamily="2" charset="-122"/>
                        </a:rPr>
                        <a:t>-36.10%</a:t>
                      </a:r>
                    </a:p>
                  </a:txBody>
                  <a:tcPr marL="4062" marR="4062" marT="4062" marB="0" anchor="ctr">
                    <a:lnL>
                      <a:noFill/>
                    </a:lnL>
                    <a:lnR>
                      <a:noFill/>
                    </a:lnR>
                    <a:lnT>
                      <a:noFill/>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1" u="none" strike="noStrike">
                          <a:effectLst/>
                          <a:latin typeface="+mj-lt"/>
                          <a:ea typeface="宋体" panose="02010600030101010101" pitchFamily="2" charset="-122"/>
                        </a:rPr>
                        <a:t>-40.30%</a:t>
                      </a:r>
                    </a:p>
                  </a:txBody>
                  <a:tcPr marL="4062" marR="4062" marT="4062" marB="0" anchor="ctr">
                    <a:lnL>
                      <a:noFill/>
                    </a:lnL>
                    <a:lnR>
                      <a:noFill/>
                    </a:lnR>
                    <a:lnT>
                      <a:noFill/>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177944947"/>
                  </a:ext>
                </a:extLst>
              </a:tr>
              <a:tr h="155978">
                <a:tc>
                  <a:txBody>
                    <a:bodyPr/>
                    <a:lstStyle/>
                    <a:p>
                      <a:pPr algn="l"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w="6350" cap="flat" cmpd="sng" algn="ctr">
                      <a:solidFill>
                        <a:srgbClr val="000000"/>
                      </a:solidFill>
                      <a:prstDash val="dot"/>
                      <a:round/>
                      <a:headEnd type="none" w="med" len="med"/>
                      <a:tailEnd type="none" w="med" len="med"/>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w="6350" cap="flat" cmpd="sng" algn="ctr">
                      <a:solidFill>
                        <a:srgbClr val="000000"/>
                      </a:solidFill>
                      <a:prstDash val="dot"/>
                      <a:round/>
                      <a:headEnd type="none" w="med" len="med"/>
                      <a:tailEnd type="none" w="med" len="med"/>
                    </a:lnB>
                  </a:tcPr>
                </a:tc>
                <a:tc>
                  <a:txBody>
                    <a:bodyPr/>
                    <a:lstStyle/>
                    <a:p>
                      <a:pPr algn="l"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w="6350" cap="flat" cmpd="sng" algn="ctr">
                      <a:solidFill>
                        <a:srgbClr val="000000"/>
                      </a:solidFill>
                      <a:prstDash val="dot"/>
                      <a:round/>
                      <a:headEnd type="none" w="med" len="med"/>
                      <a:tailEnd type="none" w="med" len="med"/>
                    </a:lnB>
                  </a:tcPr>
                </a:tc>
                <a:tc>
                  <a:txBody>
                    <a:bodyPr/>
                    <a:lstStyle/>
                    <a:p>
                      <a:pPr algn="l"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w="6350" cap="flat" cmpd="sng" algn="ctr">
                      <a:solidFill>
                        <a:srgbClr val="000000"/>
                      </a:solidFill>
                      <a:prstDash val="dot"/>
                      <a:round/>
                      <a:headEnd type="none" w="med" len="med"/>
                      <a:tailEnd type="none" w="med" len="med"/>
                    </a:lnB>
                  </a:tcPr>
                </a:tc>
                <a:tc>
                  <a:txBody>
                    <a:bodyPr/>
                    <a:lstStyle/>
                    <a:p>
                      <a:pPr algn="l"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w="6350" cap="flat" cmpd="sng" algn="ctr">
                      <a:solidFill>
                        <a:srgbClr val="000000"/>
                      </a:solidFill>
                      <a:prstDash val="dot"/>
                      <a:round/>
                      <a:headEnd type="none" w="med" len="med"/>
                      <a:tailEnd type="none" w="med" len="med"/>
                    </a:lnB>
                  </a:tcPr>
                </a:tc>
                <a:tc>
                  <a:txBody>
                    <a:bodyPr/>
                    <a:lstStyle/>
                    <a:p>
                      <a:pPr algn="l"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l"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ctr"/>
                      <a:endParaRPr lang="en-US" sz="800" b="0" i="0" u="none" strike="noStrike" dirty="0">
                        <a:effectLst/>
                        <a:latin typeface="+mj-lt"/>
                        <a:ea typeface="宋体" panose="02010600030101010101" pitchFamily="2" charset="-122"/>
                      </a:endParaRPr>
                    </a:p>
                  </a:txBody>
                  <a:tcPr marL="4062" marR="4062" marT="4062" marB="0" anchor="ctr">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860007366"/>
                  </a:ext>
                </a:extLst>
              </a:tr>
              <a:tr h="121858">
                <a:tc gridSpan="5">
                  <a:txBody>
                    <a:bodyPr/>
                    <a:lstStyle/>
                    <a:p>
                      <a:pPr algn="l" fontAlgn="ctr"/>
                      <a:r>
                        <a:rPr lang="en-US" sz="800" b="1" i="0" u="none" strike="noStrike">
                          <a:solidFill>
                            <a:srgbClr val="FFFFFF"/>
                          </a:solidFill>
                          <a:effectLst/>
                          <a:latin typeface="+mj-lt"/>
                          <a:ea typeface="宋体" panose="02010600030101010101" pitchFamily="2" charset="-122"/>
                        </a:rPr>
                        <a:t>Hong Kong and China Listed Logistic Comparable Companies with ASEAN Operations</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40404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ctr"/>
                      <a:r>
                        <a:rPr lang="en-US" sz="800" b="1" i="0" u="none" strike="noStrike">
                          <a:effectLst/>
                          <a:latin typeface="+mj-lt"/>
                          <a:ea typeface="宋体" panose="02010600030101010101" pitchFamily="2" charset="-122"/>
                        </a:rPr>
                        <a:t> </a:t>
                      </a:r>
                    </a:p>
                  </a:txBody>
                  <a:tcPr marL="4062" marR="4062" marT="4062" marB="0" anchor="ctr">
                    <a:lnL>
                      <a:noFill/>
                    </a:lnL>
                    <a:lnR>
                      <a:noFill/>
                    </a:lnR>
                    <a:lnT>
                      <a:noFill/>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r>
                        <a:rPr lang="en-US" sz="800" b="1" i="0" u="none" strike="noStrike">
                          <a:effectLst/>
                          <a:latin typeface="+mj-lt"/>
                          <a:ea typeface="宋体" panose="02010600030101010101" pitchFamily="2" charset="-122"/>
                        </a:rPr>
                        <a:t> </a:t>
                      </a:r>
                    </a:p>
                  </a:txBody>
                  <a:tcPr marL="4062" marR="4062" marT="4062" marB="0" anchor="ctr">
                    <a:lnL>
                      <a:noFill/>
                    </a:lnL>
                    <a:lnR>
                      <a:noFill/>
                    </a:lnR>
                    <a:lnT>
                      <a:noFill/>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r>
                        <a:rPr lang="en-US" sz="800" b="1" i="0" u="none" strike="noStrike">
                          <a:effectLst/>
                          <a:latin typeface="+mj-lt"/>
                          <a:ea typeface="宋体" panose="02010600030101010101" pitchFamily="2" charset="-122"/>
                        </a:rPr>
                        <a:t> </a:t>
                      </a:r>
                    </a:p>
                  </a:txBody>
                  <a:tcPr marL="4062" marR="4062" marT="4062" marB="0" anchor="ctr">
                    <a:lnL>
                      <a:noFill/>
                    </a:lnL>
                    <a:lnR>
                      <a:noFill/>
                    </a:lnR>
                    <a:lnT>
                      <a:noFill/>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r>
                        <a:rPr lang="en-US" sz="800" b="0" i="0" u="none" strike="noStrike">
                          <a:effectLst/>
                          <a:latin typeface="+mj-lt"/>
                          <a:ea typeface="宋体" panose="02010600030101010101" pitchFamily="2" charset="-122"/>
                        </a:rPr>
                        <a:t> </a:t>
                      </a:r>
                    </a:p>
                  </a:txBody>
                  <a:tcPr marL="4062" marR="4062" marT="4062" marB="0" anchor="ctr">
                    <a:lnL>
                      <a:noFill/>
                    </a:lnL>
                    <a:lnR>
                      <a:noFill/>
                    </a:lnR>
                    <a:lnT>
                      <a:noFill/>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r>
                        <a:rPr lang="en-US" sz="800" b="0" i="0" u="none" strike="noStrike">
                          <a:effectLst/>
                          <a:latin typeface="+mj-lt"/>
                          <a:ea typeface="宋体" panose="02010600030101010101" pitchFamily="2" charset="-122"/>
                        </a:rPr>
                        <a:t> </a:t>
                      </a:r>
                    </a:p>
                  </a:txBody>
                  <a:tcPr marL="4062" marR="4062" marT="4062" marB="0" anchor="ctr">
                    <a:lnL>
                      <a:noFill/>
                    </a:lnL>
                    <a:lnR>
                      <a:noFill/>
                    </a:lnR>
                    <a:lnT>
                      <a:noFill/>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r>
                        <a:rPr lang="en-US" sz="800" b="0" i="0" u="none" strike="noStrike">
                          <a:effectLst/>
                          <a:latin typeface="+mj-lt"/>
                          <a:ea typeface="宋体" panose="02010600030101010101" pitchFamily="2" charset="-122"/>
                        </a:rPr>
                        <a:t> </a:t>
                      </a:r>
                    </a:p>
                  </a:txBody>
                  <a:tcPr marL="4062" marR="4062" marT="4062" marB="0" anchor="ctr">
                    <a:lnL>
                      <a:noFill/>
                    </a:lnL>
                    <a:lnR>
                      <a:noFill/>
                    </a:lnR>
                    <a:lnT>
                      <a:noFill/>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r>
                        <a:rPr lang="en-US" sz="800" b="0" i="0" u="none" strike="noStrike">
                          <a:effectLst/>
                          <a:latin typeface="+mj-lt"/>
                          <a:ea typeface="宋体" panose="02010600030101010101" pitchFamily="2" charset="-122"/>
                        </a:rPr>
                        <a:t> </a:t>
                      </a:r>
                    </a:p>
                  </a:txBody>
                  <a:tcPr marL="4062" marR="4062" marT="4062" marB="0" anchor="ctr">
                    <a:lnL>
                      <a:noFill/>
                    </a:lnL>
                    <a:lnR>
                      <a:noFill/>
                    </a:lnR>
                    <a:lnT>
                      <a:noFill/>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r>
                        <a:rPr lang="en-US" sz="800" b="0" i="0" u="none" strike="noStrike">
                          <a:effectLst/>
                          <a:latin typeface="+mj-lt"/>
                          <a:ea typeface="宋体" panose="02010600030101010101" pitchFamily="2" charset="-122"/>
                        </a:rPr>
                        <a:t> </a:t>
                      </a:r>
                    </a:p>
                  </a:txBody>
                  <a:tcPr marL="4062" marR="4062" marT="4062" marB="0" anchor="ctr">
                    <a:lnL>
                      <a:noFill/>
                    </a:lnL>
                    <a:lnR>
                      <a:noFill/>
                    </a:lnR>
                    <a:lnT>
                      <a:noFill/>
                    </a:lnT>
                    <a:lnB w="6350" cap="flat" cmpd="sng" algn="ctr">
                      <a:solidFill>
                        <a:srgbClr val="000000"/>
                      </a:solidFill>
                      <a:prstDash val="dot"/>
                      <a:round/>
                      <a:headEnd type="none" w="med" len="med"/>
                      <a:tailEnd type="none" w="med" len="med"/>
                    </a:lnB>
                    <a:solidFill>
                      <a:srgbClr val="404040"/>
                    </a:solidFill>
                  </a:tcPr>
                </a:tc>
                <a:extLst>
                  <a:ext uri="{0D108BD9-81ED-4DB2-BD59-A6C34878D82A}">
                    <a16:rowId xmlns:a16="http://schemas.microsoft.com/office/drawing/2014/main" val="186054692"/>
                  </a:ext>
                </a:extLst>
              </a:tr>
              <a:tr h="243715">
                <a:tc>
                  <a:txBody>
                    <a:bodyPr/>
                    <a:lstStyle/>
                    <a:p>
                      <a:pPr algn="l" fontAlgn="ctr"/>
                      <a:r>
                        <a:rPr lang="en-US" sz="800" b="1" i="0" u="none" strike="noStrike">
                          <a:effectLst/>
                          <a:latin typeface="+mj-lt"/>
                          <a:ea typeface="宋体" panose="02010600030101010101" pitchFamily="2" charset="-122"/>
                        </a:rPr>
                        <a:t>SF Holding Co Ltd</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r>
                        <a:rPr lang="en-US" sz="800" b="0" i="0" u="none" strike="noStrike">
                          <a:effectLst/>
                          <a:latin typeface="+mj-lt"/>
                          <a:ea typeface="宋体" panose="02010600030101010101" pitchFamily="2" charset="-122"/>
                        </a:rPr>
                        <a:t>002352 CH Equity</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24,916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40.47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5,367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13,725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689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32.80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34.83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28.78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9.97%</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10.45%</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23.57%</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4085695873"/>
                  </a:ext>
                </a:extLst>
              </a:tr>
              <a:tr h="243715">
                <a:tc>
                  <a:txBody>
                    <a:bodyPr/>
                    <a:lstStyle/>
                    <a:p>
                      <a:pPr algn="l" fontAlgn="ctr"/>
                      <a:r>
                        <a:rPr lang="en-US" sz="800" b="1" i="0" u="none" strike="noStrike">
                          <a:effectLst/>
                          <a:latin typeface="+mj-lt"/>
                          <a:ea typeface="宋体" panose="02010600030101010101" pitchFamily="2" charset="-122"/>
                        </a:rPr>
                        <a:t>Yunda Holding Co Ltd</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r>
                        <a:rPr lang="en-US" sz="800" b="0" i="0" u="none" strike="noStrike">
                          <a:effectLst/>
                          <a:latin typeface="+mj-lt"/>
                          <a:ea typeface="宋体" panose="02010600030101010101" pitchFamily="2" charset="-122"/>
                        </a:rPr>
                        <a:t>002120 CH Equity</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11,483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36.98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1,678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2,089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408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27.54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28.25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23.17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7.34%</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32.40%</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dirty="0">
                          <a:effectLst/>
                          <a:latin typeface="+mj-lt"/>
                          <a:ea typeface="宋体" panose="02010600030101010101" pitchFamily="2" charset="-122"/>
                        </a:rPr>
                        <a:t>58.66%</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610077645"/>
                  </a:ext>
                </a:extLst>
              </a:tr>
              <a:tr h="243715">
                <a:tc>
                  <a:txBody>
                    <a:bodyPr/>
                    <a:lstStyle/>
                    <a:p>
                      <a:pPr algn="l" fontAlgn="ctr"/>
                      <a:r>
                        <a:rPr lang="en-US" sz="800" b="1" i="0" u="none" strike="noStrike">
                          <a:effectLst/>
                          <a:latin typeface="+mj-lt"/>
                          <a:ea typeface="宋体" panose="02010600030101010101" pitchFamily="2" charset="-122"/>
                        </a:rPr>
                        <a:t>YTO Express Group Co Ltd</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r>
                        <a:rPr lang="en-US" sz="800" b="0" i="0" u="none" strike="noStrike">
                          <a:effectLst/>
                          <a:latin typeface="+mj-lt"/>
                          <a:ea typeface="宋体" panose="02010600030101010101" pitchFamily="2" charset="-122"/>
                        </a:rPr>
                        <a:t>600233 CH Equity</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4,406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11.14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1,715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4,143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288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6.11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14.60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12.53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dirty="0">
                          <a:effectLst/>
                          <a:latin typeface="+mj-lt"/>
                          <a:ea typeface="宋体" panose="02010600030101010101" pitchFamily="2" charset="-122"/>
                        </a:rPr>
                        <a:t>-12.28%</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-13.84%</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dirty="0">
                          <a:effectLst/>
                          <a:latin typeface="+mj-lt"/>
                          <a:ea typeface="宋体" panose="02010600030101010101" pitchFamily="2" charset="-122"/>
                        </a:rPr>
                        <a:t>11.40%</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535324059"/>
                  </a:ext>
                </a:extLst>
              </a:tr>
              <a:tr h="243715">
                <a:tc>
                  <a:txBody>
                    <a:bodyPr/>
                    <a:lstStyle/>
                    <a:p>
                      <a:pPr algn="l" fontAlgn="ctr"/>
                      <a:r>
                        <a:rPr lang="en-US" sz="800" b="1" i="0" u="none" strike="noStrike">
                          <a:effectLst/>
                          <a:latin typeface="+mj-lt"/>
                          <a:ea typeface="宋体" panose="02010600030101010101" pitchFamily="2" charset="-122"/>
                        </a:rPr>
                        <a:t>Sinotrans Ltd</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r>
                        <a:rPr lang="en-US" sz="800" b="0" i="0" u="none" strike="noStrike">
                          <a:effectLst/>
                          <a:latin typeface="+mj-lt"/>
                          <a:ea typeface="宋体" panose="02010600030101010101" pitchFamily="2" charset="-122"/>
                        </a:rPr>
                        <a:t>598 HK Equity</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3,978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2.54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4,049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11,668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409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5.16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6.73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6.05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-3.42%</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dirty="0">
                          <a:effectLst/>
                          <a:latin typeface="+mj-lt"/>
                          <a:ea typeface="宋体" panose="02010600030101010101" pitchFamily="2" charset="-122"/>
                        </a:rPr>
                        <a:t>-32.80%</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dirty="0">
                          <a:effectLst/>
                          <a:latin typeface="+mj-lt"/>
                          <a:ea typeface="宋体" panose="02010600030101010101" pitchFamily="2" charset="-122"/>
                        </a:rPr>
                        <a:t>-25.29%</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1230160106"/>
                  </a:ext>
                </a:extLst>
              </a:tr>
              <a:tr h="243715">
                <a:tc>
                  <a:txBody>
                    <a:bodyPr/>
                    <a:lstStyle/>
                    <a:p>
                      <a:pPr algn="l" fontAlgn="ctr"/>
                      <a:r>
                        <a:rPr lang="en-US" sz="800" b="1" i="0" u="none" strike="noStrike">
                          <a:effectLst/>
                          <a:latin typeface="+mj-lt"/>
                          <a:ea typeface="宋体" panose="02010600030101010101" pitchFamily="2" charset="-122"/>
                        </a:rPr>
                        <a:t>SITC International Holdings Co</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r>
                        <a:rPr lang="en-US" sz="800" b="0" i="0" u="none" strike="noStrike">
                          <a:effectLst/>
                          <a:latin typeface="+mj-lt"/>
                          <a:ea typeface="宋体" panose="02010600030101010101" pitchFamily="2" charset="-122"/>
                        </a:rPr>
                        <a:t>1308 HK Equity</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2,790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8.19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1,046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1,449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198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12.93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12.74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11.11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-2.73%</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dirty="0">
                          <a:effectLst/>
                          <a:latin typeface="+mj-lt"/>
                          <a:ea typeface="宋体" panose="02010600030101010101" pitchFamily="2" charset="-122"/>
                        </a:rPr>
                        <a:t>7.62%</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10.98%</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2261537322"/>
                  </a:ext>
                </a:extLst>
              </a:tr>
              <a:tr h="243715">
                <a:tc>
                  <a:txBody>
                    <a:bodyPr/>
                    <a:lstStyle/>
                    <a:p>
                      <a:pPr algn="l" fontAlgn="ctr"/>
                      <a:r>
                        <a:rPr lang="en-US" sz="800" b="1" i="0" u="none" strike="noStrike">
                          <a:effectLst/>
                          <a:latin typeface="+mj-lt"/>
                          <a:ea typeface="宋体" panose="02010600030101010101" pitchFamily="2" charset="-122"/>
                        </a:rPr>
                        <a:t>Kerry Logistics Network Ltd</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r>
                        <a:rPr lang="en-US" sz="800" b="0" i="0" u="none" strike="noStrike">
                          <a:effectLst/>
                          <a:latin typeface="+mj-lt"/>
                          <a:ea typeface="宋体" panose="02010600030101010101" pitchFamily="2" charset="-122"/>
                        </a:rPr>
                        <a:t>636 HK Equity</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2,624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12.00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3,022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4,866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311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4.79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10.74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11.96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-6.98%</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dirty="0">
                          <a:effectLst/>
                          <a:latin typeface="+mj-lt"/>
                          <a:ea typeface="宋体" panose="02010600030101010101" pitchFamily="2" charset="-122"/>
                        </a:rPr>
                        <a:t>-9.97%</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dirty="0">
                          <a:effectLst/>
                          <a:latin typeface="+mj-lt"/>
                          <a:ea typeface="宋体" panose="02010600030101010101" pitchFamily="2" charset="-122"/>
                        </a:rPr>
                        <a:t>5.83%</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1507512387"/>
                  </a:ext>
                </a:extLst>
              </a:tr>
              <a:tr h="243715">
                <a:tc>
                  <a:txBody>
                    <a:bodyPr/>
                    <a:lstStyle/>
                    <a:p>
                      <a:pPr algn="l" fontAlgn="ctr"/>
                      <a:r>
                        <a:rPr lang="en-US" sz="800" b="1" i="0" u="none" strike="noStrike">
                          <a:effectLst/>
                          <a:latin typeface="+mj-lt"/>
                          <a:ea typeface="宋体" panose="02010600030101010101" pitchFamily="2" charset="-122"/>
                        </a:rPr>
                        <a:t>YTO Express Holdings Ltd</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r>
                        <a:rPr lang="en-US" sz="800" b="0" i="0" u="none" strike="noStrike">
                          <a:effectLst/>
                          <a:latin typeface="+mj-lt"/>
                          <a:ea typeface="宋体" panose="02010600030101010101" pitchFamily="2" charset="-122"/>
                        </a:rPr>
                        <a:t>6123 HK Equity</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106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2.00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74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569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13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11.62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6.45 </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-19.35%</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dirty="0">
                          <a:effectLst/>
                          <a:latin typeface="+mj-lt"/>
                          <a:ea typeface="宋体" panose="02010600030101010101" pitchFamily="2" charset="-122"/>
                        </a:rPr>
                        <a:t>-36.10%</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-40.30%</a:t>
                      </a: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4148972100"/>
                  </a:ext>
                </a:extLst>
              </a:tr>
              <a:tr h="155978">
                <a:tc>
                  <a:txBody>
                    <a:bodyPr/>
                    <a:lstStyle/>
                    <a:p>
                      <a:pPr algn="l" fontAlgn="ctr"/>
                      <a:endParaRPr lang="en-US" sz="800" b="1" i="0" u="none" strike="noStrike">
                        <a:effectLst/>
                        <a:latin typeface="+mj-lt"/>
                        <a:ea typeface="宋体" panose="02010600030101010101" pitchFamily="2" charset="-122"/>
                      </a:endParaRPr>
                    </a:p>
                  </a:txBody>
                  <a:tcPr marL="4062" marR="4062" marT="4062" marB="0" anchor="ctr">
                    <a:lnL>
                      <a:noFill/>
                    </a:lnL>
                    <a:lnR>
                      <a:noFill/>
                    </a:lnR>
                    <a:lnT w="6350" cap="flat" cmpd="sng" algn="ctr">
                      <a:solidFill>
                        <a:srgbClr val="000000"/>
                      </a:solidFill>
                      <a:prstDash val="dot"/>
                      <a:round/>
                      <a:headEnd type="none" w="med" len="med"/>
                      <a:tailEnd type="none" w="med" len="med"/>
                    </a:lnT>
                    <a:lnB>
                      <a:noFill/>
                    </a:lnB>
                  </a:tcPr>
                </a:tc>
                <a:tc>
                  <a:txBody>
                    <a:bodyPr/>
                    <a:lstStyle/>
                    <a:p>
                      <a:pPr algn="l"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w="6350" cap="flat" cmpd="sng" algn="ctr">
                      <a:solidFill>
                        <a:srgbClr val="000000"/>
                      </a:solidFill>
                      <a:prstDash val="dot"/>
                      <a:round/>
                      <a:headEnd type="none" w="med" len="med"/>
                      <a:tailEnd type="none" w="med" len="med"/>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w="6350" cap="flat" cmpd="sng" algn="ctr">
                      <a:solidFill>
                        <a:srgbClr val="000000"/>
                      </a:solidFill>
                      <a:prstDash val="dot"/>
                      <a:round/>
                      <a:headEnd type="none" w="med" len="med"/>
                      <a:tailEnd type="none" w="med" len="med"/>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w="6350" cap="flat" cmpd="sng" algn="ctr">
                      <a:solidFill>
                        <a:srgbClr val="000000"/>
                      </a:solidFill>
                      <a:prstDash val="dot"/>
                      <a:round/>
                      <a:headEnd type="none" w="med" len="med"/>
                      <a:tailEnd type="none" w="med" len="med"/>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w="6350" cap="flat" cmpd="sng" algn="ctr">
                      <a:solidFill>
                        <a:srgbClr val="000000"/>
                      </a:solidFill>
                      <a:prstDash val="dot"/>
                      <a:round/>
                      <a:headEnd type="none" w="med" len="med"/>
                      <a:tailEnd type="none" w="med" len="med"/>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w="6350" cap="flat" cmpd="sng" algn="ctr">
                      <a:solidFill>
                        <a:srgbClr val="000000"/>
                      </a:solidFill>
                      <a:prstDash val="dot"/>
                      <a:round/>
                      <a:headEnd type="none" w="med" len="med"/>
                      <a:tailEnd type="none" w="med" len="med"/>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800" b="0" i="0" u="none" strike="noStrike" dirty="0">
                        <a:effectLst/>
                        <a:latin typeface="+mj-lt"/>
                        <a:ea typeface="宋体" panose="02010600030101010101" pitchFamily="2" charset="-122"/>
                      </a:endParaRP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800" b="0" i="0" u="none" strike="noStrike" dirty="0">
                        <a:effectLst/>
                        <a:latin typeface="+mj-lt"/>
                        <a:ea typeface="宋体" panose="02010600030101010101" pitchFamily="2" charset="-122"/>
                      </a:endParaRPr>
                    </a:p>
                  </a:txBody>
                  <a:tcPr marL="4062" marR="4062" marT="4062"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6194135"/>
                  </a:ext>
                </a:extLst>
              </a:tr>
              <a:tr h="155978">
                <a:tc>
                  <a:txBody>
                    <a:bodyPr/>
                    <a:lstStyle/>
                    <a:p>
                      <a:pPr algn="l" fontAlgn="ctr"/>
                      <a:endParaRPr lang="en-US" sz="800" b="1"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l"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r>
                        <a:rPr lang="en-US" sz="800" b="0" i="1" u="none" strike="noStrike">
                          <a:effectLst/>
                          <a:latin typeface="+mj-lt"/>
                          <a:ea typeface="宋体" panose="02010600030101010101" pitchFamily="2" charset="-122"/>
                        </a:rPr>
                        <a:t>Max</a:t>
                      </a:r>
                    </a:p>
                  </a:txBody>
                  <a:tcPr marL="4062" marR="4062" marT="4062"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ctr"/>
                      <a:r>
                        <a:rPr lang="en-US" sz="800" b="0" i="1" u="none" strike="noStrike">
                          <a:effectLst/>
                          <a:latin typeface="+mj-lt"/>
                          <a:ea typeface="宋体" panose="02010600030101010101" pitchFamily="2" charset="-122"/>
                        </a:rPr>
                        <a:t>32.80 </a:t>
                      </a:r>
                    </a:p>
                  </a:txBody>
                  <a:tcPr marL="4062" marR="4062" marT="4062"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ctr"/>
                      <a:r>
                        <a:rPr lang="en-US" sz="800" b="0" i="1" u="none" strike="noStrike">
                          <a:effectLst/>
                          <a:latin typeface="+mj-lt"/>
                          <a:ea typeface="宋体" panose="02010600030101010101" pitchFamily="2" charset="-122"/>
                        </a:rPr>
                        <a:t>34.83 </a:t>
                      </a:r>
                    </a:p>
                  </a:txBody>
                  <a:tcPr marL="4062" marR="4062" marT="4062"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ctr"/>
                      <a:r>
                        <a:rPr lang="en-US" sz="800" b="0" i="1" u="none" strike="noStrike">
                          <a:effectLst/>
                          <a:latin typeface="+mj-lt"/>
                          <a:ea typeface="宋体" panose="02010600030101010101" pitchFamily="2" charset="-122"/>
                        </a:rPr>
                        <a:t>28.78 </a:t>
                      </a:r>
                    </a:p>
                  </a:txBody>
                  <a:tcPr marL="4062" marR="4062" marT="4062"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ctr"/>
                      <a:r>
                        <a:rPr lang="en-US" sz="800" b="0" i="1" u="none" strike="noStrike">
                          <a:effectLst/>
                          <a:latin typeface="+mj-lt"/>
                          <a:ea typeface="宋体" panose="02010600030101010101" pitchFamily="2" charset="-122"/>
                        </a:rPr>
                        <a:t>9.97%</a:t>
                      </a:r>
                    </a:p>
                  </a:txBody>
                  <a:tcPr marL="4062" marR="4062" marT="4062"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ctr"/>
                      <a:r>
                        <a:rPr lang="en-US" sz="800" b="0" i="1" u="none" strike="noStrike">
                          <a:effectLst/>
                          <a:latin typeface="+mj-lt"/>
                          <a:ea typeface="宋体" panose="02010600030101010101" pitchFamily="2" charset="-122"/>
                        </a:rPr>
                        <a:t>32.40%</a:t>
                      </a:r>
                    </a:p>
                  </a:txBody>
                  <a:tcPr marL="4062" marR="4062" marT="4062"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ctr"/>
                      <a:r>
                        <a:rPr lang="en-US" sz="800" b="0" i="1" u="none" strike="noStrike" dirty="0">
                          <a:effectLst/>
                          <a:latin typeface="+mj-lt"/>
                          <a:ea typeface="宋体" panose="02010600030101010101" pitchFamily="2" charset="-122"/>
                        </a:rPr>
                        <a:t>58.66%</a:t>
                      </a:r>
                    </a:p>
                  </a:txBody>
                  <a:tcPr marL="4062" marR="4062" marT="4062"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extLst>
                  <a:ext uri="{0D108BD9-81ED-4DB2-BD59-A6C34878D82A}">
                    <a16:rowId xmlns:a16="http://schemas.microsoft.com/office/drawing/2014/main" val="3033732554"/>
                  </a:ext>
                </a:extLst>
              </a:tr>
              <a:tr h="155978">
                <a:tc>
                  <a:txBody>
                    <a:bodyPr/>
                    <a:lstStyle/>
                    <a:p>
                      <a:pPr algn="l" fontAlgn="ctr"/>
                      <a:endParaRPr lang="en-US" sz="800" b="1"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l"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r>
                        <a:rPr lang="en-US" sz="800" b="1" i="1" u="none" strike="noStrike">
                          <a:effectLst/>
                          <a:latin typeface="+mj-lt"/>
                          <a:ea typeface="宋体" panose="02010600030101010101" pitchFamily="2" charset="-122"/>
                        </a:rPr>
                        <a:t>Med</a:t>
                      </a:r>
                    </a:p>
                  </a:txBody>
                  <a:tcPr marL="4062" marR="4062" marT="4062" marB="0" anchor="ctr">
                    <a:lnL>
                      <a:noFill/>
                    </a:lnL>
                    <a:lnR>
                      <a:noFill/>
                    </a:lnR>
                    <a:lnT>
                      <a:noFill/>
                    </a:lnT>
                    <a:lnB>
                      <a:noFill/>
                    </a:lnB>
                    <a:solidFill>
                      <a:srgbClr val="D9D9D9"/>
                    </a:solidFill>
                  </a:tcPr>
                </a:tc>
                <a:tc>
                  <a:txBody>
                    <a:bodyPr/>
                    <a:lstStyle/>
                    <a:p>
                      <a:pPr algn="ctr" fontAlgn="ctr"/>
                      <a:r>
                        <a:rPr lang="en-US" sz="800" b="1" i="1" u="none" strike="noStrike">
                          <a:effectLst/>
                          <a:latin typeface="+mj-lt"/>
                          <a:ea typeface="宋体" panose="02010600030101010101" pitchFamily="2" charset="-122"/>
                        </a:rPr>
                        <a:t>11.62 </a:t>
                      </a:r>
                    </a:p>
                  </a:txBody>
                  <a:tcPr marL="4062" marR="4062" marT="4062" marB="0" anchor="ctr">
                    <a:lnL>
                      <a:noFill/>
                    </a:lnL>
                    <a:lnR>
                      <a:noFill/>
                    </a:lnR>
                    <a:lnT>
                      <a:noFill/>
                    </a:lnT>
                    <a:lnB>
                      <a:noFill/>
                    </a:lnB>
                    <a:solidFill>
                      <a:srgbClr val="D9D9D9"/>
                    </a:solidFill>
                  </a:tcPr>
                </a:tc>
                <a:tc>
                  <a:txBody>
                    <a:bodyPr/>
                    <a:lstStyle/>
                    <a:p>
                      <a:pPr algn="ctr" fontAlgn="ctr"/>
                      <a:r>
                        <a:rPr lang="en-US" sz="800" b="1" i="1" u="none" strike="noStrike">
                          <a:effectLst/>
                          <a:latin typeface="+mj-lt"/>
                          <a:ea typeface="宋体" panose="02010600030101010101" pitchFamily="2" charset="-122"/>
                        </a:rPr>
                        <a:t>12.74 </a:t>
                      </a:r>
                    </a:p>
                  </a:txBody>
                  <a:tcPr marL="4062" marR="4062" marT="4062" marB="0" anchor="ctr">
                    <a:lnL>
                      <a:noFill/>
                    </a:lnL>
                    <a:lnR>
                      <a:noFill/>
                    </a:lnR>
                    <a:lnT>
                      <a:noFill/>
                    </a:lnT>
                    <a:lnB>
                      <a:noFill/>
                    </a:lnB>
                    <a:solidFill>
                      <a:srgbClr val="D9D9D9"/>
                    </a:solidFill>
                  </a:tcPr>
                </a:tc>
                <a:tc>
                  <a:txBody>
                    <a:bodyPr/>
                    <a:lstStyle/>
                    <a:p>
                      <a:pPr algn="ctr" fontAlgn="ctr"/>
                      <a:r>
                        <a:rPr lang="en-US" sz="800" b="1" i="1" u="none" strike="noStrike">
                          <a:effectLst/>
                          <a:latin typeface="+mj-lt"/>
                          <a:ea typeface="宋体" panose="02010600030101010101" pitchFamily="2" charset="-122"/>
                        </a:rPr>
                        <a:t>12.25 </a:t>
                      </a:r>
                    </a:p>
                  </a:txBody>
                  <a:tcPr marL="4062" marR="4062" marT="4062" marB="0" anchor="ctr">
                    <a:lnL>
                      <a:noFill/>
                    </a:lnL>
                    <a:lnR>
                      <a:noFill/>
                    </a:lnR>
                    <a:lnT>
                      <a:noFill/>
                    </a:lnT>
                    <a:lnB>
                      <a:noFill/>
                    </a:lnB>
                    <a:solidFill>
                      <a:srgbClr val="D9D9D9"/>
                    </a:solidFill>
                  </a:tcPr>
                </a:tc>
                <a:tc>
                  <a:txBody>
                    <a:bodyPr/>
                    <a:lstStyle/>
                    <a:p>
                      <a:pPr algn="ctr" fontAlgn="ctr"/>
                      <a:r>
                        <a:rPr lang="en-US" sz="800" b="1" i="1" u="none" strike="noStrike">
                          <a:effectLst/>
                          <a:latin typeface="+mj-lt"/>
                          <a:ea typeface="宋体" panose="02010600030101010101" pitchFamily="2" charset="-122"/>
                        </a:rPr>
                        <a:t>-3.42%</a:t>
                      </a:r>
                    </a:p>
                  </a:txBody>
                  <a:tcPr marL="4062" marR="4062" marT="4062" marB="0" anchor="ctr">
                    <a:lnL>
                      <a:noFill/>
                    </a:lnL>
                    <a:lnR>
                      <a:noFill/>
                    </a:lnR>
                    <a:lnT>
                      <a:noFill/>
                    </a:lnT>
                    <a:lnB>
                      <a:noFill/>
                    </a:lnB>
                    <a:solidFill>
                      <a:srgbClr val="D9D9D9"/>
                    </a:solidFill>
                  </a:tcPr>
                </a:tc>
                <a:tc>
                  <a:txBody>
                    <a:bodyPr/>
                    <a:lstStyle/>
                    <a:p>
                      <a:pPr algn="ctr" fontAlgn="ctr"/>
                      <a:r>
                        <a:rPr lang="en-US" sz="800" b="1" i="1" u="none" strike="noStrike">
                          <a:effectLst/>
                          <a:latin typeface="+mj-lt"/>
                          <a:ea typeface="宋体" panose="02010600030101010101" pitchFamily="2" charset="-122"/>
                        </a:rPr>
                        <a:t>-9.97%</a:t>
                      </a:r>
                    </a:p>
                  </a:txBody>
                  <a:tcPr marL="4062" marR="4062" marT="4062" marB="0" anchor="ctr">
                    <a:lnL>
                      <a:noFill/>
                    </a:lnL>
                    <a:lnR>
                      <a:noFill/>
                    </a:lnR>
                    <a:lnT>
                      <a:noFill/>
                    </a:lnT>
                    <a:lnB>
                      <a:noFill/>
                    </a:lnB>
                    <a:solidFill>
                      <a:srgbClr val="D9D9D9"/>
                    </a:solidFill>
                  </a:tcPr>
                </a:tc>
                <a:tc>
                  <a:txBody>
                    <a:bodyPr/>
                    <a:lstStyle/>
                    <a:p>
                      <a:pPr algn="ctr" fontAlgn="ctr"/>
                      <a:r>
                        <a:rPr lang="en-US" sz="800" b="1" i="1" u="none" strike="noStrike" dirty="0">
                          <a:effectLst/>
                          <a:latin typeface="+mj-lt"/>
                          <a:ea typeface="宋体" panose="02010600030101010101" pitchFamily="2" charset="-122"/>
                        </a:rPr>
                        <a:t>10.98%</a:t>
                      </a:r>
                    </a:p>
                  </a:txBody>
                  <a:tcPr marL="4062" marR="4062" marT="4062" marB="0" anchor="ctr">
                    <a:lnL>
                      <a:noFill/>
                    </a:lnL>
                    <a:lnR>
                      <a:noFill/>
                    </a:lnR>
                    <a:lnT>
                      <a:noFill/>
                    </a:lnT>
                    <a:lnB>
                      <a:noFill/>
                    </a:lnB>
                    <a:solidFill>
                      <a:srgbClr val="D9D9D9"/>
                    </a:solidFill>
                  </a:tcPr>
                </a:tc>
                <a:extLst>
                  <a:ext uri="{0D108BD9-81ED-4DB2-BD59-A6C34878D82A}">
                    <a16:rowId xmlns:a16="http://schemas.microsoft.com/office/drawing/2014/main" val="2246157508"/>
                  </a:ext>
                </a:extLst>
              </a:tr>
              <a:tr h="155978">
                <a:tc>
                  <a:txBody>
                    <a:bodyPr/>
                    <a:lstStyle/>
                    <a:p>
                      <a:pPr algn="l" fontAlgn="ctr"/>
                      <a:endParaRPr lang="en-US" sz="800" b="1"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l"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r>
                        <a:rPr lang="en-US" sz="800" b="1" i="1" u="none" strike="noStrike">
                          <a:effectLst/>
                          <a:latin typeface="+mj-lt"/>
                          <a:ea typeface="宋体" panose="02010600030101010101" pitchFamily="2" charset="-122"/>
                        </a:rPr>
                        <a:t>Avg</a:t>
                      </a:r>
                    </a:p>
                  </a:txBody>
                  <a:tcPr marL="4062" marR="4062" marT="4062" marB="0" anchor="ctr">
                    <a:lnL>
                      <a:noFill/>
                    </a:lnL>
                    <a:lnR>
                      <a:noFill/>
                    </a:lnR>
                    <a:lnT>
                      <a:noFill/>
                    </a:lnT>
                    <a:lnB>
                      <a:noFill/>
                    </a:lnB>
                    <a:solidFill>
                      <a:srgbClr val="D9D9D9"/>
                    </a:solidFill>
                  </a:tcPr>
                </a:tc>
                <a:tc>
                  <a:txBody>
                    <a:bodyPr/>
                    <a:lstStyle/>
                    <a:p>
                      <a:pPr algn="ctr" fontAlgn="ctr"/>
                      <a:r>
                        <a:rPr lang="en-US" sz="800" b="1" i="1" u="none" strike="noStrike">
                          <a:effectLst/>
                          <a:latin typeface="+mj-lt"/>
                          <a:ea typeface="宋体" panose="02010600030101010101" pitchFamily="2" charset="-122"/>
                        </a:rPr>
                        <a:t>14.42 </a:t>
                      </a:r>
                    </a:p>
                  </a:txBody>
                  <a:tcPr marL="4062" marR="4062" marT="4062" marB="0" anchor="ctr">
                    <a:lnL>
                      <a:noFill/>
                    </a:lnL>
                    <a:lnR>
                      <a:noFill/>
                    </a:lnR>
                    <a:lnT>
                      <a:noFill/>
                    </a:lnT>
                    <a:lnB>
                      <a:noFill/>
                    </a:lnB>
                    <a:solidFill>
                      <a:srgbClr val="D9D9D9"/>
                    </a:solidFill>
                  </a:tcPr>
                </a:tc>
                <a:tc>
                  <a:txBody>
                    <a:bodyPr/>
                    <a:lstStyle/>
                    <a:p>
                      <a:pPr algn="ctr" fontAlgn="ctr"/>
                      <a:r>
                        <a:rPr lang="en-US" sz="800" b="1" i="1" u="none" strike="noStrike">
                          <a:effectLst/>
                          <a:latin typeface="+mj-lt"/>
                          <a:ea typeface="宋体" panose="02010600030101010101" pitchFamily="2" charset="-122"/>
                        </a:rPr>
                        <a:t>16.33 </a:t>
                      </a:r>
                    </a:p>
                  </a:txBody>
                  <a:tcPr marL="4062" marR="4062" marT="4062" marB="0" anchor="ctr">
                    <a:lnL>
                      <a:noFill/>
                    </a:lnL>
                    <a:lnR>
                      <a:noFill/>
                    </a:lnR>
                    <a:lnT>
                      <a:noFill/>
                    </a:lnT>
                    <a:lnB>
                      <a:noFill/>
                    </a:lnB>
                    <a:solidFill>
                      <a:srgbClr val="D9D9D9"/>
                    </a:solidFill>
                  </a:tcPr>
                </a:tc>
                <a:tc>
                  <a:txBody>
                    <a:bodyPr/>
                    <a:lstStyle/>
                    <a:p>
                      <a:pPr algn="ctr" fontAlgn="ctr"/>
                      <a:r>
                        <a:rPr lang="en-US" sz="800" b="1" i="1" u="none" strike="noStrike">
                          <a:effectLst/>
                          <a:latin typeface="+mj-lt"/>
                          <a:ea typeface="宋体" panose="02010600030101010101" pitchFamily="2" charset="-122"/>
                        </a:rPr>
                        <a:t>15.60 </a:t>
                      </a:r>
                    </a:p>
                  </a:txBody>
                  <a:tcPr marL="4062" marR="4062" marT="4062" marB="0" anchor="ctr">
                    <a:lnL>
                      <a:noFill/>
                    </a:lnL>
                    <a:lnR>
                      <a:noFill/>
                    </a:lnR>
                    <a:lnT>
                      <a:noFill/>
                    </a:lnT>
                    <a:lnB>
                      <a:noFill/>
                    </a:lnB>
                    <a:solidFill>
                      <a:srgbClr val="D9D9D9"/>
                    </a:solidFill>
                  </a:tcPr>
                </a:tc>
                <a:tc>
                  <a:txBody>
                    <a:bodyPr/>
                    <a:lstStyle/>
                    <a:p>
                      <a:pPr algn="ctr" fontAlgn="ctr"/>
                      <a:r>
                        <a:rPr lang="en-US" sz="800" b="1" i="1" u="none" strike="noStrike">
                          <a:effectLst/>
                          <a:latin typeface="+mj-lt"/>
                          <a:ea typeface="宋体" panose="02010600030101010101" pitchFamily="2" charset="-122"/>
                        </a:rPr>
                        <a:t>-3.92%</a:t>
                      </a:r>
                    </a:p>
                  </a:txBody>
                  <a:tcPr marL="4062" marR="4062" marT="4062" marB="0" anchor="ctr">
                    <a:lnL>
                      <a:noFill/>
                    </a:lnL>
                    <a:lnR>
                      <a:noFill/>
                    </a:lnR>
                    <a:lnT>
                      <a:noFill/>
                    </a:lnT>
                    <a:lnB>
                      <a:noFill/>
                    </a:lnB>
                    <a:solidFill>
                      <a:srgbClr val="D9D9D9"/>
                    </a:solidFill>
                  </a:tcPr>
                </a:tc>
                <a:tc>
                  <a:txBody>
                    <a:bodyPr/>
                    <a:lstStyle/>
                    <a:p>
                      <a:pPr algn="ctr" fontAlgn="ctr"/>
                      <a:r>
                        <a:rPr lang="en-US" sz="800" b="1" i="1" u="none" strike="noStrike">
                          <a:effectLst/>
                          <a:latin typeface="+mj-lt"/>
                          <a:ea typeface="宋体" panose="02010600030101010101" pitchFamily="2" charset="-122"/>
                        </a:rPr>
                        <a:t>-6.04%</a:t>
                      </a:r>
                    </a:p>
                  </a:txBody>
                  <a:tcPr marL="4062" marR="4062" marT="4062" marB="0" anchor="ctr">
                    <a:lnL>
                      <a:noFill/>
                    </a:lnL>
                    <a:lnR>
                      <a:noFill/>
                    </a:lnR>
                    <a:lnT>
                      <a:noFill/>
                    </a:lnT>
                    <a:lnB>
                      <a:noFill/>
                    </a:lnB>
                    <a:solidFill>
                      <a:srgbClr val="D9D9D9"/>
                    </a:solidFill>
                  </a:tcPr>
                </a:tc>
                <a:tc>
                  <a:txBody>
                    <a:bodyPr/>
                    <a:lstStyle/>
                    <a:p>
                      <a:pPr algn="ctr" fontAlgn="ctr"/>
                      <a:r>
                        <a:rPr lang="en-US" sz="800" b="1" i="1" u="none" strike="noStrike" dirty="0">
                          <a:effectLst/>
                          <a:latin typeface="+mj-lt"/>
                          <a:ea typeface="宋体" panose="02010600030101010101" pitchFamily="2" charset="-122"/>
                        </a:rPr>
                        <a:t>6.41%</a:t>
                      </a:r>
                    </a:p>
                  </a:txBody>
                  <a:tcPr marL="4062" marR="4062" marT="4062" marB="0" anchor="ctr">
                    <a:lnL>
                      <a:noFill/>
                    </a:lnL>
                    <a:lnR>
                      <a:noFill/>
                    </a:lnR>
                    <a:lnT>
                      <a:noFill/>
                    </a:lnT>
                    <a:lnB>
                      <a:noFill/>
                    </a:lnB>
                    <a:solidFill>
                      <a:srgbClr val="D9D9D9"/>
                    </a:solidFill>
                  </a:tcPr>
                </a:tc>
                <a:extLst>
                  <a:ext uri="{0D108BD9-81ED-4DB2-BD59-A6C34878D82A}">
                    <a16:rowId xmlns:a16="http://schemas.microsoft.com/office/drawing/2014/main" val="353156304"/>
                  </a:ext>
                </a:extLst>
              </a:tr>
              <a:tr h="155978">
                <a:tc>
                  <a:txBody>
                    <a:bodyPr/>
                    <a:lstStyle/>
                    <a:p>
                      <a:pPr algn="l" fontAlgn="ctr"/>
                      <a:endParaRPr lang="en-US" sz="800" b="1"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l"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4062" marR="4062" marT="4062" marB="0" anchor="ctr">
                    <a:lnL>
                      <a:noFill/>
                    </a:lnL>
                    <a:lnR>
                      <a:noFill/>
                    </a:lnR>
                    <a:lnT>
                      <a:noFill/>
                    </a:lnT>
                    <a:lnB>
                      <a:noFill/>
                    </a:lnB>
                  </a:tcPr>
                </a:tc>
                <a:tc>
                  <a:txBody>
                    <a:bodyPr/>
                    <a:lstStyle/>
                    <a:p>
                      <a:pPr algn="ctr" fontAlgn="ctr"/>
                      <a:r>
                        <a:rPr lang="en-US" sz="800" b="0" i="1" u="none" strike="noStrike">
                          <a:effectLst/>
                          <a:latin typeface="+mj-lt"/>
                          <a:ea typeface="宋体" panose="02010600030101010101" pitchFamily="2" charset="-122"/>
                        </a:rPr>
                        <a:t>Min</a:t>
                      </a:r>
                    </a:p>
                  </a:txBody>
                  <a:tcPr marL="4062" marR="4062" marT="4062" marB="0" anchor="ctr">
                    <a:lnL>
                      <a:noFill/>
                    </a:lnL>
                    <a:lnR>
                      <a:noFill/>
                    </a:lnR>
                    <a:lnT>
                      <a:noFill/>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1" u="none" strike="noStrike">
                          <a:effectLst/>
                          <a:latin typeface="+mj-lt"/>
                          <a:ea typeface="宋体" panose="02010600030101010101" pitchFamily="2" charset="-122"/>
                        </a:rPr>
                        <a:t>4.79 </a:t>
                      </a:r>
                    </a:p>
                  </a:txBody>
                  <a:tcPr marL="4062" marR="4062" marT="4062" marB="0" anchor="ctr">
                    <a:lnL>
                      <a:noFill/>
                    </a:lnL>
                    <a:lnR>
                      <a:noFill/>
                    </a:lnR>
                    <a:lnT>
                      <a:noFill/>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1" u="none" strike="noStrike">
                          <a:effectLst/>
                          <a:latin typeface="+mj-lt"/>
                          <a:ea typeface="宋体" panose="02010600030101010101" pitchFamily="2" charset="-122"/>
                        </a:rPr>
                        <a:t>6.45 </a:t>
                      </a:r>
                    </a:p>
                  </a:txBody>
                  <a:tcPr marL="4062" marR="4062" marT="4062" marB="0" anchor="ctr">
                    <a:lnL>
                      <a:noFill/>
                    </a:lnL>
                    <a:lnR>
                      <a:noFill/>
                    </a:lnR>
                    <a:lnT>
                      <a:noFill/>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1" u="none" strike="noStrike">
                          <a:effectLst/>
                          <a:latin typeface="+mj-lt"/>
                          <a:ea typeface="宋体" panose="02010600030101010101" pitchFamily="2" charset="-122"/>
                        </a:rPr>
                        <a:t>6.05 </a:t>
                      </a:r>
                    </a:p>
                  </a:txBody>
                  <a:tcPr marL="4062" marR="4062" marT="4062" marB="0" anchor="ctr">
                    <a:lnL>
                      <a:noFill/>
                    </a:lnL>
                    <a:lnR>
                      <a:noFill/>
                    </a:lnR>
                    <a:lnT>
                      <a:noFill/>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1" u="none" strike="noStrike">
                          <a:effectLst/>
                          <a:latin typeface="+mj-lt"/>
                          <a:ea typeface="宋体" panose="02010600030101010101" pitchFamily="2" charset="-122"/>
                        </a:rPr>
                        <a:t>-19.35%</a:t>
                      </a:r>
                    </a:p>
                  </a:txBody>
                  <a:tcPr marL="4062" marR="4062" marT="4062" marB="0" anchor="ctr">
                    <a:lnL>
                      <a:noFill/>
                    </a:lnL>
                    <a:lnR>
                      <a:noFill/>
                    </a:lnR>
                    <a:lnT>
                      <a:noFill/>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1" u="none" strike="noStrike">
                          <a:effectLst/>
                          <a:latin typeface="+mj-lt"/>
                          <a:ea typeface="宋体" panose="02010600030101010101" pitchFamily="2" charset="-122"/>
                        </a:rPr>
                        <a:t>-36.10%</a:t>
                      </a:r>
                    </a:p>
                  </a:txBody>
                  <a:tcPr marL="4062" marR="4062" marT="4062" marB="0" anchor="ctr">
                    <a:lnL>
                      <a:noFill/>
                    </a:lnL>
                    <a:lnR>
                      <a:noFill/>
                    </a:lnR>
                    <a:lnT>
                      <a:noFill/>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1" u="none" strike="noStrike" dirty="0">
                          <a:effectLst/>
                          <a:latin typeface="+mj-lt"/>
                          <a:ea typeface="宋体" panose="02010600030101010101" pitchFamily="2" charset="-122"/>
                        </a:rPr>
                        <a:t>-40.30%</a:t>
                      </a:r>
                    </a:p>
                  </a:txBody>
                  <a:tcPr marL="4062" marR="4062" marT="4062" marB="0" anchor="ctr">
                    <a:lnL>
                      <a:noFill/>
                    </a:lnL>
                    <a:lnR>
                      <a:noFill/>
                    </a:lnR>
                    <a:lnT>
                      <a:noFill/>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843047723"/>
                  </a:ext>
                </a:extLst>
              </a:tr>
            </a:tbl>
          </a:graphicData>
        </a:graphic>
      </p:graphicFrame>
      <p:sp>
        <p:nvSpPr>
          <p:cNvPr id="51" name="Text Placeholder 1">
            <a:extLst>
              <a:ext uri="{FF2B5EF4-FFF2-40B4-BE49-F238E27FC236}">
                <a16:creationId xmlns:a16="http://schemas.microsoft.com/office/drawing/2014/main" id="{B76C981D-4454-4426-BEE2-52280C8B2448}"/>
              </a:ext>
            </a:extLst>
          </p:cNvPr>
          <p:cNvSpPr txBox="1">
            <a:spLocks/>
          </p:cNvSpPr>
          <p:nvPr/>
        </p:nvSpPr>
        <p:spPr bwMode="gray">
          <a:xfrm>
            <a:off x="374118" y="6077449"/>
            <a:ext cx="5303520" cy="107722"/>
          </a:xfrm>
          <a:prstGeom prst="rect">
            <a:avLst/>
          </a:prstGeom>
          <a:noFill/>
          <a:ln w="9525">
            <a:noFill/>
            <a:miter lim="800000"/>
            <a:headEnd/>
            <a:tailEnd/>
          </a:ln>
        </p:spPr>
        <p:txBody>
          <a:bodyPr vert="horz" wrap="square" lIns="0" tIns="0" rIns="0" bIns="0" numCol="1" anchor="b" anchorCtr="0" compatLnSpc="1">
            <a:prstTxWarp prst="textNoShape">
              <a:avLst/>
            </a:prstTxWarp>
            <a:spAutoFit/>
          </a:bodyPr>
          <a:lstStyle>
            <a:lvl1pPr marL="228600" indent="-228600" algn="l" rtl="0" eaLnBrk="1" fontAlgn="base" hangingPunct="1">
              <a:spcBef>
                <a:spcPct val="20000"/>
              </a:spcBef>
              <a:spcAft>
                <a:spcPct val="0"/>
              </a:spcAft>
              <a:buClr>
                <a:schemeClr val="accent1"/>
              </a:buClr>
              <a:buFont typeface="Wingdings" pitchFamily="2" charset="2"/>
              <a:buChar char="§"/>
              <a:defRPr sz="1600">
                <a:solidFill>
                  <a:schemeClr val="tx1"/>
                </a:solidFill>
                <a:latin typeface="+mn-lt"/>
                <a:ea typeface="+mn-ea"/>
                <a:cs typeface="+mn-cs"/>
              </a:defRPr>
            </a:lvl1pPr>
            <a:lvl2pPr marL="685800" indent="-228600" algn="l" rtl="0" eaLnBrk="1" fontAlgn="base" hangingPunct="1">
              <a:spcBef>
                <a:spcPct val="20000"/>
              </a:spcBef>
              <a:spcAft>
                <a:spcPct val="0"/>
              </a:spcAft>
              <a:buClr>
                <a:schemeClr val="accent2"/>
              </a:buClr>
              <a:buChar char="•"/>
              <a:defRPr sz="1600">
                <a:solidFill>
                  <a:schemeClr val="tx1"/>
                </a:solidFill>
                <a:latin typeface="+mn-lt"/>
              </a:defRPr>
            </a:lvl2pPr>
            <a:lvl3pPr marL="1143000" indent="-228600" algn="l" rtl="0" eaLnBrk="1" fontAlgn="base" hangingPunct="1">
              <a:spcBef>
                <a:spcPct val="20000"/>
              </a:spcBef>
              <a:spcAft>
                <a:spcPct val="0"/>
              </a:spcAft>
              <a:buClr>
                <a:schemeClr val="hlink"/>
              </a:buClr>
              <a:buChar char="o"/>
              <a:defRPr sz="1600">
                <a:solidFill>
                  <a:schemeClr val="tx1"/>
                </a:solidFill>
                <a:latin typeface="+mn-lt"/>
              </a:defRPr>
            </a:lvl3pPr>
            <a:lvl4pPr marL="1600200" indent="-228600" algn="l" rtl="0" eaLnBrk="1" fontAlgn="base" hangingPunct="1">
              <a:spcBef>
                <a:spcPct val="20000"/>
              </a:spcBef>
              <a:spcAft>
                <a:spcPct val="0"/>
              </a:spcAft>
              <a:buChar char="–"/>
              <a:defRPr sz="1600">
                <a:solidFill>
                  <a:schemeClr val="tx1"/>
                </a:solidFill>
                <a:latin typeface="+mn-lt"/>
              </a:defRPr>
            </a:lvl4pPr>
            <a:lvl5pPr marL="2057400" indent="-228600" algn="l" rtl="0" eaLnBrk="1" fontAlgn="base" hangingPunct="1">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pPr marL="0" indent="0">
              <a:spcBef>
                <a:spcPts val="0"/>
              </a:spcBef>
              <a:buFont typeface="Wingdings" pitchFamily="2" charset="2"/>
              <a:buNone/>
            </a:pPr>
            <a:r>
              <a:rPr lang="en-US" sz="700" i="1" kern="0" dirty="0"/>
              <a:t>Source: Bloomberg as of 02 September 2018</a:t>
            </a:r>
          </a:p>
        </p:txBody>
      </p:sp>
    </p:spTree>
    <p:extLst>
      <p:ext uri="{BB962C8B-B14F-4D97-AF65-F5344CB8AC3E}">
        <p14:creationId xmlns:p14="http://schemas.microsoft.com/office/powerpoint/2010/main" val="3773393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74119" y="95250"/>
            <a:ext cx="9207917" cy="533400"/>
          </a:xfrm>
        </p:spPr>
        <p:txBody>
          <a:bodyPr/>
          <a:lstStyle/>
          <a:p>
            <a:r>
              <a:rPr lang="en-US" dirty="0"/>
              <a:t>Comparable Companies Trading Statistics – International Comparable Companies</a:t>
            </a:r>
          </a:p>
        </p:txBody>
      </p:sp>
      <p:sp>
        <p:nvSpPr>
          <p:cNvPr id="8" name="Slide Number Placeholder 1">
            <a:extLst/>
          </p:cNvPr>
          <p:cNvSpPr>
            <a:spLocks noGrp="1"/>
          </p:cNvSpPr>
          <p:nvPr>
            <p:ph type="sldNum" sz="quarter" idx="4"/>
          </p:nvPr>
        </p:nvSpPr>
        <p:spPr>
          <a:xfrm>
            <a:off x="9294706" y="6457701"/>
            <a:ext cx="306494" cy="215444"/>
          </a:xfrm>
        </p:spPr>
        <p:txBody>
          <a:bodyPr/>
          <a:lstStyle/>
          <a:p>
            <a:fld id="{54750402-2FB9-4808-B45A-E9D8797657DF}" type="slidenum">
              <a:rPr lang="en-US" smtClean="0"/>
              <a:pPr/>
              <a:t>9</a:t>
            </a:fld>
            <a:endParaRPr lang="en-US" dirty="0"/>
          </a:p>
        </p:txBody>
      </p:sp>
      <p:graphicFrame>
        <p:nvGraphicFramePr>
          <p:cNvPr id="4" name="Table 3">
            <a:extLst>
              <a:ext uri="{FF2B5EF4-FFF2-40B4-BE49-F238E27FC236}">
                <a16:creationId xmlns:a16="http://schemas.microsoft.com/office/drawing/2014/main" id="{C4DA5646-FB35-47DC-A2CC-61D681C2BDDD}"/>
              </a:ext>
            </a:extLst>
          </p:cNvPr>
          <p:cNvGraphicFramePr>
            <a:graphicFrameLocks noGrp="1"/>
          </p:cNvGraphicFramePr>
          <p:nvPr>
            <p:extLst>
              <p:ext uri="{D42A27DB-BD31-4B8C-83A1-F6EECF244321}">
                <p14:modId xmlns:p14="http://schemas.microsoft.com/office/powerpoint/2010/main" val="3676453105"/>
              </p:ext>
            </p:extLst>
          </p:nvPr>
        </p:nvGraphicFramePr>
        <p:xfrm>
          <a:off x="374118" y="738328"/>
          <a:ext cx="9227078" cy="5423672"/>
        </p:xfrm>
        <a:graphic>
          <a:graphicData uri="http://schemas.openxmlformats.org/drawingml/2006/table">
            <a:tbl>
              <a:tblPr/>
              <a:tblGrid>
                <a:gridCol w="2146746">
                  <a:extLst>
                    <a:ext uri="{9D8B030D-6E8A-4147-A177-3AD203B41FA5}">
                      <a16:colId xmlns:a16="http://schemas.microsoft.com/office/drawing/2014/main" val="1583901297"/>
                    </a:ext>
                  </a:extLst>
                </a:gridCol>
                <a:gridCol w="1122611">
                  <a:extLst>
                    <a:ext uri="{9D8B030D-6E8A-4147-A177-3AD203B41FA5}">
                      <a16:colId xmlns:a16="http://schemas.microsoft.com/office/drawing/2014/main" val="2576789330"/>
                    </a:ext>
                  </a:extLst>
                </a:gridCol>
                <a:gridCol w="541611">
                  <a:extLst>
                    <a:ext uri="{9D8B030D-6E8A-4147-A177-3AD203B41FA5}">
                      <a16:colId xmlns:a16="http://schemas.microsoft.com/office/drawing/2014/main" val="3359125159"/>
                    </a:ext>
                  </a:extLst>
                </a:gridCol>
                <a:gridCol w="541611">
                  <a:extLst>
                    <a:ext uri="{9D8B030D-6E8A-4147-A177-3AD203B41FA5}">
                      <a16:colId xmlns:a16="http://schemas.microsoft.com/office/drawing/2014/main" val="1417863336"/>
                    </a:ext>
                  </a:extLst>
                </a:gridCol>
                <a:gridCol w="541611">
                  <a:extLst>
                    <a:ext uri="{9D8B030D-6E8A-4147-A177-3AD203B41FA5}">
                      <a16:colId xmlns:a16="http://schemas.microsoft.com/office/drawing/2014/main" val="3443745459"/>
                    </a:ext>
                  </a:extLst>
                </a:gridCol>
                <a:gridCol w="541611">
                  <a:extLst>
                    <a:ext uri="{9D8B030D-6E8A-4147-A177-3AD203B41FA5}">
                      <a16:colId xmlns:a16="http://schemas.microsoft.com/office/drawing/2014/main" val="2373807964"/>
                    </a:ext>
                  </a:extLst>
                </a:gridCol>
                <a:gridCol w="541611">
                  <a:extLst>
                    <a:ext uri="{9D8B030D-6E8A-4147-A177-3AD203B41FA5}">
                      <a16:colId xmlns:a16="http://schemas.microsoft.com/office/drawing/2014/main" val="1356604313"/>
                    </a:ext>
                  </a:extLst>
                </a:gridCol>
                <a:gridCol w="541611">
                  <a:extLst>
                    <a:ext uri="{9D8B030D-6E8A-4147-A177-3AD203B41FA5}">
                      <a16:colId xmlns:a16="http://schemas.microsoft.com/office/drawing/2014/main" val="3802166850"/>
                    </a:ext>
                  </a:extLst>
                </a:gridCol>
                <a:gridCol w="541611">
                  <a:extLst>
                    <a:ext uri="{9D8B030D-6E8A-4147-A177-3AD203B41FA5}">
                      <a16:colId xmlns:a16="http://schemas.microsoft.com/office/drawing/2014/main" val="3651538540"/>
                    </a:ext>
                  </a:extLst>
                </a:gridCol>
                <a:gridCol w="541611">
                  <a:extLst>
                    <a:ext uri="{9D8B030D-6E8A-4147-A177-3AD203B41FA5}">
                      <a16:colId xmlns:a16="http://schemas.microsoft.com/office/drawing/2014/main" val="3140191147"/>
                    </a:ext>
                  </a:extLst>
                </a:gridCol>
                <a:gridCol w="541611">
                  <a:extLst>
                    <a:ext uri="{9D8B030D-6E8A-4147-A177-3AD203B41FA5}">
                      <a16:colId xmlns:a16="http://schemas.microsoft.com/office/drawing/2014/main" val="55624790"/>
                    </a:ext>
                  </a:extLst>
                </a:gridCol>
                <a:gridCol w="541611">
                  <a:extLst>
                    <a:ext uri="{9D8B030D-6E8A-4147-A177-3AD203B41FA5}">
                      <a16:colId xmlns:a16="http://schemas.microsoft.com/office/drawing/2014/main" val="3899407492"/>
                    </a:ext>
                  </a:extLst>
                </a:gridCol>
                <a:gridCol w="541611">
                  <a:extLst>
                    <a:ext uri="{9D8B030D-6E8A-4147-A177-3AD203B41FA5}">
                      <a16:colId xmlns:a16="http://schemas.microsoft.com/office/drawing/2014/main" val="4143246892"/>
                    </a:ext>
                  </a:extLst>
                </a:gridCol>
              </a:tblGrid>
              <a:tr h="134351">
                <a:tc rowSpan="3">
                  <a:txBody>
                    <a:bodyPr/>
                    <a:lstStyle/>
                    <a:p>
                      <a:pPr algn="ctr" fontAlgn="ctr"/>
                      <a:r>
                        <a:rPr lang="en-US" sz="800" b="1" i="0" u="none" strike="noStrike">
                          <a:solidFill>
                            <a:srgbClr val="FFFFFF"/>
                          </a:solidFill>
                          <a:effectLst/>
                          <a:latin typeface="+mj-lt"/>
                          <a:ea typeface="宋体" panose="02010600030101010101" pitchFamily="2" charset="-122"/>
                        </a:rPr>
                        <a:t>Company Name</a:t>
                      </a:r>
                    </a:p>
                  </a:txBody>
                  <a:tcPr marL="3499" marR="3499" marT="3499" marB="0" anchor="ctr">
                    <a:lnL>
                      <a:noFill/>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800000"/>
                    </a:solidFill>
                  </a:tcPr>
                </a:tc>
                <a:tc rowSpan="3">
                  <a:txBody>
                    <a:bodyPr/>
                    <a:lstStyle/>
                    <a:p>
                      <a:pPr algn="ctr" fontAlgn="ctr"/>
                      <a:r>
                        <a:rPr lang="en-US" sz="800" b="1" i="0" u="none" strike="noStrike">
                          <a:solidFill>
                            <a:srgbClr val="FFFFFF"/>
                          </a:solidFill>
                          <a:effectLst/>
                          <a:latin typeface="+mj-lt"/>
                          <a:ea typeface="宋体" panose="02010600030101010101" pitchFamily="2" charset="-122"/>
                        </a:rPr>
                        <a:t>Stock Code</a:t>
                      </a:r>
                    </a:p>
                  </a:txBody>
                  <a:tcPr marL="3499" marR="3499" marT="3499"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800000"/>
                    </a:solidFill>
                  </a:tcPr>
                </a:tc>
                <a:tc gridSpan="5">
                  <a:txBody>
                    <a:bodyPr/>
                    <a:lstStyle/>
                    <a:p>
                      <a:pPr algn="ctr" fontAlgn="ctr"/>
                      <a:r>
                        <a:rPr lang="en-US" sz="800" b="1" i="0" u="none" strike="noStrike" dirty="0">
                          <a:solidFill>
                            <a:srgbClr val="FFFFFF"/>
                          </a:solidFill>
                          <a:effectLst/>
                          <a:latin typeface="+mj-lt"/>
                          <a:ea typeface="宋体" panose="02010600030101010101" pitchFamily="2" charset="-122"/>
                        </a:rPr>
                        <a:t>Operation</a:t>
                      </a:r>
                    </a:p>
                  </a:txBody>
                  <a:tcPr marL="3499" marR="3499" marT="3499" marB="0" anchor="ctr">
                    <a:lnL w="19050" cap="flat" cmpd="sng" algn="ctr">
                      <a:solidFill>
                        <a:srgbClr val="FFFFFF"/>
                      </a:solidFill>
                      <a:prstDash val="solid"/>
                      <a:round/>
                      <a:headEnd type="none" w="med" len="med"/>
                      <a:tailEnd type="none" w="med" len="med"/>
                    </a:lnL>
                    <a:lnR w="19050" cap="flat" cmpd="sng" algn="ctr">
                      <a:solidFill>
                        <a:schemeClr val="bg1"/>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8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algn="ctr" fontAlgn="ctr"/>
                      <a:r>
                        <a:rPr lang="en-US" sz="800" b="1" i="0" u="none" strike="noStrike">
                          <a:solidFill>
                            <a:srgbClr val="FFFFFF"/>
                          </a:solidFill>
                          <a:effectLst/>
                          <a:latin typeface="+mj-lt"/>
                          <a:ea typeface="宋体" panose="02010600030101010101" pitchFamily="2" charset="-122"/>
                        </a:rPr>
                        <a:t>Valuation</a:t>
                      </a:r>
                    </a:p>
                  </a:txBody>
                  <a:tcPr marL="3499" marR="3499" marT="3499" marB="0" anchor="ctr">
                    <a:lnL w="19050" cap="flat" cmpd="sng" algn="ctr">
                      <a:solidFill>
                        <a:schemeClr val="bg1"/>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800000"/>
                    </a:solidFill>
                  </a:tcPr>
                </a:tc>
                <a:tc hMerge="1">
                  <a:txBody>
                    <a:bodyPr/>
                    <a:lstStyle/>
                    <a:p>
                      <a:endParaRPr lang="en-US"/>
                    </a:p>
                  </a:txBody>
                  <a:tcPr/>
                </a:tc>
                <a:tc hMerge="1">
                  <a:txBody>
                    <a:bodyPr/>
                    <a:lstStyle/>
                    <a:p>
                      <a:endParaRPr lang="en-US"/>
                    </a:p>
                  </a:txBody>
                  <a:tcPr/>
                </a:tc>
                <a:tc gridSpan="3">
                  <a:txBody>
                    <a:bodyPr/>
                    <a:lstStyle/>
                    <a:p>
                      <a:pPr algn="ctr" fontAlgn="ctr"/>
                      <a:r>
                        <a:rPr lang="en-US" sz="800" b="1" i="0" u="none" strike="noStrike">
                          <a:solidFill>
                            <a:srgbClr val="FFFFFF"/>
                          </a:solidFill>
                          <a:effectLst/>
                          <a:latin typeface="+mj-lt"/>
                          <a:ea typeface="宋体" panose="02010600030101010101" pitchFamily="2" charset="-122"/>
                        </a:rPr>
                        <a:t>Trading</a:t>
                      </a:r>
                    </a:p>
                  </a:txBody>
                  <a:tcPr marL="3499" marR="3499" marT="3499"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800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469764099"/>
                  </a:ext>
                </a:extLst>
              </a:tr>
              <a:tr h="134351">
                <a:tc vMerge="1">
                  <a:txBody>
                    <a:bodyPr/>
                    <a:lstStyle/>
                    <a:p>
                      <a:endParaRPr lang="en-US"/>
                    </a:p>
                  </a:txBody>
                  <a:tcPr/>
                </a:tc>
                <a:tc vMerge="1">
                  <a:txBody>
                    <a:bodyPr/>
                    <a:lstStyle/>
                    <a:p>
                      <a:endParaRPr lang="en-US"/>
                    </a:p>
                  </a:txBody>
                  <a:tcPr/>
                </a:tc>
                <a:tc rowSpan="2">
                  <a:txBody>
                    <a:bodyPr/>
                    <a:lstStyle/>
                    <a:p>
                      <a:pPr algn="ctr" fontAlgn="ctr"/>
                      <a:r>
                        <a:rPr lang="en-US" sz="800" b="1" i="0" u="none" strike="noStrike">
                          <a:effectLst/>
                          <a:latin typeface="+mj-lt"/>
                          <a:ea typeface="宋体" panose="02010600030101010101" pitchFamily="2" charset="-122"/>
                        </a:rPr>
                        <a:t>Market Cap</a:t>
                      </a:r>
                      <a:br>
                        <a:rPr lang="en-US" sz="800" b="1" i="0" u="none" strike="noStrike">
                          <a:effectLst/>
                          <a:latin typeface="+mj-lt"/>
                          <a:ea typeface="宋体" panose="02010600030101010101" pitchFamily="2" charset="-122"/>
                        </a:rPr>
                      </a:br>
                      <a:r>
                        <a:rPr lang="en-US" sz="800" b="1" i="0" u="none" strike="noStrike">
                          <a:effectLst/>
                          <a:latin typeface="+mj-lt"/>
                          <a:ea typeface="宋体" panose="02010600030101010101" pitchFamily="2" charset="-122"/>
                        </a:rPr>
                        <a:t>(USD'm)</a:t>
                      </a:r>
                    </a:p>
                  </a:txBody>
                  <a:tcPr marL="3499" marR="3499" marT="3499"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C0C0"/>
                    </a:solidFill>
                  </a:tcPr>
                </a:tc>
                <a:tc rowSpan="2">
                  <a:txBody>
                    <a:bodyPr/>
                    <a:lstStyle/>
                    <a:p>
                      <a:pPr algn="ctr" fontAlgn="ctr"/>
                      <a:r>
                        <a:rPr lang="en-US" sz="800" b="1" i="0" u="none" strike="noStrike">
                          <a:effectLst/>
                          <a:latin typeface="+mj-lt"/>
                          <a:ea typeface="宋体" panose="02010600030101010101" pitchFamily="2" charset="-122"/>
                        </a:rPr>
                        <a:t>Price</a:t>
                      </a:r>
                      <a:br>
                        <a:rPr lang="en-US" sz="800" b="1" i="0" u="none" strike="noStrike">
                          <a:effectLst/>
                          <a:latin typeface="+mj-lt"/>
                          <a:ea typeface="宋体" panose="02010600030101010101" pitchFamily="2" charset="-122"/>
                        </a:rPr>
                      </a:br>
                      <a:r>
                        <a:rPr lang="en-US" sz="800" b="1" i="0" u="none" strike="noStrike">
                          <a:effectLst/>
                          <a:latin typeface="+mj-lt"/>
                          <a:ea typeface="宋体" panose="02010600030101010101" pitchFamily="2" charset="-122"/>
                        </a:rPr>
                        <a:t>(Traded Curncy)</a:t>
                      </a:r>
                    </a:p>
                  </a:txBody>
                  <a:tcPr marL="3499" marR="3499" marT="3499"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C0C0"/>
                    </a:solidFill>
                  </a:tcPr>
                </a:tc>
                <a:tc rowSpan="2">
                  <a:txBody>
                    <a:bodyPr/>
                    <a:lstStyle/>
                    <a:p>
                      <a:pPr algn="ctr" fontAlgn="ctr"/>
                      <a:r>
                        <a:rPr lang="en-US" sz="800" b="1" i="0" u="none" strike="noStrike">
                          <a:effectLst/>
                          <a:latin typeface="+mj-lt"/>
                          <a:ea typeface="宋体" panose="02010600030101010101" pitchFamily="2" charset="-122"/>
                        </a:rPr>
                        <a:t>Net Asset </a:t>
                      </a:r>
                      <a:br>
                        <a:rPr lang="en-US" sz="800" b="1" i="0" u="none" strike="noStrike">
                          <a:effectLst/>
                          <a:latin typeface="+mj-lt"/>
                          <a:ea typeface="宋体" panose="02010600030101010101" pitchFamily="2" charset="-122"/>
                        </a:rPr>
                      </a:br>
                      <a:r>
                        <a:rPr lang="en-US" sz="800" b="1" i="0" u="none" strike="noStrike">
                          <a:effectLst/>
                          <a:latin typeface="+mj-lt"/>
                          <a:ea typeface="宋体" panose="02010600030101010101" pitchFamily="2" charset="-122"/>
                        </a:rPr>
                        <a:t>(USD'm)</a:t>
                      </a:r>
                    </a:p>
                  </a:txBody>
                  <a:tcPr marL="3499" marR="3499" marT="3499"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C0C0"/>
                    </a:solidFill>
                  </a:tcPr>
                </a:tc>
                <a:tc rowSpan="2">
                  <a:txBody>
                    <a:bodyPr/>
                    <a:lstStyle/>
                    <a:p>
                      <a:pPr algn="ctr" fontAlgn="ctr"/>
                      <a:r>
                        <a:rPr lang="en-US" sz="800" b="1" i="0" u="none" strike="noStrike">
                          <a:effectLst/>
                          <a:latin typeface="+mj-lt"/>
                          <a:ea typeface="宋体" panose="02010600030101010101" pitchFamily="2" charset="-122"/>
                        </a:rPr>
                        <a:t>Revenue </a:t>
                      </a:r>
                      <a:br>
                        <a:rPr lang="en-US" sz="800" b="1" i="0" u="none" strike="noStrike">
                          <a:effectLst/>
                          <a:latin typeface="+mj-lt"/>
                          <a:ea typeface="宋体" panose="02010600030101010101" pitchFamily="2" charset="-122"/>
                        </a:rPr>
                      </a:br>
                      <a:r>
                        <a:rPr lang="en-US" sz="800" b="1" i="0" u="none" strike="noStrike">
                          <a:effectLst/>
                          <a:latin typeface="+mj-lt"/>
                          <a:ea typeface="宋体" panose="02010600030101010101" pitchFamily="2" charset="-122"/>
                        </a:rPr>
                        <a:t>(USD'm)</a:t>
                      </a:r>
                    </a:p>
                  </a:txBody>
                  <a:tcPr marL="3499" marR="3499" marT="3499"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C0C0"/>
                    </a:solidFill>
                  </a:tcPr>
                </a:tc>
                <a:tc rowSpan="2">
                  <a:txBody>
                    <a:bodyPr/>
                    <a:lstStyle/>
                    <a:p>
                      <a:pPr algn="ctr" fontAlgn="ctr"/>
                      <a:r>
                        <a:rPr lang="en-US" sz="800" b="1" i="0" u="none" strike="noStrike">
                          <a:effectLst/>
                          <a:latin typeface="+mj-lt"/>
                          <a:ea typeface="宋体" panose="02010600030101010101" pitchFamily="2" charset="-122"/>
                        </a:rPr>
                        <a:t>Net Prof</a:t>
                      </a:r>
                      <a:br>
                        <a:rPr lang="en-US" sz="800" b="1" i="0" u="none" strike="noStrike">
                          <a:effectLst/>
                          <a:latin typeface="+mj-lt"/>
                          <a:ea typeface="宋体" panose="02010600030101010101" pitchFamily="2" charset="-122"/>
                        </a:rPr>
                      </a:br>
                      <a:r>
                        <a:rPr lang="en-US" sz="800" b="1" i="0" u="none" strike="noStrike">
                          <a:effectLst/>
                          <a:latin typeface="+mj-lt"/>
                          <a:ea typeface="宋体" panose="02010600030101010101" pitchFamily="2" charset="-122"/>
                        </a:rPr>
                        <a:t>(USD'm)</a:t>
                      </a:r>
                    </a:p>
                  </a:txBody>
                  <a:tcPr marL="3499" marR="3499" marT="3499"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C0C0"/>
                    </a:solidFill>
                  </a:tcPr>
                </a:tc>
                <a:tc gridSpan="3">
                  <a:txBody>
                    <a:bodyPr/>
                    <a:lstStyle/>
                    <a:p>
                      <a:pPr algn="ctr" fontAlgn="ctr"/>
                      <a:r>
                        <a:rPr lang="en-US" sz="800" b="1" i="0" u="none" strike="noStrike">
                          <a:solidFill>
                            <a:srgbClr val="FFFFFF"/>
                          </a:solidFill>
                          <a:effectLst/>
                          <a:latin typeface="+mj-lt"/>
                          <a:ea typeface="宋体" panose="02010600030101010101" pitchFamily="2" charset="-122"/>
                        </a:rPr>
                        <a:t>P/E (x)</a:t>
                      </a:r>
                    </a:p>
                  </a:txBody>
                  <a:tcPr marL="3499" marR="3499" marT="3499"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0000"/>
                    </a:solidFill>
                  </a:tcPr>
                </a:tc>
                <a:tc hMerge="1">
                  <a:txBody>
                    <a:bodyPr/>
                    <a:lstStyle/>
                    <a:p>
                      <a:endParaRPr lang="en-US"/>
                    </a:p>
                  </a:txBody>
                  <a:tcPr/>
                </a:tc>
                <a:tc hMerge="1">
                  <a:txBody>
                    <a:bodyPr/>
                    <a:lstStyle/>
                    <a:p>
                      <a:endParaRPr lang="en-US"/>
                    </a:p>
                  </a:txBody>
                  <a:tcPr/>
                </a:tc>
                <a:tc rowSpan="2">
                  <a:txBody>
                    <a:bodyPr/>
                    <a:lstStyle/>
                    <a:p>
                      <a:pPr algn="ctr" fontAlgn="ctr"/>
                      <a:r>
                        <a:rPr lang="en-US" sz="800" b="1" i="0" u="none" strike="noStrike">
                          <a:effectLst/>
                          <a:latin typeface="+mj-lt"/>
                          <a:ea typeface="宋体" panose="02010600030101010101" pitchFamily="2" charset="-122"/>
                        </a:rPr>
                        <a:t>1M Return</a:t>
                      </a:r>
                    </a:p>
                  </a:txBody>
                  <a:tcPr marL="3499" marR="3499" marT="3499"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C0C0"/>
                    </a:solidFill>
                  </a:tcPr>
                </a:tc>
                <a:tc rowSpan="2">
                  <a:txBody>
                    <a:bodyPr/>
                    <a:lstStyle/>
                    <a:p>
                      <a:pPr algn="ctr" fontAlgn="ctr"/>
                      <a:r>
                        <a:rPr lang="en-US" sz="800" b="1" i="0" u="none" strike="noStrike">
                          <a:effectLst/>
                          <a:latin typeface="+mj-lt"/>
                          <a:ea typeface="宋体" panose="02010600030101010101" pitchFamily="2" charset="-122"/>
                        </a:rPr>
                        <a:t>6M Return</a:t>
                      </a:r>
                    </a:p>
                  </a:txBody>
                  <a:tcPr marL="3499" marR="3499" marT="3499"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C0C0"/>
                    </a:solidFill>
                  </a:tcPr>
                </a:tc>
                <a:tc rowSpan="2">
                  <a:txBody>
                    <a:bodyPr/>
                    <a:lstStyle/>
                    <a:p>
                      <a:pPr algn="ctr" fontAlgn="ctr"/>
                      <a:r>
                        <a:rPr lang="en-US" sz="800" b="1" i="0" u="none" strike="noStrike">
                          <a:effectLst/>
                          <a:latin typeface="+mj-lt"/>
                          <a:ea typeface="宋体" panose="02010600030101010101" pitchFamily="2" charset="-122"/>
                        </a:rPr>
                        <a:t>YTD Return</a:t>
                      </a:r>
                    </a:p>
                  </a:txBody>
                  <a:tcPr marL="3499" marR="3499" marT="3499"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C0C0"/>
                    </a:solidFill>
                  </a:tcPr>
                </a:tc>
                <a:extLst>
                  <a:ext uri="{0D108BD9-81ED-4DB2-BD59-A6C34878D82A}">
                    <a16:rowId xmlns:a16="http://schemas.microsoft.com/office/drawing/2014/main" val="2432339483"/>
                  </a:ext>
                </a:extLst>
              </a:tr>
              <a:tr h="160941">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800" b="1" i="0" u="none" strike="noStrike">
                          <a:effectLst/>
                          <a:latin typeface="+mj-lt"/>
                          <a:ea typeface="宋体" panose="02010600030101010101" pitchFamily="2" charset="-122"/>
                        </a:rPr>
                        <a:t>TTM</a:t>
                      </a:r>
                    </a:p>
                  </a:txBody>
                  <a:tcPr marL="3499" marR="3499" marT="3499"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C0C0C0"/>
                    </a:solidFill>
                  </a:tcPr>
                </a:tc>
                <a:tc>
                  <a:txBody>
                    <a:bodyPr/>
                    <a:lstStyle/>
                    <a:p>
                      <a:pPr algn="ctr" fontAlgn="ctr"/>
                      <a:r>
                        <a:rPr lang="en-US" sz="800" b="1" i="0" u="none" strike="noStrike">
                          <a:effectLst/>
                          <a:latin typeface="+mj-lt"/>
                          <a:ea typeface="宋体" panose="02010600030101010101" pitchFamily="2" charset="-122"/>
                        </a:rPr>
                        <a:t>2019e</a:t>
                      </a:r>
                    </a:p>
                  </a:txBody>
                  <a:tcPr marL="3499" marR="3499" marT="3499"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C0C0C0"/>
                    </a:solidFill>
                  </a:tcPr>
                </a:tc>
                <a:tc>
                  <a:txBody>
                    <a:bodyPr/>
                    <a:lstStyle/>
                    <a:p>
                      <a:pPr algn="ctr" fontAlgn="ctr"/>
                      <a:r>
                        <a:rPr lang="en-US" sz="800" b="1" i="0" u="none" strike="noStrike">
                          <a:effectLst/>
                          <a:latin typeface="+mj-lt"/>
                          <a:ea typeface="宋体" panose="02010600030101010101" pitchFamily="2" charset="-122"/>
                        </a:rPr>
                        <a:t>2020e</a:t>
                      </a:r>
                    </a:p>
                  </a:txBody>
                  <a:tcPr marL="3499" marR="3499" marT="3499"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C0C0C0"/>
                    </a:solidFill>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906523175"/>
                  </a:ext>
                </a:extLst>
              </a:tr>
              <a:tr h="134351">
                <a:tc>
                  <a:txBody>
                    <a:bodyPr/>
                    <a:lstStyle/>
                    <a:p>
                      <a:pPr algn="l"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w="19050" cap="flat" cmpd="sng" algn="ctr">
                      <a:solidFill>
                        <a:srgbClr val="FFFFFF"/>
                      </a:solidFill>
                      <a:prstDash val="solid"/>
                      <a:round/>
                      <a:headEnd type="none" w="med" len="med"/>
                      <a:tailEnd type="none" w="med" len="med"/>
                    </a:lnT>
                    <a:lnB>
                      <a:noFill/>
                    </a:lnB>
                  </a:tcPr>
                </a:tc>
                <a:tc>
                  <a:txBody>
                    <a:bodyPr/>
                    <a:lstStyle/>
                    <a:p>
                      <a:pPr algn="l"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w="19050" cap="flat" cmpd="sng" algn="ctr">
                      <a:solidFill>
                        <a:srgbClr val="FFFFFF"/>
                      </a:solidFill>
                      <a:prstDash val="solid"/>
                      <a:round/>
                      <a:headEnd type="none" w="med" len="med"/>
                      <a:tailEnd type="none" w="med" len="med"/>
                    </a:lnT>
                    <a:lnB>
                      <a:noFill/>
                    </a:lnB>
                  </a:tcPr>
                </a:tc>
                <a:tc>
                  <a:txBody>
                    <a:bodyPr/>
                    <a:lstStyle/>
                    <a:p>
                      <a:pPr algn="l"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a:noFill/>
                    </a:lnT>
                    <a:lnB>
                      <a:noFill/>
                    </a:lnB>
                  </a:tcPr>
                </a:tc>
                <a:tc>
                  <a:txBody>
                    <a:bodyPr/>
                    <a:lstStyle/>
                    <a:p>
                      <a:pPr algn="l"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a:noFill/>
                    </a:lnT>
                    <a:lnB>
                      <a:noFill/>
                    </a:lnB>
                  </a:tcPr>
                </a:tc>
                <a:tc>
                  <a:txBody>
                    <a:bodyPr/>
                    <a:lstStyle/>
                    <a:p>
                      <a:pPr algn="l"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a:noFill/>
                    </a:lnT>
                    <a:lnB>
                      <a:noFill/>
                    </a:lnB>
                  </a:tcPr>
                </a:tc>
                <a:tc>
                  <a:txBody>
                    <a:bodyPr/>
                    <a:lstStyle/>
                    <a:p>
                      <a:pPr algn="l"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w="19050" cap="flat" cmpd="sng" algn="ctr">
                      <a:solidFill>
                        <a:srgbClr val="FFFFFF"/>
                      </a:solidFill>
                      <a:prstDash val="solid"/>
                      <a:round/>
                      <a:headEnd type="none" w="med" len="med"/>
                      <a:tailEnd type="none" w="med" len="med"/>
                    </a:lnT>
                    <a:lnB>
                      <a:noFill/>
                    </a:lnB>
                  </a:tcPr>
                </a:tc>
                <a:tc>
                  <a:txBody>
                    <a:bodyPr/>
                    <a:lstStyle/>
                    <a:p>
                      <a:pPr algn="l"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w="19050" cap="flat" cmpd="sng" algn="ctr">
                      <a:solidFill>
                        <a:srgbClr val="FFFFFF"/>
                      </a:solidFill>
                      <a:prstDash val="solid"/>
                      <a:round/>
                      <a:headEnd type="none" w="med" len="med"/>
                      <a:tailEnd type="none" w="med" len="med"/>
                    </a:lnT>
                    <a:lnB>
                      <a:noFill/>
                    </a:lnB>
                  </a:tcPr>
                </a:tc>
                <a:tc>
                  <a:txBody>
                    <a:bodyPr/>
                    <a:lstStyle/>
                    <a:p>
                      <a:pPr algn="l"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w="19050" cap="flat" cmpd="sng" algn="ctr">
                      <a:solidFill>
                        <a:srgbClr val="FFFFFF"/>
                      </a:solidFill>
                      <a:prstDash val="solid"/>
                      <a:round/>
                      <a:headEnd type="none" w="med" len="med"/>
                      <a:tailEnd type="none" w="med" len="med"/>
                    </a:lnT>
                    <a:lnB>
                      <a:noFill/>
                    </a:lnB>
                  </a:tcPr>
                </a:tc>
                <a:extLst>
                  <a:ext uri="{0D108BD9-81ED-4DB2-BD59-A6C34878D82A}">
                    <a16:rowId xmlns:a16="http://schemas.microsoft.com/office/drawing/2014/main" val="2327190068"/>
                  </a:ext>
                </a:extLst>
              </a:tr>
              <a:tr h="104961">
                <a:tc gridSpan="3">
                  <a:txBody>
                    <a:bodyPr/>
                    <a:lstStyle/>
                    <a:p>
                      <a:pPr algn="l" fontAlgn="ctr"/>
                      <a:r>
                        <a:rPr lang="en-US" sz="800" b="1" i="0" u="none" strike="noStrike">
                          <a:solidFill>
                            <a:srgbClr val="FFFFFF"/>
                          </a:solidFill>
                          <a:effectLst/>
                          <a:latin typeface="+mj-lt"/>
                          <a:ea typeface="宋体" panose="02010600030101010101" pitchFamily="2" charset="-122"/>
                        </a:rPr>
                        <a:t>International Logistic Comparable Companies</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404040"/>
                    </a:solidFill>
                  </a:tcPr>
                </a:tc>
                <a:tc hMerge="1">
                  <a:txBody>
                    <a:bodyPr/>
                    <a:lstStyle/>
                    <a:p>
                      <a:endParaRPr lang="en-US"/>
                    </a:p>
                  </a:txBody>
                  <a:tcPr/>
                </a:tc>
                <a:tc hMerge="1">
                  <a:txBody>
                    <a:bodyPr/>
                    <a:lstStyle/>
                    <a:p>
                      <a:endParaRPr lang="en-US"/>
                    </a:p>
                  </a:txBody>
                  <a:tcPr/>
                </a:tc>
                <a:tc>
                  <a:txBody>
                    <a:bodyPr/>
                    <a:lstStyle/>
                    <a:p>
                      <a:pPr algn="l" fontAlgn="ctr"/>
                      <a:r>
                        <a:rPr lang="en-US" sz="800" b="1" i="0" u="none" strike="noStrike">
                          <a:solidFill>
                            <a:srgbClr val="FFFFFF"/>
                          </a:solidFill>
                          <a:effectLst/>
                          <a:latin typeface="+mj-lt"/>
                          <a:ea typeface="宋体" panose="02010600030101010101" pitchFamily="2" charset="-122"/>
                        </a:rPr>
                        <a:t>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404040"/>
                    </a:solidFill>
                  </a:tcPr>
                </a:tc>
                <a:tc>
                  <a:txBody>
                    <a:bodyPr/>
                    <a:lstStyle/>
                    <a:p>
                      <a:pPr algn="l" fontAlgn="ctr"/>
                      <a:r>
                        <a:rPr lang="en-US" sz="800" b="1" i="0" u="none" strike="noStrike">
                          <a:solidFill>
                            <a:srgbClr val="FFFFFF"/>
                          </a:solidFill>
                          <a:effectLst/>
                          <a:latin typeface="+mj-lt"/>
                          <a:ea typeface="宋体" panose="02010600030101010101" pitchFamily="2" charset="-122"/>
                        </a:rPr>
                        <a:t>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r>
                        <a:rPr lang="en-US" sz="800" b="1" i="0" u="none" strike="noStrike">
                          <a:effectLst/>
                          <a:latin typeface="+mj-lt"/>
                          <a:ea typeface="宋体" panose="02010600030101010101" pitchFamily="2" charset="-122"/>
                        </a:rPr>
                        <a:t> </a:t>
                      </a:r>
                    </a:p>
                  </a:txBody>
                  <a:tcPr marL="3499" marR="3499" marT="3499" marB="0" anchor="ctr">
                    <a:lnL>
                      <a:noFill/>
                    </a:lnL>
                    <a:lnR>
                      <a:noFill/>
                    </a:lnR>
                    <a:lnT>
                      <a:noFill/>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r>
                        <a:rPr lang="en-US" sz="800" b="1" i="0" u="none" strike="noStrike">
                          <a:effectLst/>
                          <a:latin typeface="+mj-lt"/>
                          <a:ea typeface="宋体" panose="02010600030101010101" pitchFamily="2" charset="-122"/>
                        </a:rPr>
                        <a:t> </a:t>
                      </a:r>
                    </a:p>
                  </a:txBody>
                  <a:tcPr marL="3499" marR="3499" marT="3499" marB="0" anchor="ctr">
                    <a:lnL>
                      <a:noFill/>
                    </a:lnL>
                    <a:lnR>
                      <a:noFill/>
                    </a:lnR>
                    <a:lnT>
                      <a:noFill/>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r>
                        <a:rPr lang="en-US" sz="800" b="1" i="0" u="none" strike="noStrike">
                          <a:effectLst/>
                          <a:latin typeface="+mj-lt"/>
                          <a:ea typeface="宋体" panose="02010600030101010101" pitchFamily="2" charset="-122"/>
                        </a:rPr>
                        <a:t> </a:t>
                      </a:r>
                    </a:p>
                  </a:txBody>
                  <a:tcPr marL="3499" marR="3499" marT="3499" marB="0" anchor="ctr">
                    <a:lnL>
                      <a:noFill/>
                    </a:lnL>
                    <a:lnR>
                      <a:noFill/>
                    </a:lnR>
                    <a:lnT>
                      <a:noFill/>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r>
                        <a:rPr lang="en-US" sz="800" b="0" i="0" u="none" strike="noStrike">
                          <a:effectLst/>
                          <a:latin typeface="+mj-lt"/>
                          <a:ea typeface="宋体" panose="02010600030101010101" pitchFamily="2" charset="-122"/>
                        </a:rPr>
                        <a:t> </a:t>
                      </a:r>
                    </a:p>
                  </a:txBody>
                  <a:tcPr marL="3499" marR="3499" marT="3499" marB="0" anchor="ctr">
                    <a:lnL>
                      <a:noFill/>
                    </a:lnL>
                    <a:lnR>
                      <a:noFill/>
                    </a:lnR>
                    <a:lnT>
                      <a:noFill/>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r>
                        <a:rPr lang="en-US" sz="800" b="0" i="0" u="none" strike="noStrike">
                          <a:effectLst/>
                          <a:latin typeface="+mj-lt"/>
                          <a:ea typeface="宋体" panose="02010600030101010101" pitchFamily="2" charset="-122"/>
                        </a:rPr>
                        <a:t> </a:t>
                      </a:r>
                    </a:p>
                  </a:txBody>
                  <a:tcPr marL="3499" marR="3499" marT="3499" marB="0" anchor="ctr">
                    <a:lnL>
                      <a:noFill/>
                    </a:lnL>
                    <a:lnR>
                      <a:noFill/>
                    </a:lnR>
                    <a:lnT>
                      <a:noFill/>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r>
                        <a:rPr lang="en-US" sz="800" b="0" i="0" u="none" strike="noStrike">
                          <a:effectLst/>
                          <a:latin typeface="+mj-lt"/>
                          <a:ea typeface="宋体" panose="02010600030101010101" pitchFamily="2" charset="-122"/>
                        </a:rPr>
                        <a:t> </a:t>
                      </a:r>
                    </a:p>
                  </a:txBody>
                  <a:tcPr marL="3499" marR="3499" marT="3499" marB="0" anchor="ctr">
                    <a:lnL>
                      <a:noFill/>
                    </a:lnL>
                    <a:lnR>
                      <a:noFill/>
                    </a:lnR>
                    <a:lnT>
                      <a:noFill/>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r>
                        <a:rPr lang="en-US" sz="800" b="0" i="0" u="none" strike="noStrike">
                          <a:effectLst/>
                          <a:latin typeface="+mj-lt"/>
                          <a:ea typeface="宋体" panose="02010600030101010101" pitchFamily="2" charset="-122"/>
                        </a:rPr>
                        <a:t> </a:t>
                      </a:r>
                    </a:p>
                  </a:txBody>
                  <a:tcPr marL="3499" marR="3499" marT="3499" marB="0" anchor="ctr">
                    <a:lnL>
                      <a:noFill/>
                    </a:lnL>
                    <a:lnR>
                      <a:noFill/>
                    </a:lnR>
                    <a:lnT>
                      <a:noFill/>
                    </a:lnT>
                    <a:lnB w="6350" cap="flat" cmpd="sng" algn="ctr">
                      <a:solidFill>
                        <a:srgbClr val="000000"/>
                      </a:solidFill>
                      <a:prstDash val="dot"/>
                      <a:round/>
                      <a:headEnd type="none" w="med" len="med"/>
                      <a:tailEnd type="none" w="med" len="med"/>
                    </a:lnB>
                    <a:solidFill>
                      <a:srgbClr val="404040"/>
                    </a:solidFill>
                  </a:tcPr>
                </a:tc>
                <a:tc>
                  <a:txBody>
                    <a:bodyPr/>
                    <a:lstStyle/>
                    <a:p>
                      <a:pPr algn="ctr" fontAlgn="ctr"/>
                      <a:r>
                        <a:rPr lang="en-US" sz="800" b="0" i="0" u="none" strike="noStrike">
                          <a:effectLst/>
                          <a:latin typeface="+mj-lt"/>
                          <a:ea typeface="宋体" panose="02010600030101010101" pitchFamily="2" charset="-122"/>
                        </a:rPr>
                        <a:t> </a:t>
                      </a:r>
                    </a:p>
                  </a:txBody>
                  <a:tcPr marL="3499" marR="3499" marT="3499" marB="0" anchor="ctr">
                    <a:lnL>
                      <a:noFill/>
                    </a:lnL>
                    <a:lnR>
                      <a:noFill/>
                    </a:lnR>
                    <a:lnT>
                      <a:noFill/>
                    </a:lnT>
                    <a:lnB w="6350" cap="flat" cmpd="sng" algn="ctr">
                      <a:solidFill>
                        <a:srgbClr val="000000"/>
                      </a:solidFill>
                      <a:prstDash val="dot"/>
                      <a:round/>
                      <a:headEnd type="none" w="med" len="med"/>
                      <a:tailEnd type="none" w="med" len="med"/>
                    </a:lnB>
                    <a:solidFill>
                      <a:srgbClr val="404040"/>
                    </a:solidFill>
                  </a:tcPr>
                </a:tc>
                <a:extLst>
                  <a:ext uri="{0D108BD9-81ED-4DB2-BD59-A6C34878D82A}">
                    <a16:rowId xmlns:a16="http://schemas.microsoft.com/office/drawing/2014/main" val="1954380058"/>
                  </a:ext>
                </a:extLst>
              </a:tr>
              <a:tr h="209923">
                <a:tc>
                  <a:txBody>
                    <a:bodyPr/>
                    <a:lstStyle/>
                    <a:p>
                      <a:pPr algn="l" fontAlgn="ctr"/>
                      <a:r>
                        <a:rPr lang="en-US" sz="800" b="1" i="0" u="none" strike="noStrike">
                          <a:effectLst/>
                          <a:latin typeface="+mj-lt"/>
                          <a:ea typeface="宋体" panose="02010600030101010101" pitchFamily="2" charset="-122"/>
                        </a:rPr>
                        <a:t>United Parcel Service Inc</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r>
                        <a:rPr lang="en-US" sz="800" b="0" i="0" u="none" strike="noStrike">
                          <a:effectLst/>
                          <a:latin typeface="+mj-lt"/>
                          <a:ea typeface="宋体" panose="02010600030101010101" pitchFamily="2" charset="-122"/>
                        </a:rPr>
                        <a:t>UPS US Equity</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101,894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118.66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3,037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71,861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4,791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16.70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15.85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14.65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1.25%</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5.82%</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21.67%</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1274029498"/>
                  </a:ext>
                </a:extLst>
              </a:tr>
              <a:tr h="209923">
                <a:tc>
                  <a:txBody>
                    <a:bodyPr/>
                    <a:lstStyle/>
                    <a:p>
                      <a:pPr algn="l" fontAlgn="ctr"/>
                      <a:r>
                        <a:rPr lang="en-US" sz="800" b="1" i="0" u="none" strike="noStrike">
                          <a:effectLst/>
                          <a:latin typeface="+mj-lt"/>
                          <a:ea typeface="宋体" panose="02010600030101010101" pitchFamily="2" charset="-122"/>
                        </a:rPr>
                        <a:t>Deutsche Post AG</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r>
                        <a:rPr lang="en-US" sz="800" b="0" i="0" u="none" strike="noStrike">
                          <a:effectLst/>
                          <a:latin typeface="+mj-lt"/>
                          <a:ea typeface="宋体" panose="02010600030101010101" pitchFamily="2" charset="-122"/>
                        </a:rPr>
                        <a:t>DPW GR Equity</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40,976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30.23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15,887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72,698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2,451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17.20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14.32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12.29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6.37%</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10.23%</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26.41%</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1939483416"/>
                  </a:ext>
                </a:extLst>
              </a:tr>
              <a:tr h="209923">
                <a:tc>
                  <a:txBody>
                    <a:bodyPr/>
                    <a:lstStyle/>
                    <a:p>
                      <a:pPr algn="l" fontAlgn="ctr"/>
                      <a:r>
                        <a:rPr lang="en-US" sz="800" b="1" i="0" u="none" strike="noStrike">
                          <a:effectLst/>
                          <a:latin typeface="+mj-lt"/>
                          <a:ea typeface="宋体" panose="02010600030101010101" pitchFamily="2" charset="-122"/>
                        </a:rPr>
                        <a:t>FedEx Corp</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r>
                        <a:rPr lang="en-US" sz="800" b="0" i="0" u="none" strike="noStrike">
                          <a:effectLst/>
                          <a:latin typeface="+mj-lt"/>
                          <a:ea typeface="宋体" panose="02010600030101010101" pitchFamily="2" charset="-122"/>
                        </a:rPr>
                        <a:t>FDX US Equity</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41,376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158.61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17,757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69,693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540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10.17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10.39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10.76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-3.13%</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-13.23%</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-1.69%</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1946632035"/>
                  </a:ext>
                </a:extLst>
              </a:tr>
              <a:tr h="209923">
                <a:tc>
                  <a:txBody>
                    <a:bodyPr/>
                    <a:lstStyle/>
                    <a:p>
                      <a:pPr algn="l" fontAlgn="ctr"/>
                      <a:r>
                        <a:rPr lang="en-US" sz="800" b="1" i="0" u="none" strike="noStrike">
                          <a:effectLst/>
                          <a:latin typeface="+mj-lt"/>
                          <a:ea typeface="宋体" panose="02010600030101010101" pitchFamily="2" charset="-122"/>
                        </a:rPr>
                        <a:t>SF Holding Co Ltd</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r>
                        <a:rPr lang="en-US" sz="800" b="0" i="0" u="none" strike="noStrike">
                          <a:effectLst/>
                          <a:latin typeface="+mj-lt"/>
                          <a:ea typeface="宋体" panose="02010600030101010101" pitchFamily="2" charset="-122"/>
                        </a:rPr>
                        <a:t>002352 CH Equity</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24,916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40.47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5,367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13,725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689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32.80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34.83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28.78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9.97%</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10.45%</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23.57%</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3044871282"/>
                  </a:ext>
                </a:extLst>
              </a:tr>
              <a:tr h="209923">
                <a:tc>
                  <a:txBody>
                    <a:bodyPr/>
                    <a:lstStyle/>
                    <a:p>
                      <a:pPr algn="l" fontAlgn="ctr"/>
                      <a:r>
                        <a:rPr lang="en-US" sz="800" b="1" i="0" u="none" strike="noStrike">
                          <a:effectLst/>
                          <a:latin typeface="+mj-lt"/>
                          <a:ea typeface="宋体" panose="02010600030101010101" pitchFamily="2" charset="-122"/>
                        </a:rPr>
                        <a:t>DSV A/S</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r>
                        <a:rPr lang="en-US" sz="800" b="0" i="0" u="none" strike="noStrike">
                          <a:effectLst/>
                          <a:latin typeface="+mj-lt"/>
                          <a:ea typeface="宋体" panose="02010600030101010101" pitchFamily="2" charset="-122"/>
                        </a:rPr>
                        <a:t>DSV DC Equity</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24,497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689.80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2,229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12,528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634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29.93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30.31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26.48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8.97%</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25.65%</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60.72%</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2062236088"/>
                  </a:ext>
                </a:extLst>
              </a:tr>
              <a:tr h="209923">
                <a:tc>
                  <a:txBody>
                    <a:bodyPr/>
                    <a:lstStyle/>
                    <a:p>
                      <a:pPr algn="l" fontAlgn="ctr"/>
                      <a:r>
                        <a:rPr lang="en-US" sz="800" b="1" i="0" u="none" strike="noStrike">
                          <a:effectLst/>
                          <a:latin typeface="+mj-lt"/>
                          <a:ea typeface="宋体" panose="02010600030101010101" pitchFamily="2" charset="-122"/>
                        </a:rPr>
                        <a:t>Kuehne + Nagel International A</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r>
                        <a:rPr lang="en-US" sz="800" b="0" i="0" u="none" strike="noStrike">
                          <a:effectLst/>
                          <a:latin typeface="+mj-lt"/>
                          <a:ea typeface="宋体" panose="02010600030101010101" pitchFamily="2" charset="-122"/>
                        </a:rPr>
                        <a:t>KNIN SW Equity</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17,488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144.45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2,365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21,240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787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22.63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22.19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20.45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0.21%</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9.64%</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14.33%</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1215265207"/>
                  </a:ext>
                </a:extLst>
              </a:tr>
              <a:tr h="209923">
                <a:tc>
                  <a:txBody>
                    <a:bodyPr/>
                    <a:lstStyle/>
                    <a:p>
                      <a:pPr algn="l" fontAlgn="ctr"/>
                      <a:r>
                        <a:rPr lang="en-US" sz="800" b="1" i="0" u="none" strike="noStrike">
                          <a:effectLst/>
                          <a:latin typeface="+mj-lt"/>
                          <a:ea typeface="宋体" panose="02010600030101010101" pitchFamily="2" charset="-122"/>
                        </a:rPr>
                        <a:t>ZTO Express Cayman Inc</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r>
                        <a:rPr lang="en-US" sz="800" b="0" i="0" u="none" strike="noStrike">
                          <a:effectLst/>
                          <a:latin typeface="+mj-lt"/>
                          <a:ea typeface="宋体" panose="02010600030101010101" pitchFamily="2" charset="-122"/>
                        </a:rPr>
                        <a:t>ZTO US Equity</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16,041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20.51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4,982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2,663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663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28.06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22.93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19.21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7.38%</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6.11%</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31.32%</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1070421056"/>
                  </a:ext>
                </a:extLst>
              </a:tr>
              <a:tr h="209923">
                <a:tc>
                  <a:txBody>
                    <a:bodyPr/>
                    <a:lstStyle/>
                    <a:p>
                      <a:pPr algn="l" fontAlgn="ctr"/>
                      <a:r>
                        <a:rPr lang="en-US" sz="800" b="1" i="0" u="none" strike="noStrike">
                          <a:effectLst/>
                          <a:latin typeface="+mj-lt"/>
                          <a:ea typeface="宋体" panose="02010600030101010101" pitchFamily="2" charset="-122"/>
                        </a:rPr>
                        <a:t>Expeditors International of Wa</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r>
                        <a:rPr lang="en-US" sz="800" b="0" i="0" u="none" strike="noStrike">
                          <a:effectLst/>
                          <a:latin typeface="+mj-lt"/>
                          <a:ea typeface="宋体" panose="02010600030101010101" pitchFamily="2" charset="-122"/>
                        </a:rPr>
                        <a:t>EXPD US Equity</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12,138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71.10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1,988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8,138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618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19.64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20.21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18.91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-2.84%</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-5.70%</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4.42%</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2017762736"/>
                  </a:ext>
                </a:extLst>
              </a:tr>
              <a:tr h="209923">
                <a:tc>
                  <a:txBody>
                    <a:bodyPr/>
                    <a:lstStyle/>
                    <a:p>
                      <a:pPr algn="l" fontAlgn="ctr"/>
                      <a:r>
                        <a:rPr lang="en-US" sz="800" b="1" i="0" u="none" strike="noStrike">
                          <a:effectLst/>
                          <a:latin typeface="+mj-lt"/>
                          <a:ea typeface="宋体" panose="02010600030101010101" pitchFamily="2" charset="-122"/>
                        </a:rPr>
                        <a:t>Yunda Holding Co Ltd</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r>
                        <a:rPr lang="en-US" sz="800" b="0" i="0" u="none" strike="noStrike">
                          <a:effectLst/>
                          <a:latin typeface="+mj-lt"/>
                          <a:ea typeface="宋体" panose="02010600030101010101" pitchFamily="2" charset="-122"/>
                        </a:rPr>
                        <a:t>002120 CH Equity</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11,483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36.98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1,678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2,089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408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27.54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28.25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23.17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7.34%</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32.40%</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58.66%</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1803834527"/>
                  </a:ext>
                </a:extLst>
              </a:tr>
              <a:tr h="209923">
                <a:tc>
                  <a:txBody>
                    <a:bodyPr/>
                    <a:lstStyle/>
                    <a:p>
                      <a:pPr algn="l" fontAlgn="ctr"/>
                      <a:r>
                        <a:rPr lang="en-US" sz="800" b="1" i="0" u="none" strike="noStrike">
                          <a:effectLst/>
                          <a:latin typeface="+mj-lt"/>
                          <a:ea typeface="宋体" panose="02010600030101010101" pitchFamily="2" charset="-122"/>
                        </a:rPr>
                        <a:t>Yamato Holdings Co Ltd</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r>
                        <a:rPr lang="en-US" sz="800" b="0" i="0" u="none" strike="noStrike">
                          <a:effectLst/>
                          <a:latin typeface="+mj-lt"/>
                          <a:ea typeface="宋体" panose="02010600030101010101" pitchFamily="2" charset="-122"/>
                        </a:rPr>
                        <a:t>9064 JP Equity</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6,996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1,808.00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5,176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14,661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232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53.62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19.75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19.49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-5.74%</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-37.63%</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-40.21%</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77498663"/>
                  </a:ext>
                </a:extLst>
              </a:tr>
              <a:tr h="209923">
                <a:tc>
                  <a:txBody>
                    <a:bodyPr/>
                    <a:lstStyle/>
                    <a:p>
                      <a:pPr algn="l" fontAlgn="ctr"/>
                      <a:r>
                        <a:rPr lang="en-US" sz="800" b="1" i="0" u="none" strike="noStrike">
                          <a:effectLst/>
                          <a:latin typeface="+mj-lt"/>
                          <a:ea typeface="宋体" panose="02010600030101010101" pitchFamily="2" charset="-122"/>
                        </a:rPr>
                        <a:t>Panalpina Welttransport Holdin</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r>
                        <a:rPr lang="en-US" sz="800" b="0" i="0" u="none" strike="noStrike">
                          <a:effectLst/>
                          <a:latin typeface="+mj-lt"/>
                          <a:ea typeface="宋体" panose="02010600030101010101" pitchFamily="2" charset="-122"/>
                        </a:rPr>
                        <a:t>PWTN SW Equity</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5,660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236.20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581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6,171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80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74.02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59.63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46.58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6.88%</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54.48%</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80.31%</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1119759085"/>
                  </a:ext>
                </a:extLst>
              </a:tr>
              <a:tr h="209923">
                <a:tc>
                  <a:txBody>
                    <a:bodyPr/>
                    <a:lstStyle/>
                    <a:p>
                      <a:pPr algn="l" fontAlgn="ctr"/>
                      <a:r>
                        <a:rPr lang="en-US" sz="800" b="1" i="0" u="none" strike="noStrike">
                          <a:effectLst/>
                          <a:latin typeface="+mj-lt"/>
                          <a:ea typeface="宋体" panose="02010600030101010101" pitchFamily="2" charset="-122"/>
                        </a:rPr>
                        <a:t>STO Express Co Ltd</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r>
                        <a:rPr lang="en-US" sz="800" b="0" i="0" u="none" strike="noStrike">
                          <a:effectLst/>
                          <a:latin typeface="+mj-lt"/>
                          <a:ea typeface="宋体" panose="02010600030101010101" pitchFamily="2" charset="-122"/>
                        </a:rPr>
                        <a:t>002468 CH Equity</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4,900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22.95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1,245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2,568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310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17.38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17.11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14.55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-8.71%</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6.25%</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39.51%</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3228524397"/>
                  </a:ext>
                </a:extLst>
              </a:tr>
              <a:tr h="209923">
                <a:tc>
                  <a:txBody>
                    <a:bodyPr/>
                    <a:lstStyle/>
                    <a:p>
                      <a:pPr algn="l" fontAlgn="ctr"/>
                      <a:r>
                        <a:rPr lang="en-US" sz="800" b="1" i="0" u="none" strike="noStrike">
                          <a:effectLst/>
                          <a:latin typeface="+mj-lt"/>
                          <a:ea typeface="宋体" panose="02010600030101010101" pitchFamily="2" charset="-122"/>
                        </a:rPr>
                        <a:t>YTO Express Group Co Ltd</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r>
                        <a:rPr lang="en-US" sz="800" b="0" i="0" u="none" strike="noStrike">
                          <a:effectLst/>
                          <a:latin typeface="+mj-lt"/>
                          <a:ea typeface="宋体" panose="02010600030101010101" pitchFamily="2" charset="-122"/>
                        </a:rPr>
                        <a:t>600233 CH Equity</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4,406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11.14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1,715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4,143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288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6.11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14.60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12.53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-12.28%</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-13.84%</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11.40%</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2438031242"/>
                  </a:ext>
                </a:extLst>
              </a:tr>
              <a:tr h="209923">
                <a:tc>
                  <a:txBody>
                    <a:bodyPr/>
                    <a:lstStyle/>
                    <a:p>
                      <a:pPr algn="l" fontAlgn="ctr"/>
                      <a:r>
                        <a:rPr lang="en-US" sz="800" b="1" i="0" u="none" strike="noStrike">
                          <a:effectLst/>
                          <a:latin typeface="+mj-lt"/>
                          <a:ea typeface="宋体" panose="02010600030101010101" pitchFamily="2" charset="-122"/>
                        </a:rPr>
                        <a:t>Sinotrans Ltd</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r>
                        <a:rPr lang="en-US" sz="800" b="0" i="0" u="none" strike="noStrike">
                          <a:effectLst/>
                          <a:latin typeface="+mj-lt"/>
                          <a:ea typeface="宋体" panose="02010600030101010101" pitchFamily="2" charset="-122"/>
                        </a:rPr>
                        <a:t>598 HK Equity</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3,978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2.54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4,049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11,668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409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5.16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6.73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6.05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-3.42%</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-32.80%</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-25.29%</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1369319002"/>
                  </a:ext>
                </a:extLst>
              </a:tr>
              <a:tr h="209923">
                <a:tc>
                  <a:txBody>
                    <a:bodyPr/>
                    <a:lstStyle/>
                    <a:p>
                      <a:pPr algn="l" fontAlgn="ctr"/>
                      <a:r>
                        <a:rPr lang="en-US" sz="800" b="1" i="0" u="none" strike="noStrike">
                          <a:effectLst/>
                          <a:latin typeface="+mj-lt"/>
                          <a:ea typeface="宋体" panose="02010600030101010101" pitchFamily="2" charset="-122"/>
                        </a:rPr>
                        <a:t>SITC International Holdings Co</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r>
                        <a:rPr lang="en-US" sz="800" b="0" i="0" u="none" strike="noStrike">
                          <a:effectLst/>
                          <a:latin typeface="+mj-lt"/>
                          <a:ea typeface="宋体" panose="02010600030101010101" pitchFamily="2" charset="-122"/>
                        </a:rPr>
                        <a:t>1308 HK Equity</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2,790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8.19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1,046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1,449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198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12.93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12.74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11.11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-2.73%</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7.62%</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10.98%</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3060564569"/>
                  </a:ext>
                </a:extLst>
              </a:tr>
              <a:tr h="209923">
                <a:tc>
                  <a:txBody>
                    <a:bodyPr/>
                    <a:lstStyle/>
                    <a:p>
                      <a:pPr algn="l" fontAlgn="ctr"/>
                      <a:r>
                        <a:rPr lang="en-US" sz="800" b="1" i="0" u="none" strike="noStrike">
                          <a:effectLst/>
                          <a:latin typeface="+mj-lt"/>
                          <a:ea typeface="宋体" panose="02010600030101010101" pitchFamily="2" charset="-122"/>
                        </a:rPr>
                        <a:t>Kerry Logistics Network Ltd</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r>
                        <a:rPr lang="en-US" sz="800" b="0" i="0" u="none" strike="noStrike">
                          <a:effectLst/>
                          <a:latin typeface="+mj-lt"/>
                          <a:ea typeface="宋体" panose="02010600030101010101" pitchFamily="2" charset="-122"/>
                        </a:rPr>
                        <a:t>636 HK Equity</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2,624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12.00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3,022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4,866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311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4.79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10.74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11.96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-6.98%</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-9.97%</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5.83%</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559307797"/>
                  </a:ext>
                </a:extLst>
              </a:tr>
              <a:tr h="209923">
                <a:tc>
                  <a:txBody>
                    <a:bodyPr/>
                    <a:lstStyle/>
                    <a:p>
                      <a:pPr algn="l" fontAlgn="ctr"/>
                      <a:r>
                        <a:rPr lang="en-US" sz="800" b="1" i="0" u="none" strike="noStrike">
                          <a:effectLst/>
                          <a:latin typeface="+mj-lt"/>
                          <a:ea typeface="宋体" panose="02010600030101010101" pitchFamily="2" charset="-122"/>
                        </a:rPr>
                        <a:t>Deppon Logistics Co Ltd</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r>
                        <a:rPr lang="en-US" sz="800" b="0" i="0" u="none" strike="noStrike">
                          <a:effectLst/>
                          <a:latin typeface="+mj-lt"/>
                          <a:ea typeface="宋体" panose="02010600030101010101" pitchFamily="2" charset="-122"/>
                        </a:rPr>
                        <a:t>603056 CH Equity</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1,770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13.22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585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3,474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106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25.30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15.79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12.48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1.15%</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-27.56%</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-20.12%</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543125041"/>
                  </a:ext>
                </a:extLst>
              </a:tr>
              <a:tr h="209923">
                <a:tc>
                  <a:txBody>
                    <a:bodyPr/>
                    <a:lstStyle/>
                    <a:p>
                      <a:pPr algn="l" fontAlgn="ctr"/>
                      <a:r>
                        <a:rPr lang="en-US" sz="800" b="1" i="0" u="none" strike="noStrike">
                          <a:effectLst/>
                          <a:latin typeface="+mj-lt"/>
                          <a:ea typeface="宋体" panose="02010600030101010101" pitchFamily="2" charset="-122"/>
                        </a:rPr>
                        <a:t>BEST Inc</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r>
                        <a:rPr lang="en-US" sz="800" b="0" i="0" u="none" strike="noStrike">
                          <a:effectLst/>
                          <a:latin typeface="+mj-lt"/>
                          <a:ea typeface="宋体" panose="02010600030101010101" pitchFamily="2" charset="-122"/>
                        </a:rPr>
                        <a:t>BEST US Equity</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1,697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4.38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584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4,230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(77)</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373.89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17.74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-7.79%</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-27.96%</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6.57%</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1216555146"/>
                  </a:ext>
                </a:extLst>
              </a:tr>
              <a:tr h="209923">
                <a:tc>
                  <a:txBody>
                    <a:bodyPr/>
                    <a:lstStyle/>
                    <a:p>
                      <a:pPr algn="l" fontAlgn="ctr"/>
                      <a:r>
                        <a:rPr lang="en-US" sz="800" b="1" i="0" u="none" strike="noStrike">
                          <a:effectLst/>
                          <a:latin typeface="+mj-lt"/>
                          <a:ea typeface="宋体" panose="02010600030101010101" pitchFamily="2" charset="-122"/>
                        </a:rPr>
                        <a:t>YTO Express Holdings Ltd</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r>
                        <a:rPr lang="en-US" sz="800" b="0" i="0" u="none" strike="noStrike">
                          <a:effectLst/>
                          <a:latin typeface="+mj-lt"/>
                          <a:ea typeface="宋体" panose="02010600030101010101" pitchFamily="2" charset="-122"/>
                        </a:rPr>
                        <a:t>6123 HK Equity</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106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2.00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74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569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13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11.62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6.45 </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-19.35%</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-36.10%</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800" b="0" i="0" u="none" strike="noStrike">
                          <a:effectLst/>
                          <a:latin typeface="+mj-lt"/>
                          <a:ea typeface="宋体" panose="02010600030101010101" pitchFamily="2" charset="-122"/>
                        </a:rPr>
                        <a:t>-40.30%</a:t>
                      </a: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106859805"/>
                  </a:ext>
                </a:extLst>
              </a:tr>
              <a:tr h="134351">
                <a:tc>
                  <a:txBody>
                    <a:bodyPr/>
                    <a:lstStyle/>
                    <a:p>
                      <a:pPr algn="l" fontAlgn="ctr"/>
                      <a:endParaRPr lang="en-US" sz="800" b="1" i="0" u="none" strike="noStrike">
                        <a:effectLst/>
                        <a:latin typeface="+mj-lt"/>
                        <a:ea typeface="宋体" panose="02010600030101010101" pitchFamily="2" charset="-122"/>
                      </a:endParaRPr>
                    </a:p>
                  </a:txBody>
                  <a:tcPr marL="3499" marR="3499" marT="3499" marB="0" anchor="ctr">
                    <a:lnL>
                      <a:noFill/>
                    </a:lnL>
                    <a:lnR>
                      <a:noFill/>
                    </a:lnR>
                    <a:lnT w="6350" cap="flat" cmpd="sng" algn="ctr">
                      <a:solidFill>
                        <a:srgbClr val="000000"/>
                      </a:solidFill>
                      <a:prstDash val="dot"/>
                      <a:round/>
                      <a:headEnd type="none" w="med" len="med"/>
                      <a:tailEnd type="none" w="med" len="med"/>
                    </a:lnT>
                    <a:lnB>
                      <a:noFill/>
                    </a:lnB>
                  </a:tcPr>
                </a:tc>
                <a:tc>
                  <a:txBody>
                    <a:bodyPr/>
                    <a:lstStyle/>
                    <a:p>
                      <a:pPr algn="l"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w="6350" cap="flat" cmpd="sng" algn="ctr">
                      <a:solidFill>
                        <a:srgbClr val="000000"/>
                      </a:solidFill>
                      <a:prstDash val="dot"/>
                      <a:round/>
                      <a:headEnd type="none" w="med" len="med"/>
                      <a:tailEnd type="none" w="med" len="med"/>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w="6350" cap="flat" cmpd="sng" algn="ctr">
                      <a:solidFill>
                        <a:srgbClr val="000000"/>
                      </a:solidFill>
                      <a:prstDash val="dot"/>
                      <a:round/>
                      <a:headEnd type="none" w="med" len="med"/>
                      <a:tailEnd type="none" w="med" len="med"/>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w="6350" cap="flat" cmpd="sng" algn="ctr">
                      <a:solidFill>
                        <a:srgbClr val="000000"/>
                      </a:solidFill>
                      <a:prstDash val="dot"/>
                      <a:round/>
                      <a:headEnd type="none" w="med" len="med"/>
                      <a:tailEnd type="none" w="med" len="med"/>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w="6350" cap="flat" cmpd="sng" algn="ctr">
                      <a:solidFill>
                        <a:srgbClr val="000000"/>
                      </a:solidFill>
                      <a:prstDash val="dot"/>
                      <a:round/>
                      <a:headEnd type="none" w="med" len="med"/>
                      <a:tailEnd type="none" w="med" len="med"/>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w="6350" cap="flat" cmpd="sng" algn="ctr">
                      <a:solidFill>
                        <a:srgbClr val="000000"/>
                      </a:solidFill>
                      <a:prstDash val="dot"/>
                      <a:round/>
                      <a:headEnd type="none" w="med" len="med"/>
                      <a:tailEnd type="none" w="med" len="med"/>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02291860"/>
                  </a:ext>
                </a:extLst>
              </a:tr>
              <a:tr h="134351">
                <a:tc>
                  <a:txBody>
                    <a:bodyPr/>
                    <a:lstStyle/>
                    <a:p>
                      <a:pPr algn="l" fontAlgn="ctr"/>
                      <a:endParaRPr lang="en-US" sz="800" b="1" i="0" u="none" strike="noStrike">
                        <a:effectLst/>
                        <a:latin typeface="+mj-lt"/>
                        <a:ea typeface="宋体" panose="02010600030101010101" pitchFamily="2" charset="-122"/>
                      </a:endParaRPr>
                    </a:p>
                  </a:txBody>
                  <a:tcPr marL="3499" marR="3499" marT="3499" marB="0" anchor="ctr">
                    <a:lnL>
                      <a:noFill/>
                    </a:lnL>
                    <a:lnR>
                      <a:noFill/>
                    </a:lnR>
                    <a:lnT>
                      <a:noFill/>
                    </a:lnT>
                    <a:lnB>
                      <a:noFill/>
                    </a:lnB>
                  </a:tcPr>
                </a:tc>
                <a:tc>
                  <a:txBody>
                    <a:bodyPr/>
                    <a:lstStyle/>
                    <a:p>
                      <a:pPr algn="l"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a:noFill/>
                    </a:lnT>
                    <a:lnB>
                      <a:noFill/>
                    </a:lnB>
                  </a:tcPr>
                </a:tc>
                <a:tc>
                  <a:txBody>
                    <a:bodyPr/>
                    <a:lstStyle/>
                    <a:p>
                      <a:pPr algn="ctr" fontAlgn="ctr"/>
                      <a:r>
                        <a:rPr lang="en-US" sz="800" b="0" i="1" u="none" strike="noStrike">
                          <a:effectLst/>
                          <a:latin typeface="+mj-lt"/>
                          <a:ea typeface="宋体" panose="02010600030101010101" pitchFamily="2" charset="-122"/>
                        </a:rPr>
                        <a:t>Max</a:t>
                      </a:r>
                    </a:p>
                  </a:txBody>
                  <a:tcPr marL="3499" marR="3499" marT="3499"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ctr"/>
                      <a:r>
                        <a:rPr lang="en-US" sz="800" b="0" i="1" u="none" strike="noStrike">
                          <a:effectLst/>
                          <a:latin typeface="+mj-lt"/>
                          <a:ea typeface="宋体" panose="02010600030101010101" pitchFamily="2" charset="-122"/>
                        </a:rPr>
                        <a:t>74.02 </a:t>
                      </a:r>
                    </a:p>
                  </a:txBody>
                  <a:tcPr marL="3499" marR="3499" marT="3499"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ctr"/>
                      <a:r>
                        <a:rPr lang="en-US" sz="800" b="0" i="1" u="none" strike="noStrike">
                          <a:effectLst/>
                          <a:latin typeface="+mj-lt"/>
                          <a:ea typeface="宋体" panose="02010600030101010101" pitchFamily="2" charset="-122"/>
                        </a:rPr>
                        <a:t>373.89 </a:t>
                      </a:r>
                    </a:p>
                  </a:txBody>
                  <a:tcPr marL="3499" marR="3499" marT="3499"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ctr"/>
                      <a:r>
                        <a:rPr lang="en-US" sz="800" b="0" i="1" u="none" strike="noStrike">
                          <a:effectLst/>
                          <a:latin typeface="+mj-lt"/>
                          <a:ea typeface="宋体" panose="02010600030101010101" pitchFamily="2" charset="-122"/>
                        </a:rPr>
                        <a:t>46.58 </a:t>
                      </a:r>
                    </a:p>
                  </a:txBody>
                  <a:tcPr marL="3499" marR="3499" marT="3499"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ctr"/>
                      <a:r>
                        <a:rPr lang="en-US" sz="800" b="0" i="1" u="none" strike="noStrike">
                          <a:effectLst/>
                          <a:latin typeface="+mj-lt"/>
                          <a:ea typeface="宋体" panose="02010600030101010101" pitchFamily="2" charset="-122"/>
                        </a:rPr>
                        <a:t>9.97%</a:t>
                      </a:r>
                    </a:p>
                  </a:txBody>
                  <a:tcPr marL="3499" marR="3499" marT="3499"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ctr"/>
                      <a:r>
                        <a:rPr lang="en-US" sz="800" b="0" i="1" u="none" strike="noStrike">
                          <a:effectLst/>
                          <a:latin typeface="+mj-lt"/>
                          <a:ea typeface="宋体" panose="02010600030101010101" pitchFamily="2" charset="-122"/>
                        </a:rPr>
                        <a:t>54.48%</a:t>
                      </a:r>
                    </a:p>
                  </a:txBody>
                  <a:tcPr marL="3499" marR="3499" marT="3499"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ctr"/>
                      <a:r>
                        <a:rPr lang="en-US" sz="800" b="0" i="1" u="none" strike="noStrike">
                          <a:effectLst/>
                          <a:latin typeface="+mj-lt"/>
                          <a:ea typeface="宋体" panose="02010600030101010101" pitchFamily="2" charset="-122"/>
                        </a:rPr>
                        <a:t>80.31%</a:t>
                      </a:r>
                    </a:p>
                  </a:txBody>
                  <a:tcPr marL="3499" marR="3499" marT="3499"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extLst>
                  <a:ext uri="{0D108BD9-81ED-4DB2-BD59-A6C34878D82A}">
                    <a16:rowId xmlns:a16="http://schemas.microsoft.com/office/drawing/2014/main" val="3992990605"/>
                  </a:ext>
                </a:extLst>
              </a:tr>
              <a:tr h="134351">
                <a:tc>
                  <a:txBody>
                    <a:bodyPr/>
                    <a:lstStyle/>
                    <a:p>
                      <a:pPr algn="l" fontAlgn="ctr"/>
                      <a:endParaRPr lang="en-US" sz="800" b="1" i="0" u="none" strike="noStrike">
                        <a:effectLst/>
                        <a:latin typeface="+mj-lt"/>
                        <a:ea typeface="宋体" panose="02010600030101010101" pitchFamily="2" charset="-122"/>
                      </a:endParaRPr>
                    </a:p>
                  </a:txBody>
                  <a:tcPr marL="3499" marR="3499" marT="3499" marB="0" anchor="ctr">
                    <a:lnL>
                      <a:noFill/>
                    </a:lnL>
                    <a:lnR>
                      <a:noFill/>
                    </a:lnR>
                    <a:lnT>
                      <a:noFill/>
                    </a:lnT>
                    <a:lnB>
                      <a:noFill/>
                    </a:lnB>
                  </a:tcPr>
                </a:tc>
                <a:tc>
                  <a:txBody>
                    <a:bodyPr/>
                    <a:lstStyle/>
                    <a:p>
                      <a:pPr algn="l"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a:noFill/>
                    </a:lnT>
                    <a:lnB>
                      <a:noFill/>
                    </a:lnB>
                  </a:tcPr>
                </a:tc>
                <a:tc>
                  <a:txBody>
                    <a:bodyPr/>
                    <a:lstStyle/>
                    <a:p>
                      <a:pPr algn="ctr" fontAlgn="ctr"/>
                      <a:r>
                        <a:rPr lang="en-US" sz="800" b="1" i="1" u="none" strike="noStrike">
                          <a:effectLst/>
                          <a:latin typeface="+mj-lt"/>
                          <a:ea typeface="宋体" panose="02010600030101010101" pitchFamily="2" charset="-122"/>
                        </a:rPr>
                        <a:t>Med</a:t>
                      </a:r>
                    </a:p>
                  </a:txBody>
                  <a:tcPr marL="3499" marR="3499" marT="3499" marB="0" anchor="ctr">
                    <a:lnL>
                      <a:noFill/>
                    </a:lnL>
                    <a:lnR>
                      <a:noFill/>
                    </a:lnR>
                    <a:lnT>
                      <a:noFill/>
                    </a:lnT>
                    <a:lnB>
                      <a:noFill/>
                    </a:lnB>
                    <a:solidFill>
                      <a:srgbClr val="D9D9D9"/>
                    </a:solidFill>
                  </a:tcPr>
                </a:tc>
                <a:tc>
                  <a:txBody>
                    <a:bodyPr/>
                    <a:lstStyle/>
                    <a:p>
                      <a:pPr algn="ctr" fontAlgn="ctr"/>
                      <a:r>
                        <a:rPr lang="en-US" sz="800" b="1" i="1" u="none" strike="noStrike">
                          <a:effectLst/>
                          <a:latin typeface="+mj-lt"/>
                          <a:ea typeface="宋体" panose="02010600030101010101" pitchFamily="2" charset="-122"/>
                        </a:rPr>
                        <a:t>18.51 </a:t>
                      </a:r>
                    </a:p>
                  </a:txBody>
                  <a:tcPr marL="3499" marR="3499" marT="3499" marB="0" anchor="ctr">
                    <a:lnL>
                      <a:noFill/>
                    </a:lnL>
                    <a:lnR>
                      <a:noFill/>
                    </a:lnR>
                    <a:lnT>
                      <a:noFill/>
                    </a:lnT>
                    <a:lnB>
                      <a:noFill/>
                    </a:lnB>
                    <a:solidFill>
                      <a:srgbClr val="D9D9D9"/>
                    </a:solidFill>
                  </a:tcPr>
                </a:tc>
                <a:tc>
                  <a:txBody>
                    <a:bodyPr/>
                    <a:lstStyle/>
                    <a:p>
                      <a:pPr algn="ctr" fontAlgn="ctr"/>
                      <a:r>
                        <a:rPr lang="en-US" sz="800" b="1" i="1" u="none" strike="noStrike">
                          <a:effectLst/>
                          <a:latin typeface="+mj-lt"/>
                          <a:ea typeface="宋体" panose="02010600030101010101" pitchFamily="2" charset="-122"/>
                        </a:rPr>
                        <a:t>17.11 </a:t>
                      </a:r>
                    </a:p>
                  </a:txBody>
                  <a:tcPr marL="3499" marR="3499" marT="3499" marB="0" anchor="ctr">
                    <a:lnL>
                      <a:noFill/>
                    </a:lnL>
                    <a:lnR>
                      <a:noFill/>
                    </a:lnR>
                    <a:lnT>
                      <a:noFill/>
                    </a:lnT>
                    <a:lnB>
                      <a:noFill/>
                    </a:lnB>
                    <a:solidFill>
                      <a:srgbClr val="D9D9D9"/>
                    </a:solidFill>
                  </a:tcPr>
                </a:tc>
                <a:tc>
                  <a:txBody>
                    <a:bodyPr/>
                    <a:lstStyle/>
                    <a:p>
                      <a:pPr algn="ctr" fontAlgn="ctr"/>
                      <a:r>
                        <a:rPr lang="en-US" sz="800" b="1" i="1" u="none" strike="noStrike">
                          <a:effectLst/>
                          <a:latin typeface="+mj-lt"/>
                          <a:ea typeface="宋体" panose="02010600030101010101" pitchFamily="2" charset="-122"/>
                        </a:rPr>
                        <a:t>16.20 </a:t>
                      </a:r>
                    </a:p>
                  </a:txBody>
                  <a:tcPr marL="3499" marR="3499" marT="3499" marB="0" anchor="ctr">
                    <a:lnL>
                      <a:noFill/>
                    </a:lnL>
                    <a:lnR>
                      <a:noFill/>
                    </a:lnR>
                    <a:lnT>
                      <a:noFill/>
                    </a:lnT>
                    <a:lnB>
                      <a:noFill/>
                    </a:lnB>
                    <a:solidFill>
                      <a:srgbClr val="D9D9D9"/>
                    </a:solidFill>
                  </a:tcPr>
                </a:tc>
                <a:tc>
                  <a:txBody>
                    <a:bodyPr/>
                    <a:lstStyle/>
                    <a:p>
                      <a:pPr algn="ctr" fontAlgn="ctr"/>
                      <a:r>
                        <a:rPr lang="en-US" sz="800" b="1" i="1" u="none" strike="noStrike">
                          <a:effectLst/>
                          <a:latin typeface="+mj-lt"/>
                          <a:ea typeface="宋体" panose="02010600030101010101" pitchFamily="2" charset="-122"/>
                        </a:rPr>
                        <a:t>-2.73%</a:t>
                      </a:r>
                    </a:p>
                  </a:txBody>
                  <a:tcPr marL="3499" marR="3499" marT="3499" marB="0" anchor="ctr">
                    <a:lnL>
                      <a:noFill/>
                    </a:lnL>
                    <a:lnR>
                      <a:noFill/>
                    </a:lnR>
                    <a:lnT>
                      <a:noFill/>
                    </a:lnT>
                    <a:lnB>
                      <a:noFill/>
                    </a:lnB>
                    <a:solidFill>
                      <a:srgbClr val="D9D9D9"/>
                    </a:solidFill>
                  </a:tcPr>
                </a:tc>
                <a:tc>
                  <a:txBody>
                    <a:bodyPr/>
                    <a:lstStyle/>
                    <a:p>
                      <a:pPr algn="ctr" fontAlgn="ctr"/>
                      <a:r>
                        <a:rPr lang="en-US" sz="800" b="1" i="1" u="none" strike="noStrike">
                          <a:effectLst/>
                          <a:latin typeface="+mj-lt"/>
                          <a:ea typeface="宋体" panose="02010600030101010101" pitchFamily="2" charset="-122"/>
                        </a:rPr>
                        <a:t>5.82%</a:t>
                      </a:r>
                    </a:p>
                  </a:txBody>
                  <a:tcPr marL="3499" marR="3499" marT="3499" marB="0" anchor="ctr">
                    <a:lnL>
                      <a:noFill/>
                    </a:lnL>
                    <a:lnR>
                      <a:noFill/>
                    </a:lnR>
                    <a:lnT>
                      <a:noFill/>
                    </a:lnT>
                    <a:lnB>
                      <a:noFill/>
                    </a:lnB>
                    <a:solidFill>
                      <a:srgbClr val="D9D9D9"/>
                    </a:solidFill>
                  </a:tcPr>
                </a:tc>
                <a:tc>
                  <a:txBody>
                    <a:bodyPr/>
                    <a:lstStyle/>
                    <a:p>
                      <a:pPr algn="ctr" fontAlgn="ctr"/>
                      <a:r>
                        <a:rPr lang="en-US" sz="800" b="1" i="1" u="none" strike="noStrike">
                          <a:effectLst/>
                          <a:latin typeface="+mj-lt"/>
                          <a:ea typeface="宋体" panose="02010600030101010101" pitchFamily="2" charset="-122"/>
                        </a:rPr>
                        <a:t>11.40%</a:t>
                      </a:r>
                    </a:p>
                  </a:txBody>
                  <a:tcPr marL="3499" marR="3499" marT="3499" marB="0" anchor="ctr">
                    <a:lnL>
                      <a:noFill/>
                    </a:lnL>
                    <a:lnR>
                      <a:noFill/>
                    </a:lnR>
                    <a:lnT>
                      <a:noFill/>
                    </a:lnT>
                    <a:lnB>
                      <a:noFill/>
                    </a:lnB>
                    <a:solidFill>
                      <a:srgbClr val="D9D9D9"/>
                    </a:solidFill>
                  </a:tcPr>
                </a:tc>
                <a:extLst>
                  <a:ext uri="{0D108BD9-81ED-4DB2-BD59-A6C34878D82A}">
                    <a16:rowId xmlns:a16="http://schemas.microsoft.com/office/drawing/2014/main" val="3107811628"/>
                  </a:ext>
                </a:extLst>
              </a:tr>
              <a:tr h="134351">
                <a:tc>
                  <a:txBody>
                    <a:bodyPr/>
                    <a:lstStyle/>
                    <a:p>
                      <a:pPr algn="l" fontAlgn="ctr"/>
                      <a:endParaRPr lang="en-US" sz="800" b="1" i="0" u="none" strike="noStrike">
                        <a:effectLst/>
                        <a:latin typeface="+mj-lt"/>
                        <a:ea typeface="宋体" panose="02010600030101010101" pitchFamily="2" charset="-122"/>
                      </a:endParaRPr>
                    </a:p>
                  </a:txBody>
                  <a:tcPr marL="3499" marR="3499" marT="3499" marB="0" anchor="ctr">
                    <a:lnL>
                      <a:noFill/>
                    </a:lnL>
                    <a:lnR>
                      <a:noFill/>
                    </a:lnR>
                    <a:lnT>
                      <a:noFill/>
                    </a:lnT>
                    <a:lnB>
                      <a:noFill/>
                    </a:lnB>
                  </a:tcPr>
                </a:tc>
                <a:tc>
                  <a:txBody>
                    <a:bodyPr/>
                    <a:lstStyle/>
                    <a:p>
                      <a:pPr algn="l"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a:noFill/>
                    </a:lnT>
                    <a:lnB>
                      <a:noFill/>
                    </a:lnB>
                  </a:tcPr>
                </a:tc>
                <a:tc>
                  <a:txBody>
                    <a:bodyPr/>
                    <a:lstStyle/>
                    <a:p>
                      <a:pPr algn="ctr" fontAlgn="ctr"/>
                      <a:r>
                        <a:rPr lang="en-US" sz="800" b="1" i="1" u="none" strike="noStrike">
                          <a:effectLst/>
                          <a:latin typeface="+mj-lt"/>
                          <a:ea typeface="宋体" panose="02010600030101010101" pitchFamily="2" charset="-122"/>
                        </a:rPr>
                        <a:t>Avg</a:t>
                      </a:r>
                    </a:p>
                  </a:txBody>
                  <a:tcPr marL="3499" marR="3499" marT="3499" marB="0" anchor="ctr">
                    <a:lnL>
                      <a:noFill/>
                    </a:lnL>
                    <a:lnR>
                      <a:noFill/>
                    </a:lnR>
                    <a:lnT>
                      <a:noFill/>
                    </a:lnT>
                    <a:lnB>
                      <a:noFill/>
                    </a:lnB>
                    <a:solidFill>
                      <a:srgbClr val="D9D9D9"/>
                    </a:solidFill>
                  </a:tcPr>
                </a:tc>
                <a:tc>
                  <a:txBody>
                    <a:bodyPr/>
                    <a:lstStyle/>
                    <a:p>
                      <a:pPr algn="ctr" fontAlgn="ctr"/>
                      <a:r>
                        <a:rPr lang="en-US" sz="800" b="1" i="1" u="none" strike="noStrike">
                          <a:effectLst/>
                          <a:latin typeface="+mj-lt"/>
                          <a:ea typeface="宋体" panose="02010600030101010101" pitchFamily="2" charset="-122"/>
                        </a:rPr>
                        <a:t>23.09 </a:t>
                      </a:r>
                    </a:p>
                  </a:txBody>
                  <a:tcPr marL="3499" marR="3499" marT="3499" marB="0" anchor="ctr">
                    <a:lnL>
                      <a:noFill/>
                    </a:lnL>
                    <a:lnR>
                      <a:noFill/>
                    </a:lnR>
                    <a:lnT>
                      <a:noFill/>
                    </a:lnT>
                    <a:lnB>
                      <a:noFill/>
                    </a:lnB>
                    <a:solidFill>
                      <a:srgbClr val="D9D9D9"/>
                    </a:solidFill>
                  </a:tcPr>
                </a:tc>
                <a:tc>
                  <a:txBody>
                    <a:bodyPr/>
                    <a:lstStyle/>
                    <a:p>
                      <a:pPr algn="ctr" fontAlgn="ctr"/>
                      <a:r>
                        <a:rPr lang="en-US" sz="800" b="1" i="1" u="none" strike="noStrike">
                          <a:effectLst/>
                          <a:latin typeface="+mj-lt"/>
                          <a:ea typeface="宋体" panose="02010600030101010101" pitchFamily="2" charset="-122"/>
                        </a:rPr>
                        <a:t>38.77 </a:t>
                      </a:r>
                    </a:p>
                  </a:txBody>
                  <a:tcPr marL="3499" marR="3499" marT="3499" marB="0" anchor="ctr">
                    <a:lnL>
                      <a:noFill/>
                    </a:lnL>
                    <a:lnR>
                      <a:noFill/>
                    </a:lnR>
                    <a:lnT>
                      <a:noFill/>
                    </a:lnT>
                    <a:lnB>
                      <a:noFill/>
                    </a:lnB>
                    <a:solidFill>
                      <a:srgbClr val="D9D9D9"/>
                    </a:solidFill>
                  </a:tcPr>
                </a:tc>
                <a:tc>
                  <a:txBody>
                    <a:bodyPr/>
                    <a:lstStyle/>
                    <a:p>
                      <a:pPr algn="ctr" fontAlgn="ctr"/>
                      <a:r>
                        <a:rPr lang="en-US" sz="800" b="1" i="1" u="none" strike="noStrike">
                          <a:effectLst/>
                          <a:latin typeface="+mj-lt"/>
                          <a:ea typeface="宋体" panose="02010600030101010101" pitchFamily="2" charset="-122"/>
                        </a:rPr>
                        <a:t>18.18 </a:t>
                      </a:r>
                    </a:p>
                  </a:txBody>
                  <a:tcPr marL="3499" marR="3499" marT="3499" marB="0" anchor="ctr">
                    <a:lnL>
                      <a:noFill/>
                    </a:lnL>
                    <a:lnR>
                      <a:noFill/>
                    </a:lnR>
                    <a:lnT>
                      <a:noFill/>
                    </a:lnT>
                    <a:lnB>
                      <a:noFill/>
                    </a:lnB>
                    <a:solidFill>
                      <a:srgbClr val="D9D9D9"/>
                    </a:solidFill>
                  </a:tcPr>
                </a:tc>
                <a:tc>
                  <a:txBody>
                    <a:bodyPr/>
                    <a:lstStyle/>
                    <a:p>
                      <a:pPr algn="ctr" fontAlgn="ctr"/>
                      <a:r>
                        <a:rPr lang="en-US" sz="800" b="1" i="1" u="none" strike="noStrike">
                          <a:effectLst/>
                          <a:latin typeface="+mj-lt"/>
                          <a:ea typeface="宋体" panose="02010600030101010101" pitchFamily="2" charset="-122"/>
                        </a:rPr>
                        <a:t>-1.23%</a:t>
                      </a:r>
                    </a:p>
                  </a:txBody>
                  <a:tcPr marL="3499" marR="3499" marT="3499" marB="0" anchor="ctr">
                    <a:lnL>
                      <a:noFill/>
                    </a:lnL>
                    <a:lnR>
                      <a:noFill/>
                    </a:lnR>
                    <a:lnT>
                      <a:noFill/>
                    </a:lnT>
                    <a:lnB>
                      <a:noFill/>
                    </a:lnB>
                    <a:solidFill>
                      <a:srgbClr val="D9D9D9"/>
                    </a:solidFill>
                  </a:tcPr>
                </a:tc>
                <a:tc>
                  <a:txBody>
                    <a:bodyPr/>
                    <a:lstStyle/>
                    <a:p>
                      <a:pPr algn="ctr" fontAlgn="ctr"/>
                      <a:r>
                        <a:rPr lang="en-US" sz="800" b="1" i="1" u="none" strike="noStrike">
                          <a:effectLst/>
                          <a:latin typeface="+mj-lt"/>
                          <a:ea typeface="宋体" panose="02010600030101010101" pitchFamily="2" charset="-122"/>
                        </a:rPr>
                        <a:t>-1.90%</a:t>
                      </a:r>
                    </a:p>
                  </a:txBody>
                  <a:tcPr marL="3499" marR="3499" marT="3499" marB="0" anchor="ctr">
                    <a:lnL>
                      <a:noFill/>
                    </a:lnL>
                    <a:lnR>
                      <a:noFill/>
                    </a:lnR>
                    <a:lnT>
                      <a:noFill/>
                    </a:lnT>
                    <a:lnB>
                      <a:noFill/>
                    </a:lnB>
                    <a:solidFill>
                      <a:srgbClr val="D9D9D9"/>
                    </a:solidFill>
                  </a:tcPr>
                </a:tc>
                <a:tc>
                  <a:txBody>
                    <a:bodyPr/>
                    <a:lstStyle/>
                    <a:p>
                      <a:pPr algn="ctr" fontAlgn="ctr"/>
                      <a:r>
                        <a:rPr lang="en-US" sz="800" b="1" i="1" u="none" strike="noStrike">
                          <a:effectLst/>
                          <a:latin typeface="+mj-lt"/>
                          <a:ea typeface="宋体" panose="02010600030101010101" pitchFamily="2" charset="-122"/>
                        </a:rPr>
                        <a:t>14.11%</a:t>
                      </a:r>
                    </a:p>
                  </a:txBody>
                  <a:tcPr marL="3499" marR="3499" marT="3499" marB="0" anchor="ctr">
                    <a:lnL>
                      <a:noFill/>
                    </a:lnL>
                    <a:lnR>
                      <a:noFill/>
                    </a:lnR>
                    <a:lnT>
                      <a:noFill/>
                    </a:lnT>
                    <a:lnB>
                      <a:noFill/>
                    </a:lnB>
                    <a:solidFill>
                      <a:srgbClr val="D9D9D9"/>
                    </a:solidFill>
                  </a:tcPr>
                </a:tc>
                <a:extLst>
                  <a:ext uri="{0D108BD9-81ED-4DB2-BD59-A6C34878D82A}">
                    <a16:rowId xmlns:a16="http://schemas.microsoft.com/office/drawing/2014/main" val="2991755816"/>
                  </a:ext>
                </a:extLst>
              </a:tr>
              <a:tr h="134351">
                <a:tc>
                  <a:txBody>
                    <a:bodyPr/>
                    <a:lstStyle/>
                    <a:p>
                      <a:pPr algn="l" fontAlgn="ctr"/>
                      <a:endParaRPr lang="en-US" sz="800" b="1" i="0" u="none" strike="noStrike">
                        <a:effectLst/>
                        <a:latin typeface="+mj-lt"/>
                        <a:ea typeface="宋体" panose="02010600030101010101" pitchFamily="2" charset="-122"/>
                      </a:endParaRPr>
                    </a:p>
                  </a:txBody>
                  <a:tcPr marL="3499" marR="3499" marT="3499" marB="0" anchor="ctr">
                    <a:lnL>
                      <a:noFill/>
                    </a:lnL>
                    <a:lnR>
                      <a:noFill/>
                    </a:lnR>
                    <a:lnT>
                      <a:noFill/>
                    </a:lnT>
                    <a:lnB>
                      <a:noFill/>
                    </a:lnB>
                  </a:tcPr>
                </a:tc>
                <a:tc>
                  <a:txBody>
                    <a:bodyPr/>
                    <a:lstStyle/>
                    <a:p>
                      <a:pPr algn="l"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a:noFill/>
                    </a:lnT>
                    <a:lnB>
                      <a:noFill/>
                    </a:lnB>
                  </a:tcPr>
                </a:tc>
                <a:tc>
                  <a:txBody>
                    <a:bodyPr/>
                    <a:lstStyle/>
                    <a:p>
                      <a:pPr algn="ctr" fontAlgn="ctr"/>
                      <a:endParaRPr lang="en-US" sz="800" b="0" i="0" u="none" strike="noStrike">
                        <a:effectLst/>
                        <a:latin typeface="+mj-lt"/>
                        <a:ea typeface="宋体" panose="02010600030101010101" pitchFamily="2" charset="-122"/>
                      </a:endParaRPr>
                    </a:p>
                  </a:txBody>
                  <a:tcPr marL="3499" marR="3499" marT="3499" marB="0" anchor="ctr">
                    <a:lnL>
                      <a:noFill/>
                    </a:lnL>
                    <a:lnR>
                      <a:noFill/>
                    </a:lnR>
                    <a:lnT>
                      <a:noFill/>
                    </a:lnT>
                    <a:lnB>
                      <a:noFill/>
                    </a:lnB>
                  </a:tcPr>
                </a:tc>
                <a:tc>
                  <a:txBody>
                    <a:bodyPr/>
                    <a:lstStyle/>
                    <a:p>
                      <a:pPr algn="ctr" fontAlgn="ctr"/>
                      <a:r>
                        <a:rPr lang="en-US" sz="800" b="0" i="1" u="none" strike="noStrike">
                          <a:effectLst/>
                          <a:latin typeface="+mj-lt"/>
                          <a:ea typeface="宋体" panose="02010600030101010101" pitchFamily="2" charset="-122"/>
                        </a:rPr>
                        <a:t>Min</a:t>
                      </a:r>
                    </a:p>
                  </a:txBody>
                  <a:tcPr marL="3499" marR="3499" marT="3499" marB="0" anchor="ctr">
                    <a:lnL>
                      <a:noFill/>
                    </a:lnL>
                    <a:lnR>
                      <a:noFill/>
                    </a:lnR>
                    <a:lnT>
                      <a:noFill/>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1" u="none" strike="noStrike">
                          <a:effectLst/>
                          <a:latin typeface="+mj-lt"/>
                          <a:ea typeface="宋体" panose="02010600030101010101" pitchFamily="2" charset="-122"/>
                        </a:rPr>
                        <a:t>4.79 </a:t>
                      </a:r>
                    </a:p>
                  </a:txBody>
                  <a:tcPr marL="3499" marR="3499" marT="3499" marB="0" anchor="ctr">
                    <a:lnL>
                      <a:noFill/>
                    </a:lnL>
                    <a:lnR>
                      <a:noFill/>
                    </a:lnR>
                    <a:lnT>
                      <a:noFill/>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1" u="none" strike="noStrike">
                          <a:effectLst/>
                          <a:latin typeface="+mj-lt"/>
                          <a:ea typeface="宋体" panose="02010600030101010101" pitchFamily="2" charset="-122"/>
                        </a:rPr>
                        <a:t>6.45 </a:t>
                      </a:r>
                    </a:p>
                  </a:txBody>
                  <a:tcPr marL="3499" marR="3499" marT="3499" marB="0" anchor="ctr">
                    <a:lnL>
                      <a:noFill/>
                    </a:lnL>
                    <a:lnR>
                      <a:noFill/>
                    </a:lnR>
                    <a:lnT>
                      <a:noFill/>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1" u="none" strike="noStrike">
                          <a:effectLst/>
                          <a:latin typeface="+mj-lt"/>
                          <a:ea typeface="宋体" panose="02010600030101010101" pitchFamily="2" charset="-122"/>
                        </a:rPr>
                        <a:t>6.05 </a:t>
                      </a:r>
                    </a:p>
                  </a:txBody>
                  <a:tcPr marL="3499" marR="3499" marT="3499" marB="0" anchor="ctr">
                    <a:lnL>
                      <a:noFill/>
                    </a:lnL>
                    <a:lnR>
                      <a:noFill/>
                    </a:lnR>
                    <a:lnT>
                      <a:noFill/>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1" u="none" strike="noStrike">
                          <a:effectLst/>
                          <a:latin typeface="+mj-lt"/>
                          <a:ea typeface="宋体" panose="02010600030101010101" pitchFamily="2" charset="-122"/>
                        </a:rPr>
                        <a:t>-19.35%</a:t>
                      </a:r>
                    </a:p>
                  </a:txBody>
                  <a:tcPr marL="3499" marR="3499" marT="3499" marB="0" anchor="ctr">
                    <a:lnL>
                      <a:noFill/>
                    </a:lnL>
                    <a:lnR>
                      <a:noFill/>
                    </a:lnR>
                    <a:lnT>
                      <a:noFill/>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1" u="none" strike="noStrike">
                          <a:effectLst/>
                          <a:latin typeface="+mj-lt"/>
                          <a:ea typeface="宋体" panose="02010600030101010101" pitchFamily="2" charset="-122"/>
                        </a:rPr>
                        <a:t>-37.63%</a:t>
                      </a:r>
                    </a:p>
                  </a:txBody>
                  <a:tcPr marL="3499" marR="3499" marT="3499" marB="0" anchor="ctr">
                    <a:lnL>
                      <a:noFill/>
                    </a:lnL>
                    <a:lnR>
                      <a:noFill/>
                    </a:lnR>
                    <a:lnT>
                      <a:noFill/>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1" u="none" strike="noStrike" dirty="0">
                          <a:effectLst/>
                          <a:latin typeface="+mj-lt"/>
                          <a:ea typeface="宋体" panose="02010600030101010101" pitchFamily="2" charset="-122"/>
                        </a:rPr>
                        <a:t>-40.30%</a:t>
                      </a:r>
                    </a:p>
                  </a:txBody>
                  <a:tcPr marL="3499" marR="3499" marT="3499" marB="0" anchor="ctr">
                    <a:lnL>
                      <a:noFill/>
                    </a:lnL>
                    <a:lnR>
                      <a:noFill/>
                    </a:lnR>
                    <a:lnT>
                      <a:noFill/>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727766068"/>
                  </a:ext>
                </a:extLst>
              </a:tr>
            </a:tbl>
          </a:graphicData>
        </a:graphic>
      </p:graphicFrame>
      <p:sp>
        <p:nvSpPr>
          <p:cNvPr id="10" name="Text Placeholder 1">
            <a:extLst>
              <a:ext uri="{FF2B5EF4-FFF2-40B4-BE49-F238E27FC236}">
                <a16:creationId xmlns:a16="http://schemas.microsoft.com/office/drawing/2014/main" id="{A8EF9136-DC52-400C-A538-A83107BB680A}"/>
              </a:ext>
            </a:extLst>
          </p:cNvPr>
          <p:cNvSpPr txBox="1">
            <a:spLocks/>
          </p:cNvSpPr>
          <p:nvPr/>
        </p:nvSpPr>
        <p:spPr bwMode="gray">
          <a:xfrm>
            <a:off x="374118" y="6077449"/>
            <a:ext cx="5303520" cy="107722"/>
          </a:xfrm>
          <a:prstGeom prst="rect">
            <a:avLst/>
          </a:prstGeom>
          <a:noFill/>
          <a:ln w="9525">
            <a:noFill/>
            <a:miter lim="800000"/>
            <a:headEnd/>
            <a:tailEnd/>
          </a:ln>
        </p:spPr>
        <p:txBody>
          <a:bodyPr vert="horz" wrap="square" lIns="0" tIns="0" rIns="0" bIns="0" numCol="1" anchor="b" anchorCtr="0" compatLnSpc="1">
            <a:prstTxWarp prst="textNoShape">
              <a:avLst/>
            </a:prstTxWarp>
            <a:spAutoFit/>
          </a:bodyPr>
          <a:lstStyle>
            <a:lvl1pPr marL="228600" indent="-228600" algn="l" rtl="0" eaLnBrk="1" fontAlgn="base" hangingPunct="1">
              <a:spcBef>
                <a:spcPct val="20000"/>
              </a:spcBef>
              <a:spcAft>
                <a:spcPct val="0"/>
              </a:spcAft>
              <a:buClr>
                <a:schemeClr val="accent1"/>
              </a:buClr>
              <a:buFont typeface="Wingdings" pitchFamily="2" charset="2"/>
              <a:buChar char="§"/>
              <a:defRPr sz="1600">
                <a:solidFill>
                  <a:schemeClr val="tx1"/>
                </a:solidFill>
                <a:latin typeface="+mn-lt"/>
                <a:ea typeface="+mn-ea"/>
                <a:cs typeface="+mn-cs"/>
              </a:defRPr>
            </a:lvl1pPr>
            <a:lvl2pPr marL="685800" indent="-228600" algn="l" rtl="0" eaLnBrk="1" fontAlgn="base" hangingPunct="1">
              <a:spcBef>
                <a:spcPct val="20000"/>
              </a:spcBef>
              <a:spcAft>
                <a:spcPct val="0"/>
              </a:spcAft>
              <a:buClr>
                <a:schemeClr val="accent2"/>
              </a:buClr>
              <a:buChar char="•"/>
              <a:defRPr sz="1600">
                <a:solidFill>
                  <a:schemeClr val="tx1"/>
                </a:solidFill>
                <a:latin typeface="+mn-lt"/>
              </a:defRPr>
            </a:lvl2pPr>
            <a:lvl3pPr marL="1143000" indent="-228600" algn="l" rtl="0" eaLnBrk="1" fontAlgn="base" hangingPunct="1">
              <a:spcBef>
                <a:spcPct val="20000"/>
              </a:spcBef>
              <a:spcAft>
                <a:spcPct val="0"/>
              </a:spcAft>
              <a:buClr>
                <a:schemeClr val="hlink"/>
              </a:buClr>
              <a:buChar char="o"/>
              <a:defRPr sz="1600">
                <a:solidFill>
                  <a:schemeClr val="tx1"/>
                </a:solidFill>
                <a:latin typeface="+mn-lt"/>
              </a:defRPr>
            </a:lvl3pPr>
            <a:lvl4pPr marL="1600200" indent="-228600" algn="l" rtl="0" eaLnBrk="1" fontAlgn="base" hangingPunct="1">
              <a:spcBef>
                <a:spcPct val="20000"/>
              </a:spcBef>
              <a:spcAft>
                <a:spcPct val="0"/>
              </a:spcAft>
              <a:buChar char="–"/>
              <a:defRPr sz="1600">
                <a:solidFill>
                  <a:schemeClr val="tx1"/>
                </a:solidFill>
                <a:latin typeface="+mn-lt"/>
              </a:defRPr>
            </a:lvl4pPr>
            <a:lvl5pPr marL="2057400" indent="-228600" algn="l" rtl="0" eaLnBrk="1" fontAlgn="base" hangingPunct="1">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pPr marL="0" indent="0">
              <a:spcBef>
                <a:spcPts val="0"/>
              </a:spcBef>
              <a:buFont typeface="Wingdings" pitchFamily="2" charset="2"/>
              <a:buNone/>
            </a:pPr>
            <a:r>
              <a:rPr lang="en-US" sz="700" i="1" kern="0" dirty="0"/>
              <a:t>Source: Bloomberg as of 02 September 2018</a:t>
            </a:r>
          </a:p>
        </p:txBody>
      </p:sp>
    </p:spTree>
    <p:extLst>
      <p:ext uri="{BB962C8B-B14F-4D97-AF65-F5344CB8AC3E}">
        <p14:creationId xmlns:p14="http://schemas.microsoft.com/office/powerpoint/2010/main" val="21848633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74119" y="95250"/>
            <a:ext cx="9207917" cy="533400"/>
          </a:xfrm>
        </p:spPr>
        <p:txBody>
          <a:bodyPr/>
          <a:lstStyle/>
          <a:p>
            <a:r>
              <a:rPr lang="en-US" dirty="0"/>
              <a:t>Core Comparable Companies</a:t>
            </a:r>
          </a:p>
        </p:txBody>
      </p:sp>
      <p:sp>
        <p:nvSpPr>
          <p:cNvPr id="2" name="Text Placeholder 1">
            <a:extLst>
              <a:ext uri="{FF2B5EF4-FFF2-40B4-BE49-F238E27FC236}">
                <a16:creationId xmlns:a16="http://schemas.microsoft.com/office/drawing/2014/main" id="{D20B2231-85C7-4296-9F87-6F7EAC54535F}"/>
              </a:ext>
            </a:extLst>
          </p:cNvPr>
          <p:cNvSpPr>
            <a:spLocks noGrp="1"/>
          </p:cNvSpPr>
          <p:nvPr>
            <p:ph type="body" sz="quarter" idx="4294967295"/>
          </p:nvPr>
        </p:nvSpPr>
        <p:spPr>
          <a:xfrm>
            <a:off x="374118" y="6077449"/>
            <a:ext cx="9208008" cy="107722"/>
          </a:xfrm>
        </p:spPr>
        <p:txBody>
          <a:bodyPr lIns="0" tIns="0" rIns="0" bIns="0" anchor="b" anchorCtr="0">
            <a:spAutoFit/>
          </a:bodyPr>
          <a:lstStyle/>
          <a:p>
            <a:pPr marL="0" indent="0">
              <a:spcBef>
                <a:spcPts val="0"/>
              </a:spcBef>
              <a:buNone/>
            </a:pPr>
            <a:r>
              <a:rPr lang="en-US" sz="700" i="1" dirty="0"/>
              <a:t>Source: Li &amp; Fung 2018 Annual Report, Kerry Logistics 2018 Annual Report, </a:t>
            </a:r>
            <a:r>
              <a:rPr lang="en-US" sz="700" i="1" dirty="0" err="1"/>
              <a:t>Sinotrans</a:t>
            </a:r>
            <a:r>
              <a:rPr lang="en-US" sz="700" i="1" dirty="0"/>
              <a:t> 2018 Annual Report, YTO Express International 2018 Annual Report, SF Holdings 2018 Annual Report </a:t>
            </a:r>
          </a:p>
        </p:txBody>
      </p:sp>
      <p:sp>
        <p:nvSpPr>
          <p:cNvPr id="8" name="Slide Number Placeholder 1">
            <a:extLst/>
          </p:cNvPr>
          <p:cNvSpPr>
            <a:spLocks noGrp="1"/>
          </p:cNvSpPr>
          <p:nvPr>
            <p:ph type="sldNum" sz="quarter" idx="4"/>
          </p:nvPr>
        </p:nvSpPr>
        <p:spPr>
          <a:xfrm>
            <a:off x="9294706" y="6457701"/>
            <a:ext cx="306494" cy="215444"/>
          </a:xfrm>
        </p:spPr>
        <p:txBody>
          <a:bodyPr/>
          <a:lstStyle/>
          <a:p>
            <a:fld id="{54750402-2FB9-4808-B45A-E9D8797657DF}" type="slidenum">
              <a:rPr lang="en-US" smtClean="0"/>
              <a:pPr/>
              <a:t>10</a:t>
            </a:fld>
            <a:endParaRPr lang="en-US" dirty="0"/>
          </a:p>
        </p:txBody>
      </p:sp>
      <p:pic>
        <p:nvPicPr>
          <p:cNvPr id="10" name="Picture 9" descr="A picture containing object&#10;&#10;Description automatically generated">
            <a:extLst>
              <a:ext uri="{FF2B5EF4-FFF2-40B4-BE49-F238E27FC236}">
                <a16:creationId xmlns:a16="http://schemas.microsoft.com/office/drawing/2014/main" id="{44C1568A-3CA7-465C-91D1-D4852AE5753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26088" y="960517"/>
            <a:ext cx="1280160" cy="296261"/>
          </a:xfrm>
          <a:prstGeom prst="rect">
            <a:avLst/>
          </a:prstGeom>
        </p:spPr>
      </p:pic>
      <p:pic>
        <p:nvPicPr>
          <p:cNvPr id="12" name="Picture 11" descr="A picture containing clipart&#10;&#10;Description automatically generated">
            <a:extLst>
              <a:ext uri="{FF2B5EF4-FFF2-40B4-BE49-F238E27FC236}">
                <a16:creationId xmlns:a16="http://schemas.microsoft.com/office/drawing/2014/main" id="{857E1D43-2D3E-4AD9-BD32-609C1C9636EF}"/>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267492" y="1012661"/>
            <a:ext cx="1280160" cy="205009"/>
          </a:xfrm>
          <a:prstGeom prst="rect">
            <a:avLst/>
          </a:prstGeom>
        </p:spPr>
      </p:pic>
      <p:pic>
        <p:nvPicPr>
          <p:cNvPr id="14" name="Picture 13">
            <a:extLst>
              <a:ext uri="{FF2B5EF4-FFF2-40B4-BE49-F238E27FC236}">
                <a16:creationId xmlns:a16="http://schemas.microsoft.com/office/drawing/2014/main" id="{DCC43DD8-8903-4EC0-82D1-079AB1BE9FA5}"/>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784684" y="398288"/>
            <a:ext cx="1280160" cy="1280160"/>
          </a:xfrm>
          <a:prstGeom prst="rect">
            <a:avLst/>
          </a:prstGeom>
        </p:spPr>
      </p:pic>
      <p:pic>
        <p:nvPicPr>
          <p:cNvPr id="16" name="Picture 15">
            <a:extLst>
              <a:ext uri="{FF2B5EF4-FFF2-40B4-BE49-F238E27FC236}">
                <a16:creationId xmlns:a16="http://schemas.microsoft.com/office/drawing/2014/main" id="{71BCE475-0F67-4FC4-A8F4-C696DC2FBF2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543280" y="842197"/>
            <a:ext cx="1280160" cy="503321"/>
          </a:xfrm>
          <a:prstGeom prst="rect">
            <a:avLst/>
          </a:prstGeom>
        </p:spPr>
      </p:pic>
      <p:pic>
        <p:nvPicPr>
          <p:cNvPr id="18" name="Picture 17">
            <a:extLst>
              <a:ext uri="{FF2B5EF4-FFF2-40B4-BE49-F238E27FC236}">
                <a16:creationId xmlns:a16="http://schemas.microsoft.com/office/drawing/2014/main" id="{562706AC-909C-4B06-90C4-5AE672BC651C}"/>
              </a:ext>
            </a:extLst>
          </p:cNvPr>
          <p:cNvPicPr>
            <a:picLocks noChangeAspect="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301876" y="845328"/>
            <a:ext cx="1280160" cy="497840"/>
          </a:xfrm>
          <a:prstGeom prst="rect">
            <a:avLst/>
          </a:prstGeom>
        </p:spPr>
      </p:pic>
      <p:sp>
        <p:nvSpPr>
          <p:cNvPr id="24" name="TextBox 23">
            <a:extLst>
              <a:ext uri="{FF2B5EF4-FFF2-40B4-BE49-F238E27FC236}">
                <a16:creationId xmlns:a16="http://schemas.microsoft.com/office/drawing/2014/main" id="{C8CF9107-9D20-4B78-B79A-6FE9E44684CC}"/>
              </a:ext>
            </a:extLst>
          </p:cNvPr>
          <p:cNvSpPr txBox="1"/>
          <p:nvPr/>
        </p:nvSpPr>
        <p:spPr>
          <a:xfrm>
            <a:off x="374119" y="1400001"/>
            <a:ext cx="676915" cy="1463040"/>
          </a:xfrm>
          <a:prstGeom prst="rect">
            <a:avLst/>
          </a:prstGeom>
          <a:gradFill>
            <a:gsLst>
              <a:gs pos="0">
                <a:srgbClr val="FFFFFF">
                  <a:shade val="51000"/>
                  <a:satMod val="130000"/>
                  <a:alpha val="21000"/>
                </a:srgbClr>
              </a:gs>
              <a:gs pos="80000">
                <a:srgbClr val="FFFFFF">
                  <a:shade val="93000"/>
                  <a:satMod val="130000"/>
                </a:srgbClr>
              </a:gs>
              <a:gs pos="100000">
                <a:srgbClr val="FFFFFF">
                  <a:shade val="94000"/>
                  <a:satMod val="135000"/>
                </a:srgbClr>
              </a:gs>
            </a:gsLst>
            <a:lin ang="16200000" scaled="0"/>
          </a:gradFill>
          <a:ln w="9525" cap="flat" cmpd="sng" algn="ctr">
            <a:noFill/>
            <a:prstDash val="solid"/>
            <a:headEnd/>
            <a:tailEnd/>
          </a:ln>
          <a:effectLst>
            <a:outerShdw blurRad="40000" dist="23000" dir="5400000" rotWithShape="0">
              <a:srgbClr val="000000">
                <a:alpha val="35000"/>
              </a:srgbClr>
            </a:outerShdw>
          </a:effectLst>
        </p:spPr>
        <p:txBody>
          <a:bodyPr wrap="square" lIns="0" tIns="91440" rIns="0" bIns="91440" anchor="ctr" anchorCtr="0">
            <a:noAutofit/>
          </a:bodyPr>
          <a:lstStyle>
            <a:defPPr>
              <a:defRPr lang="en-US"/>
            </a:defPPr>
            <a:lvl1pPr marL="227013" indent="-227013" eaLnBrk="0" hangingPunct="0">
              <a:spcBef>
                <a:spcPts val="300"/>
              </a:spcBef>
              <a:spcAft>
                <a:spcPts val="300"/>
              </a:spcAft>
              <a:buClr>
                <a:srgbClr val="BE050A"/>
              </a:buClr>
              <a:buFont typeface="Wingdings" panose="05000000000000000000" pitchFamily="2" charset="2"/>
              <a:buChar char="§"/>
              <a:tabLst>
                <a:tab pos="1371600" algn="l"/>
              </a:tabLst>
              <a:defRPr sz="1200" b="1" kern="0">
                <a:solidFill>
                  <a:srgbClr val="C00000"/>
                </a:solidFill>
                <a:latin typeface="Calibri" panose="020F0502020204030204" pitchFamily="34" charset="0"/>
                <a:ea typeface="+mj-ea"/>
                <a:cs typeface="Calibri" panose="020F0502020204030204" pitchFamily="34" charset="0"/>
              </a:defRPr>
            </a:lvl1pPr>
          </a:lstStyle>
          <a:p>
            <a:pPr marL="0" indent="0" algn="ctr">
              <a:buNone/>
            </a:pPr>
            <a:r>
              <a:rPr lang="en-US" sz="900" dirty="0">
                <a:solidFill>
                  <a:schemeClr val="tx1"/>
                </a:solidFill>
              </a:rPr>
              <a:t>Revenue by Segment</a:t>
            </a:r>
          </a:p>
        </p:txBody>
      </p:sp>
      <p:sp>
        <p:nvSpPr>
          <p:cNvPr id="25" name="TextBox 24">
            <a:extLst>
              <a:ext uri="{FF2B5EF4-FFF2-40B4-BE49-F238E27FC236}">
                <a16:creationId xmlns:a16="http://schemas.microsoft.com/office/drawing/2014/main" id="{674F8D17-6666-422D-B545-384404C50DF6}"/>
              </a:ext>
            </a:extLst>
          </p:cNvPr>
          <p:cNvSpPr txBox="1"/>
          <p:nvPr/>
        </p:nvSpPr>
        <p:spPr>
          <a:xfrm>
            <a:off x="374119" y="2896318"/>
            <a:ext cx="676915" cy="1463040"/>
          </a:xfrm>
          <a:prstGeom prst="rect">
            <a:avLst/>
          </a:prstGeom>
          <a:gradFill>
            <a:gsLst>
              <a:gs pos="0">
                <a:srgbClr val="FFFFFF">
                  <a:shade val="51000"/>
                  <a:satMod val="130000"/>
                  <a:alpha val="21000"/>
                </a:srgbClr>
              </a:gs>
              <a:gs pos="80000">
                <a:srgbClr val="FFFFFF">
                  <a:shade val="93000"/>
                  <a:satMod val="130000"/>
                </a:srgbClr>
              </a:gs>
              <a:gs pos="100000">
                <a:srgbClr val="FFFFFF">
                  <a:shade val="94000"/>
                  <a:satMod val="135000"/>
                </a:srgbClr>
              </a:gs>
            </a:gsLst>
            <a:lin ang="16200000" scaled="0"/>
          </a:gradFill>
          <a:ln w="9525" cap="flat" cmpd="sng" algn="ctr">
            <a:noFill/>
            <a:prstDash val="solid"/>
            <a:headEnd/>
            <a:tailEnd/>
          </a:ln>
          <a:effectLst>
            <a:outerShdw blurRad="40000" dist="23000" dir="5400000" rotWithShape="0">
              <a:srgbClr val="000000">
                <a:alpha val="35000"/>
              </a:srgbClr>
            </a:outerShdw>
          </a:effectLst>
        </p:spPr>
        <p:txBody>
          <a:bodyPr wrap="square" lIns="0" tIns="91440" rIns="0" bIns="91440" anchor="ctr" anchorCtr="0">
            <a:noAutofit/>
          </a:bodyPr>
          <a:lstStyle>
            <a:defPPr>
              <a:defRPr lang="en-US"/>
            </a:defPPr>
            <a:lvl1pPr indent="0" algn="ctr" eaLnBrk="0" hangingPunct="0">
              <a:spcBef>
                <a:spcPts val="300"/>
              </a:spcBef>
              <a:spcAft>
                <a:spcPts val="300"/>
              </a:spcAft>
              <a:buClr>
                <a:srgbClr val="BE050A"/>
              </a:buClr>
              <a:buFont typeface="Wingdings" panose="05000000000000000000" pitchFamily="2" charset="2"/>
              <a:buNone/>
              <a:tabLst>
                <a:tab pos="1371600" algn="l"/>
              </a:tabLst>
              <a:defRPr sz="900" b="1" kern="0">
                <a:latin typeface="Calibri" panose="020F0502020204030204" pitchFamily="34" charset="0"/>
                <a:ea typeface="+mj-ea"/>
                <a:cs typeface="Calibri" panose="020F0502020204030204" pitchFamily="34" charset="0"/>
              </a:defRPr>
            </a:lvl1pPr>
          </a:lstStyle>
          <a:p>
            <a:r>
              <a:rPr lang="en-US" dirty="0"/>
              <a:t>Revenue by</a:t>
            </a:r>
          </a:p>
          <a:p>
            <a:r>
              <a:rPr lang="en-US" dirty="0"/>
              <a:t>Geography</a:t>
            </a:r>
          </a:p>
        </p:txBody>
      </p:sp>
      <p:sp>
        <p:nvSpPr>
          <p:cNvPr id="26" name="TextBox 25">
            <a:extLst>
              <a:ext uri="{FF2B5EF4-FFF2-40B4-BE49-F238E27FC236}">
                <a16:creationId xmlns:a16="http://schemas.microsoft.com/office/drawing/2014/main" id="{E394EEAE-DE99-4D32-80A6-F3E327F65E73}"/>
              </a:ext>
            </a:extLst>
          </p:cNvPr>
          <p:cNvSpPr txBox="1"/>
          <p:nvPr/>
        </p:nvSpPr>
        <p:spPr>
          <a:xfrm>
            <a:off x="374119" y="4392635"/>
            <a:ext cx="676915" cy="1628294"/>
          </a:xfrm>
          <a:prstGeom prst="rect">
            <a:avLst/>
          </a:prstGeom>
          <a:gradFill>
            <a:gsLst>
              <a:gs pos="0">
                <a:srgbClr val="FFFFFF">
                  <a:shade val="51000"/>
                  <a:satMod val="130000"/>
                  <a:alpha val="21000"/>
                </a:srgbClr>
              </a:gs>
              <a:gs pos="80000">
                <a:srgbClr val="FFFFFF">
                  <a:shade val="93000"/>
                  <a:satMod val="130000"/>
                </a:srgbClr>
              </a:gs>
              <a:gs pos="100000">
                <a:srgbClr val="FFFFFF">
                  <a:shade val="94000"/>
                  <a:satMod val="135000"/>
                </a:srgbClr>
              </a:gs>
            </a:gsLst>
            <a:lin ang="16200000" scaled="0"/>
          </a:gradFill>
          <a:ln w="9525" cap="flat" cmpd="sng" algn="ctr">
            <a:noFill/>
            <a:prstDash val="solid"/>
            <a:headEnd/>
            <a:tailEnd/>
          </a:ln>
          <a:effectLst>
            <a:outerShdw blurRad="40000" dist="23000" dir="5400000" rotWithShape="0">
              <a:srgbClr val="000000">
                <a:alpha val="35000"/>
              </a:srgbClr>
            </a:outerShdw>
          </a:effectLst>
        </p:spPr>
        <p:txBody>
          <a:bodyPr wrap="square" lIns="0" tIns="91440" rIns="0" bIns="91440" anchor="ctr" anchorCtr="0">
            <a:noAutofit/>
          </a:bodyPr>
          <a:lstStyle>
            <a:defPPr>
              <a:defRPr lang="en-US"/>
            </a:defPPr>
            <a:lvl1pPr indent="0" algn="ctr" eaLnBrk="0" hangingPunct="0">
              <a:spcBef>
                <a:spcPts val="300"/>
              </a:spcBef>
              <a:spcAft>
                <a:spcPts val="300"/>
              </a:spcAft>
              <a:buClr>
                <a:srgbClr val="BE050A"/>
              </a:buClr>
              <a:buFont typeface="Wingdings" panose="05000000000000000000" pitchFamily="2" charset="2"/>
              <a:buNone/>
              <a:tabLst>
                <a:tab pos="1371600" algn="l"/>
              </a:tabLst>
              <a:defRPr sz="900" b="1" kern="0">
                <a:latin typeface="Calibri" panose="020F0502020204030204" pitchFamily="34" charset="0"/>
                <a:ea typeface="+mj-ea"/>
                <a:cs typeface="Calibri" panose="020F0502020204030204" pitchFamily="34" charset="0"/>
              </a:defRPr>
            </a:lvl1pPr>
          </a:lstStyle>
          <a:p>
            <a:r>
              <a:rPr lang="en-US" dirty="0"/>
              <a:t>Market Positioning</a:t>
            </a:r>
          </a:p>
        </p:txBody>
      </p:sp>
      <p:sp>
        <p:nvSpPr>
          <p:cNvPr id="15" name="Line 50">
            <a:extLst>
              <a:ext uri="{FF2B5EF4-FFF2-40B4-BE49-F238E27FC236}">
                <a16:creationId xmlns:a16="http://schemas.microsoft.com/office/drawing/2014/main" id="{C1C72D3A-63A1-4B69-9285-741D82D459A7}"/>
              </a:ext>
            </a:extLst>
          </p:cNvPr>
          <p:cNvSpPr>
            <a:spLocks noChangeShapeType="1"/>
          </p:cNvSpPr>
          <p:nvPr/>
        </p:nvSpPr>
        <p:spPr bwMode="gray">
          <a:xfrm>
            <a:off x="2786870" y="1400001"/>
            <a:ext cx="0" cy="4617720"/>
          </a:xfrm>
          <a:prstGeom prst="line">
            <a:avLst/>
          </a:prstGeom>
          <a:noFill/>
          <a:ln w="9525">
            <a:solidFill>
              <a:srgbClr val="BDBDBD"/>
            </a:solidFill>
            <a:round/>
            <a:headEnd/>
            <a:tailEnd/>
          </a:ln>
          <a:effectLst/>
        </p:spPr>
        <p:txBody>
          <a:bodyPr wrap="none" anchor="ctr"/>
          <a:lstStyle/>
          <a:p>
            <a:pPr>
              <a:buClr>
                <a:schemeClr val="accent1"/>
              </a:buClr>
              <a:buFont typeface="Wingdings" pitchFamily="2" charset="2"/>
              <a:buNone/>
              <a:defRPr/>
            </a:pPr>
            <a:endParaRPr lang="en-US" sz="900" u="none" dirty="0">
              <a:solidFill>
                <a:srgbClr val="000000"/>
              </a:solidFill>
              <a:latin typeface="+mn-lt"/>
            </a:endParaRPr>
          </a:p>
        </p:txBody>
      </p:sp>
      <p:graphicFrame>
        <p:nvGraphicFramePr>
          <p:cNvPr id="11" name="Chart 10">
            <a:extLst>
              <a:ext uri="{FF2B5EF4-FFF2-40B4-BE49-F238E27FC236}">
                <a16:creationId xmlns:a16="http://schemas.microsoft.com/office/drawing/2014/main" id="{A664CD4E-C46D-42ED-85D8-660E782606ED}"/>
              </a:ext>
            </a:extLst>
          </p:cNvPr>
          <p:cNvGraphicFramePr/>
          <p:nvPr/>
        </p:nvGraphicFramePr>
        <p:xfrm>
          <a:off x="957695" y="1400001"/>
          <a:ext cx="1922514" cy="1463040"/>
        </p:xfrm>
        <a:graphic>
          <a:graphicData uri="http://schemas.openxmlformats.org/drawingml/2006/chart">
            <c:chart xmlns:c="http://schemas.openxmlformats.org/drawingml/2006/chart" xmlns:r="http://schemas.openxmlformats.org/officeDocument/2006/relationships" r:id="rId7"/>
          </a:graphicData>
        </a:graphic>
      </p:graphicFrame>
      <p:sp>
        <p:nvSpPr>
          <p:cNvPr id="27" name="Line 50">
            <a:extLst>
              <a:ext uri="{FF2B5EF4-FFF2-40B4-BE49-F238E27FC236}">
                <a16:creationId xmlns:a16="http://schemas.microsoft.com/office/drawing/2014/main" id="{128E71FE-CCA2-4FF9-AF58-ACDB203807AF}"/>
              </a:ext>
            </a:extLst>
          </p:cNvPr>
          <p:cNvSpPr>
            <a:spLocks noChangeShapeType="1"/>
          </p:cNvSpPr>
          <p:nvPr/>
        </p:nvSpPr>
        <p:spPr bwMode="gray">
          <a:xfrm>
            <a:off x="4545466" y="1400001"/>
            <a:ext cx="0" cy="4617720"/>
          </a:xfrm>
          <a:prstGeom prst="line">
            <a:avLst/>
          </a:prstGeom>
          <a:noFill/>
          <a:ln w="9525">
            <a:solidFill>
              <a:srgbClr val="BDBDBD"/>
            </a:solidFill>
            <a:round/>
            <a:headEnd/>
            <a:tailEnd/>
          </a:ln>
          <a:effectLst/>
        </p:spPr>
        <p:txBody>
          <a:bodyPr wrap="none" anchor="ctr"/>
          <a:lstStyle/>
          <a:p>
            <a:pPr>
              <a:buClr>
                <a:schemeClr val="accent1"/>
              </a:buClr>
              <a:buFont typeface="Wingdings" pitchFamily="2" charset="2"/>
              <a:buNone/>
              <a:defRPr/>
            </a:pPr>
            <a:endParaRPr lang="en-US" sz="900" u="none" dirty="0">
              <a:solidFill>
                <a:srgbClr val="000000"/>
              </a:solidFill>
              <a:latin typeface="+mn-lt"/>
            </a:endParaRPr>
          </a:p>
        </p:txBody>
      </p:sp>
      <p:sp>
        <p:nvSpPr>
          <p:cNvPr id="28" name="Line 50">
            <a:extLst>
              <a:ext uri="{FF2B5EF4-FFF2-40B4-BE49-F238E27FC236}">
                <a16:creationId xmlns:a16="http://schemas.microsoft.com/office/drawing/2014/main" id="{91C9CDE1-98B8-4867-B326-E73D8333A694}"/>
              </a:ext>
            </a:extLst>
          </p:cNvPr>
          <p:cNvSpPr>
            <a:spLocks noChangeShapeType="1"/>
          </p:cNvSpPr>
          <p:nvPr/>
        </p:nvSpPr>
        <p:spPr bwMode="gray">
          <a:xfrm>
            <a:off x="6304062" y="1400001"/>
            <a:ext cx="0" cy="4617720"/>
          </a:xfrm>
          <a:prstGeom prst="line">
            <a:avLst/>
          </a:prstGeom>
          <a:noFill/>
          <a:ln w="9525">
            <a:solidFill>
              <a:srgbClr val="BDBDBD"/>
            </a:solidFill>
            <a:round/>
            <a:headEnd/>
            <a:tailEnd/>
          </a:ln>
          <a:effectLst/>
        </p:spPr>
        <p:txBody>
          <a:bodyPr wrap="none" anchor="ctr"/>
          <a:lstStyle/>
          <a:p>
            <a:pPr>
              <a:buClr>
                <a:schemeClr val="accent1"/>
              </a:buClr>
              <a:buFont typeface="Wingdings" pitchFamily="2" charset="2"/>
              <a:buNone/>
              <a:defRPr/>
            </a:pPr>
            <a:endParaRPr lang="en-US" sz="900" u="none" dirty="0">
              <a:solidFill>
                <a:srgbClr val="000000"/>
              </a:solidFill>
              <a:latin typeface="+mn-lt"/>
            </a:endParaRPr>
          </a:p>
        </p:txBody>
      </p:sp>
      <p:sp>
        <p:nvSpPr>
          <p:cNvPr id="29" name="Line 50">
            <a:extLst>
              <a:ext uri="{FF2B5EF4-FFF2-40B4-BE49-F238E27FC236}">
                <a16:creationId xmlns:a16="http://schemas.microsoft.com/office/drawing/2014/main" id="{7B6A89B5-3A03-4EBE-9323-EB477E1AB7EC}"/>
              </a:ext>
            </a:extLst>
          </p:cNvPr>
          <p:cNvSpPr>
            <a:spLocks noChangeShapeType="1"/>
          </p:cNvSpPr>
          <p:nvPr/>
        </p:nvSpPr>
        <p:spPr bwMode="gray">
          <a:xfrm>
            <a:off x="8062658" y="1400001"/>
            <a:ext cx="0" cy="4617720"/>
          </a:xfrm>
          <a:prstGeom prst="line">
            <a:avLst/>
          </a:prstGeom>
          <a:noFill/>
          <a:ln w="9525">
            <a:solidFill>
              <a:srgbClr val="BDBDBD"/>
            </a:solidFill>
            <a:round/>
            <a:headEnd/>
            <a:tailEnd/>
          </a:ln>
          <a:effectLst/>
        </p:spPr>
        <p:txBody>
          <a:bodyPr wrap="none" anchor="ctr"/>
          <a:lstStyle/>
          <a:p>
            <a:pPr>
              <a:buClr>
                <a:schemeClr val="accent1"/>
              </a:buClr>
              <a:buFont typeface="Wingdings" pitchFamily="2" charset="2"/>
              <a:buNone/>
              <a:defRPr/>
            </a:pPr>
            <a:endParaRPr lang="en-US" sz="900" u="none" dirty="0">
              <a:solidFill>
                <a:srgbClr val="000000"/>
              </a:solidFill>
              <a:latin typeface="+mn-lt"/>
            </a:endParaRPr>
          </a:p>
        </p:txBody>
      </p:sp>
      <p:graphicFrame>
        <p:nvGraphicFramePr>
          <p:cNvPr id="30" name="Chart 29">
            <a:extLst>
              <a:ext uri="{FF2B5EF4-FFF2-40B4-BE49-F238E27FC236}">
                <a16:creationId xmlns:a16="http://schemas.microsoft.com/office/drawing/2014/main" id="{89299861-80F9-4877-9678-C57C44834AAF}"/>
              </a:ext>
            </a:extLst>
          </p:cNvPr>
          <p:cNvGraphicFramePr/>
          <p:nvPr/>
        </p:nvGraphicFramePr>
        <p:xfrm>
          <a:off x="2704911" y="1400001"/>
          <a:ext cx="1922514" cy="146304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31" name="Chart 30">
            <a:extLst>
              <a:ext uri="{FF2B5EF4-FFF2-40B4-BE49-F238E27FC236}">
                <a16:creationId xmlns:a16="http://schemas.microsoft.com/office/drawing/2014/main" id="{76DF8FF8-19D3-4F40-883F-C617BD971EF0}"/>
              </a:ext>
            </a:extLst>
          </p:cNvPr>
          <p:cNvGraphicFramePr/>
          <p:nvPr/>
        </p:nvGraphicFramePr>
        <p:xfrm>
          <a:off x="4463507" y="1400001"/>
          <a:ext cx="1922514" cy="1463040"/>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32" name="Chart 31">
            <a:extLst>
              <a:ext uri="{FF2B5EF4-FFF2-40B4-BE49-F238E27FC236}">
                <a16:creationId xmlns:a16="http://schemas.microsoft.com/office/drawing/2014/main" id="{725F31D2-F0D9-40BB-AE13-B1E01E756281}"/>
              </a:ext>
            </a:extLst>
          </p:cNvPr>
          <p:cNvGraphicFramePr/>
          <p:nvPr/>
        </p:nvGraphicFramePr>
        <p:xfrm>
          <a:off x="6222103" y="1400001"/>
          <a:ext cx="1922514" cy="1463040"/>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33" name="Chart 32">
            <a:extLst>
              <a:ext uri="{FF2B5EF4-FFF2-40B4-BE49-F238E27FC236}">
                <a16:creationId xmlns:a16="http://schemas.microsoft.com/office/drawing/2014/main" id="{666D91F2-682A-4926-946B-2D41B13677A2}"/>
              </a:ext>
            </a:extLst>
          </p:cNvPr>
          <p:cNvGraphicFramePr/>
          <p:nvPr/>
        </p:nvGraphicFramePr>
        <p:xfrm>
          <a:off x="7969319" y="1400001"/>
          <a:ext cx="1922514" cy="1463040"/>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34" name="Chart 33">
            <a:extLst>
              <a:ext uri="{FF2B5EF4-FFF2-40B4-BE49-F238E27FC236}">
                <a16:creationId xmlns:a16="http://schemas.microsoft.com/office/drawing/2014/main" id="{3B4EB139-AF69-4F03-94C5-639562A5C75F}"/>
              </a:ext>
            </a:extLst>
          </p:cNvPr>
          <p:cNvGraphicFramePr/>
          <p:nvPr/>
        </p:nvGraphicFramePr>
        <p:xfrm>
          <a:off x="957695" y="2896318"/>
          <a:ext cx="1922514" cy="1463040"/>
        </p:xfrm>
        <a:graphic>
          <a:graphicData uri="http://schemas.openxmlformats.org/drawingml/2006/chart">
            <c:chart xmlns:c="http://schemas.openxmlformats.org/drawingml/2006/chart" xmlns:r="http://schemas.openxmlformats.org/officeDocument/2006/relationships" r:id="rId12"/>
          </a:graphicData>
        </a:graphic>
      </p:graphicFrame>
      <p:graphicFrame>
        <p:nvGraphicFramePr>
          <p:cNvPr id="35" name="Chart 34">
            <a:extLst>
              <a:ext uri="{FF2B5EF4-FFF2-40B4-BE49-F238E27FC236}">
                <a16:creationId xmlns:a16="http://schemas.microsoft.com/office/drawing/2014/main" id="{E17CD7F8-8EF0-403B-A929-530955DDF372}"/>
              </a:ext>
            </a:extLst>
          </p:cNvPr>
          <p:cNvGraphicFramePr/>
          <p:nvPr/>
        </p:nvGraphicFramePr>
        <p:xfrm>
          <a:off x="2704911" y="2896318"/>
          <a:ext cx="1922514" cy="1463040"/>
        </p:xfrm>
        <a:graphic>
          <a:graphicData uri="http://schemas.openxmlformats.org/drawingml/2006/chart">
            <c:chart xmlns:c="http://schemas.openxmlformats.org/drawingml/2006/chart" xmlns:r="http://schemas.openxmlformats.org/officeDocument/2006/relationships" r:id="rId13"/>
          </a:graphicData>
        </a:graphic>
      </p:graphicFrame>
      <p:graphicFrame>
        <p:nvGraphicFramePr>
          <p:cNvPr id="36" name="Chart 35">
            <a:extLst>
              <a:ext uri="{FF2B5EF4-FFF2-40B4-BE49-F238E27FC236}">
                <a16:creationId xmlns:a16="http://schemas.microsoft.com/office/drawing/2014/main" id="{94DC0B3C-DD91-4E60-8B2F-F8D68722966A}"/>
              </a:ext>
            </a:extLst>
          </p:cNvPr>
          <p:cNvGraphicFramePr/>
          <p:nvPr/>
        </p:nvGraphicFramePr>
        <p:xfrm>
          <a:off x="6222103" y="2896318"/>
          <a:ext cx="1922514" cy="1463040"/>
        </p:xfrm>
        <a:graphic>
          <a:graphicData uri="http://schemas.openxmlformats.org/drawingml/2006/chart">
            <c:chart xmlns:c="http://schemas.openxmlformats.org/drawingml/2006/chart" xmlns:r="http://schemas.openxmlformats.org/officeDocument/2006/relationships" r:id="rId14"/>
          </a:graphicData>
        </a:graphic>
      </p:graphicFrame>
      <p:graphicFrame>
        <p:nvGraphicFramePr>
          <p:cNvPr id="37" name="Chart 36">
            <a:extLst>
              <a:ext uri="{FF2B5EF4-FFF2-40B4-BE49-F238E27FC236}">
                <a16:creationId xmlns:a16="http://schemas.microsoft.com/office/drawing/2014/main" id="{053EADA7-63D3-4FB7-AEF1-4A068EB0E4E5}"/>
              </a:ext>
            </a:extLst>
          </p:cNvPr>
          <p:cNvGraphicFramePr/>
          <p:nvPr/>
        </p:nvGraphicFramePr>
        <p:xfrm>
          <a:off x="7969319" y="2896318"/>
          <a:ext cx="1922514" cy="1463040"/>
        </p:xfrm>
        <a:graphic>
          <a:graphicData uri="http://schemas.openxmlformats.org/drawingml/2006/chart">
            <c:chart xmlns:c="http://schemas.openxmlformats.org/drawingml/2006/chart" xmlns:r="http://schemas.openxmlformats.org/officeDocument/2006/relationships" r:id="rId15"/>
          </a:graphicData>
        </a:graphic>
      </p:graphicFrame>
      <p:sp>
        <p:nvSpPr>
          <p:cNvPr id="38" name="Text Box 2589">
            <a:extLst>
              <a:ext uri="{FF2B5EF4-FFF2-40B4-BE49-F238E27FC236}">
                <a16:creationId xmlns:a16="http://schemas.microsoft.com/office/drawing/2014/main" id="{90A96F6F-82FC-476F-B8FD-FA445699995F}"/>
              </a:ext>
            </a:extLst>
          </p:cNvPr>
          <p:cNvSpPr txBox="1">
            <a:spLocks noChangeArrowheads="1"/>
          </p:cNvSpPr>
          <p:nvPr/>
        </p:nvSpPr>
        <p:spPr bwMode="gray">
          <a:xfrm>
            <a:off x="1087986" y="4392635"/>
            <a:ext cx="1617864" cy="1600438"/>
          </a:xfrm>
          <a:prstGeom prst="rect">
            <a:avLst/>
          </a:prstGeom>
          <a:noFill/>
          <a:ln w="9525" cap="flat" cmpd="sng" algn="ctr">
            <a:noFill/>
            <a:prstDash val="solid"/>
            <a:headEnd/>
            <a:tailEnd/>
          </a:ln>
          <a:effectLst>
            <a:outerShdw blurRad="40000" dist="23000" dir="5400000" rotWithShape="0">
              <a:srgbClr val="000000">
                <a:alpha val="35000"/>
              </a:srgbClr>
            </a:outerShdw>
          </a:effectLst>
        </p:spPr>
        <p:txBody>
          <a:bodyPr wrap="square" lIns="0" tIns="0" rIns="0" bIns="0" anchor="t" anchorCtr="0">
            <a:spAutoFit/>
          </a:bodyPr>
          <a:lstStyle>
            <a:defPPr>
              <a:defRPr lang="en-US"/>
            </a:defPPr>
            <a:lvl1pPr marL="227013" lvl="0" indent="-227013" algn="just" defTabSz="457200" eaLnBrk="0" hangingPunct="0">
              <a:buClr>
                <a:srgbClr val="BE050A"/>
              </a:buClr>
              <a:buFont typeface="Wingdings" pitchFamily="2" charset="2"/>
              <a:buChar char="n"/>
              <a:tabLst>
                <a:tab pos="1371600" algn="l"/>
              </a:tabLst>
              <a:defRPr sz="1000" kern="0">
                <a:ea typeface="+mj-ea"/>
              </a:defRPr>
            </a:lvl1pPr>
          </a:lstStyle>
          <a:p>
            <a:pPr marL="109538" indent="-109538" algn="l">
              <a:buFont typeface="Wingdings" panose="05000000000000000000" pitchFamily="2" charset="2"/>
              <a:buChar char="§"/>
            </a:pP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The group currently manages more than 26 million </a:t>
            </a:r>
            <a:r>
              <a:rPr lang="en-US" altLang="zh-CN" sz="800" dirty="0" err="1">
                <a:solidFill>
                  <a:sysClr val="windowText" lastClr="000000"/>
                </a:solidFill>
                <a:latin typeface="Calibri" panose="020F0502020204030204" pitchFamily="34" charset="0"/>
                <a:ea typeface="華康簡楷" pitchFamily="65" charset="-120"/>
                <a:cs typeface="Calibri" panose="020F0502020204030204" pitchFamily="34" charset="0"/>
              </a:rPr>
              <a:t>sq</a:t>
            </a: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 ft of space and is growing at an annual rate of 35%, which translates to a total of 48 warehouses with more than 8,500 employees</a:t>
            </a:r>
          </a:p>
          <a:p>
            <a:pPr marL="109538" indent="-109538" algn="l">
              <a:buFont typeface="Wingdings" panose="05000000000000000000" pitchFamily="2" charset="2"/>
              <a:buChar char="§"/>
            </a:pP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Strong existence in the China and ASEAN market, with operations in countries such as India, Indonesia, Malaysia, Thailand, and Vietnam, handling more than 2.5 million SKU and 19 billion pieces of items per annum</a:t>
            </a:r>
          </a:p>
        </p:txBody>
      </p:sp>
      <p:sp>
        <p:nvSpPr>
          <p:cNvPr id="39" name="Text Box 2589">
            <a:extLst>
              <a:ext uri="{FF2B5EF4-FFF2-40B4-BE49-F238E27FC236}">
                <a16:creationId xmlns:a16="http://schemas.microsoft.com/office/drawing/2014/main" id="{CCDFDA53-8B89-4F36-97E7-A14E9315339C}"/>
              </a:ext>
            </a:extLst>
          </p:cNvPr>
          <p:cNvSpPr txBox="1">
            <a:spLocks noChangeArrowheads="1"/>
          </p:cNvSpPr>
          <p:nvPr/>
        </p:nvSpPr>
        <p:spPr bwMode="gray">
          <a:xfrm>
            <a:off x="2835202" y="4392635"/>
            <a:ext cx="1617864" cy="1354217"/>
          </a:xfrm>
          <a:prstGeom prst="rect">
            <a:avLst/>
          </a:prstGeom>
          <a:noFill/>
          <a:ln w="9525" cap="flat" cmpd="sng" algn="ctr">
            <a:noFill/>
            <a:prstDash val="solid"/>
            <a:headEnd/>
            <a:tailEnd/>
          </a:ln>
          <a:effectLst>
            <a:outerShdw blurRad="40000" dist="23000" dir="5400000" rotWithShape="0">
              <a:srgbClr val="000000">
                <a:alpha val="35000"/>
              </a:srgbClr>
            </a:outerShdw>
          </a:effectLst>
        </p:spPr>
        <p:txBody>
          <a:bodyPr wrap="square" lIns="0" tIns="0" rIns="0" bIns="0" anchor="t" anchorCtr="0">
            <a:spAutoFit/>
          </a:bodyPr>
          <a:lstStyle>
            <a:defPPr>
              <a:defRPr lang="en-US"/>
            </a:defPPr>
            <a:lvl1pPr marL="227013" lvl="0" indent="-227013" algn="just" defTabSz="457200" eaLnBrk="0" hangingPunct="0">
              <a:buClr>
                <a:srgbClr val="BE050A"/>
              </a:buClr>
              <a:buFont typeface="Wingdings" pitchFamily="2" charset="2"/>
              <a:buChar char="n"/>
              <a:tabLst>
                <a:tab pos="1371600" algn="l"/>
              </a:tabLst>
              <a:defRPr sz="1000" kern="0">
                <a:ea typeface="+mj-ea"/>
              </a:defRPr>
            </a:lvl1pPr>
          </a:lstStyle>
          <a:p>
            <a:pPr marL="109538" indent="-109538" algn="l">
              <a:buFont typeface="Wingdings" panose="05000000000000000000" pitchFamily="2" charset="2"/>
              <a:buChar char="§"/>
            </a:pP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The group currently manages more than 60 million </a:t>
            </a:r>
            <a:r>
              <a:rPr lang="en-US" altLang="zh-CN" sz="800" dirty="0" err="1">
                <a:solidFill>
                  <a:sysClr val="windowText" lastClr="000000"/>
                </a:solidFill>
                <a:latin typeface="Calibri" panose="020F0502020204030204" pitchFamily="34" charset="0"/>
                <a:ea typeface="華康簡楷" pitchFamily="65" charset="-120"/>
                <a:cs typeface="Calibri" panose="020F0502020204030204" pitchFamily="34" charset="0"/>
              </a:rPr>
              <a:t>sq</a:t>
            </a: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 ft of land and </a:t>
            </a:r>
            <a:r>
              <a:rPr lang="en-US" altLang="zh-CN" sz="800" dirty="0" err="1">
                <a:solidFill>
                  <a:sysClr val="windowText" lastClr="000000"/>
                </a:solidFill>
                <a:latin typeface="Calibri" panose="020F0502020204030204" pitchFamily="34" charset="0"/>
                <a:ea typeface="華康簡楷" pitchFamily="65" charset="-120"/>
                <a:cs typeface="Calibri" panose="020F0502020204030204" pitchFamily="34" charset="0"/>
              </a:rPr>
              <a:t>logistcis</a:t>
            </a: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 facilities worldwide, with more than 47,000 employees and 10,000 self-owned operating vehicles</a:t>
            </a:r>
          </a:p>
          <a:p>
            <a:pPr marL="109538" indent="-109538" algn="l">
              <a:buFont typeface="Wingdings" panose="05000000000000000000" pitchFamily="2" charset="2"/>
              <a:buChar char="§"/>
            </a:pP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Operations span across the 53 countries and territories, key operating locations include China, Hong Kong, Taiwan, Thailand, Pakistan, and Myanmar</a:t>
            </a:r>
          </a:p>
        </p:txBody>
      </p:sp>
      <p:sp>
        <p:nvSpPr>
          <p:cNvPr id="40" name="Text Box 2589">
            <a:extLst>
              <a:ext uri="{FF2B5EF4-FFF2-40B4-BE49-F238E27FC236}">
                <a16:creationId xmlns:a16="http://schemas.microsoft.com/office/drawing/2014/main" id="{4704B1B8-8B88-4F0C-ADFD-937111154127}"/>
              </a:ext>
            </a:extLst>
          </p:cNvPr>
          <p:cNvSpPr txBox="1">
            <a:spLocks noChangeArrowheads="1"/>
          </p:cNvSpPr>
          <p:nvPr/>
        </p:nvSpPr>
        <p:spPr bwMode="gray">
          <a:xfrm>
            <a:off x="4593798" y="4392635"/>
            <a:ext cx="1617864" cy="1107996"/>
          </a:xfrm>
          <a:prstGeom prst="rect">
            <a:avLst/>
          </a:prstGeom>
          <a:noFill/>
          <a:ln w="9525" cap="flat" cmpd="sng" algn="ctr">
            <a:noFill/>
            <a:prstDash val="solid"/>
            <a:headEnd/>
            <a:tailEnd/>
          </a:ln>
          <a:effectLst>
            <a:outerShdw blurRad="40000" dist="23000" dir="5400000" rotWithShape="0">
              <a:srgbClr val="000000">
                <a:alpha val="35000"/>
              </a:srgbClr>
            </a:outerShdw>
          </a:effectLst>
        </p:spPr>
        <p:txBody>
          <a:bodyPr wrap="square" lIns="0" tIns="0" rIns="0" bIns="0" anchor="t" anchorCtr="0">
            <a:spAutoFit/>
          </a:bodyPr>
          <a:lstStyle>
            <a:defPPr>
              <a:defRPr lang="en-US"/>
            </a:defPPr>
            <a:lvl1pPr marL="227013" lvl="0" indent="-227013" algn="just" defTabSz="457200" eaLnBrk="0" hangingPunct="0">
              <a:buClr>
                <a:srgbClr val="BE050A"/>
              </a:buClr>
              <a:buFont typeface="Wingdings" pitchFamily="2" charset="2"/>
              <a:buChar char="n"/>
              <a:tabLst>
                <a:tab pos="1371600" algn="l"/>
              </a:tabLst>
              <a:defRPr sz="1000" kern="0">
                <a:ea typeface="+mj-ea"/>
              </a:defRPr>
            </a:lvl1pPr>
          </a:lstStyle>
          <a:p>
            <a:pPr marL="109538" indent="-109538" algn="l">
              <a:buFont typeface="Wingdings" panose="05000000000000000000" pitchFamily="2" charset="2"/>
              <a:buChar char="§"/>
            </a:pP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The group currently manages 99 million </a:t>
            </a:r>
            <a:r>
              <a:rPr lang="en-US" altLang="zh-CN" sz="800" dirty="0" err="1">
                <a:solidFill>
                  <a:sysClr val="windowText" lastClr="000000"/>
                </a:solidFill>
                <a:latin typeface="Calibri" panose="020F0502020204030204" pitchFamily="34" charset="0"/>
                <a:ea typeface="華康簡楷" pitchFamily="65" charset="-120"/>
                <a:cs typeface="Calibri" panose="020F0502020204030204" pitchFamily="34" charset="0"/>
              </a:rPr>
              <a:t>sq</a:t>
            </a: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 ft of land, 8 river terminals with shoreline resources of about 3,900 meters, with more than 23,000 employees worldwide</a:t>
            </a:r>
          </a:p>
          <a:p>
            <a:pPr marL="109538" indent="-109538" algn="l">
              <a:buFont typeface="Wingdings" panose="05000000000000000000" pitchFamily="2" charset="2"/>
              <a:buChar char="§"/>
            </a:pP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Global network covering all 31 of the China provinces and over 30 countries in Asia, Africa, the Americas, and Europe</a:t>
            </a:r>
          </a:p>
        </p:txBody>
      </p:sp>
      <p:sp>
        <p:nvSpPr>
          <p:cNvPr id="41" name="Text Box 2589">
            <a:extLst>
              <a:ext uri="{FF2B5EF4-FFF2-40B4-BE49-F238E27FC236}">
                <a16:creationId xmlns:a16="http://schemas.microsoft.com/office/drawing/2014/main" id="{CB390320-21DA-4849-9F10-207E1ABF9AA8}"/>
              </a:ext>
            </a:extLst>
          </p:cNvPr>
          <p:cNvSpPr txBox="1">
            <a:spLocks noChangeArrowheads="1"/>
          </p:cNvSpPr>
          <p:nvPr/>
        </p:nvSpPr>
        <p:spPr bwMode="gray">
          <a:xfrm>
            <a:off x="6352394" y="4392635"/>
            <a:ext cx="1617864" cy="1107996"/>
          </a:xfrm>
          <a:prstGeom prst="rect">
            <a:avLst/>
          </a:prstGeom>
          <a:noFill/>
          <a:ln w="9525" cap="flat" cmpd="sng" algn="ctr">
            <a:noFill/>
            <a:prstDash val="solid"/>
            <a:headEnd/>
            <a:tailEnd/>
          </a:ln>
          <a:effectLst>
            <a:outerShdw blurRad="40000" dist="23000" dir="5400000" rotWithShape="0">
              <a:srgbClr val="000000">
                <a:alpha val="35000"/>
              </a:srgbClr>
            </a:outerShdw>
          </a:effectLst>
        </p:spPr>
        <p:txBody>
          <a:bodyPr wrap="square" lIns="0" tIns="0" rIns="0" bIns="0" anchor="t" anchorCtr="0">
            <a:spAutoFit/>
          </a:bodyPr>
          <a:lstStyle>
            <a:defPPr>
              <a:defRPr lang="en-US"/>
            </a:defPPr>
            <a:lvl1pPr marL="227013" lvl="0" indent="-227013" algn="just" defTabSz="457200" eaLnBrk="0" hangingPunct="0">
              <a:buClr>
                <a:srgbClr val="BE050A"/>
              </a:buClr>
              <a:buFont typeface="Wingdings" pitchFamily="2" charset="2"/>
              <a:buChar char="n"/>
              <a:tabLst>
                <a:tab pos="1371600" algn="l"/>
              </a:tabLst>
              <a:defRPr sz="1000" kern="0">
                <a:ea typeface="+mj-ea"/>
              </a:defRPr>
            </a:lvl1pPr>
          </a:lstStyle>
          <a:p>
            <a:pPr marL="109538" indent="-109538" algn="l">
              <a:buFont typeface="Wingdings" panose="05000000000000000000" pitchFamily="2" charset="2"/>
              <a:buChar char="§"/>
            </a:pP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The group is the platform for the international business of the YTO Express Group in China, the parent of the group, owning 53 stations with more than 1,130 employees</a:t>
            </a:r>
          </a:p>
          <a:p>
            <a:pPr marL="109538" indent="-109538" algn="l">
              <a:buFont typeface="Wingdings" panose="05000000000000000000" pitchFamily="2" charset="2"/>
              <a:buChar char="§"/>
            </a:pP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Distributes in 15 countries and areas, including China, Hong Kong, the USA, Canada, the Netherlands, and Japan</a:t>
            </a:r>
          </a:p>
        </p:txBody>
      </p:sp>
      <p:sp>
        <p:nvSpPr>
          <p:cNvPr id="42" name="Text Box 2589">
            <a:extLst>
              <a:ext uri="{FF2B5EF4-FFF2-40B4-BE49-F238E27FC236}">
                <a16:creationId xmlns:a16="http://schemas.microsoft.com/office/drawing/2014/main" id="{539A8407-0685-4AD0-BCC0-DD6863CA32B8}"/>
              </a:ext>
            </a:extLst>
          </p:cNvPr>
          <p:cNvSpPr txBox="1">
            <a:spLocks noChangeArrowheads="1"/>
          </p:cNvSpPr>
          <p:nvPr/>
        </p:nvSpPr>
        <p:spPr bwMode="gray">
          <a:xfrm>
            <a:off x="8122583" y="4392635"/>
            <a:ext cx="1459451" cy="1477328"/>
          </a:xfrm>
          <a:prstGeom prst="rect">
            <a:avLst/>
          </a:prstGeom>
          <a:noFill/>
          <a:ln w="9525" cap="flat" cmpd="sng" algn="ctr">
            <a:noFill/>
            <a:prstDash val="solid"/>
            <a:headEnd/>
            <a:tailEnd/>
          </a:ln>
          <a:effectLst>
            <a:outerShdw blurRad="40000" dist="23000" dir="5400000" rotWithShape="0">
              <a:srgbClr val="000000">
                <a:alpha val="35000"/>
              </a:srgbClr>
            </a:outerShdw>
          </a:effectLst>
        </p:spPr>
        <p:txBody>
          <a:bodyPr wrap="square" lIns="0" tIns="0" rIns="0" bIns="0" anchor="t" anchorCtr="0">
            <a:spAutoFit/>
          </a:bodyPr>
          <a:lstStyle>
            <a:defPPr>
              <a:defRPr lang="en-US"/>
            </a:defPPr>
            <a:lvl1pPr marL="227013" lvl="0" indent="-227013" algn="just" defTabSz="457200" eaLnBrk="0" hangingPunct="0">
              <a:buClr>
                <a:srgbClr val="BE050A"/>
              </a:buClr>
              <a:buFont typeface="Wingdings" pitchFamily="2" charset="2"/>
              <a:buChar char="n"/>
              <a:tabLst>
                <a:tab pos="1371600" algn="l"/>
              </a:tabLst>
              <a:defRPr sz="1000" kern="0">
                <a:ea typeface="+mj-ea"/>
              </a:defRPr>
            </a:lvl1pPr>
          </a:lstStyle>
          <a:p>
            <a:pPr marL="109538" indent="-109538" algn="l">
              <a:buFont typeface="Wingdings" panose="05000000000000000000" pitchFamily="2" charset="2"/>
              <a:buChar char="§"/>
            </a:pP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The group is the leading express delivery service provider in China, currently manages 1,100 </a:t>
            </a:r>
            <a:r>
              <a:rPr lang="en-US" altLang="zh-CN" sz="800" dirty="0" err="1">
                <a:solidFill>
                  <a:sysClr val="windowText" lastClr="000000"/>
                </a:solidFill>
                <a:latin typeface="Calibri" panose="020F0502020204030204" pitchFamily="34" charset="0"/>
                <a:ea typeface="華康簡楷" pitchFamily="65" charset="-120"/>
                <a:cs typeface="Calibri" panose="020F0502020204030204" pitchFamily="34" charset="0"/>
              </a:rPr>
              <a:t>sq</a:t>
            </a: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 ft of land, in the form of 521 warehouses of varying sizes and other properties in China</a:t>
            </a:r>
          </a:p>
          <a:p>
            <a:pPr marL="109538" indent="-109538" algn="l">
              <a:buFont typeface="Wingdings" panose="05000000000000000000" pitchFamily="2" charset="2"/>
              <a:buChar char="§"/>
            </a:pPr>
            <a:r>
              <a:rPr lang="en-US" altLang="zh-CN" sz="800" dirty="0">
                <a:solidFill>
                  <a:sysClr val="windowText" lastClr="000000"/>
                </a:solidFill>
                <a:latin typeface="Calibri" panose="020F0502020204030204" pitchFamily="34" charset="0"/>
                <a:ea typeface="華康簡楷" pitchFamily="65" charset="-120"/>
                <a:cs typeface="Calibri" panose="020F0502020204030204" pitchFamily="34" charset="0"/>
              </a:rPr>
              <a:t>International delivery and logistics covers 54 countries, including the USA, the EU market, Russia, Canada, Japan, Korea, the ASEAN market, and many more</a:t>
            </a:r>
          </a:p>
        </p:txBody>
      </p:sp>
    </p:spTree>
    <p:extLst>
      <p:ext uri="{BB962C8B-B14F-4D97-AF65-F5344CB8AC3E}">
        <p14:creationId xmlns:p14="http://schemas.microsoft.com/office/powerpoint/2010/main" val="42385803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AEF68B7D-5ADF-4114-936A-661D4AAA9A3E}"/>
              </a:ext>
            </a:extLst>
          </p:cNvPr>
          <p:cNvSpPr txBox="1">
            <a:spLocks/>
          </p:cNvSpPr>
          <p:nvPr/>
        </p:nvSpPr>
        <p:spPr bwMode="auto">
          <a:xfrm>
            <a:off x="452438" y="406764"/>
            <a:ext cx="9207917" cy="533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marL="342900" indent="-342900" algn="l" rtl="0" eaLnBrk="1" fontAlgn="base" hangingPunct="1">
              <a:spcBef>
                <a:spcPct val="0"/>
              </a:spcBef>
              <a:spcAft>
                <a:spcPct val="0"/>
              </a:spcAft>
              <a:defRPr b="1">
                <a:solidFill>
                  <a:schemeClr val="tx1"/>
                </a:solidFill>
                <a:latin typeface="+mn-lt"/>
                <a:ea typeface="+mj-ea"/>
                <a:cs typeface="+mj-cs"/>
              </a:defRPr>
            </a:lvl1pPr>
            <a:lvl2pPr algn="l" rtl="0" eaLnBrk="1" fontAlgn="base" hangingPunct="1">
              <a:spcBef>
                <a:spcPct val="0"/>
              </a:spcBef>
              <a:spcAft>
                <a:spcPct val="0"/>
              </a:spcAft>
              <a:defRPr b="1">
                <a:solidFill>
                  <a:schemeClr val="tx1"/>
                </a:solidFill>
                <a:latin typeface="Calibri" pitchFamily="34" charset="0"/>
              </a:defRPr>
            </a:lvl2pPr>
            <a:lvl3pPr algn="l" rtl="0" eaLnBrk="1" fontAlgn="base" hangingPunct="1">
              <a:spcBef>
                <a:spcPct val="0"/>
              </a:spcBef>
              <a:spcAft>
                <a:spcPct val="0"/>
              </a:spcAft>
              <a:defRPr b="1">
                <a:solidFill>
                  <a:schemeClr val="tx1"/>
                </a:solidFill>
                <a:latin typeface="Calibri" pitchFamily="34" charset="0"/>
              </a:defRPr>
            </a:lvl3pPr>
            <a:lvl4pPr algn="l" rtl="0" eaLnBrk="1" fontAlgn="base" hangingPunct="1">
              <a:spcBef>
                <a:spcPct val="0"/>
              </a:spcBef>
              <a:spcAft>
                <a:spcPct val="0"/>
              </a:spcAft>
              <a:defRPr b="1">
                <a:solidFill>
                  <a:schemeClr val="tx1"/>
                </a:solidFill>
                <a:latin typeface="Calibri" pitchFamily="34" charset="0"/>
              </a:defRPr>
            </a:lvl4pPr>
            <a:lvl5pPr algn="l" rtl="0" eaLnBrk="1" fontAlgn="base" hangingPunct="1">
              <a:spcBef>
                <a:spcPct val="0"/>
              </a:spcBef>
              <a:spcAft>
                <a:spcPct val="0"/>
              </a:spcAft>
              <a:defRPr b="1">
                <a:solidFill>
                  <a:schemeClr val="tx1"/>
                </a:solidFill>
                <a:latin typeface="Calibri" pitchFamily="34" charset="0"/>
              </a:defRPr>
            </a:lvl5pPr>
            <a:lvl6pPr marL="457200" algn="l" rtl="0" eaLnBrk="1" fontAlgn="base" hangingPunct="1">
              <a:spcBef>
                <a:spcPct val="0"/>
              </a:spcBef>
              <a:spcAft>
                <a:spcPct val="0"/>
              </a:spcAft>
              <a:defRPr sz="2800" b="1">
                <a:solidFill>
                  <a:schemeClr val="tx1"/>
                </a:solidFill>
                <a:latin typeface="Calibri" pitchFamily="34" charset="0"/>
              </a:defRPr>
            </a:lvl6pPr>
            <a:lvl7pPr marL="914400" algn="l" rtl="0" eaLnBrk="1" fontAlgn="base" hangingPunct="1">
              <a:spcBef>
                <a:spcPct val="0"/>
              </a:spcBef>
              <a:spcAft>
                <a:spcPct val="0"/>
              </a:spcAft>
              <a:defRPr sz="2800" b="1">
                <a:solidFill>
                  <a:schemeClr val="tx1"/>
                </a:solidFill>
                <a:latin typeface="Calibri" pitchFamily="34" charset="0"/>
              </a:defRPr>
            </a:lvl7pPr>
            <a:lvl8pPr marL="1371600" algn="l" rtl="0" eaLnBrk="1" fontAlgn="base" hangingPunct="1">
              <a:spcBef>
                <a:spcPct val="0"/>
              </a:spcBef>
              <a:spcAft>
                <a:spcPct val="0"/>
              </a:spcAft>
              <a:defRPr sz="2800" b="1">
                <a:solidFill>
                  <a:schemeClr val="tx1"/>
                </a:solidFill>
                <a:latin typeface="Calibri" pitchFamily="34" charset="0"/>
              </a:defRPr>
            </a:lvl8pPr>
            <a:lvl9pPr marL="1828800" algn="l" rtl="0" eaLnBrk="1" fontAlgn="base" hangingPunct="1">
              <a:spcBef>
                <a:spcPct val="0"/>
              </a:spcBef>
              <a:spcAft>
                <a:spcPct val="0"/>
              </a:spcAft>
              <a:defRPr sz="2800" b="1">
                <a:solidFill>
                  <a:schemeClr val="tx1"/>
                </a:solidFill>
                <a:latin typeface="Calibri" pitchFamily="34" charset="0"/>
              </a:defRPr>
            </a:lvl9pPr>
          </a:lstStyle>
          <a:p>
            <a:r>
              <a:rPr lang="en-US" kern="0" dirty="0"/>
              <a:t>Important Notice</a:t>
            </a:r>
          </a:p>
        </p:txBody>
      </p:sp>
    </p:spTree>
    <p:extLst>
      <p:ext uri="{BB962C8B-B14F-4D97-AF65-F5344CB8AC3E}">
        <p14:creationId xmlns:p14="http://schemas.microsoft.com/office/powerpoint/2010/main" val="91894794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heme/theme1.xml><?xml version="1.0" encoding="utf-8"?>
<a:theme xmlns:a="http://schemas.openxmlformats.org/drawingml/2006/main" name="1_Theme1">
  <a:themeElements>
    <a:clrScheme name="Custom 3">
      <a:dk1>
        <a:srgbClr val="000000"/>
      </a:dk1>
      <a:lt1>
        <a:srgbClr val="FFFFFF"/>
      </a:lt1>
      <a:dk2>
        <a:srgbClr val="000000"/>
      </a:dk2>
      <a:lt2>
        <a:srgbClr val="969696"/>
      </a:lt2>
      <a:accent1>
        <a:srgbClr val="BE050A"/>
      </a:accent1>
      <a:accent2>
        <a:srgbClr val="FAD0A9"/>
      </a:accent2>
      <a:accent3>
        <a:srgbClr val="FFFFFF"/>
      </a:accent3>
      <a:accent4>
        <a:srgbClr val="000000"/>
      </a:accent4>
      <a:accent5>
        <a:srgbClr val="DBAAAA"/>
      </a:accent5>
      <a:accent6>
        <a:srgbClr val="E3BC99"/>
      </a:accent6>
      <a:hlink>
        <a:srgbClr val="E59B9D"/>
      </a:hlink>
      <a:folHlink>
        <a:srgbClr val="B2B2B2"/>
      </a:folHlink>
    </a:clrScheme>
    <a:fontScheme name="DBS PPT template 0207">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ln>
          <a:round/>
          <a:headEnd/>
          <a:tailEnd/>
        </a:ln>
      </a:spPr>
      <a:bodyPr lIns="45720" tIns="0" rIns="45720" anchor="ctr"/>
      <a:lstStyle>
        <a:defPPr marL="231775" indent="-112713">
          <a:spcAft>
            <a:spcPts val="600"/>
          </a:spcAft>
          <a:buClr>
            <a:schemeClr val="accent1"/>
          </a:buClr>
          <a:buSzPct val="80000"/>
          <a:buFont typeface="Wingdings" pitchFamily="2" charset="2"/>
          <a:buChar char="§"/>
          <a:defRPr sz="1000" b="1" u="none" dirty="0" smtClean="0"/>
        </a:defPPr>
      </a:lstStyle>
      <a:style>
        <a:lnRef idx="2">
          <a:schemeClr val="accent1"/>
        </a:lnRef>
        <a:fillRef idx="1">
          <a:schemeClr val="lt1"/>
        </a:fillRef>
        <a:effectRef idx="0">
          <a:schemeClr val="accent1"/>
        </a:effectRef>
        <a:fontRef idx="minor">
          <a:schemeClr val="dk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200" b="1" i="0" u="none" strike="noStrike" cap="none" normalizeH="0" baseline="0" smtClean="0">
            <a:ln>
              <a:noFill/>
            </a:ln>
            <a:solidFill>
              <a:schemeClr val="tx1"/>
            </a:solidFill>
            <a:effectLst/>
            <a:latin typeface="Calibri" pitchFamily="34" charset="0"/>
          </a:defRPr>
        </a:defPPr>
      </a:lstStyle>
    </a:lnDef>
    <a:txDef>
      <a:spPr/>
      <a:bodyPr wrap="none" rtlCol="0">
        <a:spAutoFit/>
      </a:bodyPr>
      <a:lstStyle>
        <a:defPPr>
          <a:defRPr sz="1100" b="1" dirty="0" smtClean="0"/>
        </a:defPPr>
      </a:lstStyle>
      <a:style>
        <a:lnRef idx="1">
          <a:schemeClr val="accent1"/>
        </a:lnRef>
        <a:fillRef idx="3">
          <a:schemeClr val="accent1"/>
        </a:fillRef>
        <a:effectRef idx="2">
          <a:schemeClr val="accent1"/>
        </a:effectRef>
        <a:fontRef idx="minor">
          <a:schemeClr val="lt1"/>
        </a:fontRef>
      </a:style>
    </a:txDef>
  </a:objectDefaults>
  <a:extraClrSchemeLst>
    <a:extraClrScheme>
      <a:clrScheme name="DBS PPT template 020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BS PPT template 020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BS PPT template 020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BS PPT template 020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BS PPT template 020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BS PPT template 020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BS PPT template 020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EDB56714D579F478C19C5F19612549C" ma:contentTypeVersion="22" ma:contentTypeDescription="Create a new document." ma:contentTypeScope="" ma:versionID="93bd340cacde07fe2917e7e223c02af2">
  <xsd:schema xmlns:xsd="http://www.w3.org/2001/XMLSchema" xmlns:xs="http://www.w3.org/2001/XMLSchema" xmlns:p="http://schemas.microsoft.com/office/2006/metadata/properties" xmlns:ns2="92b0d9ab-8f7a-473a-8291-8838e1c085e9" xmlns:ns3="d9ece9de-2e42-4e84-b2e6-f70b1482ff80" targetNamespace="http://schemas.microsoft.com/office/2006/metadata/properties" ma:root="true" ma:fieldsID="3688a4bc2e70aad66961a3981a0c0cad" ns2:_="" ns3:_="">
    <xsd:import namespace="92b0d9ab-8f7a-473a-8291-8838e1c085e9"/>
    <xsd:import namespace="d9ece9de-2e42-4e84-b2e6-f70b1482ff8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3:SharedWithUsers" minOccurs="0"/>
                <xsd:element ref="ns3:SharedWithDetails" minOccurs="0"/>
                <xsd:element ref="ns2:MediaServiceGenerationTime" minOccurs="0"/>
                <xsd:element ref="ns2:MediaServiceEventHashCode" minOccurs="0"/>
                <xsd:element ref="ns2:MediaServiceDateTaken"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b0d9ab-8f7a-473a-8291-8838e1c085e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c5afc53d-a465-4c37-9d87-7482417fd67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9ece9de-2e42-4e84-b2e6-f70b1482ff8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154a85d1-65e9-4cd2-8582-19aaa32d319c}" ma:internalName="TaxCatchAll" ma:showField="CatchAllData" ma:web="d9ece9de-2e42-4e84-b2e6-f70b1482ff8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d9ece9de-2e42-4e84-b2e6-f70b1482ff80" xsi:nil="true"/>
    <lcf76f155ced4ddcb4097134ff3c332f xmlns="92b0d9ab-8f7a-473a-8291-8838e1c085e9">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FCD7BC6-28B3-42A4-8B3F-D96ACDD2938D}"/>
</file>

<file path=customXml/itemProps2.xml><?xml version="1.0" encoding="utf-8"?>
<ds:datastoreItem xmlns:ds="http://schemas.openxmlformats.org/officeDocument/2006/customXml" ds:itemID="{9866E4BA-6DD1-474E-AC53-0F0EFE201312}">
  <ds:schemaRefs>
    <ds:schemaRef ds:uri="http://schemas.microsoft.com/office/2006/documentManagement/types"/>
    <ds:schemaRef ds:uri="http://schemas.microsoft.com/office/2006/metadata/properties"/>
    <ds:schemaRef ds:uri="http://purl.org/dc/elements/1.1/"/>
    <ds:schemaRef ds:uri="http://purl.org/dc/dcmitype/"/>
    <ds:schemaRef ds:uri="http://purl.org/dc/terms/"/>
    <ds:schemaRef ds:uri="http://www.w3.org/XML/1998/namespace"/>
    <ds:schemaRef ds:uri="cdee7dca-8dc4-455d-b7b3-c1275be88d27"/>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B6CF1A87-7B1F-4CFE-BB72-D7800C2357F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37043</TotalTime>
  <Words>3982</Words>
  <Application>Microsoft Office PowerPoint</Application>
  <PresentationFormat>A4 Paper (210x297 mm)</PresentationFormat>
  <Paragraphs>738</Paragraphs>
  <Slides>12</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Times New Roman</vt:lpstr>
      <vt:lpstr>Wingdings</vt:lpstr>
      <vt:lpstr>1_Theme1</vt:lpstr>
      <vt:lpstr>LF Logistics</vt:lpstr>
      <vt:lpstr>Agenda</vt:lpstr>
      <vt:lpstr>Leading Pan-Asia Logistics Platform with Strong Asian Presence</vt:lpstr>
      <vt:lpstr>Growing eCommerce to Boost Asian Logistics Volume</vt:lpstr>
      <vt:lpstr>Innovative Digitalization to Create Competitive Advantage over Competitors</vt:lpstr>
      <vt:lpstr>Distinctive Parental Support to Enable Competitive Advantages</vt:lpstr>
      <vt:lpstr>Proven Track Record in Strong Growth in Revenue and Consistently High Margins</vt:lpstr>
      <vt:lpstr>Agenda</vt:lpstr>
      <vt:lpstr>Comparable Companies Trading Statistics – Core and ASEAN Comparable Companies</vt:lpstr>
      <vt:lpstr>Comparable Companies Trading Statistics – International Comparable Companies</vt:lpstr>
      <vt:lpstr>Core Comparable Companies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Eureka - Discussion Materials</dc:title>
  <dc:creator>DBS</dc:creator>
  <cp:lastModifiedBy>DBS</cp:lastModifiedBy>
  <cp:revision>4401</cp:revision>
  <cp:lastPrinted>2018-07-04T10:26:34Z</cp:lastPrinted>
  <dcterms:modified xsi:type="dcterms:W3CDTF">2019-09-08T16:16:22Z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0x010100CEDB56714D579F478C19C5F19612549C</vt:lpwstr>
  </property>
</Properties>
</file>