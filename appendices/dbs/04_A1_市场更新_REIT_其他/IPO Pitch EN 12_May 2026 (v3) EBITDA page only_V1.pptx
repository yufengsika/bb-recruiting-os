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93" r:id="rId4"/>
  </p:sldMasterIdLst>
  <p:notesMasterIdLst>
    <p:notesMasterId r:id="rId7"/>
  </p:notesMasterIdLst>
  <p:handoutMasterIdLst>
    <p:handoutMasterId r:id="rId8"/>
  </p:handoutMasterIdLst>
  <p:sldIdLst>
    <p:sldId id="2147481768" r:id="rId5"/>
    <p:sldId id="2147481769" r:id="rId6"/>
  </p:sldIdLst>
  <p:sldSz cx="9906000" cy="6858000" type="A4"/>
  <p:notesSz cx="9939338" cy="6807200"/>
  <p:custDataLst>
    <p:tags r:id="rId9"/>
  </p:custDataLst>
  <p:defaultTextStyle>
    <a:defPPr>
      <a:defRPr lang="en-US"/>
    </a:defPPr>
    <a:lvl1pPr algn="l" rtl="0" fontAlgn="base">
      <a:spcBef>
        <a:spcPct val="0"/>
      </a:spcBef>
      <a:spcAft>
        <a:spcPct val="0"/>
      </a:spcAft>
      <a:defRPr sz="2400" b="1" kern="1200">
        <a:solidFill>
          <a:schemeClr val="bg2"/>
        </a:solidFill>
        <a:latin typeface="Arial" charset="0"/>
        <a:ea typeface="+mn-ea"/>
        <a:cs typeface="Arial" charset="0"/>
      </a:defRPr>
    </a:lvl1pPr>
    <a:lvl2pPr marL="457200" algn="l" rtl="0" fontAlgn="base">
      <a:spcBef>
        <a:spcPct val="0"/>
      </a:spcBef>
      <a:spcAft>
        <a:spcPct val="0"/>
      </a:spcAft>
      <a:defRPr sz="2400" b="1" kern="1200">
        <a:solidFill>
          <a:schemeClr val="bg2"/>
        </a:solidFill>
        <a:latin typeface="Arial" charset="0"/>
        <a:ea typeface="+mn-ea"/>
        <a:cs typeface="Arial" charset="0"/>
      </a:defRPr>
    </a:lvl2pPr>
    <a:lvl3pPr marL="914400" algn="l" rtl="0" fontAlgn="base">
      <a:spcBef>
        <a:spcPct val="0"/>
      </a:spcBef>
      <a:spcAft>
        <a:spcPct val="0"/>
      </a:spcAft>
      <a:defRPr sz="2400" b="1" kern="1200">
        <a:solidFill>
          <a:schemeClr val="bg2"/>
        </a:solidFill>
        <a:latin typeface="Arial" charset="0"/>
        <a:ea typeface="+mn-ea"/>
        <a:cs typeface="Arial" charset="0"/>
      </a:defRPr>
    </a:lvl3pPr>
    <a:lvl4pPr marL="1371600" algn="l" rtl="0" fontAlgn="base">
      <a:spcBef>
        <a:spcPct val="0"/>
      </a:spcBef>
      <a:spcAft>
        <a:spcPct val="0"/>
      </a:spcAft>
      <a:defRPr sz="2400" b="1" kern="1200">
        <a:solidFill>
          <a:schemeClr val="bg2"/>
        </a:solidFill>
        <a:latin typeface="Arial" charset="0"/>
        <a:ea typeface="+mn-ea"/>
        <a:cs typeface="Arial" charset="0"/>
      </a:defRPr>
    </a:lvl4pPr>
    <a:lvl5pPr marL="1828800" algn="l" rtl="0" fontAlgn="base">
      <a:spcBef>
        <a:spcPct val="0"/>
      </a:spcBef>
      <a:spcAft>
        <a:spcPct val="0"/>
      </a:spcAft>
      <a:defRPr sz="2400" b="1" kern="1200">
        <a:solidFill>
          <a:schemeClr val="bg2"/>
        </a:solidFill>
        <a:latin typeface="Arial" charset="0"/>
        <a:ea typeface="+mn-ea"/>
        <a:cs typeface="Arial" charset="0"/>
      </a:defRPr>
    </a:lvl5pPr>
    <a:lvl6pPr marL="2286000" algn="l" defTabSz="914400" rtl="0" eaLnBrk="1" latinLnBrk="0" hangingPunct="1">
      <a:defRPr sz="2400" b="1" kern="1200">
        <a:solidFill>
          <a:schemeClr val="bg2"/>
        </a:solidFill>
        <a:latin typeface="Arial" charset="0"/>
        <a:ea typeface="+mn-ea"/>
        <a:cs typeface="Arial" charset="0"/>
      </a:defRPr>
    </a:lvl6pPr>
    <a:lvl7pPr marL="2743200" algn="l" defTabSz="914400" rtl="0" eaLnBrk="1" latinLnBrk="0" hangingPunct="1">
      <a:defRPr sz="2400" b="1" kern="1200">
        <a:solidFill>
          <a:schemeClr val="bg2"/>
        </a:solidFill>
        <a:latin typeface="Arial" charset="0"/>
        <a:ea typeface="+mn-ea"/>
        <a:cs typeface="Arial" charset="0"/>
      </a:defRPr>
    </a:lvl7pPr>
    <a:lvl8pPr marL="3200400" algn="l" defTabSz="914400" rtl="0" eaLnBrk="1" latinLnBrk="0" hangingPunct="1">
      <a:defRPr sz="2400" b="1" kern="1200">
        <a:solidFill>
          <a:schemeClr val="bg2"/>
        </a:solidFill>
        <a:latin typeface="Arial" charset="0"/>
        <a:ea typeface="+mn-ea"/>
        <a:cs typeface="Arial" charset="0"/>
      </a:defRPr>
    </a:lvl8pPr>
    <a:lvl9pPr marL="3657600" algn="l" defTabSz="914400" rtl="0" eaLnBrk="1" latinLnBrk="0" hangingPunct="1">
      <a:defRPr sz="2400" b="1" kern="1200">
        <a:solidFill>
          <a:schemeClr val="bg2"/>
        </a:solidFill>
        <a:latin typeface="Arial" charset="0"/>
        <a:ea typeface="+mn-ea"/>
        <a:cs typeface="Arial" charset="0"/>
      </a:defRPr>
    </a:lvl9pPr>
  </p:defaultTextStyle>
  <p:extLst>
    <p:ext uri="{521415D9-36F7-43E2-AB2F-B90AF26B5E84}">
      <p14:sectionLst xmlns:p14="http://schemas.microsoft.com/office/powerpoint/2010/main">
        <p14:section name="Cover" id="{91EB6834-7DBC-422E-8CDE-5AFB98B52257}">
          <p14:sldIdLst/>
        </p14:section>
        <p14:section name="Table of Contents" id="{404BBF60-BD6B-43D5-A5F4-4ED8E6036518}">
          <p14:sldIdLst/>
        </p14:section>
        <p14:section name="1. Executive Summary" id="{0C55AB52-D51F-4986-88C6-63A11102CB93}">
          <p14:sldIdLst/>
        </p14:section>
        <p14:section name="2. Why DBS as the Best Equity Partner" id="{303B942D-D8CB-49A1-8AB8-3FC4C56628C6}">
          <p14:sldIdLst/>
        </p14:section>
        <p14:section name="3. [Target Investors]" id="{23CB12A1-266C-4A7F-A8BC-0F6AAAB9E8E1}">
          <p14:sldIdLst/>
        </p14:section>
        <p14:section name="4. The Drivers Behind AS Watson Group’s Premium Valuation" id="{993D44D7-5677-41C7-A84B-129F9E115833}">
          <p14:sldIdLst/>
        </p14:section>
        <p14:section name="5. Indicative Valuation" id="{4733C03F-C0E5-4933-A605-D49F32931265}">
          <p14:sldIdLst>
            <p14:sldId id="2147481768"/>
            <p14:sldId id="2147481769"/>
          </p14:sldIdLst>
        </p14:section>
        <p14:section name="I. ECM update" id="{72C08B76-772D-4081-86DD-C5EB4CC16C9E}">
          <p14:sldIdLst/>
        </p14:section>
        <p14:section name="II. Investor Coverage" id="{122E85A7-3204-45DD-9FD7-C7A6E92BAF41}">
          <p14:sldIdLst/>
        </p14:section>
        <p14:section name="III. Listing Venue Comparison" id="{E9462A65-42C8-43AB-9661-0BED078D6376}">
          <p14:sldIdLst/>
        </p14:section>
        <p14:section name="IV. DBS Full Credentials" id="{4C230E48-E295-4A3E-81AD-80AB4C91D45A}">
          <p14:sldIdLst/>
        </p14:section>
        <p14:section name="V. DBS Case Studies" id="{AF8E860D-C53F-4EAC-97DE-7FA1BDA970A9}">
          <p14:sldIdLst/>
        </p14:section>
        <p14:section name="End" id="{E6081CCC-1B44-4331-B888-3E2159F059D0}">
          <p14:sldIdLst/>
        </p14:section>
      </p14:sectionLst>
    </p:ext>
    <p:ext uri="{EFAFB233-063F-42B5-8137-9DF3F51BA10A}">
      <p15:sldGuideLst xmlns:p15="http://schemas.microsoft.com/office/powerpoint/2012/main">
        <p15:guide id="24" orient="horz" pos="663" userDrawn="1">
          <p15:clr>
            <a:srgbClr val="A4A3A4"/>
          </p15:clr>
        </p15:guide>
        <p15:guide id="25" pos="240" userDrawn="1">
          <p15:clr>
            <a:srgbClr val="A4A3A4"/>
          </p15:clr>
        </p15:guide>
        <p15:guide id="26" pos="6000" userDrawn="1">
          <p15:clr>
            <a:srgbClr val="A4A3A4"/>
          </p15:clr>
        </p15:guide>
        <p15:guide id="27" pos="2760" userDrawn="1">
          <p15:clr>
            <a:srgbClr val="A4A3A4"/>
          </p15:clr>
        </p15:guide>
        <p15:guide id="28" pos="3048" userDrawn="1">
          <p15:clr>
            <a:srgbClr val="A4A3A4"/>
          </p15:clr>
        </p15:guide>
      </p15:sldGuideLst>
    </p:ext>
    <p:ext uri="{2D200454-40CA-4A62-9FC3-DE9A4176ACB9}">
      <p15:notesGuideLst xmlns:p15="http://schemas.microsoft.com/office/powerpoint/2012/main">
        <p15:guide id="1" orient="horz" pos="2144" userDrawn="1">
          <p15:clr>
            <a:srgbClr val="A4A3A4"/>
          </p15:clr>
        </p15:guide>
        <p15:guide id="2" pos="3133"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A7FD4A-1466-686D-1CB8-830C5295FA14}" name="DBS Harry" initials="DBS Harry" userId="DBS Harry"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FEF"/>
    <a:srgbClr val="FC9A9C"/>
    <a:srgbClr val="E59B9D"/>
    <a:srgbClr val="A6A6A6"/>
    <a:srgbClr val="E21736"/>
    <a:srgbClr val="FFFFFF"/>
    <a:srgbClr val="FEF8EA"/>
    <a:srgbClr val="3F3F3F"/>
    <a:srgbClr val="C00000"/>
    <a:srgbClr val="6262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1B81EA-2489-483C-8EEB-71E3197C4110}" v="17" dt="2026-06-04T11:56:04.0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p:scale>
          <a:sx n="93" d="100"/>
          <a:sy n="93" d="100"/>
        </p:scale>
        <p:origin x="1308" y="-486"/>
      </p:cViewPr>
      <p:guideLst>
        <p:guide orient="horz" pos="663"/>
        <p:guide pos="240"/>
        <p:guide pos="6000"/>
        <p:guide pos="2760"/>
        <p:guide pos="3048"/>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144"/>
        <p:guide pos="313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 Id="rId14"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Series 1</c:v>
                </c:pt>
              </c:strCache>
            </c:strRef>
          </c:tx>
          <c:spPr>
            <a:noFill/>
            <a:ln>
              <a:noFill/>
            </a:ln>
            <a:effectLst/>
          </c:spPr>
          <c:invertIfNegative val="0"/>
          <c:cat>
            <c:numRef>
              <c:f>Sheet1!$A$2:$A$3</c:f>
              <c:numCache>
                <c:formatCode>General</c:formatCode>
                <c:ptCount val="2"/>
              </c:numCache>
            </c:numRef>
          </c:cat>
          <c:val>
            <c:numRef>
              <c:f>Sheet1!$B$2:$B$3</c:f>
              <c:numCache>
                <c:formatCode>General</c:formatCode>
                <c:ptCount val="2"/>
                <c:pt idx="0">
                  <c:v>0.9</c:v>
                </c:pt>
                <c:pt idx="1">
                  <c:v>0.9</c:v>
                </c:pt>
              </c:numCache>
            </c:numRef>
          </c:val>
          <c:extLst>
            <c:ext xmlns:c16="http://schemas.microsoft.com/office/drawing/2014/chart" uri="{C3380CC4-5D6E-409C-BE32-E72D297353CC}">
              <c16:uniqueId val="{00000000-503F-4AF8-A3F8-39E3B52CF5D9}"/>
            </c:ext>
          </c:extLst>
        </c:ser>
        <c:ser>
          <c:idx val="1"/>
          <c:order val="1"/>
          <c:tx>
            <c:strRef>
              <c:f>Sheet1!$C$1</c:f>
              <c:strCache>
                <c:ptCount val="1"/>
                <c:pt idx="0">
                  <c:v>Series 2</c:v>
                </c:pt>
              </c:strCache>
            </c:strRef>
          </c:tx>
          <c:spPr>
            <a:pattFill prst="wdUpDiag">
              <a:fgClr>
                <a:schemeClr val="bg1">
                  <a:lumMod val="85000"/>
                </a:schemeClr>
              </a:fgClr>
              <a:bgClr>
                <a:schemeClr val="bg1"/>
              </a:bgClr>
            </a:pattFill>
            <a:ln>
              <a:noFill/>
            </a:ln>
            <a:effectLst/>
          </c:spPr>
          <c:invertIfNegative val="0"/>
          <c:dPt>
            <c:idx val="1"/>
            <c:invertIfNegative val="0"/>
            <c:bubble3D val="0"/>
            <c:spPr>
              <a:noFill/>
              <a:ln>
                <a:noFill/>
              </a:ln>
              <a:effectLst/>
            </c:spPr>
            <c:extLst>
              <c:ext xmlns:c16="http://schemas.microsoft.com/office/drawing/2014/chart" uri="{C3380CC4-5D6E-409C-BE32-E72D297353CC}">
                <c16:uniqueId val="{00000003-503F-4AF8-A3F8-39E3B52CF5D9}"/>
              </c:ext>
            </c:extLst>
          </c:dPt>
          <c:cat>
            <c:numRef>
              <c:f>Sheet1!$A$2:$A$3</c:f>
              <c:numCache>
                <c:formatCode>General</c:formatCode>
                <c:ptCount val="2"/>
              </c:numCache>
            </c:numRef>
          </c:cat>
          <c:val>
            <c:numRef>
              <c:f>Sheet1!$C$2:$C$3</c:f>
              <c:numCache>
                <c:formatCode>General</c:formatCode>
                <c:ptCount val="2"/>
                <c:pt idx="0">
                  <c:v>1.2</c:v>
                </c:pt>
                <c:pt idx="1">
                  <c:v>1.2</c:v>
                </c:pt>
              </c:numCache>
            </c:numRef>
          </c:val>
          <c:extLst>
            <c:ext xmlns:c16="http://schemas.microsoft.com/office/drawing/2014/chart" uri="{C3380CC4-5D6E-409C-BE32-E72D297353CC}">
              <c16:uniqueId val="{00000001-503F-4AF8-A3F8-39E3B52CF5D9}"/>
            </c:ext>
          </c:extLst>
        </c:ser>
        <c:ser>
          <c:idx val="2"/>
          <c:order val="2"/>
          <c:tx>
            <c:strRef>
              <c:f>Sheet1!$D$1</c:f>
              <c:strCache>
                <c:ptCount val="1"/>
                <c:pt idx="0">
                  <c:v>Series 3</c:v>
                </c:pt>
              </c:strCache>
            </c:strRef>
          </c:tx>
          <c:spPr>
            <a:solidFill>
              <a:srgbClr val="C00000"/>
            </a:solidFill>
            <a:ln>
              <a:noFill/>
            </a:ln>
            <a:effectLst/>
          </c:spPr>
          <c:invertIfNegative val="0"/>
          <c:dPt>
            <c:idx val="0"/>
            <c:invertIfNegative val="0"/>
            <c:bubble3D val="0"/>
            <c:spPr>
              <a:pattFill prst="wdUpDiag">
                <a:fgClr>
                  <a:schemeClr val="accent4">
                    <a:lumMod val="20000"/>
                    <a:lumOff val="80000"/>
                  </a:schemeClr>
                </a:fgClr>
                <a:bgClr>
                  <a:schemeClr val="bg1"/>
                </a:bgClr>
              </a:pattFill>
              <a:ln>
                <a:noFill/>
              </a:ln>
              <a:effectLst/>
            </c:spPr>
            <c:extLst>
              <c:ext xmlns:c16="http://schemas.microsoft.com/office/drawing/2014/chart" uri="{C3380CC4-5D6E-409C-BE32-E72D297353CC}">
                <c16:uniqueId val="{00000004-503F-4AF8-A3F8-39E3B52CF5D9}"/>
              </c:ext>
            </c:extLst>
          </c:dPt>
          <c:dPt>
            <c:idx val="1"/>
            <c:invertIfNegative val="0"/>
            <c:bubble3D val="0"/>
            <c:spPr>
              <a:noFill/>
              <a:ln>
                <a:noFill/>
              </a:ln>
              <a:effectLst/>
            </c:spPr>
            <c:extLst>
              <c:ext xmlns:c16="http://schemas.microsoft.com/office/drawing/2014/chart" uri="{C3380CC4-5D6E-409C-BE32-E72D297353CC}">
                <c16:uniqueId val="{00000006-503F-4AF8-A3F8-39E3B52CF5D9}"/>
              </c:ext>
            </c:extLst>
          </c:dPt>
          <c:cat>
            <c:numRef>
              <c:f>Sheet1!$A$2:$A$3</c:f>
              <c:numCache>
                <c:formatCode>General</c:formatCode>
                <c:ptCount val="2"/>
              </c:numCache>
            </c:numRef>
          </c:cat>
          <c:val>
            <c:numRef>
              <c:f>Sheet1!$D$2:$D$3</c:f>
              <c:numCache>
                <c:formatCode>General</c:formatCode>
                <c:ptCount val="2"/>
                <c:pt idx="0">
                  <c:v>0.4</c:v>
                </c:pt>
                <c:pt idx="1">
                  <c:v>0.4</c:v>
                </c:pt>
              </c:numCache>
            </c:numRef>
          </c:val>
          <c:extLst>
            <c:ext xmlns:c16="http://schemas.microsoft.com/office/drawing/2014/chart" uri="{C3380CC4-5D6E-409C-BE32-E72D297353CC}">
              <c16:uniqueId val="{00000002-503F-4AF8-A3F8-39E3B52CF5D9}"/>
            </c:ext>
          </c:extLst>
        </c:ser>
        <c:ser>
          <c:idx val="3"/>
          <c:order val="3"/>
          <c:tx>
            <c:strRef>
              <c:f>Sheet1!$E$1</c:f>
              <c:strCache>
                <c:ptCount val="1"/>
                <c:pt idx="0">
                  <c:v>Series 4</c:v>
                </c:pt>
              </c:strCache>
            </c:strRef>
          </c:tx>
          <c:spPr>
            <a:solidFill>
              <a:srgbClr val="C00000"/>
            </a:solidFill>
            <a:ln>
              <a:noFill/>
            </a:ln>
            <a:effectLst/>
          </c:spPr>
          <c:invertIfNegative val="0"/>
          <c:dPt>
            <c:idx val="0"/>
            <c:invertIfNegative val="0"/>
            <c:bubble3D val="0"/>
            <c:spPr>
              <a:solidFill>
                <a:srgbClr val="FFEFEF"/>
              </a:solidFill>
              <a:ln>
                <a:noFill/>
              </a:ln>
              <a:effectLst/>
            </c:spPr>
            <c:extLst>
              <c:ext xmlns:c16="http://schemas.microsoft.com/office/drawing/2014/chart" uri="{C3380CC4-5D6E-409C-BE32-E72D297353CC}">
                <c16:uniqueId val="{00000009-6DF7-482E-8C02-8A39693C2CA3}"/>
              </c:ext>
            </c:extLst>
          </c:dPt>
          <c:cat>
            <c:numRef>
              <c:f>Sheet1!$A$2:$A$3</c:f>
              <c:numCache>
                <c:formatCode>General</c:formatCode>
                <c:ptCount val="2"/>
              </c:numCache>
            </c:numRef>
          </c:cat>
          <c:val>
            <c:numRef>
              <c:f>Sheet1!$E$2:$E$3</c:f>
              <c:numCache>
                <c:formatCode>General</c:formatCode>
                <c:ptCount val="2"/>
                <c:pt idx="0">
                  <c:v>1.2</c:v>
                </c:pt>
                <c:pt idx="1">
                  <c:v>1.2</c:v>
                </c:pt>
              </c:numCache>
            </c:numRef>
          </c:val>
          <c:extLst>
            <c:ext xmlns:c16="http://schemas.microsoft.com/office/drawing/2014/chart" uri="{C3380CC4-5D6E-409C-BE32-E72D297353CC}">
              <c16:uniqueId val="{00000006-B0D8-423B-9F28-11D2C6014990}"/>
            </c:ext>
          </c:extLst>
        </c:ser>
        <c:ser>
          <c:idx val="4"/>
          <c:order val="4"/>
          <c:tx>
            <c:strRef>
              <c:f>Sheet1!$F$1</c:f>
              <c:strCache>
                <c:ptCount val="1"/>
                <c:pt idx="0">
                  <c:v>Series 5</c:v>
                </c:pt>
              </c:strCache>
            </c:strRef>
          </c:tx>
          <c:spPr>
            <a:solidFill>
              <a:schemeClr val="accent5"/>
            </a:solidFill>
            <a:ln>
              <a:noFill/>
            </a:ln>
            <a:effectLst/>
          </c:spPr>
          <c:invertIfNegative val="0"/>
          <c:dPt>
            <c:idx val="1"/>
            <c:invertIfNegative val="0"/>
            <c:bubble3D val="0"/>
            <c:spPr>
              <a:pattFill prst="wdUpDiag">
                <a:fgClr>
                  <a:schemeClr val="bg1">
                    <a:lumMod val="85000"/>
                  </a:schemeClr>
                </a:fgClr>
                <a:bgClr>
                  <a:schemeClr val="bg1"/>
                </a:bgClr>
              </a:pattFill>
              <a:ln>
                <a:noFill/>
              </a:ln>
              <a:effectLst/>
            </c:spPr>
            <c:extLst>
              <c:ext xmlns:c16="http://schemas.microsoft.com/office/drawing/2014/chart" uri="{C3380CC4-5D6E-409C-BE32-E72D297353CC}">
                <c16:uniqueId val="{00000008-B0D8-423B-9F28-11D2C6014990}"/>
              </c:ext>
            </c:extLst>
          </c:dPt>
          <c:cat>
            <c:numRef>
              <c:f>Sheet1!$A$2:$A$3</c:f>
              <c:numCache>
                <c:formatCode>General</c:formatCode>
                <c:ptCount val="2"/>
              </c:numCache>
            </c:numRef>
          </c:cat>
          <c:val>
            <c:numRef>
              <c:f>Sheet1!$F$2:$F$3</c:f>
              <c:numCache>
                <c:formatCode>General</c:formatCode>
                <c:ptCount val="2"/>
                <c:pt idx="1">
                  <c:v>3.9</c:v>
                </c:pt>
              </c:numCache>
            </c:numRef>
          </c:val>
          <c:extLst>
            <c:ext xmlns:c16="http://schemas.microsoft.com/office/drawing/2014/chart" uri="{C3380CC4-5D6E-409C-BE32-E72D297353CC}">
              <c16:uniqueId val="{00000007-B0D8-423B-9F28-11D2C6014990}"/>
            </c:ext>
          </c:extLst>
        </c:ser>
        <c:dLbls>
          <c:showLegendKey val="0"/>
          <c:showVal val="0"/>
          <c:showCatName val="0"/>
          <c:showSerName val="0"/>
          <c:showPercent val="0"/>
          <c:showBubbleSize val="0"/>
        </c:dLbls>
        <c:gapWidth val="150"/>
        <c:overlap val="100"/>
        <c:axId val="299387103"/>
        <c:axId val="299391903"/>
      </c:barChart>
      <c:catAx>
        <c:axId val="29938710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99391903"/>
        <c:crosses val="autoZero"/>
        <c:auto val="1"/>
        <c:lblAlgn val="ctr"/>
        <c:lblOffset val="100"/>
        <c:noMultiLvlLbl val="0"/>
      </c:catAx>
      <c:valAx>
        <c:axId val="299391903"/>
        <c:scaling>
          <c:orientation val="minMax"/>
        </c:scaling>
        <c:delete val="1"/>
        <c:axPos val="b"/>
        <c:numFmt formatCode="General" sourceLinked="1"/>
        <c:majorTickMark val="none"/>
        <c:minorTickMark val="none"/>
        <c:tickLblPos val="nextTo"/>
        <c:crossAx val="2993871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14" y="14"/>
            <a:ext cx="4308387" cy="340140"/>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lvl1pPr defTabSz="982656">
              <a:defRPr sz="1200" b="0">
                <a:solidFill>
                  <a:schemeClr val="tx1"/>
                </a:solidFill>
              </a:defRPr>
            </a:lvl1pPr>
          </a:lstStyle>
          <a:p>
            <a:endParaRPr lang="en-US"/>
          </a:p>
        </p:txBody>
      </p:sp>
      <p:sp>
        <p:nvSpPr>
          <p:cNvPr id="32771" name="Rectangle 3"/>
          <p:cNvSpPr>
            <a:spLocks noGrp="1" noChangeArrowheads="1"/>
          </p:cNvSpPr>
          <p:nvPr>
            <p:ph type="dt" sz="quarter" idx="1"/>
          </p:nvPr>
        </p:nvSpPr>
        <p:spPr bwMode="auto">
          <a:xfrm>
            <a:off x="5628616" y="14"/>
            <a:ext cx="4308386" cy="340140"/>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lvl1pPr algn="r" defTabSz="982656">
              <a:defRPr sz="1200" b="0">
                <a:solidFill>
                  <a:schemeClr val="tx1"/>
                </a:solidFill>
              </a:defRPr>
            </a:lvl1pPr>
          </a:lstStyle>
          <a:p>
            <a:endParaRPr lang="en-US"/>
          </a:p>
        </p:txBody>
      </p:sp>
      <p:sp>
        <p:nvSpPr>
          <p:cNvPr id="32772" name="Rectangle 4"/>
          <p:cNvSpPr>
            <a:spLocks noGrp="1" noChangeArrowheads="1"/>
          </p:cNvSpPr>
          <p:nvPr>
            <p:ph type="ftr" sz="quarter" idx="2"/>
          </p:nvPr>
        </p:nvSpPr>
        <p:spPr bwMode="auto">
          <a:xfrm>
            <a:off x="14" y="6465966"/>
            <a:ext cx="4308387" cy="340140"/>
          </a:xfrm>
          <a:prstGeom prst="rect">
            <a:avLst/>
          </a:prstGeom>
          <a:noFill/>
          <a:ln w="9525">
            <a:noFill/>
            <a:miter lim="800000"/>
            <a:headEnd/>
            <a:tailEnd/>
          </a:ln>
          <a:effectLst/>
        </p:spPr>
        <p:txBody>
          <a:bodyPr vert="horz" wrap="square" lIns="98230" tIns="49113" rIns="98230" bIns="49113" numCol="1" anchor="b" anchorCtr="0" compatLnSpc="1">
            <a:prstTxWarp prst="textNoShape">
              <a:avLst/>
            </a:prstTxWarp>
          </a:bodyPr>
          <a:lstStyle>
            <a:lvl1pPr defTabSz="982656">
              <a:defRPr sz="1200" b="0">
                <a:solidFill>
                  <a:schemeClr val="tx1"/>
                </a:solidFill>
              </a:defRPr>
            </a:lvl1pPr>
          </a:lstStyle>
          <a:p>
            <a:endParaRPr lang="en-US"/>
          </a:p>
        </p:txBody>
      </p:sp>
      <p:sp>
        <p:nvSpPr>
          <p:cNvPr id="32773" name="Rectangle 5"/>
          <p:cNvSpPr>
            <a:spLocks noGrp="1" noChangeArrowheads="1"/>
          </p:cNvSpPr>
          <p:nvPr>
            <p:ph type="sldNum" sz="quarter" idx="3"/>
          </p:nvPr>
        </p:nvSpPr>
        <p:spPr bwMode="auto">
          <a:xfrm>
            <a:off x="5628616" y="6125827"/>
            <a:ext cx="4308386" cy="340140"/>
          </a:xfrm>
          <a:prstGeom prst="rect">
            <a:avLst/>
          </a:prstGeom>
          <a:noFill/>
          <a:ln w="9525">
            <a:noFill/>
            <a:miter lim="800000"/>
            <a:headEnd/>
            <a:tailEnd/>
          </a:ln>
          <a:effectLst/>
        </p:spPr>
        <p:txBody>
          <a:bodyPr vert="horz" wrap="square" lIns="98230" tIns="49113" rIns="98230" bIns="49113" numCol="1" anchor="b" anchorCtr="0" compatLnSpc="1">
            <a:prstTxWarp prst="textNoShape">
              <a:avLst/>
            </a:prstTxWarp>
          </a:bodyPr>
          <a:lstStyle>
            <a:lvl1pPr algn="r" defTabSz="982656">
              <a:defRPr sz="1200" b="0">
                <a:solidFill>
                  <a:schemeClr val="tx1"/>
                </a:solidFill>
              </a:defRPr>
            </a:lvl1pPr>
          </a:lstStyle>
          <a:p>
            <a:fld id="{6BDA94E7-9D81-40A4-AE72-6D574768819A}"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14" y="14"/>
            <a:ext cx="4308387" cy="340140"/>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lvl1pPr defTabSz="982656">
              <a:defRPr sz="1200" b="0">
                <a:solidFill>
                  <a:schemeClr val="tx1"/>
                </a:solidFill>
              </a:defRPr>
            </a:lvl1pPr>
          </a:lstStyle>
          <a:p>
            <a:endParaRPr lang="en-US"/>
          </a:p>
        </p:txBody>
      </p:sp>
      <p:sp>
        <p:nvSpPr>
          <p:cNvPr id="20483" name="Rectangle 3"/>
          <p:cNvSpPr>
            <a:spLocks noGrp="1" noChangeArrowheads="1"/>
          </p:cNvSpPr>
          <p:nvPr>
            <p:ph type="dt" idx="1"/>
          </p:nvPr>
        </p:nvSpPr>
        <p:spPr bwMode="auto">
          <a:xfrm>
            <a:off x="5628616" y="14"/>
            <a:ext cx="4308386" cy="340140"/>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lvl1pPr algn="r" defTabSz="982656">
              <a:defRPr sz="1200" b="0">
                <a:solidFill>
                  <a:schemeClr val="tx1"/>
                </a:solidFill>
              </a:defRPr>
            </a:lvl1pPr>
          </a:lstStyle>
          <a:p>
            <a:endParaRPr lang="en-US"/>
          </a:p>
        </p:txBody>
      </p:sp>
      <p:sp>
        <p:nvSpPr>
          <p:cNvPr id="49156" name="Rectangle 4"/>
          <p:cNvSpPr>
            <a:spLocks noGrp="1" noRot="1" noChangeAspect="1" noChangeArrowheads="1" noTextEdit="1"/>
          </p:cNvSpPr>
          <p:nvPr>
            <p:ph type="sldImg" idx="2"/>
          </p:nvPr>
        </p:nvSpPr>
        <p:spPr bwMode="auto">
          <a:xfrm>
            <a:off x="3127375" y="511175"/>
            <a:ext cx="3689350" cy="2554288"/>
          </a:xfrm>
          <a:prstGeom prst="rect">
            <a:avLst/>
          </a:prstGeom>
          <a:noFill/>
          <a:ln w="9525">
            <a:solidFill>
              <a:srgbClr val="000000"/>
            </a:solidFill>
            <a:miter lim="800000"/>
            <a:headEnd/>
            <a:tailEnd/>
          </a:ln>
        </p:spPr>
        <p:txBody>
          <a:bodyPr/>
          <a:lstStyle/>
          <a:p>
            <a:endParaRPr lang="en-US"/>
          </a:p>
        </p:txBody>
      </p:sp>
      <p:sp>
        <p:nvSpPr>
          <p:cNvPr id="20485" name="Rectangle 5"/>
          <p:cNvSpPr>
            <a:spLocks noGrp="1" noChangeArrowheads="1"/>
          </p:cNvSpPr>
          <p:nvPr>
            <p:ph type="body" sz="quarter" idx="3"/>
          </p:nvPr>
        </p:nvSpPr>
        <p:spPr bwMode="auto">
          <a:xfrm>
            <a:off x="993718" y="3235210"/>
            <a:ext cx="7951946" cy="3061245"/>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486" name="Rectangle 6"/>
          <p:cNvSpPr>
            <a:spLocks noGrp="1" noChangeArrowheads="1"/>
          </p:cNvSpPr>
          <p:nvPr>
            <p:ph type="ftr" sz="quarter" idx="4"/>
          </p:nvPr>
        </p:nvSpPr>
        <p:spPr bwMode="auto">
          <a:xfrm>
            <a:off x="14" y="6465966"/>
            <a:ext cx="4308387" cy="340140"/>
          </a:xfrm>
          <a:prstGeom prst="rect">
            <a:avLst/>
          </a:prstGeom>
          <a:noFill/>
          <a:ln w="9525">
            <a:noFill/>
            <a:miter lim="800000"/>
            <a:headEnd/>
            <a:tailEnd/>
          </a:ln>
          <a:effectLst/>
        </p:spPr>
        <p:txBody>
          <a:bodyPr vert="horz" wrap="square" lIns="98230" tIns="49113" rIns="98230" bIns="49113" numCol="1" anchor="b" anchorCtr="0" compatLnSpc="1">
            <a:prstTxWarp prst="textNoShape">
              <a:avLst/>
            </a:prstTxWarp>
          </a:bodyPr>
          <a:lstStyle>
            <a:lvl1pPr defTabSz="982656">
              <a:defRPr sz="1200" b="0">
                <a:solidFill>
                  <a:schemeClr val="tx1"/>
                </a:solidFill>
              </a:defRPr>
            </a:lvl1pPr>
          </a:lstStyle>
          <a:p>
            <a:endParaRPr lang="en-US"/>
          </a:p>
        </p:txBody>
      </p:sp>
      <p:sp>
        <p:nvSpPr>
          <p:cNvPr id="20487" name="Rectangle 7"/>
          <p:cNvSpPr>
            <a:spLocks noGrp="1" noChangeArrowheads="1"/>
          </p:cNvSpPr>
          <p:nvPr>
            <p:ph type="sldNum" sz="quarter" idx="5"/>
          </p:nvPr>
        </p:nvSpPr>
        <p:spPr bwMode="auto">
          <a:xfrm>
            <a:off x="5628616" y="6465966"/>
            <a:ext cx="4308386" cy="340140"/>
          </a:xfrm>
          <a:prstGeom prst="rect">
            <a:avLst/>
          </a:prstGeom>
          <a:noFill/>
          <a:ln w="9525">
            <a:noFill/>
            <a:miter lim="800000"/>
            <a:headEnd/>
            <a:tailEnd/>
          </a:ln>
          <a:effectLst/>
        </p:spPr>
        <p:txBody>
          <a:bodyPr vert="horz" wrap="square" lIns="98230" tIns="49113" rIns="98230" bIns="49113" numCol="1" anchor="b" anchorCtr="0" compatLnSpc="1">
            <a:prstTxWarp prst="textNoShape">
              <a:avLst/>
            </a:prstTxWarp>
          </a:bodyPr>
          <a:lstStyle>
            <a:lvl1pPr algn="r" defTabSz="982656">
              <a:defRPr sz="1200" b="0">
                <a:solidFill>
                  <a:schemeClr val="tx1"/>
                </a:solidFill>
              </a:defRPr>
            </a:lvl1pPr>
          </a:lstStyle>
          <a:p>
            <a:fld id="{A4DF32EF-BEE2-467E-A20C-05D0FECFF7E5}"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4DF32EF-BEE2-467E-A20C-05D0FECFF7E5}" type="slidenum">
              <a:rPr lang="en-US" smtClean="0"/>
              <a:pPr/>
              <a:t>1</a:t>
            </a:fld>
            <a:endParaRPr lang="en-US"/>
          </a:p>
        </p:txBody>
      </p:sp>
    </p:spTree>
    <p:extLst>
      <p:ext uri="{BB962C8B-B14F-4D97-AF65-F5344CB8AC3E}">
        <p14:creationId xmlns:p14="http://schemas.microsoft.com/office/powerpoint/2010/main" val="1417156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A3437-9196-F332-4D74-6A26DFBAF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C832E-14F3-38D5-9491-CE52DE433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5AFF74-CE42-5B77-64B6-6DEBB8D55BE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9C1E19D-6787-7229-20AA-EDAC740A8EC9}"/>
              </a:ext>
            </a:extLst>
          </p:cNvPr>
          <p:cNvSpPr>
            <a:spLocks noGrp="1"/>
          </p:cNvSpPr>
          <p:nvPr>
            <p:ph type="sldNum" sz="quarter" idx="5"/>
          </p:nvPr>
        </p:nvSpPr>
        <p:spPr/>
        <p:txBody>
          <a:bodyPr/>
          <a:lstStyle/>
          <a:p>
            <a:fld id="{A4DF32EF-BEE2-467E-A20C-05D0FECFF7E5}" type="slidenum">
              <a:rPr lang="en-US" smtClean="0"/>
              <a:pPr/>
              <a:t>2</a:t>
            </a:fld>
            <a:endParaRPr lang="en-US"/>
          </a:p>
        </p:txBody>
      </p:sp>
    </p:spTree>
    <p:extLst>
      <p:ext uri="{BB962C8B-B14F-4D97-AF65-F5344CB8AC3E}">
        <p14:creationId xmlns:p14="http://schemas.microsoft.com/office/powerpoint/2010/main" val="34185235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5.jpe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image" Target="../media/image5.jpeg"/><Relationship Id="rId4" Type="http://schemas.openxmlformats.org/officeDocument/2006/relationships/image" Target="../media/image6.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rojec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60429F-0317-4315-AEBC-0A8A1CE0110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4782" y="2330824"/>
            <a:ext cx="9913258" cy="4541861"/>
          </a:xfrm>
          <a:prstGeom prst="rect">
            <a:avLst/>
          </a:prstGeom>
        </p:spPr>
      </p:pic>
      <p:sp>
        <p:nvSpPr>
          <p:cNvPr id="11" name="Rectangle 10">
            <a:extLst>
              <a:ext uri="{FF2B5EF4-FFF2-40B4-BE49-F238E27FC236}">
                <a16:creationId xmlns:a16="http://schemas.microsoft.com/office/drawing/2014/main" id="{6BADD47B-3C64-45B6-A75B-52C3AA7E0584}"/>
              </a:ext>
            </a:extLst>
          </p:cNvPr>
          <p:cNvSpPr/>
          <p:nvPr userDrawn="1"/>
        </p:nvSpPr>
        <p:spPr bwMode="auto">
          <a:xfrm flipV="1">
            <a:off x="-3638" y="2097088"/>
            <a:ext cx="9913257" cy="1890938"/>
          </a:xfrm>
          <a:prstGeom prst="rect">
            <a:avLst/>
          </a:prstGeom>
          <a:gradFill>
            <a:gsLst>
              <a:gs pos="67000">
                <a:srgbClr val="FFFFFF"/>
              </a:gs>
              <a:gs pos="53000">
                <a:schemeClr val="bg1"/>
              </a:gs>
              <a:gs pos="93000">
                <a:srgbClr val="FFFFFF"/>
              </a:gs>
              <a:gs pos="100000">
                <a:srgbClr val="FFFFFF">
                  <a:alpha val="0"/>
                </a:srgbClr>
              </a:gs>
              <a:gs pos="0">
                <a:schemeClr val="bg1">
                  <a:alpha val="0"/>
                </a:schemeClr>
              </a:gs>
            </a:gsLst>
            <a:lin ang="5400000" scaled="0"/>
          </a:gradFill>
          <a:ln w="31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200" b="1" i="0" u="none" strike="noStrike" cap="none" normalizeH="0" baseline="0">
              <a:ln>
                <a:noFill/>
              </a:ln>
              <a:solidFill>
                <a:srgbClr val="0000FF"/>
              </a:solidFill>
              <a:effectLst/>
              <a:latin typeface="Calibri" pitchFamily="34" charset="0"/>
            </a:endParaRPr>
          </a:p>
        </p:txBody>
      </p:sp>
      <p:sp>
        <p:nvSpPr>
          <p:cNvPr id="7" name="Text Box 67">
            <a:extLst>
              <a:ext uri="{FF2B5EF4-FFF2-40B4-BE49-F238E27FC236}">
                <a16:creationId xmlns:a16="http://schemas.microsoft.com/office/drawing/2014/main" id="{307AF2EA-BDFA-493A-953F-EA8DF1250779}"/>
              </a:ext>
            </a:extLst>
          </p:cNvPr>
          <p:cNvSpPr txBox="1">
            <a:spLocks noChangeArrowheads="1"/>
          </p:cNvSpPr>
          <p:nvPr userDrawn="1"/>
        </p:nvSpPr>
        <p:spPr bwMode="auto">
          <a:xfrm>
            <a:off x="228600" y="6279964"/>
            <a:ext cx="7264400" cy="339004"/>
          </a:xfrm>
          <a:prstGeom prst="rect">
            <a:avLst/>
          </a:prstGeom>
          <a:noFill/>
          <a:ln w="9525">
            <a:noFill/>
            <a:miter lim="800000"/>
            <a:headEnd/>
            <a:tailEnd/>
          </a:ln>
          <a:effectLst/>
        </p:spPr>
        <p:txBody>
          <a:bodyPr>
            <a:spAutoFit/>
          </a:bodyPr>
          <a:lstStyle/>
          <a:p>
            <a:pPr>
              <a:lnSpc>
                <a:spcPct val="120000"/>
              </a:lnSpc>
              <a:spcBef>
                <a:spcPct val="50000"/>
              </a:spcBef>
            </a:pPr>
            <a:r>
              <a:rPr lang="en-US" altLang="en-US" sz="700" b="0">
                <a:solidFill>
                  <a:schemeClr val="bg1"/>
                </a:solidFill>
                <a:latin typeface="+mj-lt"/>
                <a:cs typeface="Calibri" panose="020F0502020204030204" pitchFamily="34" charset="0"/>
              </a:rPr>
              <a:t>Disclaimer: The information contained in this document is intended only for use during the presentation and should not be disseminated or distributed to parties outside the presentation. DBS Bank accepts no liability whatsoever with respect to the use of this document or its contents.  </a:t>
            </a:r>
            <a:endParaRPr lang="en-GB" altLang="en-US" sz="700" b="0">
              <a:solidFill>
                <a:schemeClr val="bg1"/>
              </a:solidFill>
              <a:latin typeface="+mj-lt"/>
              <a:cs typeface="Calibri" panose="020F0502020204030204" pitchFamily="34" charset="0"/>
            </a:endParaRPr>
          </a:p>
        </p:txBody>
      </p:sp>
      <p:pic>
        <p:nvPicPr>
          <p:cNvPr id="12" name="Picture 11" descr="Graphical user interface&#10;&#10;Description automatically generated with low confidence">
            <a:extLst>
              <a:ext uri="{FF2B5EF4-FFF2-40B4-BE49-F238E27FC236}">
                <a16:creationId xmlns:a16="http://schemas.microsoft.com/office/drawing/2014/main" id="{C4D429B0-DF2F-4D75-A816-A5A31BD25297}"/>
              </a:ext>
            </a:extLst>
          </p:cNvPr>
          <p:cNvPicPr>
            <a:picLocks noChangeAspect="1"/>
          </p:cNvPicPr>
          <p:nvPr userDrawn="1"/>
        </p:nvPicPr>
        <p:blipFill>
          <a:blip r:embed="rId4"/>
          <a:stretch>
            <a:fillRect/>
          </a:stretch>
        </p:blipFill>
        <p:spPr>
          <a:xfrm>
            <a:off x="1" y="755650"/>
            <a:ext cx="1620000" cy="539493"/>
          </a:xfrm>
          <a:prstGeom prst="rect">
            <a:avLst/>
          </a:prstGeom>
        </p:spPr>
      </p:pic>
      <p:grpSp>
        <p:nvGrpSpPr>
          <p:cNvPr id="17" name="Group 16">
            <a:extLst>
              <a:ext uri="{FF2B5EF4-FFF2-40B4-BE49-F238E27FC236}">
                <a16:creationId xmlns:a16="http://schemas.microsoft.com/office/drawing/2014/main" id="{389AE05F-B4B2-46D4-9601-22D0CC358F32}"/>
              </a:ext>
            </a:extLst>
          </p:cNvPr>
          <p:cNvGrpSpPr/>
          <p:nvPr userDrawn="1"/>
        </p:nvGrpSpPr>
        <p:grpSpPr>
          <a:xfrm>
            <a:off x="6247747" y="3220800"/>
            <a:ext cx="3669694" cy="3651885"/>
            <a:chOff x="6247747" y="2666366"/>
            <a:chExt cx="3669694" cy="3651885"/>
          </a:xfrm>
        </p:grpSpPr>
        <p:sp>
          <p:nvSpPr>
            <p:cNvPr id="18" name="Freeform 9">
              <a:extLst>
                <a:ext uri="{FF2B5EF4-FFF2-40B4-BE49-F238E27FC236}">
                  <a16:creationId xmlns:a16="http://schemas.microsoft.com/office/drawing/2014/main" id="{333B7633-01F9-459A-BB39-BAF6980C3F73}"/>
                </a:ext>
              </a:extLst>
            </p:cNvPr>
            <p:cNvSpPr/>
            <p:nvPr userDrawn="1"/>
          </p:nvSpPr>
          <p:spPr>
            <a:xfrm>
              <a:off x="6697980" y="2666366"/>
              <a:ext cx="3219461" cy="3651885"/>
            </a:xfrm>
            <a:custGeom>
              <a:avLst/>
              <a:gdLst>
                <a:gd name="connsiteX0" fmla="*/ 3211209 w 3219461"/>
                <a:gd name="connsiteY0" fmla="*/ 0 h 3651885"/>
                <a:gd name="connsiteX1" fmla="*/ 3219461 w 3219461"/>
                <a:gd name="connsiteY1" fmla="*/ 3651885 h 3651885"/>
                <a:gd name="connsiteX2" fmla="*/ 856413 w 3219461"/>
                <a:gd name="connsiteY2" fmla="*/ 3651885 h 3651885"/>
                <a:gd name="connsiteX3" fmla="*/ 0 w 3219461"/>
                <a:gd name="connsiteY3" fmla="*/ 1486535 h 3651885"/>
              </a:gdLst>
              <a:ahLst/>
              <a:cxnLst>
                <a:cxn ang="0">
                  <a:pos x="connsiteX0" y="connsiteY0"/>
                </a:cxn>
                <a:cxn ang="0">
                  <a:pos x="connsiteX1" y="connsiteY1"/>
                </a:cxn>
                <a:cxn ang="0">
                  <a:pos x="connsiteX2" y="connsiteY2"/>
                </a:cxn>
                <a:cxn ang="0">
                  <a:pos x="connsiteX3" y="connsiteY3"/>
                </a:cxn>
              </a:cxnLst>
              <a:rect l="l" t="t" r="r" b="b"/>
              <a:pathLst>
                <a:path w="3219461" h="3651885">
                  <a:moveTo>
                    <a:pt x="3211209" y="0"/>
                  </a:moveTo>
                  <a:lnTo>
                    <a:pt x="3219461" y="3651885"/>
                  </a:lnTo>
                  <a:lnTo>
                    <a:pt x="856413" y="3651885"/>
                  </a:lnTo>
                  <a:lnTo>
                    <a:pt x="0" y="1486535"/>
                  </a:lnTo>
                  <a:close/>
                </a:path>
              </a:pathLst>
            </a:cu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9" name="Freeform 9">
              <a:extLst>
                <a:ext uri="{FF2B5EF4-FFF2-40B4-BE49-F238E27FC236}">
                  <a16:creationId xmlns:a16="http://schemas.microsoft.com/office/drawing/2014/main" id="{A30F6731-815E-4776-953D-E81B3A104FD4}"/>
                </a:ext>
              </a:extLst>
            </p:cNvPr>
            <p:cNvSpPr>
              <a:spLocks/>
            </p:cNvSpPr>
            <p:nvPr userDrawn="1"/>
          </p:nvSpPr>
          <p:spPr bwMode="auto">
            <a:xfrm rot="5400000">
              <a:off x="6413515" y="3402068"/>
              <a:ext cx="1383616" cy="1715151"/>
            </a:xfrm>
            <a:custGeom>
              <a:avLst/>
              <a:gdLst>
                <a:gd name="T0" fmla="*/ 15 w 138"/>
                <a:gd name="T1" fmla="*/ 152 h 176"/>
                <a:gd name="T2" fmla="*/ 48 w 138"/>
                <a:gd name="T3" fmla="*/ 140 h 176"/>
                <a:gd name="T4" fmla="*/ 56 w 138"/>
                <a:gd name="T5" fmla="*/ 140 h 176"/>
                <a:gd name="T6" fmla="*/ 62 w 138"/>
                <a:gd name="T7" fmla="*/ 146 h 176"/>
                <a:gd name="T8" fmla="*/ 79 w 138"/>
                <a:gd name="T9" fmla="*/ 176 h 176"/>
                <a:gd name="T10" fmla="*/ 79 w 138"/>
                <a:gd name="T11" fmla="*/ 176 h 176"/>
                <a:gd name="T12" fmla="*/ 67 w 138"/>
                <a:gd name="T13" fmla="*/ 143 h 176"/>
                <a:gd name="T14" fmla="*/ 67 w 138"/>
                <a:gd name="T15" fmla="*/ 135 h 176"/>
                <a:gd name="T16" fmla="*/ 73 w 138"/>
                <a:gd name="T17" fmla="*/ 129 h 176"/>
                <a:gd name="T18" fmla="*/ 138 w 138"/>
                <a:gd name="T19" fmla="*/ 97 h 176"/>
                <a:gd name="T20" fmla="*/ 138 w 138"/>
                <a:gd name="T21" fmla="*/ 97 h 176"/>
                <a:gd name="T22" fmla="*/ 70 w 138"/>
                <a:gd name="T23" fmla="*/ 124 h 176"/>
                <a:gd name="T24" fmla="*/ 62 w 138"/>
                <a:gd name="T25" fmla="*/ 124 h 176"/>
                <a:gd name="T26" fmla="*/ 56 w 138"/>
                <a:gd name="T27" fmla="*/ 118 h 176"/>
                <a:gd name="T28" fmla="*/ 0 w 138"/>
                <a:gd name="T29" fmla="*/ 0 h 176"/>
                <a:gd name="T30" fmla="*/ 0 w 138"/>
                <a:gd name="T31" fmla="*/ 0 h 176"/>
                <a:gd name="T32" fmla="*/ 51 w 138"/>
                <a:gd name="T33" fmla="*/ 121 h 176"/>
                <a:gd name="T34" fmla="*/ 51 w 138"/>
                <a:gd name="T35" fmla="*/ 129 h 176"/>
                <a:gd name="T36" fmla="*/ 45 w 138"/>
                <a:gd name="T37" fmla="*/ 135 h 176"/>
                <a:gd name="T38" fmla="*/ 15 w 138"/>
                <a:gd name="T39" fmla="*/ 152 h 176"/>
                <a:gd name="T40" fmla="*/ 15 w 138"/>
                <a:gd name="T41" fmla="*/ 15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8" h="176">
                  <a:moveTo>
                    <a:pt x="15" y="152"/>
                  </a:moveTo>
                  <a:cubicBezTo>
                    <a:pt x="48" y="140"/>
                    <a:pt x="48" y="140"/>
                    <a:pt x="48" y="140"/>
                  </a:cubicBezTo>
                  <a:cubicBezTo>
                    <a:pt x="48" y="140"/>
                    <a:pt x="52" y="138"/>
                    <a:pt x="56" y="140"/>
                  </a:cubicBezTo>
                  <a:cubicBezTo>
                    <a:pt x="60" y="141"/>
                    <a:pt x="62" y="146"/>
                    <a:pt x="62" y="146"/>
                  </a:cubicBezTo>
                  <a:cubicBezTo>
                    <a:pt x="79" y="176"/>
                    <a:pt x="79" y="176"/>
                    <a:pt x="79" y="176"/>
                  </a:cubicBezTo>
                  <a:cubicBezTo>
                    <a:pt x="79" y="176"/>
                    <a:pt x="79" y="176"/>
                    <a:pt x="79" y="176"/>
                  </a:cubicBezTo>
                  <a:cubicBezTo>
                    <a:pt x="67" y="143"/>
                    <a:pt x="67" y="143"/>
                    <a:pt x="67" y="143"/>
                  </a:cubicBezTo>
                  <a:cubicBezTo>
                    <a:pt x="67" y="143"/>
                    <a:pt x="66" y="139"/>
                    <a:pt x="67" y="135"/>
                  </a:cubicBezTo>
                  <a:cubicBezTo>
                    <a:pt x="68" y="131"/>
                    <a:pt x="73" y="129"/>
                    <a:pt x="73" y="129"/>
                  </a:cubicBezTo>
                  <a:cubicBezTo>
                    <a:pt x="138" y="97"/>
                    <a:pt x="138" y="97"/>
                    <a:pt x="138" y="97"/>
                  </a:cubicBezTo>
                  <a:cubicBezTo>
                    <a:pt x="138" y="97"/>
                    <a:pt x="138" y="97"/>
                    <a:pt x="138" y="97"/>
                  </a:cubicBezTo>
                  <a:cubicBezTo>
                    <a:pt x="70" y="124"/>
                    <a:pt x="70" y="124"/>
                    <a:pt x="70" y="124"/>
                  </a:cubicBezTo>
                  <a:cubicBezTo>
                    <a:pt x="70" y="124"/>
                    <a:pt x="66" y="126"/>
                    <a:pt x="62" y="124"/>
                  </a:cubicBezTo>
                  <a:cubicBezTo>
                    <a:pt x="58" y="123"/>
                    <a:pt x="56" y="118"/>
                    <a:pt x="56" y="118"/>
                  </a:cubicBezTo>
                  <a:cubicBezTo>
                    <a:pt x="0" y="0"/>
                    <a:pt x="0" y="0"/>
                    <a:pt x="0" y="0"/>
                  </a:cubicBezTo>
                  <a:cubicBezTo>
                    <a:pt x="0" y="0"/>
                    <a:pt x="0" y="0"/>
                    <a:pt x="0" y="0"/>
                  </a:cubicBezTo>
                  <a:cubicBezTo>
                    <a:pt x="51" y="121"/>
                    <a:pt x="51" y="121"/>
                    <a:pt x="51" y="121"/>
                  </a:cubicBezTo>
                  <a:cubicBezTo>
                    <a:pt x="51" y="121"/>
                    <a:pt x="53" y="125"/>
                    <a:pt x="51" y="129"/>
                  </a:cubicBezTo>
                  <a:cubicBezTo>
                    <a:pt x="50" y="133"/>
                    <a:pt x="45" y="135"/>
                    <a:pt x="45" y="135"/>
                  </a:cubicBezTo>
                  <a:cubicBezTo>
                    <a:pt x="15" y="152"/>
                    <a:pt x="15" y="152"/>
                    <a:pt x="15" y="152"/>
                  </a:cubicBezTo>
                  <a:cubicBezTo>
                    <a:pt x="15" y="152"/>
                    <a:pt x="15" y="152"/>
                    <a:pt x="15" y="152"/>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13" name="Rectangle 2">
            <a:extLst>
              <a:ext uri="{FF2B5EF4-FFF2-40B4-BE49-F238E27FC236}">
                <a16:creationId xmlns:a16="http://schemas.microsoft.com/office/drawing/2014/main" id="{4B9BCE56-0D77-46A7-95A7-0B3C13920617}"/>
              </a:ext>
            </a:extLst>
          </p:cNvPr>
          <p:cNvSpPr>
            <a:spLocks noGrp="1" noChangeArrowheads="1"/>
          </p:cNvSpPr>
          <p:nvPr>
            <p:ph type="ctrTitle"/>
          </p:nvPr>
        </p:nvSpPr>
        <p:spPr>
          <a:xfrm>
            <a:off x="1438939" y="1530952"/>
            <a:ext cx="7200000" cy="432000"/>
          </a:xfrm>
          <a:prstGeom prst="rect">
            <a:avLst/>
          </a:prstGeom>
        </p:spPr>
        <p:txBody>
          <a:bodyPr lIns="0" tIns="0" rIns="0" bIns="0" anchor="ctr" anchorCtr="1"/>
          <a:lstStyle>
            <a:lvl1pPr algn="ctr">
              <a:lnSpc>
                <a:spcPct val="100000"/>
              </a:lnSpc>
              <a:defRPr sz="2800" b="1">
                <a:solidFill>
                  <a:srgbClr val="CC0000"/>
                </a:solidFill>
                <a:latin typeface="Arial" panose="020B0604020202020204" pitchFamily="34" charset="0"/>
                <a:cs typeface="Arial" panose="020B0604020202020204" pitchFamily="34" charset="0"/>
              </a:defRPr>
            </a:lvl1pPr>
          </a:lstStyle>
          <a:p>
            <a:pPr lvl="0"/>
            <a:r>
              <a:rPr lang="en-US" altLang="en-US" noProof="0"/>
              <a:t>Click to edit Master title style</a:t>
            </a:r>
            <a:endParaRPr lang="en-GB" altLang="en-US" noProof="0"/>
          </a:p>
        </p:txBody>
      </p:sp>
      <p:sp>
        <p:nvSpPr>
          <p:cNvPr id="14" name="Rectangle 16">
            <a:extLst>
              <a:ext uri="{FF2B5EF4-FFF2-40B4-BE49-F238E27FC236}">
                <a16:creationId xmlns:a16="http://schemas.microsoft.com/office/drawing/2014/main" id="{7BC465F4-ABBA-4B11-8D75-65D36561FAB6}"/>
              </a:ext>
            </a:extLst>
          </p:cNvPr>
          <p:cNvSpPr>
            <a:spLocks noGrp="1" noChangeArrowheads="1"/>
          </p:cNvSpPr>
          <p:nvPr>
            <p:ph type="subTitle" idx="1"/>
          </p:nvPr>
        </p:nvSpPr>
        <p:spPr>
          <a:xfrm>
            <a:off x="1438939" y="1971992"/>
            <a:ext cx="7200000" cy="360000"/>
          </a:xfrm>
          <a:prstGeom prst="rect">
            <a:avLst/>
          </a:prstGeom>
          <a:extLst>
            <a:ext uri="{909E8E84-426E-40DD-AFC4-6F175D3DCCD1}">
              <a14:hiddenFill xmlns:a14="http://schemas.microsoft.com/office/drawing/2010/main">
                <a:solidFill>
                  <a:schemeClr val="accent1"/>
                </a:solidFill>
              </a14:hiddenFill>
            </a:ext>
          </a:extLst>
        </p:spPr>
        <p:txBody>
          <a:bodyPr lIns="0" tIns="0" rIns="0" bIns="0" anchor="ctr" anchorCtr="1"/>
          <a:lstStyle>
            <a:lvl1pPr marL="0" indent="0" algn="ctr">
              <a:lnSpc>
                <a:spcPct val="100000"/>
              </a:lnSpc>
              <a:buFont typeface="Wingdings" panose="05000000000000000000" pitchFamily="2" charset="2"/>
              <a:buNone/>
              <a:defRPr sz="2000" b="1">
                <a:solidFill>
                  <a:schemeClr val="tx1"/>
                </a:solidFill>
                <a:latin typeface="Arial" panose="020B0604020202020204" pitchFamily="34" charset="0"/>
                <a:cs typeface="Arial" panose="020B0604020202020204" pitchFamily="34" charset="0"/>
              </a:defRPr>
            </a:lvl1pPr>
          </a:lstStyle>
          <a:p>
            <a:pPr lvl="0"/>
            <a:r>
              <a:rPr lang="en-US" altLang="en-US" noProof="0"/>
              <a:t>Click to edit Master subtitle style</a:t>
            </a:r>
            <a:endParaRPr lang="en-GB" altLang="en-US" noProof="0"/>
          </a:p>
        </p:txBody>
      </p:sp>
      <p:sp>
        <p:nvSpPr>
          <p:cNvPr id="15" name="Text Placeholder 2">
            <a:extLst>
              <a:ext uri="{FF2B5EF4-FFF2-40B4-BE49-F238E27FC236}">
                <a16:creationId xmlns:a16="http://schemas.microsoft.com/office/drawing/2014/main" id="{06CB6471-BEB5-42B8-A368-4E2D71C31D32}"/>
              </a:ext>
            </a:extLst>
          </p:cNvPr>
          <p:cNvSpPr>
            <a:spLocks noGrp="1"/>
          </p:cNvSpPr>
          <p:nvPr>
            <p:ph type="body" sz="quarter" idx="11" hasCustomPrompt="1"/>
          </p:nvPr>
        </p:nvSpPr>
        <p:spPr>
          <a:xfrm>
            <a:off x="1438939" y="2822590"/>
            <a:ext cx="7200000" cy="216000"/>
          </a:xfrm>
          <a:prstGeom prst="rect">
            <a:avLst/>
          </a:prstGeom>
        </p:spPr>
        <p:txBody>
          <a:bodyPr lIns="0" tIns="0" rIns="0" bIns="0" anchor="ctr" anchorCtr="1"/>
          <a:lstStyle>
            <a:lvl1pPr marL="0" indent="0" algn="ctr">
              <a:lnSpc>
                <a:spcPct val="100000"/>
              </a:lnSpc>
              <a:buNone/>
              <a:defRPr sz="1600">
                <a:latin typeface="Arial" panose="020B0604020202020204" pitchFamily="34" charset="0"/>
                <a:cs typeface="Arial" panose="020B0604020202020204" pitchFamily="34" charset="0"/>
              </a:defRPr>
            </a:lvl1pPr>
            <a:lvl2pPr marL="371475" indent="0">
              <a:buNone/>
              <a:defRPr/>
            </a:lvl2pPr>
            <a:lvl3pPr marL="742950" indent="0">
              <a:buNone/>
              <a:defRPr/>
            </a:lvl3pPr>
            <a:lvl4pPr marL="1114425" indent="0">
              <a:buNone/>
              <a:defRPr/>
            </a:lvl4pPr>
            <a:lvl5pPr marL="1485900" indent="0">
              <a:buNone/>
              <a:defRPr/>
            </a:lvl5pPr>
          </a:lstStyle>
          <a:p>
            <a:pPr lvl="0"/>
            <a:r>
              <a:rPr lang="en-US"/>
              <a:t>[Date]</a:t>
            </a:r>
          </a:p>
        </p:txBody>
      </p:sp>
    </p:spTree>
    <p:extLst>
      <p:ext uri="{BB962C8B-B14F-4D97-AF65-F5344CB8AC3E}">
        <p14:creationId xmlns:p14="http://schemas.microsoft.com/office/powerpoint/2010/main" val="2326092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Blank">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CA82786-5228-4EAE-89E6-C0DF1C9E8FB3}"/>
              </a:ext>
            </a:extLst>
          </p:cNvPr>
          <p:cNvGraphicFramePr>
            <a:graphicFrameLocks noChangeAspect="1"/>
          </p:cNvGraphicFramePr>
          <p:nvPr userDrawn="1">
            <p:custDataLst>
              <p:tags r:id="rId1"/>
            </p:custDataLst>
            <p:extLst>
              <p:ext uri="{D42A27DB-BD31-4B8C-83A1-F6EECF244321}">
                <p14:modId xmlns:p14="http://schemas.microsoft.com/office/powerpoint/2010/main" val="18404482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5" name="Object 4" hidden="1">
                        <a:extLst>
                          <a:ext uri="{FF2B5EF4-FFF2-40B4-BE49-F238E27FC236}">
                            <a16:creationId xmlns:a16="http://schemas.microsoft.com/office/drawing/2014/main" id="{0CA82786-5228-4EAE-89E6-C0DF1C9E8FB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5" name="Picture 104" descr="Shape&#10;&#10;Description automatically generated with medium confidence">
            <a:extLst>
              <a:ext uri="{FF2B5EF4-FFF2-40B4-BE49-F238E27FC236}">
                <a16:creationId xmlns:a16="http://schemas.microsoft.com/office/drawing/2014/main" id="{FF33E27E-B66C-40C1-AE36-0B3AB1CAEA01}"/>
              </a:ext>
            </a:extLst>
          </p:cNvPr>
          <p:cNvPicPr>
            <a:picLocks noChangeAspect="1"/>
          </p:cNvPicPr>
          <p:nvPr userDrawn="1"/>
        </p:nvPicPr>
        <p:blipFill>
          <a:blip r:embed="rId5"/>
          <a:stretch>
            <a:fillRect/>
          </a:stretch>
        </p:blipFill>
        <p:spPr>
          <a:xfrm>
            <a:off x="462525" y="6388883"/>
            <a:ext cx="792000" cy="230908"/>
          </a:xfrm>
          <a:prstGeom prst="rect">
            <a:avLst/>
          </a:prstGeom>
        </p:spPr>
      </p:pic>
      <p:sp>
        <p:nvSpPr>
          <p:cNvPr id="112" name="Slide Number Placeholder 6">
            <a:extLst>
              <a:ext uri="{FF2B5EF4-FFF2-40B4-BE49-F238E27FC236}">
                <a16:creationId xmlns:a16="http://schemas.microsoft.com/office/drawing/2014/main" id="{37CA7032-ACE1-4CD3-8160-9446BA839B79}"/>
              </a:ext>
            </a:extLst>
          </p:cNvPr>
          <p:cNvSpPr>
            <a:spLocks noGrp="1"/>
          </p:cNvSpPr>
          <p:nvPr>
            <p:ph type="sldNum" sz="quarter" idx="11"/>
          </p:nvPr>
        </p:nvSpPr>
        <p:spPr>
          <a:xfrm>
            <a:off x="9454758" y="6388883"/>
            <a:ext cx="432000" cy="360000"/>
          </a:xfrm>
          <a:prstGeom prst="rect">
            <a:avLst/>
          </a:prstGeom>
        </p:spPr>
        <p:txBody>
          <a:bodyPr lIns="0" tIns="0" rIns="0" bIns="46800" anchor="b" anchorCtr="1"/>
          <a:lstStyle>
            <a:lvl1pPr algn="r">
              <a:defRPr sz="900">
                <a:latin typeface="Arial" panose="020B0604020202020204" pitchFamily="34" charset="0"/>
                <a:cs typeface="Arial" panose="020B0604020202020204" pitchFamily="34" charset="0"/>
              </a:defRPr>
            </a:lvl1pPr>
          </a:lstStyle>
          <a:p>
            <a:pPr>
              <a:defRPr/>
            </a:pPr>
            <a:fld id="{EED7964B-8F50-47E5-B5EE-37748C966AF4}" type="slidenum">
              <a:rPr lang="en-US" smtClean="0"/>
              <a:pPr>
                <a:defRPr/>
              </a:pPr>
              <a:t>‹#›</a:t>
            </a:fld>
            <a:endParaRPr lang="en-US"/>
          </a:p>
        </p:txBody>
      </p:sp>
      <p:sp>
        <p:nvSpPr>
          <p:cNvPr id="2" name="Text Placeholder 22">
            <a:extLst>
              <a:ext uri="{FF2B5EF4-FFF2-40B4-BE49-F238E27FC236}">
                <a16:creationId xmlns:a16="http://schemas.microsoft.com/office/drawing/2014/main" id="{FC324623-233C-3724-8AFB-D062459CC56C}"/>
              </a:ext>
            </a:extLst>
          </p:cNvPr>
          <p:cNvSpPr>
            <a:spLocks noGrp="1"/>
          </p:cNvSpPr>
          <p:nvPr>
            <p:ph type="body" sz="quarter" idx="46" hasCustomPrompt="1"/>
          </p:nvPr>
        </p:nvSpPr>
        <p:spPr>
          <a:xfrm>
            <a:off x="1353000" y="6388883"/>
            <a:ext cx="8100000" cy="360000"/>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lvl1pPr marL="228600" marR="0" indent="-228600" algn="l" defTabSz="914400" rtl="0" eaLnBrk="1" fontAlgn="auto" latinLnBrk="0" hangingPunct="1">
              <a:lnSpc>
                <a:spcPct val="100000"/>
              </a:lnSpc>
              <a:spcBef>
                <a:spcPts val="0"/>
              </a:spcBef>
              <a:spcAft>
                <a:spcPts val="0"/>
              </a:spcAft>
              <a:buClrTx/>
              <a:buSzTx/>
              <a:buFont typeface="+mj-lt"/>
              <a:buAutoNum type="arabicParenBoth"/>
              <a:tabLst/>
              <a:defRPr kumimoji="0" lang="en-US" sz="700" b="0" i="0" u="none" strike="noStrike" kern="1200" cap="none" spc="0" normalizeH="0" baseline="0" noProof="0">
                <a:ln>
                  <a:noFill/>
                </a:ln>
                <a:solidFill>
                  <a:schemeClr val="bg1">
                    <a:lumMod val="50000"/>
                  </a:schemeClr>
                </a:solidFill>
                <a:effectLst/>
                <a:uLnTx/>
                <a:uFillTx/>
                <a:latin typeface="Arial" panose="020B0604020202020204" pitchFamily="34" charset="0"/>
                <a:ea typeface="+mn-ea"/>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[Notes/Source]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3" name="Title 2">
            <a:extLst>
              <a:ext uri="{FF2B5EF4-FFF2-40B4-BE49-F238E27FC236}">
                <a16:creationId xmlns:a16="http://schemas.microsoft.com/office/drawing/2014/main" id="{AA2D73A2-0424-B394-E0A0-D25723F2D6CA}"/>
              </a:ext>
            </a:extLst>
          </p:cNvPr>
          <p:cNvSpPr>
            <a:spLocks noGrp="1"/>
          </p:cNvSpPr>
          <p:nvPr>
            <p:ph type="title"/>
          </p:nvPr>
        </p:nvSpPr>
        <p:spPr>
          <a:xfrm>
            <a:off x="381000" y="536448"/>
            <a:ext cx="9144000" cy="40011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300A885A-F4CE-17B3-01F9-DB1497AF58BA}"/>
              </a:ext>
            </a:extLst>
          </p:cNvPr>
          <p:cNvSpPr>
            <a:spLocks noGrp="1"/>
          </p:cNvSpPr>
          <p:nvPr>
            <p:ph sz="quarter" idx="47"/>
          </p:nvPr>
        </p:nvSpPr>
        <p:spPr>
          <a:xfrm>
            <a:off x="381000" y="1225296"/>
            <a:ext cx="9144000" cy="4946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635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CA82786-5228-4EAE-89E6-C0DF1C9E8FB3}"/>
              </a:ext>
            </a:extLst>
          </p:cNvPr>
          <p:cNvGraphicFramePr>
            <a:graphicFrameLocks noChangeAspect="1"/>
          </p:cNvGraphicFramePr>
          <p:nvPr userDrawn="1">
            <p:custDataLst>
              <p:tags r:id="rId1"/>
            </p:custDataLst>
            <p:extLst>
              <p:ext uri="{D42A27DB-BD31-4B8C-83A1-F6EECF244321}">
                <p14:modId xmlns:p14="http://schemas.microsoft.com/office/powerpoint/2010/main" val="18404482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5" name="Object 4" hidden="1">
                        <a:extLst>
                          <a:ext uri="{FF2B5EF4-FFF2-40B4-BE49-F238E27FC236}">
                            <a16:creationId xmlns:a16="http://schemas.microsoft.com/office/drawing/2014/main" id="{0CA82786-5228-4EAE-89E6-C0DF1C9E8FB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5" name="Picture 104" descr="Shape&#10;&#10;Description automatically generated with medium confidence">
            <a:extLst>
              <a:ext uri="{FF2B5EF4-FFF2-40B4-BE49-F238E27FC236}">
                <a16:creationId xmlns:a16="http://schemas.microsoft.com/office/drawing/2014/main" id="{FF33E27E-B66C-40C1-AE36-0B3AB1CAEA01}"/>
              </a:ext>
            </a:extLst>
          </p:cNvPr>
          <p:cNvPicPr>
            <a:picLocks noChangeAspect="1"/>
          </p:cNvPicPr>
          <p:nvPr userDrawn="1"/>
        </p:nvPicPr>
        <p:blipFill>
          <a:blip r:embed="rId5"/>
          <a:stretch>
            <a:fillRect/>
          </a:stretch>
        </p:blipFill>
        <p:spPr>
          <a:xfrm>
            <a:off x="462525" y="6388883"/>
            <a:ext cx="792000" cy="230908"/>
          </a:xfrm>
          <a:prstGeom prst="rect">
            <a:avLst/>
          </a:prstGeom>
        </p:spPr>
      </p:pic>
      <p:sp>
        <p:nvSpPr>
          <p:cNvPr id="2" name="Text Placeholder 22">
            <a:extLst>
              <a:ext uri="{FF2B5EF4-FFF2-40B4-BE49-F238E27FC236}">
                <a16:creationId xmlns:a16="http://schemas.microsoft.com/office/drawing/2014/main" id="{FC324623-233C-3724-8AFB-D062459CC56C}"/>
              </a:ext>
            </a:extLst>
          </p:cNvPr>
          <p:cNvSpPr>
            <a:spLocks noGrp="1"/>
          </p:cNvSpPr>
          <p:nvPr>
            <p:ph type="body" sz="quarter" idx="46" hasCustomPrompt="1"/>
          </p:nvPr>
        </p:nvSpPr>
        <p:spPr>
          <a:xfrm>
            <a:off x="1353000" y="6388883"/>
            <a:ext cx="8100000" cy="360000"/>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lvl1pPr marL="228600" marR="0" indent="-228600" algn="l" defTabSz="914400" rtl="0" eaLnBrk="1" fontAlgn="auto" latinLnBrk="0" hangingPunct="1">
              <a:lnSpc>
                <a:spcPct val="100000"/>
              </a:lnSpc>
              <a:spcBef>
                <a:spcPts val="0"/>
              </a:spcBef>
              <a:spcAft>
                <a:spcPts val="0"/>
              </a:spcAft>
              <a:buClrTx/>
              <a:buSzTx/>
              <a:buFont typeface="+mj-lt"/>
              <a:buAutoNum type="arabicParenBoth"/>
              <a:tabLst/>
              <a:defRPr kumimoji="0" lang="en-US" sz="700" b="0" i="0" u="none" strike="noStrike" kern="1200" cap="none" spc="0" normalizeH="0" baseline="0" noProof="0">
                <a:ln>
                  <a:noFill/>
                </a:ln>
                <a:solidFill>
                  <a:schemeClr val="bg1">
                    <a:lumMod val="50000"/>
                  </a:schemeClr>
                </a:solidFill>
                <a:effectLst/>
                <a:uLnTx/>
                <a:uFillTx/>
                <a:latin typeface="Arial" panose="020B0604020202020204" pitchFamily="34" charset="0"/>
                <a:ea typeface="+mn-ea"/>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[Notes/Source]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Title 3">
            <a:extLst>
              <a:ext uri="{FF2B5EF4-FFF2-40B4-BE49-F238E27FC236}">
                <a16:creationId xmlns:a16="http://schemas.microsoft.com/office/drawing/2014/main" id="{9BA9FF6B-F1D3-5818-64A2-E59F0FDB5C77}"/>
              </a:ext>
            </a:extLst>
          </p:cNvPr>
          <p:cNvSpPr>
            <a:spLocks noGrp="1"/>
          </p:cNvSpPr>
          <p:nvPr>
            <p:ph type="title"/>
          </p:nvPr>
        </p:nvSpPr>
        <p:spPr/>
        <p:txBody>
          <a:bodyPr/>
          <a:lstStyle>
            <a:lvl1pPr>
              <a:tabLst>
                <a:tab pos="573088" algn="l"/>
              </a:tabLst>
              <a:defRPr/>
            </a:lvl1pPr>
          </a:lstStyle>
          <a:p>
            <a:r>
              <a:rPr lang="en-US"/>
              <a:t>Click to edit Master title style</a:t>
            </a:r>
          </a:p>
        </p:txBody>
      </p:sp>
      <p:sp>
        <p:nvSpPr>
          <p:cNvPr id="6" name="Line 46">
            <a:extLst>
              <a:ext uri="{FF2B5EF4-FFF2-40B4-BE49-F238E27FC236}">
                <a16:creationId xmlns:a16="http://schemas.microsoft.com/office/drawing/2014/main" id="{669B3C4F-D0EE-AA36-A094-E83AB860BB9C}"/>
              </a:ext>
            </a:extLst>
          </p:cNvPr>
          <p:cNvSpPr>
            <a:spLocks noChangeShapeType="1"/>
          </p:cNvSpPr>
          <p:nvPr userDrawn="1"/>
        </p:nvSpPr>
        <p:spPr bwMode="auto">
          <a:xfrm>
            <a:off x="381000" y="936558"/>
            <a:ext cx="9144000" cy="0"/>
          </a:xfrm>
          <a:prstGeom prst="line">
            <a:avLst/>
          </a:prstGeom>
          <a:noFill/>
          <a:ln w="19050">
            <a:solidFill>
              <a:schemeClr val="accent1"/>
            </a:solidFill>
            <a:round/>
            <a:headEnd/>
            <a:tailEnd/>
          </a:ln>
          <a:effectLst/>
        </p:spPr>
        <p:txBody>
          <a:bodyPr wrap="none" anchor="ctr"/>
          <a:lstStyle/>
          <a:p>
            <a:pPr fontAlgn="auto">
              <a:spcBef>
                <a:spcPts val="0"/>
              </a:spcBef>
              <a:spcAft>
                <a:spcPts val="0"/>
              </a:spcAft>
              <a:defRPr/>
            </a:pPr>
            <a:endParaRPr lang="en-SG" sz="1800" b="0">
              <a:solidFill>
                <a:srgbClr val="000000"/>
              </a:solidFill>
              <a:latin typeface="Calibri" pitchFamily="34" charset="0"/>
              <a:cs typeface="Calibri" pitchFamily="34" charset="0"/>
            </a:endParaRPr>
          </a:p>
        </p:txBody>
      </p:sp>
      <p:sp>
        <p:nvSpPr>
          <p:cNvPr id="7" name="Slide Number Placeholder 6">
            <a:extLst>
              <a:ext uri="{FF2B5EF4-FFF2-40B4-BE49-F238E27FC236}">
                <a16:creationId xmlns:a16="http://schemas.microsoft.com/office/drawing/2014/main" id="{0E51FD26-D129-3F19-A363-26B322167F5C}"/>
              </a:ext>
            </a:extLst>
          </p:cNvPr>
          <p:cNvSpPr>
            <a:spLocks noGrp="1"/>
          </p:cNvSpPr>
          <p:nvPr>
            <p:ph type="sldNum" sz="quarter" idx="11"/>
          </p:nvPr>
        </p:nvSpPr>
        <p:spPr>
          <a:xfrm>
            <a:off x="9454758" y="6388883"/>
            <a:ext cx="432000" cy="360000"/>
          </a:xfrm>
          <a:prstGeom prst="rect">
            <a:avLst/>
          </a:prstGeom>
        </p:spPr>
        <p:txBody>
          <a:bodyPr lIns="0" tIns="0" rIns="0" bIns="46800" anchor="b" anchorCtr="1"/>
          <a:lstStyle>
            <a:lvl1pPr algn="r">
              <a:defRPr sz="700">
                <a:latin typeface="Arial" panose="020B0604020202020204" pitchFamily="34" charset="0"/>
                <a:cs typeface="Arial" panose="020B0604020202020204" pitchFamily="34" charset="0"/>
              </a:defRPr>
            </a:lvl1pPr>
          </a:lstStyle>
          <a:p>
            <a:pPr>
              <a:defRPr/>
            </a:pPr>
            <a:fld id="{EED7964B-8F50-47E5-B5EE-37748C966AF4}" type="slidenum">
              <a:rPr lang="en-US" smtClean="0"/>
              <a:pPr>
                <a:defRPr/>
              </a:pPr>
              <a:t>‹#›</a:t>
            </a:fld>
            <a:endParaRPr lang="en-US"/>
          </a:p>
        </p:txBody>
      </p:sp>
    </p:spTree>
    <p:extLst>
      <p:ext uri="{BB962C8B-B14F-4D97-AF65-F5344CB8AC3E}">
        <p14:creationId xmlns:p14="http://schemas.microsoft.com/office/powerpoint/2010/main" val="3424555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_Divider">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EA366C9-F8B7-4929-8E6E-FA98B0A571F7}"/>
              </a:ext>
            </a:extLst>
          </p:cNvPr>
          <p:cNvGraphicFramePr>
            <a:graphicFrameLocks noChangeAspect="1"/>
          </p:cNvGraphicFramePr>
          <p:nvPr userDrawn="1">
            <p:custDataLst>
              <p:tags r:id="rId1"/>
            </p:custDataLst>
            <p:extLst>
              <p:ext uri="{D42A27DB-BD31-4B8C-83A1-F6EECF244321}">
                <p14:modId xmlns:p14="http://schemas.microsoft.com/office/powerpoint/2010/main" val="563535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3" name="Object 2" hidden="1">
                        <a:extLst>
                          <a:ext uri="{FF2B5EF4-FFF2-40B4-BE49-F238E27FC236}">
                            <a16:creationId xmlns:a16="http://schemas.microsoft.com/office/drawing/2014/main" id="{1EA366C9-F8B7-4929-8E6E-FA98B0A571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9" name="Picture 7">
            <a:extLst>
              <a:ext uri="{FF2B5EF4-FFF2-40B4-BE49-F238E27FC236}">
                <a16:creationId xmlns:a16="http://schemas.microsoft.com/office/drawing/2014/main" id="{BC0FC7A8-B1CD-44AE-9029-333FC3CA7AB6}"/>
              </a:ext>
            </a:extLst>
          </p:cNvPr>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46405" y="193124"/>
            <a:ext cx="8959595" cy="50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6" name="Rectangle 16"/>
          <p:cNvSpPr>
            <a:spLocks noGrp="1" noChangeArrowheads="1"/>
          </p:cNvSpPr>
          <p:nvPr>
            <p:ph type="subTitle" idx="1" hasCustomPrompt="1"/>
          </p:nvPr>
        </p:nvSpPr>
        <p:spPr>
          <a:xfrm>
            <a:off x="2242944" y="3733535"/>
            <a:ext cx="7200000" cy="360000"/>
          </a:xfrm>
          <a:prstGeom prst="rect">
            <a:avLst/>
          </a:prstGeom>
          <a:extLst>
            <a:ext uri="{909E8E84-426E-40DD-AFC4-6F175D3DCCD1}">
              <a14:hiddenFill xmlns:a14="http://schemas.microsoft.com/office/drawing/2010/main">
                <a:solidFill>
                  <a:schemeClr val="accent1"/>
                </a:solidFill>
              </a14:hiddenFill>
            </a:ext>
          </a:extLst>
        </p:spPr>
        <p:txBody>
          <a:bodyPr wrap="square" lIns="0" tIns="0" rIns="0" bIns="46800" anchor="b" anchorCtr="0">
            <a:noAutofit/>
          </a:bodyPr>
          <a:lstStyle>
            <a:lvl1pPr marL="0" indent="0" algn="l">
              <a:spcBef>
                <a:spcPts val="0"/>
              </a:spcBef>
              <a:buFont typeface="Wingdings" panose="05000000000000000000" pitchFamily="2" charset="2"/>
              <a:buNone/>
              <a:defRPr sz="2200" b="1" baseline="0">
                <a:solidFill>
                  <a:schemeClr val="tx1"/>
                </a:solidFill>
                <a:latin typeface="+mj-lt"/>
                <a:cs typeface="Calibri" panose="020F0502020204030204" pitchFamily="34" charset="0"/>
              </a:defRPr>
            </a:lvl1pPr>
          </a:lstStyle>
          <a:p>
            <a:pPr lvl="0"/>
            <a:r>
              <a:rPr lang="en-US" altLang="en-US" noProof="0"/>
              <a:t>Section [#]</a:t>
            </a:r>
            <a:endParaRPr lang="en-GB" altLang="en-US" noProof="0"/>
          </a:p>
        </p:txBody>
      </p:sp>
      <p:sp>
        <p:nvSpPr>
          <p:cNvPr id="35842" name="Rectangle 2"/>
          <p:cNvSpPr>
            <a:spLocks noGrp="1" noChangeArrowheads="1"/>
          </p:cNvSpPr>
          <p:nvPr>
            <p:ph type="ctrTitle" hasCustomPrompt="1"/>
          </p:nvPr>
        </p:nvSpPr>
        <p:spPr>
          <a:xfrm>
            <a:off x="2242944" y="4131897"/>
            <a:ext cx="7200000" cy="720000"/>
          </a:xfrm>
          <a:prstGeom prst="rect">
            <a:avLst/>
          </a:prstGeom>
        </p:spPr>
        <p:txBody>
          <a:bodyPr vert="horz" wrap="square" lIns="0" tIns="0" rIns="0" bIns="0" anchor="t" anchorCtr="0"/>
          <a:lstStyle>
            <a:lvl1pPr algn="l">
              <a:defRPr sz="2400" b="1" baseline="0">
                <a:solidFill>
                  <a:srgbClr val="C00000"/>
                </a:solidFill>
                <a:latin typeface="+mj-lt"/>
                <a:cs typeface="Calibri" panose="020F0502020204030204" pitchFamily="34" charset="0"/>
              </a:defRPr>
            </a:lvl1pPr>
          </a:lstStyle>
          <a:p>
            <a:pPr lvl="0"/>
            <a:r>
              <a:rPr lang="en-US" altLang="en-US" noProof="0"/>
              <a:t>Section Title – 1</a:t>
            </a:r>
            <a:br>
              <a:rPr lang="en-US" altLang="en-US" noProof="0"/>
            </a:br>
            <a:r>
              <a:rPr lang="en-US" altLang="en-US" noProof="0"/>
              <a:t>Section Title – 2</a:t>
            </a:r>
            <a:endParaRPr lang="en-GB" altLang="en-US" noProof="0"/>
          </a:p>
        </p:txBody>
      </p:sp>
      <p:cxnSp>
        <p:nvCxnSpPr>
          <p:cNvPr id="13" name="Straight Connector 12">
            <a:extLst>
              <a:ext uri="{FF2B5EF4-FFF2-40B4-BE49-F238E27FC236}">
                <a16:creationId xmlns:a16="http://schemas.microsoft.com/office/drawing/2014/main" id="{91B9AEA7-1E6E-446B-91AB-288886B15ECF}"/>
              </a:ext>
            </a:extLst>
          </p:cNvPr>
          <p:cNvCxnSpPr/>
          <p:nvPr userDrawn="1"/>
        </p:nvCxnSpPr>
        <p:spPr>
          <a:xfrm>
            <a:off x="2242944" y="4117243"/>
            <a:ext cx="7200000" cy="0"/>
          </a:xfrm>
          <a:prstGeom prst="line">
            <a:avLst/>
          </a:prstGeom>
          <a:ln w="19050">
            <a:solidFill>
              <a:schemeClr val="tx2"/>
            </a:solidFill>
          </a:ln>
          <a:effectLst/>
        </p:spPr>
        <p:style>
          <a:lnRef idx="1">
            <a:schemeClr val="accent1"/>
          </a:lnRef>
          <a:fillRef idx="0">
            <a:schemeClr val="accent1"/>
          </a:fillRef>
          <a:effectRef idx="0">
            <a:schemeClr val="accent1"/>
          </a:effectRef>
          <a:fontRef idx="minor">
            <a:schemeClr val="tx1"/>
          </a:fontRef>
        </p:style>
      </p:cxnSp>
      <p:sp>
        <p:nvSpPr>
          <p:cNvPr id="2" name="Slide Number Placeholder 6">
            <a:extLst>
              <a:ext uri="{FF2B5EF4-FFF2-40B4-BE49-F238E27FC236}">
                <a16:creationId xmlns:a16="http://schemas.microsoft.com/office/drawing/2014/main" id="{73CD3016-DD0B-B23F-BBD0-C9DB23D0F8E7}"/>
              </a:ext>
            </a:extLst>
          </p:cNvPr>
          <p:cNvSpPr>
            <a:spLocks noGrp="1"/>
          </p:cNvSpPr>
          <p:nvPr>
            <p:ph type="sldNum" sz="quarter" idx="11"/>
          </p:nvPr>
        </p:nvSpPr>
        <p:spPr>
          <a:xfrm>
            <a:off x="9454758" y="6388883"/>
            <a:ext cx="432000" cy="360000"/>
          </a:xfrm>
          <a:prstGeom prst="rect">
            <a:avLst/>
          </a:prstGeom>
        </p:spPr>
        <p:txBody>
          <a:bodyPr lIns="0" tIns="0" rIns="0" bIns="46800" anchor="b" anchorCtr="1"/>
          <a:lstStyle>
            <a:lvl1pPr algn="r">
              <a:defRPr sz="700">
                <a:latin typeface="Arial" panose="020B0604020202020204" pitchFamily="34" charset="0"/>
                <a:cs typeface="Arial" panose="020B0604020202020204" pitchFamily="34" charset="0"/>
              </a:defRPr>
            </a:lvl1pPr>
          </a:lstStyle>
          <a:p>
            <a:pPr>
              <a:defRPr/>
            </a:pPr>
            <a:fld id="{EED7964B-8F50-47E5-B5EE-37748C966AF4}" type="slidenum">
              <a:rPr lang="en-US" smtClean="0"/>
              <a:pPr>
                <a:defRPr/>
              </a:pPr>
              <a:t>‹#›</a:t>
            </a:fld>
            <a:endParaRPr lang="en-US"/>
          </a:p>
        </p:txBody>
      </p:sp>
    </p:spTree>
    <p:extLst>
      <p:ext uri="{BB962C8B-B14F-4D97-AF65-F5344CB8AC3E}">
        <p14:creationId xmlns:p14="http://schemas.microsoft.com/office/powerpoint/2010/main" val="1266109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ppendices_Divider">
    <p:spTree>
      <p:nvGrpSpPr>
        <p:cNvPr id="1" name=""/>
        <p:cNvGrpSpPr/>
        <p:nvPr/>
      </p:nvGrpSpPr>
      <p:grpSpPr>
        <a:xfrm>
          <a:off x="0" y="0"/>
          <a:ext cx="0" cy="0"/>
          <a:chOff x="0" y="0"/>
          <a:chExt cx="0" cy="0"/>
        </a:xfrm>
      </p:grpSpPr>
      <p:pic>
        <p:nvPicPr>
          <p:cNvPr id="19" name="Picture 7">
            <a:extLst>
              <a:ext uri="{FF2B5EF4-FFF2-40B4-BE49-F238E27FC236}">
                <a16:creationId xmlns:a16="http://schemas.microsoft.com/office/drawing/2014/main" id="{BC0FC7A8-B1CD-44AE-9029-333FC3CA7AB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46405" y="193124"/>
            <a:ext cx="8959595" cy="50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Object 2" hidden="1">
            <a:extLst>
              <a:ext uri="{FF2B5EF4-FFF2-40B4-BE49-F238E27FC236}">
                <a16:creationId xmlns:a16="http://schemas.microsoft.com/office/drawing/2014/main" id="{1EA366C9-F8B7-4929-8E6E-FA98B0A571F7}"/>
              </a:ext>
            </a:extLst>
          </p:cNvPr>
          <p:cNvGraphicFramePr>
            <a:graphicFrameLocks noChangeAspect="1"/>
          </p:cNvGraphicFramePr>
          <p:nvPr userDrawn="1">
            <p:custDataLst>
              <p:tags r:id="rId1"/>
            </p:custDataLst>
            <p:extLst>
              <p:ext uri="{D42A27DB-BD31-4B8C-83A1-F6EECF244321}">
                <p14:modId xmlns:p14="http://schemas.microsoft.com/office/powerpoint/2010/main" val="563535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3" name="Object 2" hidden="1">
                        <a:extLst>
                          <a:ext uri="{FF2B5EF4-FFF2-40B4-BE49-F238E27FC236}">
                            <a16:creationId xmlns:a16="http://schemas.microsoft.com/office/drawing/2014/main" id="{1EA366C9-F8B7-4929-8E6E-FA98B0A571F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5856" name="Rectangle 16"/>
          <p:cNvSpPr>
            <a:spLocks noGrp="1" noChangeArrowheads="1"/>
          </p:cNvSpPr>
          <p:nvPr>
            <p:ph type="subTitle" idx="1" hasCustomPrompt="1"/>
          </p:nvPr>
        </p:nvSpPr>
        <p:spPr>
          <a:xfrm>
            <a:off x="2242944" y="3373535"/>
            <a:ext cx="7200000" cy="720000"/>
          </a:xfrm>
          <a:prstGeom prst="rect">
            <a:avLst/>
          </a:prstGeom>
          <a:extLst>
            <a:ext uri="{909E8E84-426E-40DD-AFC4-6F175D3DCCD1}">
              <a14:hiddenFill xmlns:a14="http://schemas.microsoft.com/office/drawing/2010/main">
                <a:solidFill>
                  <a:schemeClr val="accent1"/>
                </a:solidFill>
              </a14:hiddenFill>
            </a:ext>
          </a:extLst>
        </p:spPr>
        <p:txBody>
          <a:bodyPr wrap="square" lIns="0" tIns="0" rIns="0" bIns="46800" anchor="b" anchorCtr="0"/>
          <a:lstStyle>
            <a:lvl1pPr marL="0" indent="0" algn="l">
              <a:spcBef>
                <a:spcPts val="0"/>
              </a:spcBef>
              <a:buFont typeface="Wingdings" panose="05000000000000000000" pitchFamily="2" charset="2"/>
              <a:buNone/>
              <a:defRPr sz="2400" b="1" baseline="0">
                <a:solidFill>
                  <a:schemeClr val="tx1"/>
                </a:solidFill>
                <a:latin typeface="+mj-lt"/>
                <a:cs typeface="Calibri" panose="020F0502020204030204" pitchFamily="34" charset="0"/>
              </a:defRPr>
            </a:lvl1pPr>
          </a:lstStyle>
          <a:p>
            <a:pPr lvl="0"/>
            <a:r>
              <a:rPr lang="en-US" altLang="en-US" noProof="0"/>
              <a:t>Appendices</a:t>
            </a:r>
            <a:endParaRPr lang="en-GB" altLang="en-US" noProof="0"/>
          </a:p>
        </p:txBody>
      </p:sp>
      <p:cxnSp>
        <p:nvCxnSpPr>
          <p:cNvPr id="13" name="Straight Connector 12">
            <a:extLst>
              <a:ext uri="{FF2B5EF4-FFF2-40B4-BE49-F238E27FC236}">
                <a16:creationId xmlns:a16="http://schemas.microsoft.com/office/drawing/2014/main" id="{91B9AEA7-1E6E-446B-91AB-288886B15ECF}"/>
              </a:ext>
            </a:extLst>
          </p:cNvPr>
          <p:cNvCxnSpPr/>
          <p:nvPr userDrawn="1"/>
        </p:nvCxnSpPr>
        <p:spPr>
          <a:xfrm>
            <a:off x="2242944" y="4117243"/>
            <a:ext cx="7200000" cy="0"/>
          </a:xfrm>
          <a:prstGeom prst="line">
            <a:avLst/>
          </a:prstGeom>
          <a:ln w="19050">
            <a:solidFill>
              <a:schemeClr val="tx2"/>
            </a:solidFill>
          </a:ln>
          <a:effectLst/>
        </p:spPr>
        <p:style>
          <a:lnRef idx="1">
            <a:schemeClr val="accent1"/>
          </a:lnRef>
          <a:fillRef idx="0">
            <a:schemeClr val="accent1"/>
          </a:fillRef>
          <a:effectRef idx="0">
            <a:schemeClr val="accent1"/>
          </a:effectRef>
          <a:fontRef idx="minor">
            <a:schemeClr val="tx1"/>
          </a:fontRef>
        </p:style>
      </p:cxnSp>
      <p:sp>
        <p:nvSpPr>
          <p:cNvPr id="2" name="Slide Number Placeholder 6">
            <a:extLst>
              <a:ext uri="{FF2B5EF4-FFF2-40B4-BE49-F238E27FC236}">
                <a16:creationId xmlns:a16="http://schemas.microsoft.com/office/drawing/2014/main" id="{30FC8367-80BC-C652-0292-785C8BEE84C0}"/>
              </a:ext>
            </a:extLst>
          </p:cNvPr>
          <p:cNvSpPr>
            <a:spLocks noGrp="1"/>
          </p:cNvSpPr>
          <p:nvPr>
            <p:ph type="sldNum" sz="quarter" idx="11"/>
          </p:nvPr>
        </p:nvSpPr>
        <p:spPr>
          <a:xfrm>
            <a:off x="9454758" y="6388883"/>
            <a:ext cx="432000" cy="360000"/>
          </a:xfrm>
          <a:prstGeom prst="rect">
            <a:avLst/>
          </a:prstGeom>
        </p:spPr>
        <p:txBody>
          <a:bodyPr lIns="0" tIns="0" rIns="0" bIns="46800" anchor="b" anchorCtr="1"/>
          <a:lstStyle>
            <a:lvl1pPr algn="r">
              <a:defRPr sz="700">
                <a:latin typeface="Arial" panose="020B0604020202020204" pitchFamily="34" charset="0"/>
                <a:cs typeface="Arial" panose="020B0604020202020204" pitchFamily="34" charset="0"/>
              </a:defRPr>
            </a:lvl1pPr>
          </a:lstStyle>
          <a:p>
            <a:pPr>
              <a:defRPr/>
            </a:pPr>
            <a:fld id="{EED7964B-8F50-47E5-B5EE-37748C966AF4}" type="slidenum">
              <a:rPr lang="en-US" smtClean="0"/>
              <a:pPr>
                <a:defRPr/>
              </a:pPr>
              <a:t>‹#›</a:t>
            </a:fld>
            <a:endParaRPr lang="en-US"/>
          </a:p>
        </p:txBody>
      </p:sp>
    </p:spTree>
    <p:extLst>
      <p:ext uri="{BB962C8B-B14F-4D97-AF65-F5344CB8AC3E}">
        <p14:creationId xmlns:p14="http://schemas.microsoft.com/office/powerpoint/2010/main" val="4146722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01AAE62-B708-4FD4-9A0D-46C84F405A2A}"/>
              </a:ext>
            </a:extLst>
          </p:cNvPr>
          <p:cNvGraphicFramePr>
            <a:graphicFrameLocks noChangeAspect="1"/>
          </p:cNvGraphicFramePr>
          <p:nvPr userDrawn="1">
            <p:custDataLst>
              <p:tags r:id="rId1"/>
            </p:custDataLst>
            <p:extLst>
              <p:ext uri="{D42A27DB-BD31-4B8C-83A1-F6EECF244321}">
                <p14:modId xmlns:p14="http://schemas.microsoft.com/office/powerpoint/2010/main" val="1879197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7" progId="TCLayout.ActiveDocument.1">
                  <p:embed/>
                </p:oleObj>
              </mc:Choice>
              <mc:Fallback>
                <p:oleObj name="think-cell Slide" r:id="rId3" imgW="348" imgH="347" progId="TCLayout.ActiveDocument.1">
                  <p:embed/>
                  <p:pic>
                    <p:nvPicPr>
                      <p:cNvPr id="2" name="Object 1" hidden="1">
                        <a:extLst>
                          <a:ext uri="{FF2B5EF4-FFF2-40B4-BE49-F238E27FC236}">
                            <a16:creationId xmlns:a16="http://schemas.microsoft.com/office/drawing/2014/main" id="{801AAE62-B708-4FD4-9A0D-46C84F405A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7">
            <a:extLst>
              <a:ext uri="{FF2B5EF4-FFF2-40B4-BE49-F238E27FC236}">
                <a16:creationId xmlns:a16="http://schemas.microsoft.com/office/drawing/2014/main" id="{568462B2-821D-427D-826E-75DB00D2A303}"/>
              </a:ext>
            </a:extLst>
          </p:cNvPr>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43428" y="1153172"/>
            <a:ext cx="8959595" cy="50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Graphical user interface&#10;&#10;Description automatically generated with low confidence">
            <a:extLst>
              <a:ext uri="{FF2B5EF4-FFF2-40B4-BE49-F238E27FC236}">
                <a16:creationId xmlns:a16="http://schemas.microsoft.com/office/drawing/2014/main" id="{02D298FA-103C-415C-90C6-8511F80E91A5}"/>
              </a:ext>
            </a:extLst>
          </p:cNvPr>
          <p:cNvPicPr>
            <a:picLocks noChangeAspect="1"/>
          </p:cNvPicPr>
          <p:nvPr userDrawn="1"/>
        </p:nvPicPr>
        <p:blipFill>
          <a:blip r:embed="rId6"/>
          <a:stretch>
            <a:fillRect/>
          </a:stretch>
        </p:blipFill>
        <p:spPr>
          <a:xfrm>
            <a:off x="1" y="755650"/>
            <a:ext cx="1620000" cy="539493"/>
          </a:xfrm>
          <a:prstGeom prst="rect">
            <a:avLst/>
          </a:prstGeom>
        </p:spPr>
      </p:pic>
      <p:sp>
        <p:nvSpPr>
          <p:cNvPr id="8" name="Rectangle 11">
            <a:extLst>
              <a:ext uri="{FF2B5EF4-FFF2-40B4-BE49-F238E27FC236}">
                <a16:creationId xmlns:a16="http://schemas.microsoft.com/office/drawing/2014/main" id="{F694BC04-BC56-4926-8D6A-C347FA4E7C1E}"/>
              </a:ext>
            </a:extLst>
          </p:cNvPr>
          <p:cNvSpPr>
            <a:spLocks noChangeArrowheads="1"/>
          </p:cNvSpPr>
          <p:nvPr userDrawn="1"/>
        </p:nvSpPr>
        <p:spPr bwMode="auto">
          <a:xfrm>
            <a:off x="456065" y="3734336"/>
            <a:ext cx="9007023" cy="2387064"/>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Important Notice</a:t>
            </a:r>
          </a:p>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Presentation (the “</a:t>
            </a: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Presentation</a:t>
            </a: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presented by DBS Bank and its affiliates ("</a:t>
            </a: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DBS</a:t>
            </a: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is partially based on information obtained from market sources. Although the attached Presentation is predicated on market information relating to the company to which DBS provides a copy (the “</a:t>
            </a: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Company</a:t>
            </a: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DBS has not independently verified any such information or representation and accordingly, cannot and do not warrant, and do not accept responsibility for the accuracy, completeness or adequacy of such information or representations. DBS puts forward this Presentation in good faith as a basis for consideration by the Company.  </a:t>
            </a:r>
          </a:p>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It is possible that the ideas proposed herein are inappropriate should the market information relating to the Company’s business and/or business environment be incorrect. Any information, as contemplated herein, not be disclosed by the Company publicly or made available to any third parties. You should be aware that DBS is not, and does not hold itself to be an advisor as to legal, taxation, accounting or regulatory matters in any jurisdiction; accordingly, neither DBS, nor any of its directors, officers, employees or agents (each a "</a:t>
            </a: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Relevant Person</a:t>
            </a: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shall incur any responsibility or liability with respect to any action, omission, recommendation or comment made by them or any Relevant Person in relation to any such matters or anything contained herein, and the Company shall be responsible for obtaining all such advice as it thinks appropriate on such matters.</a:t>
            </a:r>
          </a:p>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Company alone shall be responsible for making its own independent investigation and appraisal of the risks, benefits and suitability of the recommendations contained in this Presentation and DBS shall incur no responsibility or liability whatsoever to the Company in respect thereof. No action, omission, recommendation or comment made by DBS or any Relevant Person in relation to the Presentation shall constitute, or be deemed to constitute, a representation, warranty or undertaking by DBS or any Relevant Person. This Presentation has not been reviewed with appropriate or relevant legal counsel and DBS reserves the right without assuming the obligation to seek such legal opinions as be required to ensure that the views set out by DBS fully complies with all legal and regulatory requirements. Nothing in this Presentation should be construed as an offer or a solicitation of an offer to buy or sell any securities. The reproduction and/or dissemination of the contents herein is prohibited without our prior approval.</a:t>
            </a:r>
            <a:endParaRPr kumimoji="0" lang="en-GB"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0498010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3675FAFA-49FB-4AF9-AB2E-D48B6543F115}"/>
              </a:ext>
            </a:extLst>
          </p:cNvPr>
          <p:cNvGraphicFramePr>
            <a:graphicFrameLocks noChangeAspect="1"/>
          </p:cNvGraphicFramePr>
          <p:nvPr userDrawn="1">
            <p:custDataLst>
              <p:tags r:id="rId8"/>
            </p:custDataLst>
            <p:extLst>
              <p:ext uri="{D42A27DB-BD31-4B8C-83A1-F6EECF244321}">
                <p14:modId xmlns:p14="http://schemas.microsoft.com/office/powerpoint/2010/main" val="39994140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4" imgH="344" progId="TCLayout.ActiveDocument.1">
                  <p:embed/>
                </p:oleObj>
              </mc:Choice>
              <mc:Fallback>
                <p:oleObj name="think-cell Slide" r:id="rId9" imgW="344" imgH="344" progId="TCLayout.ActiveDocument.1">
                  <p:embed/>
                  <p:pic>
                    <p:nvPicPr>
                      <p:cNvPr id="2" name="Object 1" hidden="1">
                        <a:extLst>
                          <a:ext uri="{FF2B5EF4-FFF2-40B4-BE49-F238E27FC236}">
                            <a16:creationId xmlns:a16="http://schemas.microsoft.com/office/drawing/2014/main" id="{3675FAFA-49FB-4AF9-AB2E-D48B6543F115}"/>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Footer Placeholder 6">
            <a:extLst>
              <a:ext uri="{FF2B5EF4-FFF2-40B4-BE49-F238E27FC236}">
                <a16:creationId xmlns:a16="http://schemas.microsoft.com/office/drawing/2014/main" id="{8D3C85D3-CD2D-773B-FE65-EFBE09B6A67B}"/>
              </a:ext>
            </a:extLst>
          </p:cNvPr>
          <p:cNvSpPr>
            <a:spLocks noGrp="1"/>
          </p:cNvSpPr>
          <p:nvPr>
            <p:ph type="ftr" sz="quarter" idx="3"/>
          </p:nvPr>
        </p:nvSpPr>
        <p:spPr>
          <a:xfrm>
            <a:off x="381000" y="6356350"/>
            <a:ext cx="8997696" cy="360000"/>
          </a:xfrm>
          <a:prstGeom prst="rect">
            <a:avLst/>
          </a:prstGeom>
        </p:spPr>
        <p:txBody>
          <a:bodyPr vert="horz" lIns="0" tIns="0" rIns="0" bIns="0" rtlCol="0" anchor="t" anchorCtr="0"/>
          <a:lstStyle>
            <a:lvl1pPr algn="l">
              <a:defRPr sz="700" b="0">
                <a:solidFill>
                  <a:schemeClr val="tx1">
                    <a:tint val="75000"/>
                  </a:schemeClr>
                </a:solidFill>
              </a:defRPr>
            </a:lvl1pPr>
          </a:lstStyle>
          <a:p>
            <a:endParaRPr lang="en-US"/>
          </a:p>
        </p:txBody>
      </p:sp>
      <p:sp>
        <p:nvSpPr>
          <p:cNvPr id="8" name="Slide Number Placeholder 7">
            <a:extLst>
              <a:ext uri="{FF2B5EF4-FFF2-40B4-BE49-F238E27FC236}">
                <a16:creationId xmlns:a16="http://schemas.microsoft.com/office/drawing/2014/main" id="{48E6D32D-B2CD-FB44-A557-CD5A10988904}"/>
              </a:ext>
            </a:extLst>
          </p:cNvPr>
          <p:cNvSpPr>
            <a:spLocks noGrp="1"/>
          </p:cNvSpPr>
          <p:nvPr>
            <p:ph type="sldNum" sz="quarter" idx="4"/>
          </p:nvPr>
        </p:nvSpPr>
        <p:spPr>
          <a:xfrm>
            <a:off x="9474000" y="6356350"/>
            <a:ext cx="432000" cy="360000"/>
          </a:xfrm>
          <a:prstGeom prst="rect">
            <a:avLst/>
          </a:prstGeom>
        </p:spPr>
        <p:txBody>
          <a:bodyPr vert="horz" lIns="0" tIns="0" rIns="0" bIns="46800" rtlCol="0" anchor="b" anchorCtr="1"/>
          <a:lstStyle>
            <a:lvl1pPr algn="ctr">
              <a:defRPr sz="900" b="0">
                <a:solidFill>
                  <a:schemeClr val="tx1">
                    <a:tint val="75000"/>
                  </a:schemeClr>
                </a:solidFill>
              </a:defRPr>
            </a:lvl1pPr>
          </a:lstStyle>
          <a:p>
            <a:fld id="{B2B10567-1489-4548-84B4-279BE2166863}" type="slidenum">
              <a:rPr lang="en-US" smtClean="0"/>
              <a:pPr/>
              <a:t>‹#›</a:t>
            </a:fld>
            <a:endParaRPr lang="en-US"/>
          </a:p>
        </p:txBody>
      </p:sp>
      <p:sp>
        <p:nvSpPr>
          <p:cNvPr id="3" name="Title Placeholder 2">
            <a:extLst>
              <a:ext uri="{FF2B5EF4-FFF2-40B4-BE49-F238E27FC236}">
                <a16:creationId xmlns:a16="http://schemas.microsoft.com/office/drawing/2014/main" id="{471E1526-8D2F-2581-6746-EBEE38C4388A}"/>
              </a:ext>
            </a:extLst>
          </p:cNvPr>
          <p:cNvSpPr>
            <a:spLocks noGrp="1"/>
          </p:cNvSpPr>
          <p:nvPr>
            <p:ph type="title"/>
          </p:nvPr>
        </p:nvSpPr>
        <p:spPr>
          <a:xfrm>
            <a:off x="381000" y="536448"/>
            <a:ext cx="9144000" cy="400110"/>
          </a:xfrm>
          <a:prstGeom prst="rect">
            <a:avLst/>
          </a:prstGeom>
        </p:spPr>
        <p:txBody>
          <a:bodyPr vert="horz" wrap="square" lIns="91440" tIns="45720" rIns="91440" bIns="45720" rtlCol="0" anchor="b" anchorCtr="0">
            <a:spAutoFit/>
          </a:bodyPr>
          <a:lstStyle/>
          <a:p>
            <a:r>
              <a:rPr lang="en-US"/>
              <a:t>Click to edit Master title style</a:t>
            </a:r>
          </a:p>
        </p:txBody>
      </p:sp>
      <p:sp>
        <p:nvSpPr>
          <p:cNvPr id="6" name="Text Placeholder 5">
            <a:extLst>
              <a:ext uri="{FF2B5EF4-FFF2-40B4-BE49-F238E27FC236}">
                <a16:creationId xmlns:a16="http://schemas.microsoft.com/office/drawing/2014/main" id="{1C22D9A7-B33E-4DC8-42C0-CF3C710FA446}"/>
              </a:ext>
            </a:extLst>
          </p:cNvPr>
          <p:cNvSpPr>
            <a:spLocks noGrp="1"/>
          </p:cNvSpPr>
          <p:nvPr>
            <p:ph type="body" idx="1"/>
          </p:nvPr>
        </p:nvSpPr>
        <p:spPr>
          <a:xfrm>
            <a:off x="381000" y="1226820"/>
            <a:ext cx="9144000" cy="49501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Line 46">
            <a:extLst>
              <a:ext uri="{FF2B5EF4-FFF2-40B4-BE49-F238E27FC236}">
                <a16:creationId xmlns:a16="http://schemas.microsoft.com/office/drawing/2014/main" id="{3CBC2E84-20F3-E6E8-C261-98DD304E687B}"/>
              </a:ext>
            </a:extLst>
          </p:cNvPr>
          <p:cNvSpPr>
            <a:spLocks noChangeShapeType="1"/>
          </p:cNvSpPr>
          <p:nvPr userDrawn="1"/>
        </p:nvSpPr>
        <p:spPr bwMode="auto">
          <a:xfrm>
            <a:off x="381000" y="936558"/>
            <a:ext cx="9144000" cy="0"/>
          </a:xfrm>
          <a:prstGeom prst="line">
            <a:avLst/>
          </a:prstGeom>
          <a:noFill/>
          <a:ln w="19050">
            <a:solidFill>
              <a:schemeClr val="accent1"/>
            </a:solidFill>
            <a:round/>
            <a:headEnd/>
            <a:tailEnd/>
          </a:ln>
          <a:effectLst/>
        </p:spPr>
        <p:txBody>
          <a:bodyPr wrap="none" anchor="ctr"/>
          <a:lstStyle/>
          <a:p>
            <a:pPr fontAlgn="auto">
              <a:spcBef>
                <a:spcPts val="0"/>
              </a:spcBef>
              <a:spcAft>
                <a:spcPts val="0"/>
              </a:spcAft>
              <a:defRPr/>
            </a:pPr>
            <a:endParaRPr lang="en-SG" sz="1800" b="0">
              <a:solidFill>
                <a:srgbClr val="000000"/>
              </a:solidFill>
              <a:latin typeface="Calibri" pitchFamily="34" charset="0"/>
              <a:cs typeface="Calibri" pitchFamily="34" charset="0"/>
            </a:endParaRPr>
          </a:p>
        </p:txBody>
      </p:sp>
    </p:spTree>
    <p:extLst>
      <p:ext uri="{BB962C8B-B14F-4D97-AF65-F5344CB8AC3E}">
        <p14:creationId xmlns:p14="http://schemas.microsoft.com/office/powerpoint/2010/main" val="2281219543"/>
      </p:ext>
    </p:extLst>
  </p:cSld>
  <p:clrMap bg1="lt1" tx1="dk1" bg2="lt2" tx2="dk2" accent1="accent1" accent2="accent2" accent3="accent3" accent4="accent4" accent5="accent5" accent6="accent6" hlink="hlink" folHlink="folHlink"/>
  <p:sldLayoutIdLst>
    <p:sldLayoutId id="2147484143" r:id="rId1"/>
    <p:sldLayoutId id="2147484249" r:id="rId2"/>
    <p:sldLayoutId id="2147484228" r:id="rId3"/>
    <p:sldLayoutId id="2147484092" r:id="rId4"/>
    <p:sldLayoutId id="2147484233" r:id="rId5"/>
    <p:sldLayoutId id="2147484137" r:id="rId6"/>
  </p:sldLayoutIdLst>
  <p:hf hdr="0" ftr="0" dt="0"/>
  <p:txStyles>
    <p:titleStyle>
      <a:lvl1pPr algn="l" rtl="0" eaLnBrk="0" fontAlgn="base" hangingPunct="0">
        <a:spcBef>
          <a:spcPct val="0"/>
        </a:spcBef>
        <a:spcAft>
          <a:spcPct val="0"/>
        </a:spcAft>
        <a:defRPr sz="2000" b="1" kern="1200">
          <a:solidFill>
            <a:schemeClr val="tx1"/>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2275" b="1">
          <a:solidFill>
            <a:schemeClr val="tx1"/>
          </a:solidFill>
          <a:latin typeface="Arial" panose="020B0604020202020204" pitchFamily="34" charset="0"/>
        </a:defRPr>
      </a:lvl2pPr>
      <a:lvl3pPr algn="l" rtl="0" eaLnBrk="0" fontAlgn="base" hangingPunct="0">
        <a:spcBef>
          <a:spcPct val="0"/>
        </a:spcBef>
        <a:spcAft>
          <a:spcPct val="0"/>
        </a:spcAft>
        <a:defRPr sz="2275" b="1">
          <a:solidFill>
            <a:schemeClr val="tx1"/>
          </a:solidFill>
          <a:latin typeface="Arial" panose="020B0604020202020204" pitchFamily="34" charset="0"/>
        </a:defRPr>
      </a:lvl3pPr>
      <a:lvl4pPr algn="l" rtl="0" eaLnBrk="0" fontAlgn="base" hangingPunct="0">
        <a:spcBef>
          <a:spcPct val="0"/>
        </a:spcBef>
        <a:spcAft>
          <a:spcPct val="0"/>
        </a:spcAft>
        <a:defRPr sz="2275" b="1">
          <a:solidFill>
            <a:schemeClr val="tx1"/>
          </a:solidFill>
          <a:latin typeface="Arial" panose="020B0604020202020204" pitchFamily="34" charset="0"/>
        </a:defRPr>
      </a:lvl4pPr>
      <a:lvl5pPr algn="l" rtl="0" eaLnBrk="0" fontAlgn="base" hangingPunct="0">
        <a:spcBef>
          <a:spcPct val="0"/>
        </a:spcBef>
        <a:spcAft>
          <a:spcPct val="0"/>
        </a:spcAft>
        <a:defRPr sz="2275" b="1">
          <a:solidFill>
            <a:schemeClr val="tx1"/>
          </a:solidFill>
          <a:latin typeface="Arial" panose="020B0604020202020204" pitchFamily="34" charset="0"/>
        </a:defRPr>
      </a:lvl5pPr>
      <a:lvl6pPr marL="371475" algn="l" rtl="0" eaLnBrk="1" fontAlgn="base" hangingPunct="1">
        <a:spcBef>
          <a:spcPct val="0"/>
        </a:spcBef>
        <a:spcAft>
          <a:spcPct val="0"/>
        </a:spcAft>
        <a:defRPr sz="2275" b="1">
          <a:solidFill>
            <a:schemeClr val="tx1"/>
          </a:solidFill>
          <a:latin typeface="Arial" panose="020B0604020202020204" pitchFamily="34" charset="0"/>
        </a:defRPr>
      </a:lvl6pPr>
      <a:lvl7pPr marL="742950" algn="l" rtl="0" eaLnBrk="1" fontAlgn="base" hangingPunct="1">
        <a:spcBef>
          <a:spcPct val="0"/>
        </a:spcBef>
        <a:spcAft>
          <a:spcPct val="0"/>
        </a:spcAft>
        <a:defRPr sz="2275" b="1">
          <a:solidFill>
            <a:schemeClr val="tx1"/>
          </a:solidFill>
          <a:latin typeface="Arial" panose="020B0604020202020204" pitchFamily="34" charset="0"/>
        </a:defRPr>
      </a:lvl7pPr>
      <a:lvl8pPr marL="1114425" algn="l" rtl="0" eaLnBrk="1" fontAlgn="base" hangingPunct="1">
        <a:spcBef>
          <a:spcPct val="0"/>
        </a:spcBef>
        <a:spcAft>
          <a:spcPct val="0"/>
        </a:spcAft>
        <a:defRPr sz="2275" b="1">
          <a:solidFill>
            <a:schemeClr val="tx1"/>
          </a:solidFill>
          <a:latin typeface="Arial" panose="020B0604020202020204" pitchFamily="34" charset="0"/>
        </a:defRPr>
      </a:lvl8pPr>
      <a:lvl9pPr marL="1485900" algn="l" rtl="0" eaLnBrk="1" fontAlgn="base" hangingPunct="1">
        <a:spcBef>
          <a:spcPct val="0"/>
        </a:spcBef>
        <a:spcAft>
          <a:spcPct val="0"/>
        </a:spcAft>
        <a:defRPr sz="2275" b="1">
          <a:solidFill>
            <a:schemeClr val="tx1"/>
          </a:solidFill>
          <a:latin typeface="Arial" panose="020B0604020202020204" pitchFamily="34" charset="0"/>
        </a:defRPr>
      </a:lvl9pPr>
    </p:titleStyle>
    <p:bodyStyle>
      <a:lvl1pPr marL="346075" indent="-346075" algn="l" rtl="0" eaLnBrk="0" fontAlgn="base" hangingPunct="0">
        <a:lnSpc>
          <a:spcPct val="100000"/>
        </a:lnSpc>
        <a:spcBef>
          <a:spcPts val="300"/>
        </a:spcBef>
        <a:spcAft>
          <a:spcPts val="300"/>
        </a:spcAft>
        <a:buClr>
          <a:schemeClr val="accent1"/>
        </a:buClr>
        <a:buFont typeface="Wingdings 2" panose="05020102010507070707" pitchFamily="18" charset="2"/>
        <a:buChar char="¡"/>
        <a:defRPr lang="en-US" sz="1200" kern="1200" baseline="0" dirty="0">
          <a:solidFill>
            <a:srgbClr val="000000"/>
          </a:solidFill>
          <a:latin typeface="+mj-lt"/>
          <a:ea typeface="+mn-ea"/>
          <a:cs typeface="Arial" panose="020B0604020202020204" pitchFamily="34" charset="0"/>
        </a:defRPr>
      </a:lvl1pPr>
      <a:lvl2pPr marL="685800" indent="-338138" algn="l" rtl="0" eaLnBrk="0" fontAlgn="base" hangingPunct="0">
        <a:lnSpc>
          <a:spcPct val="100000"/>
        </a:lnSpc>
        <a:spcBef>
          <a:spcPts val="300"/>
        </a:spcBef>
        <a:spcAft>
          <a:spcPts val="300"/>
        </a:spcAft>
        <a:buFont typeface="Arial" panose="020B0604020202020204" pitchFamily="34" charset="0"/>
        <a:buChar char="―"/>
        <a:defRPr lang="en-US" sz="1200" b="0" strike="noStrike" kern="1200" baseline="0" dirty="0" smtClean="0">
          <a:solidFill>
            <a:srgbClr val="000000"/>
          </a:solidFill>
          <a:latin typeface="+mj-lt"/>
          <a:ea typeface="+mn-ea"/>
          <a:cs typeface="Arial" panose="020B0604020202020204" pitchFamily="34" charset="0"/>
        </a:defRPr>
      </a:lvl2pPr>
      <a:lvl3pPr marL="1031875" indent="-346075" algn="l" rtl="0" eaLnBrk="0" fontAlgn="base" hangingPunct="0">
        <a:lnSpc>
          <a:spcPct val="100000"/>
        </a:lnSpc>
        <a:spcBef>
          <a:spcPts val="300"/>
        </a:spcBef>
        <a:spcAft>
          <a:spcPts val="300"/>
        </a:spcAft>
        <a:buFont typeface="Arial" panose="020B0604020202020204" pitchFamily="34" charset="0"/>
        <a:buChar char="‒"/>
        <a:defRPr lang="en-US" sz="1200" kern="1200" dirty="0" smtClean="0">
          <a:solidFill>
            <a:srgbClr val="000000"/>
          </a:solidFill>
          <a:latin typeface="+mj-lt"/>
          <a:ea typeface="+mn-ea"/>
          <a:cs typeface="+mn-cs"/>
        </a:defRPr>
      </a:lvl3pPr>
      <a:lvl4pPr marL="1260475" indent="-228600" algn="l" rtl="0" eaLnBrk="0" fontAlgn="base" hangingPunct="0">
        <a:lnSpc>
          <a:spcPct val="100000"/>
        </a:lnSpc>
        <a:spcBef>
          <a:spcPts val="300"/>
        </a:spcBef>
        <a:spcAft>
          <a:spcPts val="300"/>
        </a:spcAft>
        <a:buChar char="–"/>
        <a:tabLst/>
        <a:defRPr lang="en-US" sz="1200" kern="1200" baseline="0" dirty="0" smtClean="0">
          <a:solidFill>
            <a:srgbClr val="000000"/>
          </a:solidFill>
          <a:latin typeface="+mj-lt"/>
          <a:ea typeface="+mn-ea"/>
          <a:cs typeface="+mn-cs"/>
        </a:defRPr>
      </a:lvl4pPr>
      <a:lvl5pPr marL="1489075" indent="-231775" algn="l" rtl="0" eaLnBrk="0" fontAlgn="base" hangingPunct="0">
        <a:lnSpc>
          <a:spcPct val="100000"/>
        </a:lnSpc>
        <a:spcBef>
          <a:spcPts val="300"/>
        </a:spcBef>
        <a:spcAft>
          <a:spcPts val="300"/>
        </a:spcAft>
        <a:buFont typeface="Arial" panose="020B0604020202020204" pitchFamily="34" charset="0"/>
        <a:buChar char="‒"/>
        <a:defRPr lang="en-US" sz="1200" kern="1200" baseline="0" dirty="0">
          <a:solidFill>
            <a:srgbClr val="000000"/>
          </a:solidFill>
          <a:latin typeface="+mj-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3EB8A3F-B361-2B84-459C-5D092B9D5535}"/>
              </a:ext>
            </a:extLst>
          </p:cNvPr>
          <p:cNvSpPr>
            <a:spLocks noGrp="1"/>
          </p:cNvSpPr>
          <p:nvPr>
            <p:ph type="body" sz="quarter" idx="46"/>
          </p:nvPr>
        </p:nvSpPr>
        <p:spPr>
          <a:xfrm>
            <a:off x="1591063" y="6338042"/>
            <a:ext cx="7933937" cy="665726"/>
          </a:xfrm>
        </p:spPr>
        <p:txBody>
          <a:bodyPr anchor="t"/>
          <a:lstStyle/>
          <a:p>
            <a:pPr marL="0" indent="0">
              <a:buNone/>
            </a:pPr>
            <a:r>
              <a:rPr lang="en-US" sz="800">
                <a:latin typeface="Arial"/>
                <a:cs typeface="Arial"/>
              </a:rPr>
              <a:t>Source: Bloomberg or Investing.com (26 May 2026), company information. </a:t>
            </a:r>
          </a:p>
          <a:p>
            <a:r>
              <a:rPr lang="en-US" sz="800">
                <a:ea typeface="Calibri" panose="020F0502020204030204" pitchFamily="34" charset="0"/>
                <a:cs typeface="Calibri" panose="020F0502020204030204" pitchFamily="34" charset="0"/>
              </a:rPr>
              <a:t>Forecast financial figures are derived from Bloomberg’s earnings estimates. Financial year-end dates for L&amp;F/PDS/WMT/AEO/COST/CVS/ABF/H&amp;M/MANH/CHRW: 31 Dec/31 Mar/31 Jan/31 Jan/31 Aug/31 Dec/30 Sep/30 Nov/31 Dec/31 Dec respectively. Historical and forecast financial figures have been adjusted to align with calendar year-end of 31 December.</a:t>
            </a:r>
          </a:p>
        </p:txBody>
      </p:sp>
      <p:sp>
        <p:nvSpPr>
          <p:cNvPr id="15" name="Title 14">
            <a:extLst>
              <a:ext uri="{FF2B5EF4-FFF2-40B4-BE49-F238E27FC236}">
                <a16:creationId xmlns:a16="http://schemas.microsoft.com/office/drawing/2014/main" id="{BB6373AC-DBD5-158C-5A9B-E97E8032EA51}"/>
              </a:ext>
            </a:extLst>
          </p:cNvPr>
          <p:cNvSpPr>
            <a:spLocks noGrp="1"/>
          </p:cNvSpPr>
          <p:nvPr>
            <p:ph type="title"/>
          </p:nvPr>
        </p:nvSpPr>
        <p:spPr/>
        <p:txBody>
          <a:bodyPr/>
          <a:lstStyle/>
          <a:p>
            <a:r>
              <a:rPr lang="en-GB">
                <a:ea typeface="Calibri" panose="020F0502020204030204" pitchFamily="34" charset="0"/>
                <a:cs typeface="Calibri" panose="020F0502020204030204" pitchFamily="34" charset="0"/>
              </a:rPr>
              <a:t>Indicative Valuation Analysis</a:t>
            </a:r>
            <a:r>
              <a:rPr lang="en-US"/>
              <a:t> (based on Comparables)</a:t>
            </a:r>
            <a:endParaRPr lang="en-GB"/>
          </a:p>
        </p:txBody>
      </p:sp>
      <p:sp>
        <p:nvSpPr>
          <p:cNvPr id="4" name="Slide Number Placeholder 3">
            <a:extLst>
              <a:ext uri="{FF2B5EF4-FFF2-40B4-BE49-F238E27FC236}">
                <a16:creationId xmlns:a16="http://schemas.microsoft.com/office/drawing/2014/main" id="{151DF4E3-96B5-4838-1AA8-1F33F715120C}"/>
              </a:ext>
            </a:extLst>
          </p:cNvPr>
          <p:cNvSpPr>
            <a:spLocks noGrp="1"/>
          </p:cNvSpPr>
          <p:nvPr>
            <p:ph type="sldNum" sz="quarter" idx="11"/>
          </p:nvPr>
        </p:nvSpPr>
        <p:spPr/>
        <p:txBody>
          <a:bodyPr/>
          <a:lstStyle/>
          <a:p>
            <a:pPr>
              <a:defRPr/>
            </a:pPr>
            <a:fld id="{EED7964B-8F50-47E5-B5EE-37748C966AF4}" type="slidenum">
              <a:rPr lang="en-US" smtClean="0"/>
              <a:pPr>
                <a:defRPr/>
              </a:pPr>
              <a:t>1</a:t>
            </a:fld>
            <a:endParaRPr lang="en-US"/>
          </a:p>
        </p:txBody>
      </p:sp>
      <p:graphicFrame>
        <p:nvGraphicFramePr>
          <p:cNvPr id="5" name="Table 4">
            <a:extLst>
              <a:ext uri="{FF2B5EF4-FFF2-40B4-BE49-F238E27FC236}">
                <a16:creationId xmlns:a16="http://schemas.microsoft.com/office/drawing/2014/main" id="{BB87673C-9828-5FB1-C89D-4639E1668F39}"/>
              </a:ext>
            </a:extLst>
          </p:cNvPr>
          <p:cNvGraphicFramePr>
            <a:graphicFrameLocks noGrp="1"/>
          </p:cNvGraphicFramePr>
          <p:nvPr>
            <p:extLst>
              <p:ext uri="{D42A27DB-BD31-4B8C-83A1-F6EECF244321}">
                <p14:modId xmlns:p14="http://schemas.microsoft.com/office/powerpoint/2010/main" val="2825266666"/>
              </p:ext>
            </p:extLst>
          </p:nvPr>
        </p:nvGraphicFramePr>
        <p:xfrm>
          <a:off x="80198" y="950627"/>
          <a:ext cx="9379230" cy="5303520"/>
        </p:xfrm>
        <a:graphic>
          <a:graphicData uri="http://schemas.openxmlformats.org/drawingml/2006/table">
            <a:tbl>
              <a:tblPr firstRow="1" bandRow="1">
                <a:tableStyleId>{912C8C85-51F0-491E-9774-3900AFEF0FD7}</a:tableStyleId>
              </a:tblPr>
              <a:tblGrid>
                <a:gridCol w="1459230">
                  <a:extLst>
                    <a:ext uri="{9D8B030D-6E8A-4147-A177-3AD203B41FA5}">
                      <a16:colId xmlns:a16="http://schemas.microsoft.com/office/drawing/2014/main" val="1862608783"/>
                    </a:ext>
                  </a:extLst>
                </a:gridCol>
                <a:gridCol w="792000">
                  <a:extLst>
                    <a:ext uri="{9D8B030D-6E8A-4147-A177-3AD203B41FA5}">
                      <a16:colId xmlns:a16="http://schemas.microsoft.com/office/drawing/2014/main" val="3220234782"/>
                    </a:ext>
                  </a:extLst>
                </a:gridCol>
                <a:gridCol w="792000">
                  <a:extLst>
                    <a:ext uri="{9D8B030D-6E8A-4147-A177-3AD203B41FA5}">
                      <a16:colId xmlns:a16="http://schemas.microsoft.com/office/drawing/2014/main" val="102656895"/>
                    </a:ext>
                  </a:extLst>
                </a:gridCol>
                <a:gridCol w="792000">
                  <a:extLst>
                    <a:ext uri="{9D8B030D-6E8A-4147-A177-3AD203B41FA5}">
                      <a16:colId xmlns:a16="http://schemas.microsoft.com/office/drawing/2014/main" val="3947467126"/>
                    </a:ext>
                  </a:extLst>
                </a:gridCol>
                <a:gridCol w="792000">
                  <a:extLst>
                    <a:ext uri="{9D8B030D-6E8A-4147-A177-3AD203B41FA5}">
                      <a16:colId xmlns:a16="http://schemas.microsoft.com/office/drawing/2014/main" val="2737906113"/>
                    </a:ext>
                  </a:extLst>
                </a:gridCol>
                <a:gridCol w="792000">
                  <a:extLst>
                    <a:ext uri="{9D8B030D-6E8A-4147-A177-3AD203B41FA5}">
                      <a16:colId xmlns:a16="http://schemas.microsoft.com/office/drawing/2014/main" val="4041273749"/>
                    </a:ext>
                  </a:extLst>
                </a:gridCol>
                <a:gridCol w="792000">
                  <a:extLst>
                    <a:ext uri="{9D8B030D-6E8A-4147-A177-3AD203B41FA5}">
                      <a16:colId xmlns:a16="http://schemas.microsoft.com/office/drawing/2014/main" val="3120984409"/>
                    </a:ext>
                  </a:extLst>
                </a:gridCol>
                <a:gridCol w="792000">
                  <a:extLst>
                    <a:ext uri="{9D8B030D-6E8A-4147-A177-3AD203B41FA5}">
                      <a16:colId xmlns:a16="http://schemas.microsoft.com/office/drawing/2014/main" val="1868138625"/>
                    </a:ext>
                  </a:extLst>
                </a:gridCol>
                <a:gridCol w="792000">
                  <a:extLst>
                    <a:ext uri="{9D8B030D-6E8A-4147-A177-3AD203B41FA5}">
                      <a16:colId xmlns:a16="http://schemas.microsoft.com/office/drawing/2014/main" val="301231104"/>
                    </a:ext>
                  </a:extLst>
                </a:gridCol>
                <a:gridCol w="792000">
                  <a:extLst>
                    <a:ext uri="{9D8B030D-6E8A-4147-A177-3AD203B41FA5}">
                      <a16:colId xmlns:a16="http://schemas.microsoft.com/office/drawing/2014/main" val="850044808"/>
                    </a:ext>
                  </a:extLst>
                </a:gridCol>
                <a:gridCol w="792000">
                  <a:extLst>
                    <a:ext uri="{9D8B030D-6E8A-4147-A177-3AD203B41FA5}">
                      <a16:colId xmlns:a16="http://schemas.microsoft.com/office/drawing/2014/main" val="2905507952"/>
                    </a:ext>
                  </a:extLst>
                </a:gridCol>
              </a:tblGrid>
              <a:tr h="0">
                <a:tc rowSpan="2">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endParaRPr lang="en-US" sz="900" b="0">
                        <a:solidFill>
                          <a:schemeClr val="accent3"/>
                        </a:solidFill>
                        <a:latin typeface="+mj-lt"/>
                      </a:endParaRPr>
                    </a:p>
                  </a:txBody>
                  <a:tcPr anchor="ctr">
                    <a:lnL w="6350" cap="flat" cmpd="sng" algn="ctr">
                      <a:noFill/>
                      <a:prstDash val="solid"/>
                      <a:miter lim="800000"/>
                    </a:lnL>
                    <a:lnR>
                      <a:noFill/>
                    </a:lnR>
                    <a:lnT w="6350" cap="flat" cmpd="sng" algn="ctr">
                      <a:noFill/>
                      <a:prstDash val="solid"/>
                      <a:miter lim="800000"/>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pPr algn="ctr"/>
                      <a:endParaRPr lang="en-US" altLang="zh-CN" sz="900" b="1">
                        <a:solidFill>
                          <a:schemeClr val="tx1"/>
                        </a:solidFill>
                        <a:latin typeface="+mj-lt"/>
                      </a:endParaRPr>
                    </a:p>
                  </a:txBody>
                  <a:tcPr anchor="ctr">
                    <a:lnL>
                      <a:noFill/>
                    </a:lnL>
                    <a:lnR>
                      <a:noFill/>
                    </a:lnR>
                    <a:lnT w="6350" cap="flat" cmpd="sng" algn="ctr">
                      <a:noFill/>
                      <a:prstDash val="solid"/>
                      <a:miter lim="800000"/>
                    </a:lnT>
                    <a:lnB w="12700" cap="flat" cmpd="sng" algn="ctr">
                      <a:solidFill>
                        <a:srgbClr val="C00000"/>
                      </a:solidFill>
                      <a:prstDash val="dash"/>
                      <a:round/>
                      <a:headEnd type="none" w="med" len="med"/>
                      <a:tailEnd type="none" w="med" len="med"/>
                    </a:lnB>
                    <a:lnTlToBr w="12700" cmpd="sng">
                      <a:noFill/>
                      <a:prstDash val="solid"/>
                    </a:lnTlToBr>
                    <a:lnBlToTr w="12700" cmpd="sng">
                      <a:noFill/>
                      <a:prstDash val="solid"/>
                    </a:lnBlToTr>
                    <a:noFill/>
                  </a:tcPr>
                </a:tc>
                <a:tc gridSpan="9">
                  <a:txBody>
                    <a:bodyPr/>
                    <a:lstStyle/>
                    <a:p>
                      <a:pPr algn="ctr"/>
                      <a:r>
                        <a:rPr lang="en-US" altLang="zh-CN" sz="900" b="1" kern="1200">
                          <a:solidFill>
                            <a:schemeClr val="tx1"/>
                          </a:solidFill>
                        </a:rPr>
                        <a:t>Comparable Listed Companies</a:t>
                      </a:r>
                      <a:r>
                        <a:rPr lang="en-US" altLang="zh-CN" sz="900" b="1" kern="1200" baseline="30000">
                          <a:solidFill>
                            <a:schemeClr val="tx1"/>
                          </a:solidFill>
                        </a:rPr>
                        <a:t>1</a:t>
                      </a:r>
                      <a:endParaRPr lang="en-US" altLang="zh-CN" sz="900" b="1" kern="1200" baseline="30000">
                        <a:solidFill>
                          <a:schemeClr val="tx1"/>
                        </a:solidFill>
                        <a:latin typeface="+mj-lt"/>
                        <a:ea typeface="DFKaiShu-GB5"/>
                        <a:cs typeface="+mn-cs"/>
                      </a:endParaRPr>
                    </a:p>
                  </a:txBody>
                  <a:tcPr anchor="ctr">
                    <a:lnL>
                      <a:noFill/>
                    </a:lnL>
                  </a:tcPr>
                </a:tc>
                <a:tc hMerge="1">
                  <a:txBody>
                    <a:bodyPr/>
                    <a:lstStyle>
                      <a:lvl1pPr marL="0" algn="l" defTabSz="914400" rtl="0" eaLnBrk="1" latinLnBrk="0" hangingPunct="1">
                        <a:defRPr sz="1800" b="1" kern="1200">
                          <a:solidFill>
                            <a:schemeClr val="lt1"/>
                          </a:solidFill>
                          <a:latin typeface="Calibri"/>
                          <a:ea typeface="DFKaiShu-GB5"/>
                        </a:defRPr>
                      </a:lvl1pPr>
                      <a:lvl2pPr marL="457200" algn="l" defTabSz="914400" rtl="0" eaLnBrk="1" latinLnBrk="0" hangingPunct="1">
                        <a:defRPr sz="1800" b="1" kern="1200">
                          <a:solidFill>
                            <a:schemeClr val="lt1"/>
                          </a:solidFill>
                          <a:latin typeface="Calibri"/>
                          <a:ea typeface="DFKaiShu-GB5"/>
                        </a:defRPr>
                      </a:lvl2pPr>
                      <a:lvl3pPr marL="914400" algn="l" defTabSz="914400" rtl="0" eaLnBrk="1" latinLnBrk="0" hangingPunct="1">
                        <a:defRPr sz="1800" b="1" kern="1200">
                          <a:solidFill>
                            <a:schemeClr val="lt1"/>
                          </a:solidFill>
                          <a:latin typeface="Calibri"/>
                          <a:ea typeface="DFKaiShu-GB5"/>
                        </a:defRPr>
                      </a:lvl3pPr>
                      <a:lvl4pPr marL="1371600" algn="l" defTabSz="914400" rtl="0" eaLnBrk="1" latinLnBrk="0" hangingPunct="1">
                        <a:defRPr sz="1800" b="1" kern="1200">
                          <a:solidFill>
                            <a:schemeClr val="lt1"/>
                          </a:solidFill>
                          <a:latin typeface="Calibri"/>
                          <a:ea typeface="DFKaiShu-GB5"/>
                        </a:defRPr>
                      </a:lvl4pPr>
                      <a:lvl5pPr marL="1828800" algn="l" defTabSz="914400" rtl="0" eaLnBrk="1" latinLnBrk="0" hangingPunct="1">
                        <a:defRPr sz="1800" b="1" kern="1200">
                          <a:solidFill>
                            <a:schemeClr val="lt1"/>
                          </a:solidFill>
                          <a:latin typeface="Calibri"/>
                          <a:ea typeface="DFKaiShu-GB5"/>
                        </a:defRPr>
                      </a:lvl5pPr>
                      <a:lvl6pPr marL="2286000" algn="l" defTabSz="914400" rtl="0" eaLnBrk="1" latinLnBrk="0" hangingPunct="1">
                        <a:defRPr sz="1800" b="1" kern="1200">
                          <a:solidFill>
                            <a:schemeClr val="lt1"/>
                          </a:solidFill>
                          <a:latin typeface="Calibri"/>
                          <a:ea typeface="DFKaiShu-GB5"/>
                        </a:defRPr>
                      </a:lvl6pPr>
                      <a:lvl7pPr marL="2743200" algn="l" defTabSz="914400" rtl="0" eaLnBrk="1" latinLnBrk="0" hangingPunct="1">
                        <a:defRPr sz="1800" b="1" kern="1200">
                          <a:solidFill>
                            <a:schemeClr val="lt1"/>
                          </a:solidFill>
                          <a:latin typeface="Calibri"/>
                          <a:ea typeface="DFKaiShu-GB5"/>
                        </a:defRPr>
                      </a:lvl7pPr>
                      <a:lvl8pPr marL="3200400" algn="l" defTabSz="914400" rtl="0" eaLnBrk="1" latinLnBrk="0" hangingPunct="1">
                        <a:defRPr sz="1800" b="1" kern="1200">
                          <a:solidFill>
                            <a:schemeClr val="lt1"/>
                          </a:solidFill>
                          <a:latin typeface="Calibri"/>
                          <a:ea typeface="DFKaiShu-GB5"/>
                        </a:defRPr>
                      </a:lvl8pPr>
                      <a:lvl9pPr marL="3657600" algn="l" defTabSz="914400" rtl="0" eaLnBrk="1" latinLnBrk="0" hangingPunct="1">
                        <a:defRPr sz="1800" b="1" kern="1200">
                          <a:solidFill>
                            <a:schemeClr val="lt1"/>
                          </a:solidFill>
                          <a:latin typeface="Calibri"/>
                          <a:ea typeface="DFKaiShu-GB5"/>
                        </a:defRPr>
                      </a:lvl9pPr>
                    </a:lstStyle>
                    <a:p>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lang="zh-CN" altLang="en-US" sz="950" b="1">
                        <a:solidFill>
                          <a:schemeClr val="tx1"/>
                        </a:solidFill>
                      </a:endParaRPr>
                    </a:p>
                  </a:txBody>
                  <a:tcPr anchor="ctr">
                    <a:lnL>
                      <a:noFill/>
                    </a:lnL>
                    <a:lnR>
                      <a:noFill/>
                    </a:lnR>
                    <a:lnT w="12700" cap="flat" cmpd="sng" algn="ctr">
                      <a:solidFill>
                        <a:schemeClr val="bg1"/>
                      </a:solidFill>
                      <a:prstDash val="solid"/>
                      <a:round/>
                      <a:headEnd type="none" w="med" len="med"/>
                      <a:tailEnd type="none" w="med" len="med"/>
                    </a:lnT>
                    <a:lnB w="25400" cmpd="sng">
                      <a:noFill/>
                    </a:lnB>
                    <a:lnTlToBr w="12700" cmpd="sng">
                      <a:noFill/>
                      <a:prstDash val="solid"/>
                    </a:lnTlToBr>
                    <a:lnBlToTr w="12700" cmpd="sng">
                      <a:noFill/>
                      <a:prstDash val="solid"/>
                    </a:lnBlToTr>
                    <a:noFill/>
                  </a:tcPr>
                </a:tc>
                <a:tc hMerge="1">
                  <a:txBody>
                    <a:bodyPr/>
                    <a:lstStyle/>
                    <a:p>
                      <a:pPr algn="ctr"/>
                      <a:endParaRPr lang="zh-CN" altLang="en-US" sz="1200" b="1" kern="1200">
                        <a:solidFill>
                          <a:schemeClr val="tx1"/>
                        </a:solidFill>
                        <a:latin typeface="Calibri"/>
                        <a:ea typeface="DFKaiShu-GB5"/>
                        <a:cs typeface="+mn-cs"/>
                      </a:endParaRP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lang="en-US" altLang="zh-CN" sz="1000" b="1" kern="1200" baseline="30000">
                        <a:solidFill>
                          <a:schemeClr val="tx1"/>
                        </a:solidFill>
                        <a:latin typeface="+mj-lt"/>
                        <a:ea typeface="DFKaiShu-GB5"/>
                        <a:cs typeface="+mn-cs"/>
                      </a:endParaRPr>
                    </a:p>
                  </a:txBody>
                  <a:tcPr anchor="ctr">
                    <a:lnL>
                      <a:noFill/>
                    </a:lnL>
                    <a:lnR>
                      <a:noFill/>
                    </a:lnR>
                  </a:tcPr>
                </a:tc>
                <a:tc hMerge="1">
                  <a:txBody>
                    <a:bodyPr/>
                    <a:lstStyle/>
                    <a:p>
                      <a:pPr algn="ctr"/>
                      <a:endParaRPr lang="en-US" altLang="zh-CN" sz="1000" b="1" kern="1200" baseline="30000">
                        <a:solidFill>
                          <a:schemeClr val="tx1"/>
                        </a:solidFill>
                        <a:latin typeface="+mj-lt"/>
                        <a:ea typeface="DFKaiShu-GB5"/>
                        <a:cs typeface="+mn-cs"/>
                      </a:endParaRPr>
                    </a:p>
                  </a:txBody>
                  <a:tcPr anchor="ctr">
                    <a:lnL>
                      <a:noFill/>
                    </a:lnL>
                    <a:lnR>
                      <a:noFill/>
                    </a:lnR>
                  </a:tcPr>
                </a:tc>
                <a:tc hMerge="1">
                  <a:txBody>
                    <a:bodyPr/>
                    <a:lstStyle/>
                    <a:p>
                      <a:pPr algn="ctr"/>
                      <a:endParaRPr lang="en-US" altLang="zh-CN" sz="1000" b="1" kern="1200" baseline="30000">
                        <a:solidFill>
                          <a:schemeClr val="tx1"/>
                        </a:solidFill>
                        <a:latin typeface="+mj-lt"/>
                        <a:ea typeface="DFKaiShu-GB5"/>
                        <a:cs typeface="+mn-cs"/>
                      </a:endParaRPr>
                    </a:p>
                  </a:txBody>
                  <a:tcPr anchor="ctr">
                    <a:lnL>
                      <a:noFill/>
                    </a:lnL>
                  </a:tcPr>
                </a:tc>
                <a:tc hMerge="1">
                  <a:txBody>
                    <a:bodyPr/>
                    <a:lstStyle/>
                    <a:p>
                      <a:pPr algn="ctr"/>
                      <a:endParaRPr lang="en-US" altLang="zh-CN" sz="900" b="1" kern="1200" baseline="30000">
                        <a:solidFill>
                          <a:schemeClr val="tx1"/>
                        </a:solidFill>
                        <a:latin typeface="+mj-lt"/>
                        <a:ea typeface="DFKaiShu-GB5"/>
                        <a:cs typeface="+mn-cs"/>
                      </a:endParaRPr>
                    </a:p>
                  </a:txBody>
                  <a:tcPr anchor="ctr">
                    <a:lnL>
                      <a:noFill/>
                    </a:lnL>
                    <a:lnR>
                      <a:noFill/>
                    </a:lnR>
                  </a:tcPr>
                </a:tc>
                <a:tc hMerge="1">
                  <a:txBody>
                    <a:bodyPr/>
                    <a:lstStyle/>
                    <a:p>
                      <a:pPr algn="ctr"/>
                      <a:endParaRPr lang="en-US" altLang="zh-CN" sz="900" b="1" kern="1200" baseline="30000">
                        <a:solidFill>
                          <a:schemeClr val="tx1"/>
                        </a:solidFill>
                        <a:latin typeface="+mj-lt"/>
                        <a:ea typeface="DFKaiShu-GB5"/>
                        <a:cs typeface="+mn-cs"/>
                      </a:endParaRPr>
                    </a:p>
                  </a:txBody>
                  <a:tcPr anchor="ctr">
                    <a:lnL>
                      <a:noFill/>
                    </a:lnL>
                  </a:tcPr>
                </a:tc>
                <a:extLst>
                  <a:ext uri="{0D108BD9-81ED-4DB2-BD59-A6C34878D82A}">
                    <a16:rowId xmlns:a16="http://schemas.microsoft.com/office/drawing/2014/main" val="1197351744"/>
                  </a:ext>
                </a:extLst>
              </a:tr>
              <a:tr h="0">
                <a:tc vMerge="1">
                  <a:txBody>
                    <a:bodyPr/>
                    <a:lstStyle/>
                    <a:p>
                      <a:endParaRPr lang="en-US"/>
                    </a:p>
                  </a:txBody>
                  <a:tcPr>
                    <a:lnT w="25400" cmpd="sng">
                      <a:noFill/>
                    </a:lnT>
                  </a:tcPr>
                </a:tc>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900" b="1" baseline="0">
                          <a:solidFill>
                            <a:schemeClr val="tx1"/>
                          </a:solidFill>
                          <a:latin typeface="+mj-lt"/>
                        </a:rPr>
                        <a:t>L&amp;F</a:t>
                      </a:r>
                      <a:endParaRPr lang="en-US" altLang="zh-CN" sz="900" b="1" baseline="0">
                        <a:solidFill>
                          <a:schemeClr val="tx1"/>
                        </a:solidFill>
                        <a:latin typeface="+mj-lt"/>
                      </a:endParaRP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rgbClr val="C00000"/>
                      </a:solidFill>
                      <a:prstDash val="dash"/>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1">
                          <a:solidFill>
                            <a:srgbClr val="00B050"/>
                          </a:solidFill>
                          <a:latin typeface="+mj-lt"/>
                        </a:rPr>
                        <a:t>PDS</a:t>
                      </a:r>
                    </a:p>
                  </a:txBody>
                  <a:tcPr marL="0" marR="0" marT="0" marB="0" anchor="ctr">
                    <a:lnL w="12700" cap="flat" cmpd="sng" algn="ctr">
                      <a:solidFill>
                        <a:srgbClr val="C00000"/>
                      </a:solidFill>
                      <a:prstDash val="dash"/>
                      <a:round/>
                      <a:headEnd type="none" w="med" len="med"/>
                      <a:tailEnd type="none" w="med" len="med"/>
                    </a:lnL>
                    <a:lnB w="12700" cap="flat" cmpd="sng" algn="ctr">
                      <a:solidFill>
                        <a:schemeClr val="bg1">
                          <a:lumMod val="85000"/>
                        </a:schemeClr>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algn="ctr"/>
                      <a:r>
                        <a:rPr lang="en-US" altLang="zh-CN" sz="900" b="1">
                          <a:solidFill>
                            <a:srgbClr val="FF0000"/>
                          </a:solidFill>
                          <a:latin typeface="+mj-lt"/>
                        </a:rPr>
                        <a:t>Walmart</a:t>
                      </a:r>
                    </a:p>
                  </a:txBody>
                  <a:tcPr marL="0" marR="0" marT="0" marB="0" anchor="ctr">
                    <a:lnB w="12700" cap="flat" cmpd="sng" algn="ctr">
                      <a:solidFill>
                        <a:schemeClr val="bg1">
                          <a:lumMod val="85000"/>
                        </a:schemeClr>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algn="ctr"/>
                      <a:r>
                        <a:rPr lang="en-US" altLang="zh-CN" sz="900" b="1">
                          <a:solidFill>
                            <a:srgbClr val="FF0000"/>
                          </a:solidFill>
                          <a:latin typeface="+mj-lt"/>
                        </a:rPr>
                        <a:t>American Eagle</a:t>
                      </a:r>
                    </a:p>
                  </a:txBody>
                  <a:tcPr marL="0" marR="0" marT="0" marB="0" anchor="ctr">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1">
                          <a:solidFill>
                            <a:srgbClr val="FF0000"/>
                          </a:solidFill>
                          <a:latin typeface="+mj-lt"/>
                        </a:rPr>
                        <a:t>Costco</a:t>
                      </a:r>
                    </a:p>
                  </a:txBody>
                  <a:tcPr marL="0" marR="0" marT="0" marB="0" anchor="ctr">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1">
                          <a:solidFill>
                            <a:srgbClr val="FF0000"/>
                          </a:solidFill>
                          <a:latin typeface="+mj-lt"/>
                        </a:rPr>
                        <a:t>CVS Health</a:t>
                      </a:r>
                    </a:p>
                  </a:txBody>
                  <a:tcPr marL="0" marR="0" marT="0" marB="0" anchor="ctr">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1">
                          <a:solidFill>
                            <a:srgbClr val="FF0000"/>
                          </a:solidFill>
                          <a:latin typeface="+mj-lt"/>
                        </a:rPr>
                        <a:t>Associated British Foods</a:t>
                      </a:r>
                    </a:p>
                  </a:txBody>
                  <a:tcPr marL="0" marR="0" marT="0" marB="0" anchor="ctr">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1">
                          <a:solidFill>
                            <a:srgbClr val="FF0000"/>
                          </a:solidFill>
                          <a:latin typeface="+mj-lt"/>
                        </a:rPr>
                        <a:t>H&amp;M</a:t>
                      </a:r>
                    </a:p>
                  </a:txBody>
                  <a:tcPr marL="0" marR="0" marT="0" marB="0" anchor="ctr">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1">
                          <a:solidFill>
                            <a:srgbClr val="FF0000"/>
                          </a:solidFill>
                          <a:latin typeface="+mj-lt"/>
                        </a:rPr>
                        <a:t>Manhattan Associates</a:t>
                      </a:r>
                    </a:p>
                  </a:txBody>
                  <a:tcPr marL="0" marR="0" marT="0" marB="0" anchor="ctr">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1">
                          <a:solidFill>
                            <a:srgbClr val="FF0000"/>
                          </a:solidFill>
                          <a:latin typeface="+mj-lt"/>
                        </a:rPr>
                        <a:t>CH Robinson</a:t>
                      </a:r>
                    </a:p>
                  </a:txBody>
                  <a:tcPr marL="0" marR="0" marT="0" marB="0" anchor="ct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84698283"/>
                  </a:ext>
                </a:extLst>
              </a:tr>
              <a:tr h="0">
                <a:tc>
                  <a:txBody>
                    <a:bodyPr/>
                    <a:lstStyle/>
                    <a:p>
                      <a:r>
                        <a:rPr lang="en-US" sz="900" b="0">
                          <a:solidFill>
                            <a:schemeClr val="accent3"/>
                          </a:solidFill>
                          <a:latin typeface="+mj-lt"/>
                        </a:rPr>
                        <a:t>Listing</a:t>
                      </a:r>
                    </a:p>
                  </a:txBody>
                  <a:tcPr anchor="ctr">
                    <a:lnL w="6350" cap="flat" cmpd="sng" algn="ctr">
                      <a:noFill/>
                      <a:prstDash val="solid"/>
                      <a:miter lim="800000"/>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baseline="0">
                          <a:solidFill>
                            <a:schemeClr val="tx1"/>
                          </a:solidFill>
                          <a:latin typeface="+mj-lt"/>
                        </a:rPr>
                        <a:t>N/A</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0">
                          <a:solidFill>
                            <a:srgbClr val="00B050"/>
                          </a:solidFill>
                          <a:latin typeface="+mj-lt"/>
                        </a:rPr>
                        <a:t>India NSE</a:t>
                      </a:r>
                    </a:p>
                    <a:p>
                      <a:pPr algn="ctr"/>
                      <a:r>
                        <a:rPr lang="en-US" altLang="zh-CN" sz="900" b="0">
                          <a:solidFill>
                            <a:srgbClr val="00B050"/>
                          </a:solidFill>
                          <a:latin typeface="+mj-lt"/>
                        </a:rPr>
                        <a:t>(PDSL.NS)</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0">
                          <a:solidFill>
                            <a:srgbClr val="FF0000"/>
                          </a:solidFill>
                          <a:latin typeface="+mj-lt"/>
                        </a:rPr>
                        <a:t>US Nasdaq</a:t>
                      </a:r>
                    </a:p>
                    <a:p>
                      <a:pPr algn="ctr"/>
                      <a:r>
                        <a:rPr lang="en-US" altLang="zh-CN" sz="900" b="0">
                          <a:solidFill>
                            <a:srgbClr val="FF0000"/>
                          </a:solidFill>
                          <a:latin typeface="+mj-lt"/>
                        </a:rPr>
                        <a:t>(WMT.US)</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0">
                          <a:solidFill>
                            <a:srgbClr val="FF0000"/>
                          </a:solidFill>
                          <a:latin typeface="+mj-lt"/>
                        </a:rPr>
                        <a:t>US NYSE</a:t>
                      </a:r>
                    </a:p>
                    <a:p>
                      <a:pPr algn="ctr"/>
                      <a:r>
                        <a:rPr lang="en-US" altLang="zh-CN" sz="900" b="0">
                          <a:solidFill>
                            <a:srgbClr val="FF0000"/>
                          </a:solidFill>
                          <a:latin typeface="+mj-lt"/>
                        </a:rPr>
                        <a:t>(AEO.US)</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0" kern="1200">
                          <a:solidFill>
                            <a:srgbClr val="FF0000"/>
                          </a:solidFill>
                          <a:latin typeface="+mn-lt"/>
                          <a:ea typeface="+mn-ea"/>
                          <a:cs typeface="+mn-cs"/>
                        </a:rPr>
                        <a:t>US Nasdaq</a:t>
                      </a:r>
                    </a:p>
                    <a:p>
                      <a:pPr algn="ctr"/>
                      <a:r>
                        <a:rPr lang="en-US" altLang="zh-CN" sz="900" b="0" kern="1200">
                          <a:solidFill>
                            <a:srgbClr val="FF0000"/>
                          </a:solidFill>
                          <a:latin typeface="+mn-lt"/>
                          <a:ea typeface="+mn-ea"/>
                          <a:cs typeface="+mn-cs"/>
                        </a:rPr>
                        <a:t>(COST.US)</a:t>
                      </a:r>
                      <a:endParaRPr lang="en-US" altLang="zh-CN" sz="900" b="0">
                        <a:solidFill>
                          <a:srgbClr val="FF0000"/>
                        </a:solidFill>
                        <a:latin typeface="+mj-lt"/>
                      </a:endParaRP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0" kern="1200">
                          <a:solidFill>
                            <a:srgbClr val="FF0000"/>
                          </a:solidFill>
                          <a:latin typeface="+mn-lt"/>
                          <a:ea typeface="+mn-ea"/>
                          <a:cs typeface="+mn-cs"/>
                        </a:rPr>
                        <a:t>US NYSE</a:t>
                      </a:r>
                    </a:p>
                    <a:p>
                      <a:pPr algn="ctr"/>
                      <a:r>
                        <a:rPr lang="en-US" altLang="zh-CN" sz="900" b="0" kern="1200">
                          <a:solidFill>
                            <a:srgbClr val="FF0000"/>
                          </a:solidFill>
                          <a:latin typeface="+mn-lt"/>
                          <a:ea typeface="+mn-ea"/>
                          <a:cs typeface="+mn-cs"/>
                        </a:rPr>
                        <a:t>(CYS.US)</a:t>
                      </a:r>
                      <a:endParaRPr lang="en-US" altLang="zh-CN" sz="900" b="0">
                        <a:solidFill>
                          <a:srgbClr val="FF0000"/>
                        </a:solidFill>
                        <a:latin typeface="+mj-lt"/>
                      </a:endParaRP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0">
                          <a:solidFill>
                            <a:srgbClr val="FF0000"/>
                          </a:solidFill>
                          <a:latin typeface="+mj-lt"/>
                        </a:rPr>
                        <a:t>London SE</a:t>
                      </a:r>
                    </a:p>
                    <a:p>
                      <a:pPr algn="ctr"/>
                      <a:r>
                        <a:rPr lang="en-US" altLang="zh-CN" sz="900" b="0">
                          <a:solidFill>
                            <a:srgbClr val="FF0000"/>
                          </a:solidFill>
                          <a:latin typeface="+mj-lt"/>
                        </a:rPr>
                        <a:t>(ABF.L)</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ltLang="zh-CN" sz="900" b="0">
                          <a:solidFill>
                            <a:srgbClr val="FF0000"/>
                          </a:solidFill>
                          <a:latin typeface="+mj-lt"/>
                        </a:rPr>
                        <a:t>Stockholm SE</a:t>
                      </a:r>
                    </a:p>
                    <a:p>
                      <a:pPr algn="ctr"/>
                      <a:r>
                        <a:rPr lang="en-US" altLang="zh-CN" sz="900" b="0">
                          <a:solidFill>
                            <a:srgbClr val="FF0000"/>
                          </a:solidFill>
                          <a:latin typeface="+mj-lt"/>
                        </a:rPr>
                        <a:t>(HM-B.ST)</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FF0000"/>
                          </a:solidFill>
                          <a:effectLst/>
                          <a:uLnTx/>
                          <a:uFillTx/>
                          <a:latin typeface="Arial"/>
                          <a:ea typeface="STKaiti"/>
                          <a:cs typeface="+mn-cs"/>
                        </a:rPr>
                        <a:t>US Nasdaq</a:t>
                      </a:r>
                    </a:p>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FF0000"/>
                          </a:solidFill>
                          <a:effectLst/>
                          <a:uLnTx/>
                          <a:uFillTx/>
                          <a:latin typeface="Arial"/>
                          <a:ea typeface="STKaiti"/>
                          <a:cs typeface="+mn-cs"/>
                        </a:rPr>
                        <a:t>(MANH.US)</a:t>
                      </a:r>
                      <a:endParaRPr lang="en-US" altLang="zh-CN" sz="900" b="0">
                        <a:solidFill>
                          <a:srgbClr val="FF0000"/>
                        </a:solidFill>
                        <a:latin typeface="+mj-lt"/>
                      </a:endParaRP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FF0000"/>
                          </a:solidFill>
                          <a:effectLst/>
                          <a:uLnTx/>
                          <a:uFillTx/>
                          <a:latin typeface="Arial"/>
                          <a:ea typeface="STKaiti"/>
                          <a:cs typeface="+mn-cs"/>
                        </a:rPr>
                        <a:t>US Nasdaq</a:t>
                      </a:r>
                    </a:p>
                    <a:p>
                      <a:pPr marL="0" marR="0" lvl="0" indent="0" algn="ctr" defTabSz="74295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FF0000"/>
                          </a:solidFill>
                          <a:effectLst/>
                          <a:uLnTx/>
                          <a:uFillTx/>
                          <a:latin typeface="Arial"/>
                          <a:ea typeface="STKaiti"/>
                          <a:cs typeface="+mn-cs"/>
                        </a:rPr>
                        <a:t>(CHRW.US)</a:t>
                      </a:r>
                      <a:endParaRPr lang="en-US" altLang="zh-CN" sz="900" b="0">
                        <a:solidFill>
                          <a:srgbClr val="FF0000"/>
                        </a:solidFill>
                        <a:latin typeface="+mj-lt"/>
                      </a:endParaRP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914692021"/>
                  </a:ext>
                </a:extLst>
              </a:tr>
              <a:tr h="0">
                <a:tc>
                  <a:txBody>
                    <a:bodyPr/>
                    <a:lstStyle/>
                    <a:p>
                      <a:pPr marL="0" algn="l" defTabSz="914400" rtl="0" eaLnBrk="1" latinLnBrk="0" hangingPunct="1"/>
                      <a:r>
                        <a:rPr lang="en-US" altLang="zh-CN" sz="900" b="0" kern="1200">
                          <a:solidFill>
                            <a:schemeClr val="tx1"/>
                          </a:solidFill>
                          <a:latin typeface="+mj-lt"/>
                        </a:rPr>
                        <a:t>Geographic Coverage</a:t>
                      </a:r>
                      <a:endParaRPr lang="en-US" altLang="zh-CN" sz="900" b="0" kern="1200">
                        <a:solidFill>
                          <a:schemeClr val="tx1"/>
                        </a:solidFill>
                        <a:latin typeface="+mj-lt"/>
                        <a:ea typeface="DFKaiShu-GB5"/>
                        <a:cs typeface="+mn-cs"/>
                      </a:endParaRP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1" kern="1200">
                          <a:solidFill>
                            <a:schemeClr val="tx1"/>
                          </a:solidFill>
                          <a:highlight>
                            <a:srgbClr val="FFFF00"/>
                          </a:highlight>
                        </a:rPr>
                        <a:t>US, Europe, ROW</a:t>
                      </a:r>
                      <a:endParaRPr lang="en-US" sz="900" b="0" kern="1200">
                        <a:solidFill>
                          <a:schemeClr val="tx1"/>
                        </a:solidFill>
                        <a:highlight>
                          <a:srgbClr val="FFFF00"/>
                        </a:highlight>
                        <a:latin typeface="+mj-lt"/>
                        <a:ea typeface="+mn-ea"/>
                        <a:cs typeface="+mn-cs"/>
                      </a:endParaRP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kern="1200">
                          <a:solidFill>
                            <a:schemeClr val="tx1"/>
                          </a:solidFill>
                          <a:highlight>
                            <a:srgbClr val="FFFF00"/>
                          </a:highlight>
                        </a:rPr>
                        <a:t>24 countries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kern="1200">
                          <a:solidFill>
                            <a:schemeClr val="tx1"/>
                          </a:solidFill>
                          <a:highlight>
                            <a:srgbClr val="FFFF00"/>
                          </a:highlight>
                          <a:latin typeface="+mj-lt"/>
                          <a:ea typeface="+mn-ea"/>
                          <a:cs typeface="+mn-cs"/>
                        </a:rPr>
                        <a:t>(Asia, UK/Europe)</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kern="1200">
                          <a:solidFill>
                            <a:schemeClr val="tx1"/>
                          </a:solidFill>
                          <a:highlight>
                            <a:srgbClr val="FFFF00"/>
                          </a:highlight>
                        </a:rPr>
                        <a:t>19 countries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kern="1200">
                          <a:solidFill>
                            <a:schemeClr val="tx1"/>
                          </a:solidFill>
                          <a:highlight>
                            <a:srgbClr val="FFFF00"/>
                          </a:highlight>
                          <a:latin typeface="+mj-lt"/>
                          <a:ea typeface="+mn-ea"/>
                          <a:cs typeface="+mn-cs"/>
                        </a:rPr>
                        <a:t>(US, int’l markets)</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kern="1200">
                          <a:solidFill>
                            <a:schemeClr val="tx1"/>
                          </a:solidFill>
                          <a:highlight>
                            <a:srgbClr val="FFFF00"/>
                          </a:highlight>
                        </a:rPr>
                        <a:t>US, Canada, Mexico, </a:t>
                      </a:r>
                      <a:r>
                        <a:rPr lang="en-US" sz="900" b="0" kern="1200">
                          <a:solidFill>
                            <a:schemeClr val="tx1"/>
                          </a:solidFill>
                          <a:highlight>
                            <a:srgbClr val="FFFF00"/>
                          </a:highlight>
                          <a:latin typeface="+mn-lt"/>
                          <a:ea typeface="+mn-ea"/>
                          <a:cs typeface="+mn-cs"/>
                        </a:rPr>
                        <a:t>int’l </a:t>
                      </a:r>
                      <a:r>
                        <a:rPr lang="en-US" sz="900" b="0" kern="1200">
                          <a:solidFill>
                            <a:schemeClr val="tx1"/>
                          </a:solidFill>
                          <a:highlight>
                            <a:srgbClr val="FFFF00"/>
                          </a:highlight>
                        </a:rPr>
                        <a:t> markets</a:t>
                      </a:r>
                      <a:endParaRPr lang="en-US" sz="900" b="0" kern="1200">
                        <a:solidFill>
                          <a:schemeClr val="tx1"/>
                        </a:solidFill>
                        <a:highlight>
                          <a:srgbClr val="FFFF00"/>
                        </a:highlight>
                        <a:latin typeface="+mj-lt"/>
                        <a:ea typeface="+mn-ea"/>
                        <a:cs typeface="+mn-cs"/>
                      </a:endParaRP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kern="1200">
                          <a:solidFill>
                            <a:schemeClr val="tx1"/>
                          </a:solidFill>
                          <a:highlight>
                            <a:srgbClr val="FFFF00"/>
                          </a:highlight>
                        </a:rPr>
                        <a:t>14-19 countries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kern="1200">
                          <a:solidFill>
                            <a:schemeClr val="tx1"/>
                          </a:solidFill>
                          <a:highlight>
                            <a:srgbClr val="FFFF00"/>
                          </a:highlight>
                          <a:latin typeface="+mj-lt"/>
                          <a:ea typeface="+mn-ea"/>
                          <a:cs typeface="+mn-cs"/>
                        </a:rPr>
                        <a:t>(N. America, </a:t>
                      </a:r>
                      <a:r>
                        <a:rPr lang="en-US" sz="900" b="0" kern="1200">
                          <a:solidFill>
                            <a:schemeClr val="tx1"/>
                          </a:solidFill>
                          <a:highlight>
                            <a:srgbClr val="FFFF00"/>
                          </a:highlight>
                          <a:latin typeface="+mn-lt"/>
                          <a:ea typeface="+mn-ea"/>
                          <a:cs typeface="+mn-cs"/>
                        </a:rPr>
                        <a:t>int’l </a:t>
                      </a:r>
                      <a:r>
                        <a:rPr lang="en-US" sz="900" b="0" kern="1200">
                          <a:solidFill>
                            <a:schemeClr val="tx1"/>
                          </a:solidFill>
                          <a:highlight>
                            <a:srgbClr val="FFFF00"/>
                          </a:highlight>
                          <a:latin typeface="+mj-lt"/>
                          <a:ea typeface="+mn-ea"/>
                          <a:cs typeface="+mn-cs"/>
                        </a:rPr>
                        <a:t> markets)</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highlight>
                            <a:srgbClr val="FFFF00"/>
                          </a:highlight>
                          <a:uLnTx/>
                          <a:uFillTx/>
                          <a:latin typeface="Arial"/>
                          <a:ea typeface="STKaiti"/>
                          <a:cs typeface="+mn-cs"/>
                        </a:rPr>
                        <a:t>US</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highlight>
                            <a:srgbClr val="FFFF00"/>
                          </a:highlight>
                          <a:uLnTx/>
                          <a:uFillTx/>
                          <a:latin typeface="Arial"/>
                          <a:ea typeface="STKaiti"/>
                          <a:cs typeface="+mn-cs"/>
                        </a:rPr>
                        <a:t>18 countries (US, UK, Ireland, Europe)</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highlight>
                            <a:srgbClr val="FFFF00"/>
                          </a:highlight>
                          <a:uLnTx/>
                          <a:uFillTx/>
                          <a:latin typeface="Arial"/>
                          <a:ea typeface="STKaiti"/>
                          <a:cs typeface="+mn-cs"/>
                        </a:rPr>
                        <a:t>Global (over 80 markets)</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highlight>
                            <a:srgbClr val="FFFF00"/>
                          </a:highlight>
                          <a:uLnTx/>
                          <a:uFillTx/>
                          <a:latin typeface="Arial"/>
                          <a:ea typeface="STKaiti"/>
                          <a:cs typeface="+mn-cs"/>
                        </a:rPr>
                        <a:t>Over 10 countries (Americas, EMEA, APAC)</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highlight>
                            <a:srgbClr val="FFFF00"/>
                          </a:highlight>
                          <a:uLnTx/>
                          <a:uFillTx/>
                          <a:latin typeface="Arial"/>
                          <a:ea typeface="STKaiti"/>
                          <a:cs typeface="+mn-cs"/>
                        </a:rPr>
                        <a:t>39 countries across 5 continents</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69899353"/>
                  </a:ext>
                </a:extLst>
              </a:tr>
              <a:tr h="0">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r>
                        <a:rPr lang="en-US" sz="900" b="1">
                          <a:solidFill>
                            <a:schemeClr val="tx1"/>
                          </a:solidFill>
                          <a:latin typeface="+mj-lt"/>
                        </a:rPr>
                        <a:t>[26F] P/E (local)</a:t>
                      </a:r>
                      <a:endParaRPr lang="en-US" sz="900" b="1" baseline="30000">
                        <a:solidFill>
                          <a:schemeClr val="tx1"/>
                        </a:solidFill>
                        <a:latin typeface="+mj-lt"/>
                      </a:endParaRP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GB" sz="900" b="1" i="0" u="none" strike="noStrike">
                          <a:solidFill>
                            <a:srgbClr val="000000"/>
                          </a:solidFill>
                          <a:effectLst/>
                          <a:highlight>
                            <a:srgbClr val="00FFFF"/>
                          </a:highlight>
                          <a:latin typeface="+mj-lt"/>
                          <a:ea typeface="宋体" panose="02010600030101010101" pitchFamily="2" charset="-122"/>
                        </a:rPr>
                        <a:t>[28] (median)</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i="0" u="none" strike="noStrike">
                          <a:solidFill>
                            <a:srgbClr val="000000"/>
                          </a:solidFill>
                          <a:effectLst/>
                          <a:latin typeface="+mj-lt"/>
                          <a:ea typeface="宋体" panose="02010600030101010101" pitchFamily="2" charset="-122"/>
                        </a:rPr>
                        <a:t>[35]</a:t>
                      </a:r>
                      <a:endParaRPr lang="en-GB" sz="900" b="0" i="0" u="none" strike="noStrike">
                        <a:solidFill>
                          <a:srgbClr val="000000"/>
                        </a:solidFill>
                        <a:effectLst/>
                        <a:latin typeface="+mj-lt"/>
                        <a:ea typeface="宋体" panose="02010600030101010101" pitchFamily="2" charset="-122"/>
                      </a:endParaRP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i="0" u="none" strike="noStrike">
                          <a:solidFill>
                            <a:srgbClr val="000000"/>
                          </a:solidFill>
                          <a:effectLst/>
                          <a:latin typeface="+mj-lt"/>
                          <a:ea typeface="宋体" panose="02010600030101010101" pitchFamily="2" charset="-122"/>
                        </a:rPr>
                        <a:t>[42]</a:t>
                      </a:r>
                      <a:endParaRPr lang="en-GB" sz="900" b="0" i="0" u="none" strike="noStrike">
                        <a:solidFill>
                          <a:srgbClr val="000000"/>
                        </a:solidFill>
                        <a:effectLst/>
                        <a:latin typeface="+mj-lt"/>
                        <a:ea typeface="宋体" panose="02010600030101010101" pitchFamily="2" charset="-122"/>
                      </a:endParaRP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i="0" u="none" strike="noStrike">
                          <a:solidFill>
                            <a:srgbClr val="000000"/>
                          </a:solidFill>
                          <a:effectLst/>
                          <a:latin typeface="+mj-lt"/>
                          <a:ea typeface="宋体" panose="02010600030101010101" pitchFamily="2" charset="-122"/>
                        </a:rPr>
                        <a:t>[9]</a:t>
                      </a:r>
                      <a:endParaRPr lang="en-GB" sz="900" b="0" i="0" u="none" strike="noStrike">
                        <a:solidFill>
                          <a:srgbClr val="000000"/>
                        </a:solidFill>
                        <a:effectLst/>
                        <a:latin typeface="+mj-lt"/>
                        <a:ea typeface="宋体" panose="02010600030101010101" pitchFamily="2" charset="-122"/>
                      </a:endParaRP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i="0" u="none" strike="noStrike">
                          <a:solidFill>
                            <a:srgbClr val="000000"/>
                          </a:solidFill>
                          <a:effectLst/>
                          <a:latin typeface="+mj-lt"/>
                          <a:ea typeface="宋体" panose="02010600030101010101" pitchFamily="2" charset="-122"/>
                        </a:rPr>
                        <a:t>[48]</a:t>
                      </a:r>
                      <a:endParaRPr lang="en-GB" sz="900" b="0" i="0" u="none" strike="noStrike">
                        <a:solidFill>
                          <a:srgbClr val="000000"/>
                        </a:solidFill>
                        <a:effectLst/>
                        <a:latin typeface="+mj-lt"/>
                        <a:ea typeface="宋体" panose="02010600030101010101" pitchFamily="2" charset="-122"/>
                      </a:endParaRP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kumimoji="0" lang="en-GB" sz="900" b="1" i="0" u="none" strike="noStrike" kern="1200" cap="none" spc="0" normalizeH="0" baseline="0" noProof="0">
                          <a:ln>
                            <a:noFill/>
                          </a:ln>
                          <a:solidFill>
                            <a:srgbClr val="000000"/>
                          </a:solidFill>
                          <a:effectLst/>
                          <a:uLnTx/>
                          <a:uFillTx/>
                          <a:latin typeface="+mj-lt"/>
                          <a:ea typeface="宋体" panose="02010600030101010101" pitchFamily="2" charset="-122"/>
                          <a:cs typeface="+mn-cs"/>
                        </a:rPr>
                        <a:t>[15]</a:t>
                      </a:r>
                      <a:endParaRPr lang="en-GB" sz="900" b="0" i="0" u="none" strike="noStrike">
                        <a:solidFill>
                          <a:srgbClr val="000000"/>
                        </a:solidFill>
                        <a:effectLst/>
                        <a:latin typeface="+mj-lt"/>
                        <a:ea typeface="宋体" panose="02010600030101010101" pitchFamily="2" charset="-122"/>
                      </a:endParaRP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kumimoji="0" lang="en-GB" sz="900" b="1" i="0" u="none" strike="noStrike" kern="1200" cap="none" spc="0" normalizeH="0" baseline="0" noProof="0">
                          <a:ln>
                            <a:noFill/>
                          </a:ln>
                          <a:solidFill>
                            <a:srgbClr val="000000"/>
                          </a:solidFill>
                          <a:effectLst/>
                          <a:uLnTx/>
                          <a:uFillTx/>
                          <a:latin typeface="+mj-lt"/>
                          <a:ea typeface="宋体" panose="02010600030101010101" pitchFamily="2" charset="-122"/>
                          <a:cs typeface="+mn-cs"/>
                        </a:rPr>
                        <a:t>[12]</a:t>
                      </a:r>
                      <a:endParaRPr lang="en-GB" sz="900" b="0" i="0" u="none" strike="noStrike">
                        <a:solidFill>
                          <a:srgbClr val="000000"/>
                        </a:solidFill>
                        <a:effectLst/>
                        <a:latin typeface="+mj-lt"/>
                        <a:ea typeface="宋体" panose="02010600030101010101" pitchFamily="2" charset="-122"/>
                      </a:endParaRP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kumimoji="0" lang="en-GB" sz="900" b="1" i="0" u="none" strike="noStrike" kern="1200" cap="none" spc="0" normalizeH="0" baseline="0" noProof="0">
                          <a:ln>
                            <a:noFill/>
                          </a:ln>
                          <a:solidFill>
                            <a:srgbClr val="000000"/>
                          </a:solidFill>
                          <a:effectLst/>
                          <a:uLnTx/>
                          <a:uFillTx/>
                          <a:latin typeface="+mj-lt"/>
                          <a:ea typeface="宋体" panose="02010600030101010101" pitchFamily="2" charset="-122"/>
                          <a:cs typeface="+mn-cs"/>
                        </a:rPr>
                        <a:t>[20]</a:t>
                      </a:r>
                      <a:endParaRPr lang="en-GB" sz="900" b="0" i="0" u="none" strike="noStrike">
                        <a:solidFill>
                          <a:srgbClr val="000000"/>
                        </a:solidFill>
                        <a:effectLst/>
                        <a:latin typeface="+mj-lt"/>
                        <a:ea typeface="宋体" panose="02010600030101010101" pitchFamily="2" charset="-122"/>
                      </a:endParaRP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kumimoji="0" lang="en-GB" sz="900" b="1" i="0" u="none" strike="noStrike" kern="1200" cap="none" spc="0" normalizeH="0" baseline="0" noProof="0">
                          <a:ln>
                            <a:noFill/>
                          </a:ln>
                          <a:solidFill>
                            <a:srgbClr val="000000"/>
                          </a:solidFill>
                          <a:effectLst/>
                          <a:uLnTx/>
                          <a:uFillTx/>
                          <a:latin typeface="+mj-lt"/>
                          <a:ea typeface="宋体" panose="02010600030101010101" pitchFamily="2" charset="-122"/>
                          <a:cs typeface="+mn-cs"/>
                        </a:rPr>
                        <a:t>[37]</a:t>
                      </a:r>
                      <a:endParaRPr lang="en-GB" sz="900" b="0" i="0" u="none" strike="noStrike">
                        <a:solidFill>
                          <a:srgbClr val="000000"/>
                        </a:solidFill>
                        <a:effectLst/>
                        <a:latin typeface="+mj-lt"/>
                        <a:ea typeface="宋体" panose="02010600030101010101" pitchFamily="2" charset="-122"/>
                      </a:endParaRP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kumimoji="0" lang="en-GB" sz="900" b="1" i="0" u="none" strike="noStrike" kern="1200" cap="none" spc="0" normalizeH="0" baseline="0" noProof="0">
                          <a:ln>
                            <a:noFill/>
                          </a:ln>
                          <a:solidFill>
                            <a:srgbClr val="000000"/>
                          </a:solidFill>
                          <a:effectLst/>
                          <a:uLnTx/>
                          <a:uFillTx/>
                          <a:latin typeface="+mj-lt"/>
                          <a:ea typeface="宋体" panose="02010600030101010101" pitchFamily="2" charset="-122"/>
                          <a:cs typeface="+mn-cs"/>
                        </a:rPr>
                        <a:t>[28]</a:t>
                      </a:r>
                      <a:endParaRPr lang="en-GB" sz="900" b="0" i="0" u="none" strike="noStrike">
                        <a:solidFill>
                          <a:srgbClr val="000000"/>
                        </a:solidFill>
                        <a:effectLst/>
                        <a:latin typeface="+mj-lt"/>
                        <a:ea typeface="宋体" panose="02010600030101010101" pitchFamily="2" charset="-122"/>
                      </a:endParaRP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43299862"/>
                  </a:ext>
                </a:extLst>
              </a:tr>
              <a:tr h="0">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r>
                        <a:rPr lang="en-US" sz="900" b="1">
                          <a:solidFill>
                            <a:schemeClr val="tx1"/>
                          </a:solidFill>
                          <a:latin typeface="+mj-lt"/>
                        </a:rPr>
                        <a:t>[26F] P/E (</a:t>
                      </a:r>
                      <a:r>
                        <a:rPr lang="en-US" sz="900" b="1" err="1">
                          <a:solidFill>
                            <a:schemeClr val="tx1"/>
                          </a:solidFill>
                          <a:latin typeface="+mj-lt"/>
                        </a:rPr>
                        <a:t>normalised</a:t>
                      </a:r>
                      <a:r>
                        <a:rPr lang="en-US" sz="900" b="1">
                          <a:solidFill>
                            <a:schemeClr val="tx1"/>
                          </a:solidFill>
                          <a:latin typeface="+mj-lt"/>
                        </a:rPr>
                        <a:t> </a:t>
                      </a:r>
                    </a:p>
                    <a:p>
                      <a:r>
                        <a:rPr lang="en-US" sz="900" b="1">
                          <a:solidFill>
                            <a:schemeClr val="tx1"/>
                          </a:solidFill>
                          <a:latin typeface="+mj-lt"/>
                        </a:rPr>
                        <a:t>to HK)</a:t>
                      </a:r>
                      <a:endParaRPr lang="en-US" sz="900" b="1" baseline="30000">
                        <a:solidFill>
                          <a:schemeClr val="tx1"/>
                        </a:solidFill>
                        <a:latin typeface="+mj-lt"/>
                      </a:endParaRP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GB" sz="900" b="1" i="0" u="none" strike="noStrike">
                          <a:solidFill>
                            <a:srgbClr val="000000"/>
                          </a:solidFill>
                          <a:effectLst/>
                          <a:highlight>
                            <a:srgbClr val="00FFFF"/>
                          </a:highlight>
                          <a:latin typeface="+mj-lt"/>
                          <a:ea typeface="宋体" panose="02010600030101010101" pitchFamily="2" charset="-122"/>
                        </a:rPr>
                        <a:t>[12] (median)</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a:solidFill>
                            <a:srgbClr val="000000"/>
                          </a:solidFill>
                          <a:effectLst/>
                          <a:latin typeface="+mj-lt"/>
                        </a:rPr>
                        <a:t>[21]</a:t>
                      </a:r>
                    </a:p>
                  </a:txBody>
                  <a:tcPr marL="9525" marR="9525" marT="9525"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a:solidFill>
                            <a:srgbClr val="000000"/>
                          </a:solidFill>
                          <a:effectLst/>
                          <a:latin typeface="+mj-lt"/>
                        </a:rPr>
                        <a:t>[16]</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a:solidFill>
                            <a:srgbClr val="000000"/>
                          </a:solidFill>
                          <a:effectLst/>
                          <a:latin typeface="+mj-lt"/>
                        </a:rPr>
                        <a:t>[6]</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a:solidFill>
                            <a:srgbClr val="000000"/>
                          </a:solidFill>
                          <a:effectLst/>
                          <a:latin typeface="+mj-lt"/>
                        </a:rPr>
                        <a:t>[18]</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a:solidFill>
                            <a:srgbClr val="000000"/>
                          </a:solidFill>
                          <a:effectLst/>
                          <a:latin typeface="+mj-lt"/>
                        </a:rPr>
                        <a:t>[10]</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a:solidFill>
                            <a:srgbClr val="000000"/>
                          </a:solidFill>
                          <a:effectLst/>
                          <a:latin typeface="+mj-lt"/>
                        </a:rPr>
                        <a:t>[10]</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a:solidFill>
                            <a:srgbClr val="000000"/>
                          </a:solidFill>
                          <a:effectLst/>
                          <a:latin typeface="+mj-lt"/>
                        </a:rPr>
                        <a:t>[12]</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a:solidFill>
                            <a:srgbClr val="000000"/>
                          </a:solidFill>
                          <a:effectLst/>
                          <a:latin typeface="+mj-lt"/>
                        </a:rPr>
                        <a:t>[14]</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a:solidFill>
                            <a:srgbClr val="000000"/>
                          </a:solidFill>
                          <a:effectLst/>
                          <a:latin typeface="+mj-lt"/>
                        </a:rPr>
                        <a:t>[11]</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79160390"/>
                  </a:ext>
                </a:extLst>
              </a:tr>
              <a:tr h="0">
                <a:tc>
                  <a:txBody>
                    <a:bodyPr/>
                    <a:lstStyle/>
                    <a:p>
                      <a:pPr marL="0" algn="l" defTabSz="914400" rtl="0" eaLnBrk="1" latinLnBrk="0" hangingPunct="1"/>
                      <a:r>
                        <a:rPr lang="en-US" altLang="zh-CN" sz="900" b="1" kern="1200" dirty="0">
                          <a:solidFill>
                            <a:schemeClr val="tx1"/>
                          </a:solidFill>
                          <a:latin typeface="+mj-lt"/>
                          <a:ea typeface="DFKaiShu-GB5"/>
                          <a:cs typeface="+mn-cs"/>
                        </a:rPr>
                        <a:t>[26F] P/S (local)</a:t>
                      </a: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GB" sz="900" b="1" i="0" u="none" strike="noStrike" kern="1200" dirty="0">
                          <a:solidFill>
                            <a:srgbClr val="000000"/>
                          </a:solidFill>
                          <a:effectLst/>
                          <a:highlight>
                            <a:srgbClr val="00FF00"/>
                          </a:highlight>
                          <a:latin typeface="+mj-lt"/>
                          <a:ea typeface="宋体" panose="02010600030101010101" pitchFamily="2" charset="-122"/>
                          <a:cs typeface="+mn-cs"/>
                        </a:rPr>
                        <a:t>[1.2] (median)</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i="0" u="none" strike="noStrike" dirty="0">
                          <a:solidFill>
                            <a:srgbClr val="000000"/>
                          </a:solidFill>
                          <a:effectLst/>
                          <a:latin typeface="+mj-lt"/>
                          <a:ea typeface="宋体" panose="02010600030101010101" pitchFamily="2" charset="-122"/>
                        </a:rPr>
                        <a:t>[0.3]</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i="0" u="none" strike="noStrike" dirty="0">
                          <a:solidFill>
                            <a:srgbClr val="000000"/>
                          </a:solidFill>
                          <a:effectLst/>
                          <a:latin typeface="+mj-lt"/>
                          <a:ea typeface="宋体" panose="02010600030101010101" pitchFamily="2" charset="-122"/>
                        </a:rPr>
                        <a:t>[1.3]</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i="0" u="none" strike="noStrike" dirty="0">
                          <a:solidFill>
                            <a:srgbClr val="000000"/>
                          </a:solidFill>
                          <a:effectLst/>
                          <a:latin typeface="+mj-lt"/>
                          <a:ea typeface="宋体" panose="02010600030101010101" pitchFamily="2" charset="-122"/>
                        </a:rPr>
                        <a:t>[0.5]</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i="0" u="none" strike="noStrike" dirty="0">
                          <a:solidFill>
                            <a:srgbClr val="000000"/>
                          </a:solidFill>
                          <a:effectLst/>
                          <a:latin typeface="+mj-lt"/>
                          <a:ea typeface="宋体" panose="02010600030101010101" pitchFamily="2" charset="-122"/>
                        </a:rPr>
                        <a:t>[1.5]</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mj-lt"/>
                          <a:ea typeface="STKaiti"/>
                          <a:cs typeface="+mn-cs"/>
                        </a:rPr>
                        <a:t>[0.3]</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mj-lt"/>
                          <a:ea typeface="STKaiti"/>
                          <a:cs typeface="+mn-cs"/>
                        </a:rPr>
                        <a:t>[0.7]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mj-lt"/>
                          <a:ea typeface="STKaiti"/>
                          <a:cs typeface="+mn-cs"/>
                        </a:rPr>
                        <a:t>[1.2]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mj-lt"/>
                          <a:ea typeface="STKaiti"/>
                          <a:cs typeface="+mn-cs"/>
                        </a:rPr>
                        <a:t>[7.1]</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mj-lt"/>
                          <a:ea typeface="STKaiti"/>
                          <a:cs typeface="+mn-cs"/>
                        </a:rPr>
                        <a:t>[1.2]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0914783"/>
                  </a:ext>
                </a:extLst>
              </a:tr>
              <a:tr h="0">
                <a:tc>
                  <a:txBody>
                    <a:bodyPr/>
                    <a:lstStyle/>
                    <a:p>
                      <a:pPr marL="0" algn="l" defTabSz="914400" rtl="0" eaLnBrk="1" latinLnBrk="0" hangingPunct="1"/>
                      <a:r>
                        <a:rPr lang="en-US" altLang="zh-CN" sz="900" b="1" kern="1200" dirty="0">
                          <a:solidFill>
                            <a:schemeClr val="tx1"/>
                          </a:solidFill>
                          <a:latin typeface="+mj-lt"/>
                          <a:ea typeface="DFKaiShu-GB5"/>
                          <a:cs typeface="+mn-cs"/>
                        </a:rPr>
                        <a:t>[26F] P/S (</a:t>
                      </a:r>
                      <a:r>
                        <a:rPr lang="en-US" altLang="zh-CN" sz="900" b="1" kern="1200" dirty="0" err="1">
                          <a:solidFill>
                            <a:schemeClr val="tx1"/>
                          </a:solidFill>
                          <a:latin typeface="+mj-lt"/>
                          <a:ea typeface="DFKaiShu-GB5"/>
                          <a:cs typeface="+mn-cs"/>
                        </a:rPr>
                        <a:t>normalised</a:t>
                      </a:r>
                      <a:r>
                        <a:rPr lang="en-US" altLang="zh-CN" sz="900" b="1" kern="1200" dirty="0">
                          <a:solidFill>
                            <a:schemeClr val="tx1"/>
                          </a:solidFill>
                          <a:latin typeface="+mj-lt"/>
                          <a:ea typeface="DFKaiShu-GB5"/>
                          <a:cs typeface="+mn-cs"/>
                        </a:rPr>
                        <a:t> to HK)</a:t>
                      </a: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GB" sz="900" b="1" i="0" u="none" strike="noStrike" dirty="0">
                          <a:solidFill>
                            <a:srgbClr val="000000"/>
                          </a:solidFill>
                          <a:effectLst/>
                          <a:highlight>
                            <a:srgbClr val="00FFFF"/>
                          </a:highlight>
                          <a:latin typeface="+mj-lt"/>
                          <a:ea typeface="宋体" panose="02010600030101010101" pitchFamily="2" charset="-122"/>
                        </a:rPr>
                        <a:t>[0.4] (median)</a:t>
                      </a:r>
                      <a:endParaRPr lang="en-GB" sz="900" b="1" i="0" u="none" strike="noStrike" kern="1200" dirty="0">
                        <a:solidFill>
                          <a:srgbClr val="000000"/>
                        </a:solidFill>
                        <a:effectLst/>
                        <a:highlight>
                          <a:srgbClr val="00FFFF"/>
                        </a:highlight>
                        <a:latin typeface="+mj-lt"/>
                        <a:ea typeface="宋体" panose="02010600030101010101" pitchFamily="2" charset="-122"/>
                        <a:cs typeface="+mn-cs"/>
                      </a:endParaRP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dirty="0">
                          <a:solidFill>
                            <a:srgbClr val="000000"/>
                          </a:solidFill>
                          <a:effectLst/>
                          <a:latin typeface="+mj-lt"/>
                        </a:rPr>
                        <a:t>[0.2]</a:t>
                      </a:r>
                    </a:p>
                  </a:txBody>
                  <a:tcPr marL="9525" marR="9525" marT="9525"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dirty="0">
                          <a:solidFill>
                            <a:srgbClr val="000000"/>
                          </a:solidFill>
                          <a:effectLst/>
                          <a:latin typeface="+mj-lt"/>
                        </a:rPr>
                        <a:t>[0.4]</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dirty="0">
                          <a:solidFill>
                            <a:srgbClr val="000000"/>
                          </a:solidFill>
                          <a:effectLst/>
                          <a:latin typeface="+mj-lt"/>
                        </a:rPr>
                        <a:t>[0.4]</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dirty="0">
                          <a:solidFill>
                            <a:srgbClr val="000000"/>
                          </a:solidFill>
                          <a:effectLst/>
                          <a:latin typeface="+mj-lt"/>
                        </a:rPr>
                        <a:t>[0.4]</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dirty="0">
                          <a:solidFill>
                            <a:srgbClr val="000000"/>
                          </a:solidFill>
                          <a:effectLst/>
                          <a:latin typeface="+mj-lt"/>
                        </a:rPr>
                        <a:t>[0.2]</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dirty="0">
                          <a:solidFill>
                            <a:srgbClr val="000000"/>
                          </a:solidFill>
                          <a:effectLst/>
                          <a:latin typeface="+mj-lt"/>
                        </a:rPr>
                        <a:t>[0.7]</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dirty="0">
                          <a:solidFill>
                            <a:srgbClr val="000000"/>
                          </a:solidFill>
                          <a:effectLst/>
                          <a:latin typeface="+mj-lt"/>
                        </a:rPr>
                        <a:t>[0.6]</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dirty="0">
                          <a:solidFill>
                            <a:srgbClr val="000000"/>
                          </a:solidFill>
                          <a:effectLst/>
                          <a:latin typeface="+mj-lt"/>
                        </a:rPr>
                        <a:t>[2.0]</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buNone/>
                      </a:pPr>
                      <a:r>
                        <a:rPr lang="en-US" sz="900" b="1" i="0" u="none" strike="noStrike" dirty="0">
                          <a:solidFill>
                            <a:srgbClr val="000000"/>
                          </a:solidFill>
                          <a:effectLst/>
                          <a:latin typeface="+mj-lt"/>
                        </a:rPr>
                        <a:t>[0.3]</a:t>
                      </a:r>
                    </a:p>
                  </a:txBody>
                  <a:tcPr marL="9525" marR="9525" marT="9525"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37529266"/>
                  </a:ext>
                </a:extLst>
              </a:tr>
              <a:tr h="0">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0" algn="l" defTabSz="914400" rtl="0" eaLnBrk="1" latinLnBrk="0" hangingPunct="1"/>
                      <a:r>
                        <a:rPr lang="en-US" altLang="zh-CN" sz="900" b="0" kern="1200">
                          <a:solidFill>
                            <a:schemeClr val="tx1"/>
                          </a:solidFill>
                          <a:latin typeface="+mj-lt"/>
                        </a:rPr>
                        <a:t>Market Cap.</a:t>
                      </a:r>
                      <a:r>
                        <a:rPr lang="zh-CN" altLang="en-US" sz="900" b="0" kern="1200">
                          <a:solidFill>
                            <a:schemeClr val="tx1"/>
                          </a:solidFill>
                          <a:latin typeface="+mj-lt"/>
                        </a:rPr>
                        <a:t> </a:t>
                      </a:r>
                      <a:r>
                        <a:rPr lang="en-US" sz="900" b="0" kern="1200">
                          <a:solidFill>
                            <a:schemeClr val="tx1"/>
                          </a:solidFill>
                          <a:latin typeface="+mj-lt"/>
                        </a:rPr>
                        <a:t>(</a:t>
                      </a:r>
                      <a:r>
                        <a:rPr lang="en-US" sz="900" b="0" kern="1200" err="1">
                          <a:solidFill>
                            <a:schemeClr val="tx1"/>
                          </a:solidFill>
                          <a:latin typeface="+mj-lt"/>
                        </a:rPr>
                        <a:t>USD’m</a:t>
                      </a:r>
                      <a:r>
                        <a:rPr lang="en-US" sz="900" b="0" kern="1200">
                          <a:solidFill>
                            <a:schemeClr val="tx1"/>
                          </a:solidFill>
                          <a:latin typeface="+mj-lt"/>
                        </a:rPr>
                        <a:t>)</a:t>
                      </a:r>
                      <a:endParaRPr lang="en-US" altLang="zh-CN" sz="900" b="0" kern="1200">
                        <a:solidFill>
                          <a:schemeClr val="tx1"/>
                        </a:solidFill>
                        <a:latin typeface="+mj-lt"/>
                        <a:ea typeface="DFKaiShu-GB5"/>
                        <a:cs typeface="+mn-cs"/>
                      </a:endParaRP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GB" sz="900" b="1" i="0" u="none" strike="noStrike" dirty="0">
                          <a:solidFill>
                            <a:srgbClr val="000000"/>
                          </a:solidFill>
                          <a:effectLst/>
                          <a:highlight>
                            <a:srgbClr val="00FFFF"/>
                          </a:highlight>
                          <a:latin typeface="+mj-lt"/>
                          <a:ea typeface="宋体" panose="02010600030101010101" pitchFamily="2" charset="-122"/>
                        </a:rPr>
                        <a:t>[3,700]</a:t>
                      </a:r>
                      <a:endParaRPr lang="en-GB" sz="900" b="1" i="0" u="none" strike="noStrike" kern="1200" dirty="0">
                        <a:solidFill>
                          <a:srgbClr val="000000"/>
                        </a:solidFill>
                        <a:effectLst/>
                        <a:highlight>
                          <a:srgbClr val="00FFFF"/>
                        </a:highlight>
                        <a:latin typeface="+mj-lt"/>
                        <a:ea typeface="宋体" panose="02010600030101010101" pitchFamily="2" charset="-122"/>
                        <a:cs typeface="+mn-cs"/>
                      </a:endParaRP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000000"/>
                          </a:solidFill>
                          <a:effectLst/>
                          <a:latin typeface="+mj-lt"/>
                          <a:ea typeface="宋体" panose="02010600030101010101" pitchFamily="2" charset="-122"/>
                        </a:rPr>
                        <a:t>445</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000000"/>
                          </a:solidFill>
                          <a:effectLst/>
                          <a:latin typeface="+mj-lt"/>
                          <a:ea typeface="宋体" panose="02010600030101010101" pitchFamily="2" charset="-122"/>
                        </a:rPr>
                        <a:t>958,671</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000000"/>
                          </a:solidFill>
                          <a:effectLst/>
                          <a:latin typeface="+mj-lt"/>
                          <a:ea typeface="宋体" panose="02010600030101010101" pitchFamily="2" charset="-122"/>
                        </a:rPr>
                        <a:t>2,769</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000000"/>
                          </a:solidFill>
                          <a:effectLst/>
                          <a:latin typeface="+mj-lt"/>
                          <a:ea typeface="宋体" panose="02010600030101010101" pitchFamily="2" charset="-122"/>
                        </a:rPr>
                        <a:t>456,181</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STKaiti"/>
                          <a:cs typeface="+mn-cs"/>
                        </a:rPr>
                        <a:t>118,993</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STKaiti"/>
                          <a:cs typeface="+mn-cs"/>
                        </a:rPr>
                        <a:t>17,376</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STKaiti"/>
                          <a:cs typeface="+mn-cs"/>
                        </a:rPr>
                        <a:t>27,961</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STKaiti"/>
                          <a:cs typeface="+mn-cs"/>
                        </a:rPr>
                        <a:t>8,203</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STKaiti"/>
                          <a:cs typeface="+mn-cs"/>
                        </a:rPr>
                        <a:t>20,533</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925185536"/>
                  </a:ext>
                </a:extLst>
              </a:tr>
              <a:tr h="0">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0" algn="l" defTabSz="914400" rtl="0" eaLnBrk="1" latinLnBrk="0" hangingPunct="1"/>
                      <a:r>
                        <a:rPr lang="en-US" altLang="zh-CN" sz="900" b="0" kern="1200">
                          <a:solidFill>
                            <a:schemeClr val="tx1"/>
                          </a:solidFill>
                          <a:latin typeface="+mj-lt"/>
                        </a:rPr>
                        <a:t>EV </a:t>
                      </a:r>
                      <a:r>
                        <a:rPr lang="en-US" sz="900" b="0" kern="1200">
                          <a:solidFill>
                            <a:schemeClr val="tx1"/>
                          </a:solidFill>
                          <a:latin typeface="+mj-lt"/>
                        </a:rPr>
                        <a:t>(</a:t>
                      </a:r>
                      <a:r>
                        <a:rPr lang="en-US" sz="900" b="0" kern="1200" err="1">
                          <a:solidFill>
                            <a:schemeClr val="tx1"/>
                          </a:solidFill>
                          <a:latin typeface="+mj-lt"/>
                        </a:rPr>
                        <a:t>USD’b</a:t>
                      </a:r>
                      <a:r>
                        <a:rPr lang="en-US" sz="900" b="0" kern="1200">
                          <a:solidFill>
                            <a:schemeClr val="tx1"/>
                          </a:solidFill>
                          <a:latin typeface="+mj-lt"/>
                        </a:rPr>
                        <a:t>)</a:t>
                      </a:r>
                      <a:endParaRPr lang="en-US" sz="900" b="0" kern="1200" baseline="30000">
                        <a:solidFill>
                          <a:schemeClr val="tx1"/>
                        </a:solidFill>
                        <a:latin typeface="+mj-lt"/>
                        <a:ea typeface="DFKaiShu-GB5"/>
                        <a:cs typeface="+mn-cs"/>
                      </a:endParaRP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GB" sz="900" b="1" i="0" u="none" strike="noStrike" dirty="0">
                          <a:solidFill>
                            <a:srgbClr val="000000"/>
                          </a:solidFill>
                          <a:effectLst/>
                          <a:highlight>
                            <a:srgbClr val="00FFFF"/>
                          </a:highlight>
                          <a:latin typeface="+mj-lt"/>
                          <a:ea typeface="宋体" panose="02010600030101010101" pitchFamily="2" charset="-122"/>
                        </a:rPr>
                        <a:t>[3,700 + Net Debt]</a:t>
                      </a:r>
                      <a:endParaRPr lang="en-GB" sz="900" b="1" i="0" u="none" strike="noStrike" kern="1200" dirty="0">
                        <a:solidFill>
                          <a:srgbClr val="000000"/>
                        </a:solidFill>
                        <a:effectLst/>
                        <a:highlight>
                          <a:srgbClr val="00FFFF"/>
                        </a:highlight>
                        <a:latin typeface="+mj-lt"/>
                        <a:ea typeface="宋体" panose="02010600030101010101" pitchFamily="2" charset="-122"/>
                        <a:cs typeface="+mn-cs"/>
                      </a:endParaRP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000000"/>
                          </a:solidFill>
                          <a:effectLst/>
                          <a:latin typeface="+mj-lt"/>
                          <a:ea typeface="宋体" panose="02010600030101010101" pitchFamily="2" charset="-122"/>
                        </a:rPr>
                        <a:t>479</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000000"/>
                          </a:solidFill>
                          <a:effectLst/>
                          <a:latin typeface="+mj-lt"/>
                          <a:ea typeface="宋体" panose="02010600030101010101" pitchFamily="2" charset="-122"/>
                        </a:rPr>
                        <a:t>1,028,766</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000000"/>
                          </a:solidFill>
                          <a:effectLst/>
                          <a:latin typeface="+mj-lt"/>
                          <a:ea typeface="宋体" panose="02010600030101010101" pitchFamily="2" charset="-122"/>
                        </a:rPr>
                        <a:t>4,229</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000000"/>
                          </a:solidFill>
                          <a:effectLst/>
                          <a:latin typeface="+mj-lt"/>
                          <a:ea typeface="宋体" panose="02010600030101010101" pitchFamily="2" charset="-122"/>
                        </a:rPr>
                        <a:t>446,106</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STKaiti"/>
                          <a:cs typeface="+mn-cs"/>
                        </a:rPr>
                        <a:t>185,717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STKaiti"/>
                          <a:cs typeface="+mn-cs"/>
                        </a:rPr>
                        <a:t>21,662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STKaiti"/>
                          <a:cs typeface="+mn-cs"/>
                        </a:rPr>
                        <a:t>34,397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STKaiti"/>
                          <a:cs typeface="+mn-cs"/>
                        </a:rPr>
                        <a:t>8,032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STKaiti"/>
                          <a:cs typeface="+mn-cs"/>
                        </a:rPr>
                        <a:t>22,018</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201418993"/>
                  </a:ext>
                </a:extLst>
              </a:tr>
              <a:tr h="0">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0" algn="l" defTabSz="914400" rtl="0" eaLnBrk="1" latinLnBrk="0" hangingPunct="1"/>
                      <a:r>
                        <a:rPr lang="en-US" altLang="zh-CN" sz="900" b="0" kern="1200">
                          <a:solidFill>
                            <a:schemeClr val="accent5">
                              <a:lumMod val="25000"/>
                            </a:schemeClr>
                          </a:solidFill>
                          <a:latin typeface="+mj-lt"/>
                        </a:rPr>
                        <a:t>25 Revenue</a:t>
                      </a:r>
                      <a:r>
                        <a:rPr lang="zh-TW" altLang="en-US" sz="900" b="0" kern="1200">
                          <a:solidFill>
                            <a:schemeClr val="accent5">
                              <a:lumMod val="25000"/>
                            </a:schemeClr>
                          </a:solidFill>
                          <a:latin typeface="+mj-lt"/>
                        </a:rPr>
                        <a:t> </a:t>
                      </a:r>
                      <a:r>
                        <a:rPr lang="en-US" sz="900" b="0" kern="1200">
                          <a:solidFill>
                            <a:schemeClr val="accent5">
                              <a:lumMod val="25000"/>
                            </a:schemeClr>
                          </a:solidFill>
                          <a:latin typeface="+mj-lt"/>
                        </a:rPr>
                        <a:t>(</a:t>
                      </a:r>
                      <a:r>
                        <a:rPr lang="en-US" sz="900" b="0" kern="1200" err="1">
                          <a:solidFill>
                            <a:schemeClr val="accent5">
                              <a:lumMod val="25000"/>
                            </a:schemeClr>
                          </a:solidFill>
                          <a:latin typeface="+mj-lt"/>
                        </a:rPr>
                        <a:t>USD’m</a:t>
                      </a:r>
                      <a:r>
                        <a:rPr lang="en-US" sz="900" b="0" kern="1200">
                          <a:solidFill>
                            <a:schemeClr val="accent5">
                              <a:lumMod val="25000"/>
                            </a:schemeClr>
                          </a:solidFill>
                          <a:latin typeface="+mj-lt"/>
                        </a:rPr>
                        <a:t>)</a:t>
                      </a:r>
                      <a:endParaRPr lang="en-US" sz="900" b="0" kern="1200">
                        <a:solidFill>
                          <a:schemeClr val="accent5">
                            <a:lumMod val="25000"/>
                          </a:schemeClr>
                        </a:solidFill>
                        <a:latin typeface="+mj-lt"/>
                        <a:ea typeface="DFKaiShu-GB5"/>
                        <a:cs typeface="+mn-cs"/>
                      </a:endParaRP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i="0" u="none" strike="noStrike">
                          <a:solidFill>
                            <a:schemeClr val="accent5">
                              <a:lumMod val="25000"/>
                            </a:schemeClr>
                          </a:solidFill>
                          <a:effectLst/>
                          <a:highlight>
                            <a:srgbClr val="FFFF00"/>
                          </a:highlight>
                          <a:latin typeface="Arial" panose="020B0604020202020204" pitchFamily="34" charset="0"/>
                          <a:ea typeface="宋体" panose="02010600030101010101" pitchFamily="2" charset="-122"/>
                        </a:rPr>
                        <a:t>6,051</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25000"/>
                            </a:schemeClr>
                          </a:solidFill>
                          <a:effectLst/>
                          <a:latin typeface="Arial" panose="020B0604020202020204" pitchFamily="34" charset="0"/>
                          <a:ea typeface="宋体" panose="02010600030101010101" pitchFamily="2" charset="-122"/>
                        </a:rPr>
                        <a:t>1,405</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25000"/>
                            </a:schemeClr>
                          </a:solidFill>
                          <a:effectLst/>
                          <a:latin typeface="Arial" panose="020B0604020202020204" pitchFamily="34" charset="0"/>
                          <a:ea typeface="宋体" panose="02010600030101010101" pitchFamily="2" charset="-122"/>
                        </a:rPr>
                        <a:t>706,704</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25000"/>
                            </a:schemeClr>
                          </a:solidFill>
                          <a:effectLst/>
                          <a:latin typeface="Arial" panose="020B0604020202020204" pitchFamily="34" charset="0"/>
                          <a:ea typeface="宋体" panose="02010600030101010101" pitchFamily="2" charset="-122"/>
                        </a:rPr>
                        <a:t>5,362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25000"/>
                            </a:schemeClr>
                          </a:solidFill>
                          <a:effectLst/>
                          <a:latin typeface="Arial" panose="020B0604020202020204" pitchFamily="34" charset="0"/>
                          <a:ea typeface="宋体" panose="02010600030101010101" pitchFamily="2" charset="-122"/>
                        </a:rPr>
                        <a:t>282,948</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402,067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26,137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24,320</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1,081</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16,233</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1924510"/>
                  </a:ext>
                </a:extLst>
              </a:tr>
              <a:tr h="0">
                <a:tc>
                  <a:txBody>
                    <a:bodyPr/>
                    <a:lstStyle/>
                    <a:p>
                      <a:pPr marL="0" algn="l" defTabSz="914400" rtl="0" eaLnBrk="1" latinLnBrk="0" hangingPunct="1"/>
                      <a:r>
                        <a:rPr lang="en-US" sz="900" b="0" kern="1200">
                          <a:solidFill>
                            <a:schemeClr val="accent5">
                              <a:lumMod val="25000"/>
                            </a:schemeClr>
                          </a:solidFill>
                          <a:latin typeface="+mj-lt"/>
                          <a:ea typeface="DFKaiShu-GB5"/>
                          <a:cs typeface="+mn-cs"/>
                        </a:rPr>
                        <a:t>26F Revenue (</a:t>
                      </a:r>
                      <a:r>
                        <a:rPr lang="en-US" sz="900" b="0" kern="1200" err="1">
                          <a:solidFill>
                            <a:schemeClr val="accent5">
                              <a:lumMod val="25000"/>
                            </a:schemeClr>
                          </a:solidFill>
                          <a:latin typeface="+mj-lt"/>
                          <a:ea typeface="DFKaiShu-GB5"/>
                          <a:cs typeface="+mn-cs"/>
                        </a:rPr>
                        <a:t>USD’m</a:t>
                      </a:r>
                      <a:r>
                        <a:rPr lang="en-US" sz="900" b="0" kern="1200">
                          <a:solidFill>
                            <a:schemeClr val="accent5">
                              <a:lumMod val="25000"/>
                            </a:schemeClr>
                          </a:solidFill>
                          <a:latin typeface="+mj-lt"/>
                          <a:ea typeface="DFKaiShu-GB5"/>
                          <a:cs typeface="+mn-cs"/>
                        </a:rPr>
                        <a:t>)</a:t>
                      </a: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kern="1200">
                          <a:solidFill>
                            <a:schemeClr val="accent5">
                              <a:lumMod val="25000"/>
                            </a:schemeClr>
                          </a:solidFill>
                          <a:highlight>
                            <a:srgbClr val="00FFFF"/>
                          </a:highlight>
                          <a:latin typeface="+mj-lt"/>
                          <a:ea typeface="DFKaiShu-GB5"/>
                          <a:cs typeface="+mn-cs"/>
                        </a:rPr>
                        <a:t>[6,353]</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25000"/>
                            </a:schemeClr>
                          </a:solidFill>
                          <a:effectLst/>
                          <a:latin typeface="Arial" panose="020B0604020202020204" pitchFamily="34" charset="0"/>
                          <a:ea typeface="宋体" panose="02010600030101010101" pitchFamily="2" charset="-122"/>
                        </a:rPr>
                        <a:t>1,472</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25000"/>
                            </a:schemeClr>
                          </a:solidFill>
                          <a:effectLst/>
                          <a:latin typeface="Arial" panose="020B0604020202020204" pitchFamily="34" charset="0"/>
                          <a:ea typeface="宋体" panose="02010600030101010101" pitchFamily="2" charset="-122"/>
                        </a:rPr>
                        <a:t>746,937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25000"/>
                            </a:schemeClr>
                          </a:solidFill>
                          <a:effectLst/>
                          <a:latin typeface="Arial" panose="020B0604020202020204" pitchFamily="34" charset="0"/>
                          <a:ea typeface="宋体" panose="02010600030101010101" pitchFamily="2" charset="-122"/>
                        </a:rPr>
                        <a:t>5,778</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25000"/>
                            </a:schemeClr>
                          </a:solidFill>
                          <a:effectLst/>
                          <a:latin typeface="Arial" panose="020B0604020202020204" pitchFamily="34" charset="0"/>
                          <a:ea typeface="宋体" panose="02010600030101010101" pitchFamily="2" charset="-122"/>
                        </a:rPr>
                        <a:t>309,456</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407,416</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25,520</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23,950</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1,153</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16,887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85754377"/>
                  </a:ext>
                </a:extLst>
              </a:tr>
              <a:tr h="0">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r>
                        <a:rPr lang="en-US" altLang="zh-CN" sz="900" b="0">
                          <a:solidFill>
                            <a:schemeClr val="accent5">
                              <a:lumMod val="25000"/>
                            </a:schemeClr>
                          </a:solidFill>
                          <a:latin typeface="+mj-lt"/>
                        </a:rPr>
                        <a:t>24-26F Revenue CAGR </a:t>
                      </a:r>
                      <a:endParaRPr lang="en-US" sz="900" b="0">
                        <a:solidFill>
                          <a:schemeClr val="accent5">
                            <a:lumMod val="25000"/>
                          </a:schemeClr>
                        </a:solidFill>
                        <a:latin typeface="+mj-lt"/>
                      </a:endParaRP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i="0" u="none" strike="noStrike">
                          <a:solidFill>
                            <a:schemeClr val="accent5">
                              <a:lumMod val="25000"/>
                            </a:schemeClr>
                          </a:solidFill>
                          <a:effectLst/>
                          <a:highlight>
                            <a:srgbClr val="00FFFF"/>
                          </a:highlight>
                          <a:latin typeface="Arial" panose="020B0604020202020204" pitchFamily="34" charset="0"/>
                          <a:ea typeface="宋体" panose="02010600030101010101" pitchFamily="2" charset="-122"/>
                        </a:rPr>
                        <a:t>[-1.8]%</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25000"/>
                            </a:schemeClr>
                          </a:solidFill>
                          <a:effectLst/>
                          <a:latin typeface="Arial" panose="020B0604020202020204" pitchFamily="34" charset="0"/>
                          <a:ea typeface="宋体" panose="02010600030101010101" pitchFamily="2" charset="-122"/>
                        </a:rPr>
                        <a:t>1.4%</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25000"/>
                            </a:schemeClr>
                          </a:solidFill>
                          <a:effectLst/>
                          <a:latin typeface="Arial" panose="020B0604020202020204" pitchFamily="34" charset="0"/>
                          <a:ea typeface="宋体" panose="02010600030101010101" pitchFamily="2" charset="-122"/>
                        </a:rPr>
                        <a:t>5.4%</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25000"/>
                            </a:schemeClr>
                          </a:solidFill>
                          <a:effectLst/>
                          <a:latin typeface="Arial" panose="020B0604020202020204" pitchFamily="34" charset="0"/>
                          <a:ea typeface="宋体" panose="02010600030101010101" pitchFamily="2" charset="-122"/>
                        </a:rPr>
                        <a:t>3.7%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25000"/>
                            </a:schemeClr>
                          </a:solidFill>
                          <a:effectLst/>
                          <a:latin typeface="Arial" panose="020B0604020202020204" pitchFamily="34" charset="0"/>
                          <a:ea typeface="宋体" panose="02010600030101010101" pitchFamily="2" charset="-122"/>
                        </a:rPr>
                        <a:t>8.6%</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4.5%</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-3.1%</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0.9%</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5.2%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25000"/>
                            </a:schemeClr>
                          </a:solidFill>
                          <a:effectLst/>
                          <a:latin typeface="Arial" panose="020B0604020202020204" pitchFamily="34" charset="0"/>
                          <a:ea typeface="宋体" panose="02010600030101010101" pitchFamily="2" charset="-122"/>
                          <a:cs typeface="+mn-cs"/>
                        </a:rPr>
                        <a:t>-2.4%</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009379182"/>
                  </a:ext>
                </a:extLst>
              </a:tr>
              <a:tr h="0">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0" algn="l" defTabSz="914400" rtl="0" eaLnBrk="1" latinLnBrk="0" hangingPunct="1"/>
                      <a:r>
                        <a:rPr lang="en-US" altLang="zh-CN" sz="900" b="0" kern="1200">
                          <a:solidFill>
                            <a:srgbClr val="E21736"/>
                          </a:solidFill>
                          <a:latin typeface="+mj-lt"/>
                        </a:rPr>
                        <a:t>26F EBITDA </a:t>
                      </a:r>
                      <a:r>
                        <a:rPr lang="en-US" sz="900" b="0" kern="1200">
                          <a:solidFill>
                            <a:srgbClr val="E21736"/>
                          </a:solidFill>
                          <a:latin typeface="+mj-lt"/>
                        </a:rPr>
                        <a:t>(</a:t>
                      </a:r>
                      <a:r>
                        <a:rPr lang="en-US" sz="900" b="0" kern="1200" err="1">
                          <a:solidFill>
                            <a:srgbClr val="E21736"/>
                          </a:solidFill>
                          <a:latin typeface="+mj-lt"/>
                        </a:rPr>
                        <a:t>USD’m</a:t>
                      </a:r>
                      <a:r>
                        <a:rPr lang="en-US" sz="900" b="0" kern="1200">
                          <a:solidFill>
                            <a:srgbClr val="E21736"/>
                          </a:solidFill>
                          <a:latin typeface="+mj-lt"/>
                        </a:rPr>
                        <a:t>)</a:t>
                      </a:r>
                      <a:endParaRPr lang="en-US" sz="900" b="0" kern="1200">
                        <a:solidFill>
                          <a:srgbClr val="E21736"/>
                        </a:solidFill>
                        <a:latin typeface="+mj-lt"/>
                        <a:ea typeface="DFKaiShu-GB5"/>
                        <a:cs typeface="+mn-cs"/>
                      </a:endParaRP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kern="1200">
                          <a:solidFill>
                            <a:srgbClr val="E21736"/>
                          </a:solidFill>
                          <a:highlight>
                            <a:srgbClr val="00FFFF"/>
                          </a:highlight>
                          <a:latin typeface="+mj-lt"/>
                          <a:ea typeface="DFKaiShu-GB5"/>
                          <a:cs typeface="+mn-cs"/>
                        </a:rPr>
                        <a:t>[154]</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E21736"/>
                          </a:solidFill>
                          <a:effectLst/>
                          <a:latin typeface="Arial" panose="020B0604020202020204" pitchFamily="34" charset="0"/>
                          <a:ea typeface="宋体" panose="02010600030101010101" pitchFamily="2" charset="-122"/>
                        </a:rPr>
                        <a:t>N/A</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E21736"/>
                          </a:solidFill>
                          <a:effectLst/>
                          <a:latin typeface="Arial" panose="020B0604020202020204" pitchFamily="34" charset="0"/>
                          <a:ea typeface="宋体" panose="02010600030101010101" pitchFamily="2" charset="-122"/>
                        </a:rPr>
                        <a:t>48,728</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E21736"/>
                          </a:solidFill>
                          <a:effectLst/>
                          <a:latin typeface="Arial" panose="020B0604020202020204" pitchFamily="34" charset="0"/>
                          <a:ea typeface="宋体" panose="02010600030101010101" pitchFamily="2" charset="-122"/>
                        </a:rPr>
                        <a:t>632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E21736"/>
                          </a:solidFill>
                          <a:effectLst/>
                          <a:latin typeface="Arial" panose="020B0604020202020204" pitchFamily="34" charset="0"/>
                          <a:ea typeface="宋体" panose="02010600030101010101" pitchFamily="2" charset="-122"/>
                        </a:rPr>
                        <a:t>14,819</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18,332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3,381</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4,356</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412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1,054</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46156640"/>
                  </a:ext>
                </a:extLst>
              </a:tr>
              <a:tr h="0">
                <a:tc>
                  <a:txBody>
                    <a:bodyPr/>
                    <a:lstStyle/>
                    <a:p>
                      <a:r>
                        <a:rPr lang="en-US" sz="900" b="0" kern="1200">
                          <a:solidFill>
                            <a:srgbClr val="E21736"/>
                          </a:solidFill>
                          <a:latin typeface="+mj-lt"/>
                        </a:rPr>
                        <a:t>24-26F EBITDA CAGR</a:t>
                      </a:r>
                      <a:r>
                        <a:rPr lang="en-US" altLang="zh-CN" sz="900" b="0" kern="1200">
                          <a:solidFill>
                            <a:srgbClr val="E21736"/>
                          </a:solidFill>
                          <a:latin typeface="+mn-lt"/>
                          <a:ea typeface="+mn-ea"/>
                          <a:cs typeface="+mn-cs"/>
                        </a:rPr>
                        <a:t> </a:t>
                      </a:r>
                      <a:endParaRPr lang="en-US" sz="900" b="0" kern="1200">
                        <a:solidFill>
                          <a:srgbClr val="E21736"/>
                        </a:solidFill>
                        <a:latin typeface="+mj-lt"/>
                        <a:ea typeface="DFKaiShu-GB5"/>
                        <a:cs typeface="+mn-cs"/>
                      </a:endParaRP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i="0" u="none" strike="noStrike">
                          <a:solidFill>
                            <a:srgbClr val="E21736"/>
                          </a:solidFill>
                          <a:effectLst/>
                          <a:highlight>
                            <a:srgbClr val="00FFFF"/>
                          </a:highlight>
                          <a:latin typeface="Arial" panose="020B0604020202020204" pitchFamily="34" charset="0"/>
                          <a:ea typeface="宋体" panose="02010600030101010101" pitchFamily="2" charset="-122"/>
                        </a:rPr>
                        <a:t>[2.3]%</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E21736"/>
                          </a:solidFill>
                          <a:effectLst/>
                          <a:latin typeface="Arial" panose="020B0604020202020204" pitchFamily="34" charset="0"/>
                          <a:ea typeface="宋体" panose="02010600030101010101" pitchFamily="2" charset="-122"/>
                        </a:rPr>
                        <a:t>N/A</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E21736"/>
                          </a:solidFill>
                          <a:effectLst/>
                          <a:latin typeface="Arial" panose="020B0604020202020204" pitchFamily="34" charset="0"/>
                          <a:ea typeface="宋体" panose="02010600030101010101" pitchFamily="2" charset="-122"/>
                        </a:rPr>
                        <a:t>9.2%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E21736"/>
                          </a:solidFill>
                          <a:effectLst/>
                          <a:latin typeface="Arial" panose="020B0604020202020204" pitchFamily="34" charset="0"/>
                          <a:ea typeface="宋体" panose="02010600030101010101" pitchFamily="2" charset="-122"/>
                        </a:rPr>
                        <a:t>-1.7%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E21736"/>
                          </a:solidFill>
                          <a:effectLst/>
                          <a:latin typeface="Arial" panose="020B0604020202020204" pitchFamily="34" charset="0"/>
                          <a:ea typeface="宋体" panose="02010600030101010101" pitchFamily="2" charset="-122"/>
                        </a:rPr>
                        <a:t>11.9%</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8.9%</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-3.2%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4.4%</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22.0%</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9.8%</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655882557"/>
                  </a:ext>
                </a:extLst>
              </a:tr>
              <a:tr h="0">
                <a:tc>
                  <a:txBody>
                    <a:bodyPr/>
                    <a:lstStyle/>
                    <a:p>
                      <a:r>
                        <a:rPr lang="en-US" altLang="zh-CN" sz="900" b="0" kern="1200">
                          <a:solidFill>
                            <a:srgbClr val="E21736"/>
                          </a:solidFill>
                          <a:latin typeface="+mj-lt"/>
                        </a:rPr>
                        <a:t>26F EBITDA margin</a:t>
                      </a:r>
                      <a:r>
                        <a:rPr lang="en-US" altLang="zh-CN" sz="900" b="0" kern="1200">
                          <a:solidFill>
                            <a:srgbClr val="E21736"/>
                          </a:solidFill>
                          <a:latin typeface="+mn-lt"/>
                          <a:ea typeface="+mn-ea"/>
                          <a:cs typeface="+mn-cs"/>
                        </a:rPr>
                        <a:t> </a:t>
                      </a:r>
                      <a:endParaRPr lang="en-US" altLang="zh-CN" sz="900" b="0" kern="1200">
                        <a:solidFill>
                          <a:srgbClr val="E21736"/>
                        </a:solidFill>
                        <a:latin typeface="+mj-lt"/>
                        <a:ea typeface="DFKaiShu-GB5"/>
                        <a:cs typeface="+mn-cs"/>
                      </a:endParaRP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i="0" u="none" strike="noStrike">
                          <a:solidFill>
                            <a:srgbClr val="E21736"/>
                          </a:solidFill>
                          <a:effectLst/>
                          <a:highlight>
                            <a:srgbClr val="00FFFF"/>
                          </a:highlight>
                          <a:latin typeface="Arial" panose="020B0604020202020204" pitchFamily="34" charset="0"/>
                          <a:ea typeface="宋体" panose="02010600030101010101" pitchFamily="2" charset="-122"/>
                        </a:rPr>
                        <a:t>[2.4]%</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E21736"/>
                          </a:solidFill>
                          <a:effectLst/>
                          <a:latin typeface="Arial" panose="020B0604020202020204" pitchFamily="34" charset="0"/>
                          <a:ea typeface="宋体" panose="02010600030101010101" pitchFamily="2" charset="-122"/>
                        </a:rPr>
                        <a:t>N/A</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E21736"/>
                          </a:solidFill>
                          <a:effectLst/>
                          <a:latin typeface="Arial" panose="020B0604020202020204" pitchFamily="34" charset="0"/>
                          <a:ea typeface="宋体" panose="02010600030101010101" pitchFamily="2" charset="-122"/>
                        </a:rPr>
                        <a:t>6.5%</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E21736"/>
                          </a:solidFill>
                          <a:effectLst/>
                          <a:latin typeface="Arial" panose="020B0604020202020204" pitchFamily="34" charset="0"/>
                          <a:ea typeface="宋体" panose="02010600030101010101" pitchFamily="2" charset="-122"/>
                        </a:rPr>
                        <a:t>10.9%</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E21736"/>
                          </a:solidFill>
                          <a:effectLst/>
                          <a:latin typeface="Arial" panose="020B0604020202020204" pitchFamily="34" charset="0"/>
                          <a:ea typeface="宋体" panose="02010600030101010101" pitchFamily="2" charset="-122"/>
                        </a:rPr>
                        <a:t>4.8%</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4.5%</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13.2%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18.2%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35.7%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rgbClr val="E21736"/>
                          </a:solidFill>
                          <a:effectLst/>
                          <a:latin typeface="Arial" panose="020B0604020202020204" pitchFamily="34" charset="0"/>
                          <a:ea typeface="宋体" panose="02010600030101010101" pitchFamily="2" charset="-122"/>
                          <a:cs typeface="+mn-cs"/>
                        </a:rPr>
                        <a:t>6.2%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7877498"/>
                  </a:ext>
                </a:extLst>
              </a:tr>
              <a:tr h="0">
                <a:tc>
                  <a:txBody>
                    <a:bodyPr/>
                    <a:lstStyle>
                      <a:lvl1pPr marL="0" algn="l" defTabSz="914400" rtl="0" eaLnBrk="1" latinLnBrk="0" hangingPunct="1">
                        <a:defRPr sz="1800" kern="1200">
                          <a:solidFill>
                            <a:schemeClr val="dk1"/>
                          </a:solidFill>
                          <a:latin typeface="Calibri"/>
                          <a:ea typeface="DFKaiShu-GB5"/>
                        </a:defRPr>
                      </a:lvl1pPr>
                      <a:lvl2pPr marL="457200" algn="l" defTabSz="914400" rtl="0" eaLnBrk="1" latinLnBrk="0" hangingPunct="1">
                        <a:defRPr sz="1800" kern="1200">
                          <a:solidFill>
                            <a:schemeClr val="dk1"/>
                          </a:solidFill>
                          <a:latin typeface="Calibri"/>
                          <a:ea typeface="DFKaiShu-GB5"/>
                        </a:defRPr>
                      </a:lvl2pPr>
                      <a:lvl3pPr marL="914400" algn="l" defTabSz="914400" rtl="0" eaLnBrk="1" latinLnBrk="0" hangingPunct="1">
                        <a:defRPr sz="1800" kern="1200">
                          <a:solidFill>
                            <a:schemeClr val="dk1"/>
                          </a:solidFill>
                          <a:latin typeface="Calibri"/>
                          <a:ea typeface="DFKaiShu-GB5"/>
                        </a:defRPr>
                      </a:lvl3pPr>
                      <a:lvl4pPr marL="1371600" algn="l" defTabSz="914400" rtl="0" eaLnBrk="1" latinLnBrk="0" hangingPunct="1">
                        <a:defRPr sz="1800" kern="1200">
                          <a:solidFill>
                            <a:schemeClr val="dk1"/>
                          </a:solidFill>
                          <a:latin typeface="Calibri"/>
                          <a:ea typeface="DFKaiShu-GB5"/>
                        </a:defRPr>
                      </a:lvl4pPr>
                      <a:lvl5pPr marL="1828800" algn="l" defTabSz="914400" rtl="0" eaLnBrk="1" latinLnBrk="0" hangingPunct="1">
                        <a:defRPr sz="1800" kern="1200">
                          <a:solidFill>
                            <a:schemeClr val="dk1"/>
                          </a:solidFill>
                          <a:latin typeface="Calibri"/>
                          <a:ea typeface="DFKaiShu-GB5"/>
                        </a:defRPr>
                      </a:lvl5pPr>
                      <a:lvl6pPr marL="2286000" algn="l" defTabSz="914400" rtl="0" eaLnBrk="1" latinLnBrk="0" hangingPunct="1">
                        <a:defRPr sz="1800" kern="1200">
                          <a:solidFill>
                            <a:schemeClr val="dk1"/>
                          </a:solidFill>
                          <a:latin typeface="Calibri"/>
                          <a:ea typeface="DFKaiShu-GB5"/>
                        </a:defRPr>
                      </a:lvl6pPr>
                      <a:lvl7pPr marL="2743200" algn="l" defTabSz="914400" rtl="0" eaLnBrk="1" latinLnBrk="0" hangingPunct="1">
                        <a:defRPr sz="1800" kern="1200">
                          <a:solidFill>
                            <a:schemeClr val="dk1"/>
                          </a:solidFill>
                          <a:latin typeface="Calibri"/>
                          <a:ea typeface="DFKaiShu-GB5"/>
                        </a:defRPr>
                      </a:lvl7pPr>
                      <a:lvl8pPr marL="3200400" algn="l" defTabSz="914400" rtl="0" eaLnBrk="1" latinLnBrk="0" hangingPunct="1">
                        <a:defRPr sz="1800" kern="1200">
                          <a:solidFill>
                            <a:schemeClr val="dk1"/>
                          </a:solidFill>
                          <a:latin typeface="Calibri"/>
                          <a:ea typeface="DFKaiShu-GB5"/>
                        </a:defRPr>
                      </a:lvl8pPr>
                      <a:lvl9pPr marL="3657600" algn="l" defTabSz="914400" rtl="0" eaLnBrk="1" latinLnBrk="0" hangingPunct="1">
                        <a:defRPr sz="1800" kern="1200">
                          <a:solidFill>
                            <a:schemeClr val="dk1"/>
                          </a:solidFill>
                          <a:latin typeface="Calibri"/>
                          <a:ea typeface="DFKaiShu-GB5"/>
                        </a:defRPr>
                      </a:lvl9pPr>
                    </a:lstStyle>
                    <a:p>
                      <a:pPr marL="0" algn="l" defTabSz="914400" rtl="0" eaLnBrk="1" latinLnBrk="0" hangingPunct="1"/>
                      <a:r>
                        <a:rPr lang="en-US" altLang="zh-CN" sz="900" b="0" kern="1200">
                          <a:solidFill>
                            <a:schemeClr val="accent5">
                              <a:lumMod val="75000"/>
                            </a:schemeClr>
                          </a:solidFill>
                          <a:latin typeface="+mj-lt"/>
                          <a:ea typeface="+mn-ea"/>
                          <a:cs typeface="+mn-cs"/>
                        </a:rPr>
                        <a:t>26F Net profit </a:t>
                      </a:r>
                      <a:r>
                        <a:rPr lang="en-US" sz="900" b="0" kern="1200">
                          <a:solidFill>
                            <a:schemeClr val="accent5">
                              <a:lumMod val="75000"/>
                            </a:schemeClr>
                          </a:solidFill>
                          <a:latin typeface="+mj-lt"/>
                          <a:ea typeface="+mn-ea"/>
                          <a:cs typeface="+mn-cs"/>
                        </a:rPr>
                        <a:t>(</a:t>
                      </a:r>
                      <a:r>
                        <a:rPr lang="en-US" sz="900" b="0" kern="1200" err="1">
                          <a:solidFill>
                            <a:schemeClr val="accent5">
                              <a:lumMod val="75000"/>
                            </a:schemeClr>
                          </a:solidFill>
                          <a:latin typeface="+mj-lt"/>
                          <a:ea typeface="+mn-ea"/>
                          <a:cs typeface="+mn-cs"/>
                        </a:rPr>
                        <a:t>USD’m</a:t>
                      </a:r>
                      <a:r>
                        <a:rPr lang="en-US" sz="900" b="0" kern="1200">
                          <a:solidFill>
                            <a:schemeClr val="accent5">
                              <a:lumMod val="75000"/>
                            </a:schemeClr>
                          </a:solidFill>
                          <a:latin typeface="+mj-lt"/>
                          <a:ea typeface="+mn-ea"/>
                          <a:cs typeface="+mn-cs"/>
                        </a:rPr>
                        <a:t>)</a:t>
                      </a: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kern="1200">
                          <a:solidFill>
                            <a:schemeClr val="accent5">
                              <a:lumMod val="75000"/>
                            </a:schemeClr>
                          </a:solidFill>
                          <a:highlight>
                            <a:srgbClr val="00FFFF"/>
                          </a:highlight>
                          <a:latin typeface="+mj-lt"/>
                          <a:ea typeface="+mn-ea"/>
                          <a:cs typeface="+mn-cs"/>
                        </a:rPr>
                        <a:t>[73.5]</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75000"/>
                            </a:schemeClr>
                          </a:solidFill>
                          <a:effectLst/>
                          <a:latin typeface="Arial" panose="020B0604020202020204" pitchFamily="34" charset="0"/>
                          <a:ea typeface="宋体" panose="02010600030101010101" pitchFamily="2" charset="-122"/>
                        </a:rPr>
                        <a:t>14</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75000"/>
                            </a:schemeClr>
                          </a:solidFill>
                          <a:effectLst/>
                          <a:latin typeface="Arial" panose="020B0604020202020204" pitchFamily="34" charset="0"/>
                          <a:ea typeface="宋体" panose="02010600030101010101" pitchFamily="2" charset="-122"/>
                        </a:rPr>
                        <a:t>22,767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75000"/>
                            </a:schemeClr>
                          </a:solidFill>
                          <a:effectLst/>
                          <a:latin typeface="Arial" panose="020B0604020202020204" pitchFamily="34" charset="0"/>
                          <a:ea typeface="宋体" panose="02010600030101010101" pitchFamily="2" charset="-122"/>
                        </a:rPr>
                        <a:t>304</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75000"/>
                            </a:schemeClr>
                          </a:solidFill>
                          <a:effectLst/>
                          <a:latin typeface="Arial" panose="020B0604020202020204" pitchFamily="34" charset="0"/>
                          <a:ea typeface="宋体" panose="02010600030101010101" pitchFamily="2" charset="-122"/>
                        </a:rPr>
                        <a:t>9,413</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7,882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1,392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1,410</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222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731</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81973369"/>
                  </a:ext>
                </a:extLst>
              </a:tr>
              <a:tr h="0">
                <a:tc>
                  <a:txBody>
                    <a:bodyPr/>
                    <a:lstStyle/>
                    <a:p>
                      <a:r>
                        <a:rPr lang="en-US" sz="900" b="0" kern="1200">
                          <a:solidFill>
                            <a:schemeClr val="accent5">
                              <a:lumMod val="75000"/>
                            </a:schemeClr>
                          </a:solidFill>
                          <a:latin typeface="+mj-lt"/>
                          <a:ea typeface="+mn-ea"/>
                          <a:cs typeface="+mn-cs"/>
                        </a:rPr>
                        <a:t>24-26F Net profit CAGR</a:t>
                      </a: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kern="1200">
                          <a:solidFill>
                            <a:schemeClr val="accent5">
                              <a:lumMod val="75000"/>
                            </a:schemeClr>
                          </a:solidFill>
                          <a:highlight>
                            <a:srgbClr val="00FFFF"/>
                          </a:highlight>
                          <a:latin typeface="+mj-lt"/>
                          <a:ea typeface="+mn-ea"/>
                          <a:cs typeface="+mn-cs"/>
                        </a:rPr>
                        <a:t>[5.5]%</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75000"/>
                            </a:schemeClr>
                          </a:solidFill>
                          <a:effectLst/>
                          <a:latin typeface="Arial" panose="020B0604020202020204" pitchFamily="34" charset="0"/>
                          <a:ea typeface="宋体" panose="02010600030101010101" pitchFamily="2" charset="-122"/>
                        </a:rPr>
                        <a:t>-12.8%</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75000"/>
                            </a:schemeClr>
                          </a:solidFill>
                          <a:effectLst/>
                          <a:latin typeface="Arial" panose="020B0604020202020204" pitchFamily="34" charset="0"/>
                          <a:ea typeface="宋体" panose="02010600030101010101" pitchFamily="2" charset="-122"/>
                        </a:rPr>
                        <a:t>10.5%</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75000"/>
                            </a:schemeClr>
                          </a:solidFill>
                          <a:effectLst/>
                          <a:latin typeface="Arial" panose="020B0604020202020204" pitchFamily="34" charset="0"/>
                          <a:ea typeface="宋体" panose="02010600030101010101" pitchFamily="2" charset="-122"/>
                        </a:rPr>
                        <a:t>-1.3%</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75000"/>
                            </a:schemeClr>
                          </a:solidFill>
                          <a:effectLst/>
                          <a:latin typeface="Arial" panose="020B0604020202020204" pitchFamily="34" charset="0"/>
                          <a:ea typeface="宋体" panose="02010600030101010101" pitchFamily="2" charset="-122"/>
                        </a:rPr>
                        <a:t>13.4%</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30.7%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-11.2%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7.6%</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0.7%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25.3%</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253719753"/>
                  </a:ext>
                </a:extLst>
              </a:tr>
              <a:tr h="0">
                <a:tc>
                  <a:txBody>
                    <a:bodyPr/>
                    <a:lstStyle/>
                    <a:p>
                      <a:r>
                        <a:rPr lang="en-US" altLang="zh-CN" sz="900" b="0" kern="1200">
                          <a:solidFill>
                            <a:schemeClr val="accent5">
                              <a:lumMod val="75000"/>
                            </a:schemeClr>
                          </a:solidFill>
                          <a:latin typeface="+mj-lt"/>
                          <a:ea typeface="+mn-ea"/>
                          <a:cs typeface="+mn-cs"/>
                        </a:rPr>
                        <a:t>26F Net profit margin</a:t>
                      </a: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ctr">
                        <a:buNone/>
                      </a:pPr>
                      <a:r>
                        <a:rPr lang="en-GB" sz="900" b="1" kern="1200">
                          <a:solidFill>
                            <a:schemeClr val="accent5">
                              <a:lumMod val="75000"/>
                            </a:schemeClr>
                          </a:solidFill>
                          <a:highlight>
                            <a:srgbClr val="00FFFF"/>
                          </a:highlight>
                          <a:latin typeface="+mj-lt"/>
                          <a:ea typeface="+mn-ea"/>
                          <a:cs typeface="+mn-cs"/>
                        </a:rPr>
                        <a:t>[1.2]%</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75000"/>
                            </a:schemeClr>
                          </a:solidFill>
                          <a:effectLst/>
                          <a:latin typeface="Arial" panose="020B0604020202020204" pitchFamily="34" charset="0"/>
                          <a:ea typeface="宋体" panose="02010600030101010101" pitchFamily="2" charset="-122"/>
                        </a:rPr>
                        <a:t>1.0%</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75000"/>
                            </a:schemeClr>
                          </a:solidFill>
                          <a:effectLst/>
                          <a:latin typeface="Arial" panose="020B0604020202020204" pitchFamily="34" charset="0"/>
                          <a:ea typeface="宋体" panose="02010600030101010101" pitchFamily="2" charset="-122"/>
                        </a:rPr>
                        <a:t>3.0%</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75000"/>
                            </a:schemeClr>
                          </a:solidFill>
                          <a:effectLst/>
                          <a:latin typeface="Arial" panose="020B0604020202020204" pitchFamily="34" charset="0"/>
                          <a:ea typeface="宋体" panose="02010600030101010101" pitchFamily="2" charset="-122"/>
                        </a:rPr>
                        <a:t>5.3%</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accent5">
                              <a:lumMod val="75000"/>
                            </a:schemeClr>
                          </a:solidFill>
                          <a:effectLst/>
                          <a:latin typeface="Arial" panose="020B0604020202020204" pitchFamily="34" charset="0"/>
                          <a:ea typeface="宋体" panose="02010600030101010101" pitchFamily="2" charset="-122"/>
                        </a:rPr>
                        <a:t>3.0%</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1.9%</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5.5%</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5.9%</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19.2%</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accent5">
                              <a:lumMod val="75000"/>
                            </a:schemeClr>
                          </a:solidFill>
                          <a:effectLst/>
                          <a:latin typeface="Arial" panose="020B0604020202020204" pitchFamily="34" charset="0"/>
                          <a:ea typeface="宋体" panose="02010600030101010101" pitchFamily="2" charset="-122"/>
                          <a:cs typeface="+mn-cs"/>
                        </a:rPr>
                        <a:t>4.3%</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1064209"/>
                  </a:ext>
                </a:extLst>
              </a:tr>
              <a:tr h="0">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mj-lt"/>
                        </a:rPr>
                        <a:t>26F Dividend Yield</a:t>
                      </a:r>
                      <a:endParaRPr lang="en-US" sz="900" b="0" i="0" u="none" strike="noStrike" kern="1200" noProof="0">
                        <a:solidFill>
                          <a:schemeClr val="tx1"/>
                        </a:solidFill>
                        <a:latin typeface="+mj-lt"/>
                        <a:ea typeface="DFKaiShu-GB5"/>
                        <a:cs typeface="+mn-cs"/>
                      </a:endParaRPr>
                    </a:p>
                  </a:txBody>
                  <a:tcPr anchor="ctr">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1" i="0" u="none" strike="noStrike">
                          <a:solidFill>
                            <a:srgbClr val="000000"/>
                          </a:solidFill>
                          <a:effectLst/>
                          <a:latin typeface="Arial" panose="020B0604020202020204" pitchFamily="34" charset="0"/>
                          <a:ea typeface="宋体" panose="02010600030101010101" pitchFamily="2" charset="-122"/>
                        </a:rPr>
                        <a:t>N/A</a:t>
                      </a:r>
                    </a:p>
                  </a:txBody>
                  <a:tcPr marL="0" marR="0" marT="0" marB="0" anchor="ctr">
                    <a:lnL w="12700" cap="flat" cmpd="sng" algn="ctr">
                      <a:solidFill>
                        <a:srgbClr val="C00000"/>
                      </a:solidFill>
                      <a:prstDash val="dash"/>
                      <a:round/>
                      <a:headEnd type="none" w="med" len="med"/>
                      <a:tailEnd type="none" w="med" len="med"/>
                    </a:lnL>
                    <a:lnR w="12700" cap="flat" cmpd="sng" algn="ctr">
                      <a:solidFill>
                        <a:srgbClr val="C00000"/>
                      </a:solidFill>
                      <a:prstDash val="dash"/>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C00000"/>
                      </a:solidFill>
                      <a:prstDash val="dash"/>
                      <a:round/>
                      <a:headEnd type="none" w="med" len="med"/>
                      <a:tailEnd type="none" w="med" len="med"/>
                    </a:lnB>
                  </a:tcPr>
                </a:tc>
                <a:tc>
                  <a:txBody>
                    <a:bodyPr/>
                    <a:lstStyle/>
                    <a:p>
                      <a:pPr algn="r" rtl="0" fontAlgn="ctr">
                        <a:buNone/>
                      </a:pPr>
                      <a:r>
                        <a:rPr lang="en-GB" sz="900" b="0" i="0" u="none" strike="noStrike">
                          <a:solidFill>
                            <a:srgbClr val="000000"/>
                          </a:solidFill>
                          <a:effectLst/>
                          <a:latin typeface="Arial" panose="020B0604020202020204" pitchFamily="34" charset="0"/>
                          <a:ea typeface="宋体" panose="02010600030101010101" pitchFamily="2" charset="-122"/>
                        </a:rPr>
                        <a:t>1.1%</a:t>
                      </a:r>
                    </a:p>
                  </a:txBody>
                  <a:tcPr marL="0" marR="0" marT="0" marB="0" anchor="ctr">
                    <a:lnL w="12700" cap="flat" cmpd="sng" algn="ctr">
                      <a:solidFill>
                        <a:srgbClr val="C00000"/>
                      </a:solidFill>
                      <a:prstDash val="dash"/>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rgbClr val="000000"/>
                          </a:solidFill>
                          <a:effectLst/>
                          <a:latin typeface="Arial" panose="020B0604020202020204" pitchFamily="34" charset="0"/>
                          <a:ea typeface="宋体" panose="02010600030101010101" pitchFamily="2" charset="-122"/>
                        </a:rPr>
                        <a:t>0.7%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tx1"/>
                          </a:solidFill>
                          <a:effectLst/>
                          <a:latin typeface="Arial" panose="020B0604020202020204" pitchFamily="34" charset="0"/>
                          <a:ea typeface="宋体" panose="02010600030101010101" pitchFamily="2" charset="-122"/>
                        </a:rPr>
                        <a:t>3.0%</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0" fontAlgn="ctr">
                        <a:buNone/>
                      </a:pPr>
                      <a:r>
                        <a:rPr lang="en-GB" sz="900" b="0" i="0" u="none" strike="noStrike">
                          <a:solidFill>
                            <a:schemeClr val="tx1"/>
                          </a:solidFill>
                          <a:effectLst/>
                          <a:latin typeface="Arial" panose="020B0604020202020204" pitchFamily="34" charset="0"/>
                          <a:ea typeface="宋体" panose="02010600030101010101" pitchFamily="2" charset="-122"/>
                        </a:rPr>
                        <a:t>0.5%</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tx1"/>
                          </a:solidFill>
                          <a:effectLst/>
                          <a:latin typeface="Arial" panose="020B0604020202020204" pitchFamily="34" charset="0"/>
                          <a:ea typeface="宋体" panose="02010600030101010101" pitchFamily="2" charset="-122"/>
                          <a:cs typeface="+mn-cs"/>
                        </a:rPr>
                        <a:t>2.7%</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tx1"/>
                          </a:solidFill>
                          <a:effectLst/>
                          <a:latin typeface="Arial" panose="020B0604020202020204" pitchFamily="34" charset="0"/>
                          <a:ea typeface="宋体" panose="02010600030101010101" pitchFamily="2" charset="-122"/>
                          <a:cs typeface="+mn-cs"/>
                        </a:rPr>
                        <a:t>3.6%</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tx1"/>
                          </a:solidFill>
                          <a:effectLst/>
                          <a:latin typeface="Arial" panose="020B0604020202020204" pitchFamily="34" charset="0"/>
                          <a:ea typeface="宋体" panose="02010600030101010101" pitchFamily="2" charset="-122"/>
                          <a:cs typeface="+mn-cs"/>
                        </a:rPr>
                        <a:t>4.4%</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tx1"/>
                          </a:solidFill>
                          <a:effectLst/>
                          <a:latin typeface="Arial" panose="020B0604020202020204" pitchFamily="34" charset="0"/>
                          <a:ea typeface="宋体" panose="02010600030101010101" pitchFamily="2" charset="-122"/>
                          <a:cs typeface="+mn-cs"/>
                        </a:rPr>
                        <a:t>N/A</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r" defTabSz="742950" rtl="0" eaLnBrk="1" fontAlgn="ctr" latinLnBrk="0" hangingPunct="1">
                        <a:lnSpc>
                          <a:spcPct val="100000"/>
                        </a:lnSpc>
                        <a:spcBef>
                          <a:spcPts val="0"/>
                        </a:spcBef>
                        <a:spcAft>
                          <a:spcPts val="0"/>
                        </a:spcAft>
                        <a:buClrTx/>
                        <a:buSzTx/>
                        <a:buFontTx/>
                        <a:buNone/>
                        <a:tabLst/>
                        <a:defRPr/>
                      </a:pPr>
                      <a:r>
                        <a:rPr lang="en-US" sz="900" b="0" i="0" u="none" strike="noStrike" kern="1200" noProof="0" dirty="0">
                          <a:solidFill>
                            <a:schemeClr val="tx1"/>
                          </a:solidFill>
                          <a:effectLst/>
                          <a:latin typeface="Arial" panose="020B0604020202020204" pitchFamily="34" charset="0"/>
                          <a:ea typeface="宋体" panose="02010600030101010101" pitchFamily="2" charset="-122"/>
                          <a:cs typeface="+mn-cs"/>
                        </a:rPr>
                        <a:t>1.4%</a:t>
                      </a:r>
                    </a:p>
                  </a:txBody>
                  <a:tcPr marL="0" marR="0" marT="0" marB="0"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932629078"/>
                  </a:ext>
                </a:extLst>
              </a:tr>
            </a:tbl>
          </a:graphicData>
        </a:graphic>
      </p:graphicFrame>
      <p:pic>
        <p:nvPicPr>
          <p:cNvPr id="17" name="Picture 2" descr="http://www.differencebetween.info/sites/default/files/images/2/award.jpg">
            <a:extLst>
              <a:ext uri="{FF2B5EF4-FFF2-40B4-BE49-F238E27FC236}">
                <a16:creationId xmlns:a16="http://schemas.microsoft.com/office/drawing/2014/main" id="{20609116-8A12-B839-67A0-2B8DD78E372D}"/>
              </a:ext>
            </a:extLst>
          </p:cNvPr>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66827" y="3820619"/>
            <a:ext cx="214831" cy="291395"/>
          </a:xfrm>
          <a:prstGeom prst="rect">
            <a:avLst/>
          </a:prstGeom>
          <a:noFill/>
        </p:spPr>
      </p:pic>
      <p:pic>
        <p:nvPicPr>
          <p:cNvPr id="18" name="Picture 2" descr="http://www.differencebetween.info/sites/default/files/images/2/award.jpg">
            <a:extLst>
              <a:ext uri="{FF2B5EF4-FFF2-40B4-BE49-F238E27FC236}">
                <a16:creationId xmlns:a16="http://schemas.microsoft.com/office/drawing/2014/main" id="{7876A5AF-24D4-8508-C634-FD83A36AFE31}"/>
              </a:ext>
            </a:extLst>
          </p:cNvPr>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66827" y="3283302"/>
            <a:ext cx="214831" cy="291395"/>
          </a:xfrm>
          <a:prstGeom prst="rect">
            <a:avLst/>
          </a:prstGeom>
          <a:noFill/>
        </p:spPr>
      </p:pic>
      <p:pic>
        <p:nvPicPr>
          <p:cNvPr id="19" name="Picture 2" descr="http://www.differencebetween.info/sites/default/files/images/2/award.jpg">
            <a:extLst>
              <a:ext uri="{FF2B5EF4-FFF2-40B4-BE49-F238E27FC236}">
                <a16:creationId xmlns:a16="http://schemas.microsoft.com/office/drawing/2014/main" id="{8798BD3E-0A36-51DF-31F5-FF01BF83C09E}"/>
              </a:ext>
            </a:extLst>
          </p:cNvPr>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66827" y="2212295"/>
            <a:ext cx="214831" cy="291395"/>
          </a:xfrm>
          <a:prstGeom prst="rect">
            <a:avLst/>
          </a:prstGeom>
          <a:noFill/>
        </p:spPr>
      </p:pic>
      <p:pic>
        <p:nvPicPr>
          <p:cNvPr id="21" name="Picture 2" descr="http://www.differencebetween.info/sites/default/files/images/2/award.jpg">
            <a:extLst>
              <a:ext uri="{FF2B5EF4-FFF2-40B4-BE49-F238E27FC236}">
                <a16:creationId xmlns:a16="http://schemas.microsoft.com/office/drawing/2014/main" id="{D66BD41A-3456-FBE4-D8C9-C3CF15FAFC82}"/>
              </a:ext>
            </a:extLst>
          </p:cNvPr>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66827" y="1859802"/>
            <a:ext cx="214831" cy="291395"/>
          </a:xfrm>
          <a:prstGeom prst="rect">
            <a:avLst/>
          </a:prstGeom>
          <a:noFill/>
        </p:spPr>
      </p:pic>
      <p:pic>
        <p:nvPicPr>
          <p:cNvPr id="16" name="Picture 2" descr="http://www.differencebetween.info/sites/default/files/images/2/award.jpg">
            <a:extLst>
              <a:ext uri="{FF2B5EF4-FFF2-40B4-BE49-F238E27FC236}">
                <a16:creationId xmlns:a16="http://schemas.microsoft.com/office/drawing/2014/main" id="{592DDF36-E44A-CD44-DF2C-1F522EAA5AE8}"/>
              </a:ext>
            </a:extLst>
          </p:cNvPr>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66827" y="4640928"/>
            <a:ext cx="214831" cy="291395"/>
          </a:xfrm>
          <a:prstGeom prst="rect">
            <a:avLst/>
          </a:prstGeom>
          <a:noFill/>
        </p:spPr>
      </p:pic>
    </p:spTree>
    <p:extLst>
      <p:ext uri="{BB962C8B-B14F-4D97-AF65-F5344CB8AC3E}">
        <p14:creationId xmlns:p14="http://schemas.microsoft.com/office/powerpoint/2010/main" val="2452921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FE53A-AB1C-6ED3-51ED-A56A9D8A6700}"/>
            </a:ext>
          </a:extLst>
        </p:cNvPr>
        <p:cNvGrpSpPr/>
        <p:nvPr/>
      </p:nvGrpSpPr>
      <p:grpSpPr>
        <a:xfrm>
          <a:off x="0" y="0"/>
          <a:ext cx="0" cy="0"/>
          <a:chOff x="0" y="0"/>
          <a:chExt cx="0" cy="0"/>
        </a:xfrm>
      </p:grpSpPr>
      <p:graphicFrame>
        <p:nvGraphicFramePr>
          <p:cNvPr id="22" name="Chart 21">
            <a:extLst>
              <a:ext uri="{FF2B5EF4-FFF2-40B4-BE49-F238E27FC236}">
                <a16:creationId xmlns:a16="http://schemas.microsoft.com/office/drawing/2014/main" id="{3E614BE8-5AF8-D2DF-4D78-B31481679135}"/>
              </a:ext>
            </a:extLst>
          </p:cNvPr>
          <p:cNvGraphicFramePr/>
          <p:nvPr>
            <p:extLst>
              <p:ext uri="{D42A27DB-BD31-4B8C-83A1-F6EECF244321}">
                <p14:modId xmlns:p14="http://schemas.microsoft.com/office/powerpoint/2010/main" val="3986046369"/>
              </p:ext>
            </p:extLst>
          </p:nvPr>
        </p:nvGraphicFramePr>
        <p:xfrm>
          <a:off x="2599637" y="3597525"/>
          <a:ext cx="6604000" cy="2139842"/>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Rounded Corners 9">
            <a:extLst>
              <a:ext uri="{FF2B5EF4-FFF2-40B4-BE49-F238E27FC236}">
                <a16:creationId xmlns:a16="http://schemas.microsoft.com/office/drawing/2014/main" id="{F7B93498-F37F-388E-C045-E98A450AC9F2}"/>
              </a:ext>
            </a:extLst>
          </p:cNvPr>
          <p:cNvSpPr/>
          <p:nvPr/>
        </p:nvSpPr>
        <p:spPr>
          <a:xfrm>
            <a:off x="161262" y="1042730"/>
            <a:ext cx="2362202" cy="1879265"/>
          </a:xfrm>
          <a:prstGeom prst="roundRect">
            <a:avLst>
              <a:gd name="adj" fmla="val 10294"/>
            </a:avLst>
          </a:prstGeom>
          <a:solidFill>
            <a:sysClr val="window" lastClr="FFFFFF"/>
          </a:solidFill>
          <a:ln w="12700" cap="flat" cmpd="sng" algn="ctr">
            <a:gradFill>
              <a:gsLst>
                <a:gs pos="0">
                  <a:srgbClr val="C30303">
                    <a:lumMod val="20000"/>
                    <a:lumOff val="80000"/>
                  </a:srgbClr>
                </a:gs>
                <a:gs pos="100000">
                  <a:srgbClr val="C30303"/>
                </a:gs>
              </a:gsLst>
              <a:lin ang="5400000" scaled="1"/>
            </a:gradFill>
            <a:prstDash val="solid"/>
            <a:miter lim="800000"/>
          </a:ln>
          <a:effectLst>
            <a:outerShdw blurRad="50800" dist="38100" dir="2700000" algn="tl" rotWithShape="0">
              <a:prstClr val="black">
                <a:alpha val="40000"/>
              </a:prstClr>
            </a:outerShdw>
          </a:effectLst>
        </p:spPr>
        <p:txBody>
          <a:bodyPr lIns="648000" rtlCol="0" anchor="ctr"/>
          <a:lstStyle/>
          <a:p>
            <a:pPr defTabSz="939800">
              <a:defRPr/>
            </a:pPr>
            <a:endParaRPr lang="en-US" sz="800" b="0" kern="0">
              <a:solidFill>
                <a:schemeClr val="tx1"/>
              </a:solidFill>
              <a:latin typeface="Arial" panose="020B0604020202020204" pitchFamily="34" charset="0"/>
              <a:ea typeface="楷体_GB2312" panose="02010609030101010101" pitchFamily="49" charset="-122"/>
              <a:cs typeface="Arial" panose="020B0604020202020204" pitchFamily="34" charset="0"/>
            </a:endParaRPr>
          </a:p>
        </p:txBody>
      </p:sp>
      <p:sp>
        <p:nvSpPr>
          <p:cNvPr id="2" name="Text Placeholder 1">
            <a:extLst>
              <a:ext uri="{FF2B5EF4-FFF2-40B4-BE49-F238E27FC236}">
                <a16:creationId xmlns:a16="http://schemas.microsoft.com/office/drawing/2014/main" id="{2F9690E3-550D-5987-C0A9-9FC76B3A93FE}"/>
              </a:ext>
            </a:extLst>
          </p:cNvPr>
          <p:cNvSpPr>
            <a:spLocks noGrp="1"/>
          </p:cNvSpPr>
          <p:nvPr>
            <p:ph type="body" sz="quarter" idx="46"/>
          </p:nvPr>
        </p:nvSpPr>
        <p:spPr>
          <a:xfrm>
            <a:off x="1353000" y="6158457"/>
            <a:ext cx="8100000" cy="590426"/>
          </a:xfrm>
        </p:spPr>
        <p:txBody>
          <a:bodyPr anchor="b"/>
          <a:lstStyle/>
          <a:p>
            <a:pPr marL="0" indent="0">
              <a:buNone/>
            </a:pPr>
            <a:r>
              <a:rPr lang="en-US" sz="450" dirty="0">
                <a:highlight>
                  <a:srgbClr val="FFFF00"/>
                </a:highlight>
                <a:latin typeface="+mj-lt"/>
                <a:ea typeface="Calibri" panose="020F0502020204030204" pitchFamily="34" charset="0"/>
                <a:cs typeface="Calibri" panose="020F0502020204030204" pitchFamily="34" charset="0"/>
              </a:rPr>
              <a:t>Sources: Bloomberg (23 Feb 2026), company information. Exchange rate of US$1 to HK$7.80.</a:t>
            </a:r>
          </a:p>
          <a:p>
            <a:r>
              <a:rPr lang="en-US" sz="450" dirty="0">
                <a:highlight>
                  <a:srgbClr val="FFFF00"/>
                </a:highlight>
                <a:latin typeface="Arial"/>
                <a:cs typeface="Arial"/>
              </a:rPr>
              <a:t>Forecast data of [L&amp;F] are based on DBS estimates, which includes the financials results of [L&amp;F] and its subsidiary companies as well as the respective share of results of associated companies and joint ventures. Revenue CAGR and EBITDA CAGR from 2024 to 2026 are based on available consensus estimates published in 2025 on [L&amp;F] ’s retail segment. Net profit is based on DBS estimates.</a:t>
            </a:r>
          </a:p>
          <a:p>
            <a:r>
              <a:rPr lang="en-US" sz="450" dirty="0">
                <a:highlight>
                  <a:srgbClr val="FFFF00"/>
                </a:highlight>
                <a:ea typeface="Calibri" panose="020F0502020204030204" pitchFamily="34" charset="0"/>
                <a:cs typeface="Calibri" panose="020F0502020204030204" pitchFamily="34" charset="0"/>
              </a:rPr>
              <a:t>Forecast financial figures are derived from analysts’ consensus estimates. Historical and forecast financial figures have been adjusted to align with a year end of 31 December.</a:t>
            </a:r>
          </a:p>
          <a:p>
            <a:r>
              <a:rPr lang="en-US" sz="450" dirty="0">
                <a:highlight>
                  <a:srgbClr val="FFFF00"/>
                </a:highlight>
                <a:latin typeface="Arial"/>
                <a:cs typeface="Arial"/>
              </a:rPr>
              <a:t>Net profit have been adjusted to exclude extraordinary items.</a:t>
            </a:r>
          </a:p>
          <a:p>
            <a:r>
              <a:rPr lang="en-US" sz="450" dirty="0">
                <a:highlight>
                  <a:srgbClr val="FFFF00"/>
                </a:highlight>
                <a:latin typeface="Arial"/>
                <a:cs typeface="Arial"/>
              </a:rPr>
              <a:t>Assuming excess cash will be distributed to shareholders before IPO.</a:t>
            </a:r>
          </a:p>
        </p:txBody>
      </p:sp>
      <p:sp>
        <p:nvSpPr>
          <p:cNvPr id="3" name="Title 2">
            <a:extLst>
              <a:ext uri="{FF2B5EF4-FFF2-40B4-BE49-F238E27FC236}">
                <a16:creationId xmlns:a16="http://schemas.microsoft.com/office/drawing/2014/main" id="{BF6F4A53-1444-0C08-D607-6647395E1C22}"/>
              </a:ext>
            </a:extLst>
          </p:cNvPr>
          <p:cNvSpPr>
            <a:spLocks noGrp="1"/>
          </p:cNvSpPr>
          <p:nvPr>
            <p:ph type="title"/>
          </p:nvPr>
        </p:nvSpPr>
        <p:spPr/>
        <p:txBody>
          <a:bodyPr/>
          <a:lstStyle/>
          <a:p>
            <a:r>
              <a:rPr lang="en-GB">
                <a:latin typeface="+mj-lt"/>
                <a:ea typeface="Calibri" panose="020F0502020204030204" pitchFamily="34" charset="0"/>
                <a:cs typeface="Calibri" panose="020F0502020204030204" pitchFamily="34" charset="0"/>
              </a:rPr>
              <a:t>Indicative Valuation Analysis</a:t>
            </a:r>
            <a:endParaRPr lang="en-US">
              <a:latin typeface="+mj-lt"/>
              <a:ea typeface="Calibri" panose="020F0502020204030204" pitchFamily="34" charset="0"/>
              <a:cs typeface="Calibri" panose="020F0502020204030204" pitchFamily="34" charset="0"/>
            </a:endParaRPr>
          </a:p>
        </p:txBody>
      </p:sp>
      <p:sp>
        <p:nvSpPr>
          <p:cNvPr id="58" name="TextBox 57">
            <a:extLst>
              <a:ext uri="{FF2B5EF4-FFF2-40B4-BE49-F238E27FC236}">
                <a16:creationId xmlns:a16="http://schemas.microsoft.com/office/drawing/2014/main" id="{DD733C02-DB8E-21EB-360B-2568406BAED0}"/>
              </a:ext>
            </a:extLst>
          </p:cNvPr>
          <p:cNvSpPr txBox="1"/>
          <p:nvPr/>
        </p:nvSpPr>
        <p:spPr>
          <a:xfrm>
            <a:off x="381000" y="1143000"/>
            <a:ext cx="914400" cy="914400"/>
          </a:xfrm>
          <a:prstGeom prst="rect">
            <a:avLst/>
          </a:prstGeom>
          <a:noFill/>
        </p:spPr>
        <p:txBody>
          <a:bodyPr wrap="none" lIns="0" tIns="0" rIns="0" bIns="0" rtlCol="0">
            <a:noAutofit/>
          </a:bodyPr>
          <a:lstStyle/>
          <a:p>
            <a:pPr algn="l"/>
            <a:endParaRPr lang="en-GB" sz="1000" b="0">
              <a:solidFill>
                <a:schemeClr val="tx1"/>
              </a:solidFill>
              <a:latin typeface="+mj-lt"/>
              <a:ea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8B6E322E-B4E5-E07C-285F-7A98D2869F09}"/>
              </a:ext>
            </a:extLst>
          </p:cNvPr>
          <p:cNvSpPr/>
          <p:nvPr/>
        </p:nvSpPr>
        <p:spPr bwMode="auto">
          <a:xfrm>
            <a:off x="171180" y="1074783"/>
            <a:ext cx="2281399" cy="1815168"/>
          </a:xfrm>
          <a:prstGeom prst="rect">
            <a:avLst/>
          </a:prstGeom>
          <a:noFill/>
          <a:ln>
            <a:noFill/>
          </a:ln>
          <a:effectLst/>
        </p:spPr>
        <p:txBody>
          <a:bodyPr vert="horz" wrap="square" lIns="36000" tIns="36000" rIns="36000" bIns="36000" numCol="1" rtlCol="0" anchor="t" anchorCtr="0" compatLnSpc="1">
            <a:prstTxWarp prst="textNoShape">
              <a:avLst/>
            </a:prstTxWarp>
            <a:spAutoFit/>
          </a:bodyPr>
          <a:lstStyle/>
          <a:p>
            <a:pPr marL="171450" indent="-171450" eaLnBrk="0" hangingPunct="0">
              <a:lnSpc>
                <a:spcPct val="110000"/>
              </a:lnSpc>
              <a:spcBef>
                <a:spcPts val="600"/>
              </a:spcBef>
              <a:buClr>
                <a:schemeClr val="tx1"/>
              </a:buClr>
              <a:buFont typeface="Wingdings" panose="05000000000000000000" pitchFamily="2" charset="2"/>
              <a:buChar char="§"/>
            </a:pPr>
            <a:r>
              <a:rPr lang="en-SG" sz="900" b="0" dirty="0">
                <a:solidFill>
                  <a:schemeClr val="tx1"/>
                </a:solidFill>
                <a:latin typeface="+mj-lt"/>
                <a:ea typeface="Calibri" panose="020F0502020204030204" pitchFamily="34" charset="0"/>
                <a:cs typeface="Calibri" panose="020F0502020204030204" pitchFamily="34" charset="0"/>
              </a:rPr>
              <a:t>Key comparables: [9] </a:t>
            </a:r>
            <a:r>
              <a:rPr lang="en-SG" sz="900" dirty="0">
                <a:solidFill>
                  <a:srgbClr val="C00000"/>
                </a:solidFill>
                <a:latin typeface="+mj-lt"/>
                <a:ea typeface="Calibri" panose="020F0502020204030204" pitchFamily="34" charset="0"/>
                <a:cs typeface="Calibri" panose="020F0502020204030204" pitchFamily="34" charset="0"/>
              </a:rPr>
              <a:t>retailers </a:t>
            </a:r>
            <a:r>
              <a:rPr lang="en-SG" sz="900" b="0" dirty="0">
                <a:solidFill>
                  <a:schemeClr val="tx1"/>
                </a:solidFill>
                <a:latin typeface="+mj-lt"/>
                <a:ea typeface="Calibri" panose="020F0502020204030204" pitchFamily="34" charset="0"/>
                <a:cs typeface="Calibri" panose="020F0502020204030204" pitchFamily="34" charset="0"/>
              </a:rPr>
              <a:t>with</a:t>
            </a:r>
            <a:r>
              <a:rPr lang="en-SG" sz="900" dirty="0">
                <a:solidFill>
                  <a:srgbClr val="C00000"/>
                </a:solidFill>
                <a:latin typeface="+mj-lt"/>
                <a:ea typeface="Calibri" panose="020F0502020204030204" pitchFamily="34" charset="0"/>
                <a:cs typeface="Calibri" panose="020F0502020204030204" pitchFamily="34" charset="0"/>
              </a:rPr>
              <a:t> </a:t>
            </a:r>
            <a:r>
              <a:rPr lang="en-SG" sz="900" b="0" dirty="0">
                <a:solidFill>
                  <a:schemeClr val="tx1"/>
                </a:solidFill>
                <a:ea typeface="Calibri" panose="020F0502020204030204" pitchFamily="34" charset="0"/>
                <a:cs typeface="Calibri" panose="020F0502020204030204" pitchFamily="34" charset="0"/>
              </a:rPr>
              <a:t>market cap not less than US$2 billion (except for PDS)</a:t>
            </a:r>
            <a:endParaRPr lang="en-SG" sz="900" b="0" dirty="0">
              <a:solidFill>
                <a:schemeClr val="tx1"/>
              </a:solidFill>
              <a:latin typeface="+mj-lt"/>
              <a:ea typeface="Calibri" panose="020F0502020204030204" pitchFamily="34" charset="0"/>
              <a:cs typeface="Calibri" panose="020F0502020204030204" pitchFamily="34" charset="0"/>
            </a:endParaRPr>
          </a:p>
          <a:p>
            <a:pPr marL="171450" indent="-171450" eaLnBrk="0" hangingPunct="0">
              <a:lnSpc>
                <a:spcPct val="110000"/>
              </a:lnSpc>
              <a:spcBef>
                <a:spcPts val="600"/>
              </a:spcBef>
              <a:buClr>
                <a:schemeClr val="tx1"/>
              </a:buClr>
              <a:buFont typeface="Wingdings" panose="05000000000000000000" pitchFamily="2" charset="2"/>
              <a:buChar char="§"/>
            </a:pPr>
            <a:r>
              <a:rPr lang="en-SG" sz="900" b="0" dirty="0">
                <a:solidFill>
                  <a:schemeClr val="tx1"/>
                </a:solidFill>
                <a:ea typeface="Calibri" panose="020F0502020204030204" pitchFamily="34" charset="0"/>
                <a:cs typeface="Calibri" panose="020F0502020204030204" pitchFamily="34" charset="0"/>
              </a:rPr>
              <a:t>Primary valuation methodologies: </a:t>
            </a:r>
            <a:r>
              <a:rPr lang="en-SG" sz="900" dirty="0">
                <a:solidFill>
                  <a:srgbClr val="C00000"/>
                </a:solidFill>
                <a:ea typeface="Calibri" panose="020F0502020204030204" pitchFamily="34" charset="0"/>
                <a:cs typeface="Calibri" panose="020F0502020204030204" pitchFamily="34" charset="0"/>
              </a:rPr>
              <a:t>P/S </a:t>
            </a:r>
            <a:r>
              <a:rPr lang="en-SG" sz="900" b="0" dirty="0">
                <a:solidFill>
                  <a:schemeClr val="tx1"/>
                </a:solidFill>
                <a:ea typeface="Calibri" panose="020F0502020204030204" pitchFamily="34" charset="0"/>
                <a:cs typeface="Calibri" panose="020F0502020204030204" pitchFamily="34" charset="0"/>
              </a:rPr>
              <a:t>and </a:t>
            </a:r>
            <a:r>
              <a:rPr lang="en-SG" sz="900" dirty="0">
                <a:solidFill>
                  <a:srgbClr val="C00000"/>
                </a:solidFill>
                <a:ea typeface="Calibri" panose="020F0502020204030204" pitchFamily="34" charset="0"/>
                <a:cs typeface="Calibri" panose="020F0502020204030204" pitchFamily="34" charset="0"/>
              </a:rPr>
              <a:t>P/E</a:t>
            </a:r>
          </a:p>
          <a:p>
            <a:pPr marL="171450" indent="-171450" eaLnBrk="0" hangingPunct="0">
              <a:lnSpc>
                <a:spcPct val="110000"/>
              </a:lnSpc>
              <a:spcBef>
                <a:spcPts val="600"/>
              </a:spcBef>
              <a:buClr>
                <a:schemeClr val="tx1"/>
              </a:buClr>
              <a:buFont typeface="Wingdings" panose="05000000000000000000" pitchFamily="2" charset="2"/>
              <a:buChar char="§"/>
            </a:pPr>
            <a:r>
              <a:rPr lang="en-US" altLang="zh-TW" sz="900" b="0" dirty="0">
                <a:solidFill>
                  <a:schemeClr val="tx1"/>
                </a:solidFill>
                <a:latin typeface="+mj-lt"/>
                <a:ea typeface="Calibri" panose="020F0502020204030204" pitchFamily="34" charset="0"/>
                <a:cs typeface="Calibri" panose="020F0502020204030204" pitchFamily="34" charset="0"/>
              </a:rPr>
              <a:t>Reference to</a:t>
            </a:r>
            <a:r>
              <a:rPr lang="en-US" altLang="zh-TW" sz="900" dirty="0">
                <a:solidFill>
                  <a:srgbClr val="C00000"/>
                </a:solidFill>
                <a:latin typeface="+mj-lt"/>
                <a:ea typeface="Calibri" panose="020F0502020204030204" pitchFamily="34" charset="0"/>
                <a:cs typeface="Calibri" panose="020F0502020204030204" pitchFamily="34" charset="0"/>
              </a:rPr>
              <a:t> 2026F valuation multiples </a:t>
            </a:r>
            <a:r>
              <a:rPr lang="en-US" altLang="zh-TW" sz="900" b="0" dirty="0">
                <a:solidFill>
                  <a:schemeClr val="tx1"/>
                </a:solidFill>
                <a:latin typeface="+mj-lt"/>
                <a:ea typeface="Calibri" panose="020F0502020204030204" pitchFamily="34" charset="0"/>
                <a:cs typeface="Calibri" panose="020F0502020204030204" pitchFamily="34" charset="0"/>
              </a:rPr>
              <a:t>given listing in 2026H2-2027H1</a:t>
            </a:r>
          </a:p>
          <a:p>
            <a:pPr marL="171450" indent="-171450" eaLnBrk="0" hangingPunct="0">
              <a:lnSpc>
                <a:spcPct val="110000"/>
              </a:lnSpc>
              <a:spcBef>
                <a:spcPts val="600"/>
              </a:spcBef>
              <a:buClr>
                <a:schemeClr val="tx1"/>
              </a:buClr>
              <a:buFont typeface="Wingdings" panose="05000000000000000000" pitchFamily="2" charset="2"/>
              <a:buChar char="§"/>
            </a:pPr>
            <a:r>
              <a:rPr lang="en-US" altLang="zh-TW" sz="900" b="0" dirty="0">
                <a:solidFill>
                  <a:schemeClr val="tx1"/>
                </a:solidFill>
                <a:latin typeface="+mj-lt"/>
                <a:ea typeface="Calibri" panose="020F0502020204030204" pitchFamily="34" charset="0"/>
                <a:cs typeface="Calibri" panose="020F0502020204030204" pitchFamily="34" charset="0"/>
              </a:rPr>
              <a:t>We value L&amp;F at the </a:t>
            </a:r>
            <a:r>
              <a:rPr lang="en-US" altLang="zh-TW" sz="900" dirty="0">
                <a:solidFill>
                  <a:srgbClr val="C00000"/>
                </a:solidFill>
                <a:latin typeface="+mj-lt"/>
                <a:ea typeface="Calibri" panose="020F0502020204030204" pitchFamily="34" charset="0"/>
                <a:cs typeface="Calibri" panose="020F0502020204030204" pitchFamily="34" charset="0"/>
              </a:rPr>
              <a:t>high-end of P/E/ valuation range</a:t>
            </a:r>
          </a:p>
        </p:txBody>
      </p:sp>
      <p:sp>
        <p:nvSpPr>
          <p:cNvPr id="61" name="Rectangle 4">
            <a:extLst>
              <a:ext uri="{FF2B5EF4-FFF2-40B4-BE49-F238E27FC236}">
                <a16:creationId xmlns:a16="http://schemas.microsoft.com/office/drawing/2014/main" id="{08012FA8-6741-8D30-5C4C-FF60872B1CAE}"/>
              </a:ext>
            </a:extLst>
          </p:cNvPr>
          <p:cNvSpPr/>
          <p:nvPr/>
        </p:nvSpPr>
        <p:spPr>
          <a:xfrm>
            <a:off x="3031511" y="3323581"/>
            <a:ext cx="4739392" cy="169277"/>
          </a:xfrm>
          <a:prstGeom prst="rect">
            <a:avLst/>
          </a:prstGeom>
          <a:noFill/>
        </p:spPr>
        <p:txBody>
          <a:bodyPr wrap="square" lIns="0" tIns="0" rIns="0" bIns="0" rtlCol="0" anchor="b"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i="0" u="none" strike="noStrike" kern="1200" cap="none" spc="0" normalizeH="0" baseline="0" noProof="0">
                <a:ln>
                  <a:noFill/>
                </a:ln>
                <a:effectLst/>
                <a:uLnTx/>
                <a:uFillTx/>
                <a:latin typeface="+mj-lt"/>
                <a:ea typeface="Calibri" panose="020F0502020204030204" pitchFamily="34" charset="0"/>
                <a:cs typeface="Calibri" panose="020F0502020204030204" pitchFamily="34" charset="0"/>
              </a:rPr>
              <a:t>2026F Indicative Pre-money Equity Valuation Range</a:t>
            </a:r>
            <a:endParaRPr kumimoji="0" lang="en-US" sz="1100" i="0" u="none" strike="noStrike" kern="1200" cap="none" spc="0" normalizeH="0" baseline="0" noProof="0">
              <a:ln>
                <a:noFill/>
              </a:ln>
              <a:effectLst/>
              <a:uLnTx/>
              <a:uFillTx/>
              <a:latin typeface="+mj-lt"/>
              <a:ea typeface="Calibri" panose="020F0502020204030204" pitchFamily="34" charset="0"/>
              <a:cs typeface="Calibri" panose="020F0502020204030204" pitchFamily="34" charset="0"/>
            </a:endParaRPr>
          </a:p>
        </p:txBody>
      </p:sp>
      <p:sp>
        <p:nvSpPr>
          <p:cNvPr id="67" name="Rectangle 66">
            <a:extLst>
              <a:ext uri="{FF2B5EF4-FFF2-40B4-BE49-F238E27FC236}">
                <a16:creationId xmlns:a16="http://schemas.microsoft.com/office/drawing/2014/main" id="{24F7E371-AF31-0C80-30DB-598F2F3DC6B8}"/>
              </a:ext>
            </a:extLst>
          </p:cNvPr>
          <p:cNvSpPr/>
          <p:nvPr/>
        </p:nvSpPr>
        <p:spPr>
          <a:xfrm>
            <a:off x="337185" y="4925432"/>
            <a:ext cx="1525441" cy="400110"/>
          </a:xfrm>
          <a:prstGeom prst="rect">
            <a:avLst/>
          </a:prstGeom>
          <a:noFill/>
          <a:ln w="19050" cap="flat" cmpd="sng" algn="ctr">
            <a:noFill/>
            <a:prstDash val="solid"/>
          </a:ln>
          <a:effectLst/>
        </p:spPr>
        <p:txBody>
          <a:bodyPr lIns="45720" rIns="45720" rtlCol="0" anchor="ctr">
            <a:spAutoFit/>
          </a:bodyPr>
          <a:lstStyle/>
          <a:p>
            <a:pPr marL="182563" lvl="0" indent="-171450" defTabSz="914400">
              <a:spcAft>
                <a:spcPts val="600"/>
              </a:spcAft>
              <a:buClr>
                <a:srgbClr val="C00000"/>
              </a:buClr>
              <a:buFont typeface="Wingdings 2" panose="05020102010507070707" pitchFamily="18" charset="2"/>
              <a:buChar char="¡"/>
              <a:defRPr/>
            </a:pPr>
            <a:r>
              <a:rPr lang="en-US" altLang="zh-CN" sz="1000" kern="0" dirty="0">
                <a:solidFill>
                  <a:schemeClr val="tx1"/>
                </a:solidFill>
                <a:ea typeface="Calibri" panose="020F0502020204030204" pitchFamily="34" charset="0"/>
                <a:cs typeface="Calibri" panose="020F0502020204030204" pitchFamily="34" charset="0"/>
              </a:rPr>
              <a:t>2026F net profit: US$[73.5] million</a:t>
            </a:r>
            <a:endParaRPr lang="en-US" altLang="zh-CN" sz="1000" kern="0" dirty="0">
              <a:solidFill>
                <a:schemeClr val="tx1"/>
              </a:solidFill>
              <a:latin typeface="+mj-lt"/>
              <a:ea typeface="Calibri" panose="020F0502020204030204" pitchFamily="34" charset="0"/>
              <a:cs typeface="Calibri" panose="020F0502020204030204" pitchFamily="34" charset="0"/>
            </a:endParaRPr>
          </a:p>
        </p:txBody>
      </p:sp>
      <p:sp>
        <p:nvSpPr>
          <p:cNvPr id="68" name="Rectangle 4">
            <a:extLst>
              <a:ext uri="{FF2B5EF4-FFF2-40B4-BE49-F238E27FC236}">
                <a16:creationId xmlns:a16="http://schemas.microsoft.com/office/drawing/2014/main" id="{47504D2A-875C-CB7C-2549-04924896387E}"/>
              </a:ext>
            </a:extLst>
          </p:cNvPr>
          <p:cNvSpPr/>
          <p:nvPr/>
        </p:nvSpPr>
        <p:spPr>
          <a:xfrm>
            <a:off x="524181" y="3276670"/>
            <a:ext cx="947374" cy="169277"/>
          </a:xfrm>
          <a:prstGeom prst="rect">
            <a:avLst/>
          </a:prstGeom>
          <a:noFill/>
        </p:spPr>
        <p:txBody>
          <a:bodyPr wrap="none" lIns="0" tIns="0" rIns="0" bIns="0" rtlCol="0" anchor="b"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auto">
              <a:spcBef>
                <a:spcPts val="0"/>
              </a:spcBef>
              <a:spcAft>
                <a:spcPts val="0"/>
              </a:spcAft>
              <a:defRPr/>
            </a:pPr>
            <a:r>
              <a:rPr kumimoji="0" lang="en-US" altLang="zh-CN" sz="1100" b="1" i="0" u="none" strike="noStrike" kern="1200" cap="none" spc="0" normalizeH="0" baseline="0" noProof="0">
                <a:ln>
                  <a:noFill/>
                </a:ln>
                <a:effectLst/>
                <a:uLnTx/>
                <a:uFillTx/>
                <a:latin typeface="+mj-lt"/>
                <a:ea typeface="Calibri" panose="020F0502020204030204" pitchFamily="34" charset="0"/>
                <a:cs typeface="Calibri" panose="020F0502020204030204" pitchFamily="34" charset="0"/>
              </a:rPr>
              <a:t>Assumptions</a:t>
            </a:r>
            <a:r>
              <a:rPr lang="en-GB" sz="1100" baseline="30000">
                <a:ea typeface="Calibri" panose="020F0502020204030204" pitchFamily="34" charset="0"/>
                <a:cs typeface="Calibri" panose="020F0502020204030204" pitchFamily="34" charset="0"/>
              </a:rPr>
              <a:t>1</a:t>
            </a:r>
            <a:endParaRPr kumimoji="0" lang="en-US" sz="1100" i="0" u="none" kern="1200" cap="none" spc="0" normalizeH="0" noProof="0">
              <a:ln>
                <a:noFill/>
              </a:ln>
              <a:effectLst/>
              <a:uLnTx/>
              <a:uFillTx/>
              <a:latin typeface="+mj-lt"/>
              <a:ea typeface="Calibri" panose="020F0502020204030204" pitchFamily="34" charset="0"/>
              <a:cs typeface="Calibri" panose="020F0502020204030204" pitchFamily="34" charset="0"/>
            </a:endParaRPr>
          </a:p>
        </p:txBody>
      </p:sp>
      <p:sp>
        <p:nvSpPr>
          <p:cNvPr id="69" name="Rectangle: Rounded Corners 68">
            <a:extLst>
              <a:ext uri="{FF2B5EF4-FFF2-40B4-BE49-F238E27FC236}">
                <a16:creationId xmlns:a16="http://schemas.microsoft.com/office/drawing/2014/main" id="{D39D7C2D-5030-D2B8-09C7-A454156AD9B8}"/>
              </a:ext>
            </a:extLst>
          </p:cNvPr>
          <p:cNvSpPr/>
          <p:nvPr/>
        </p:nvSpPr>
        <p:spPr>
          <a:xfrm>
            <a:off x="1827271" y="4756574"/>
            <a:ext cx="621291" cy="871177"/>
          </a:xfrm>
          <a:prstGeom prst="roundRect">
            <a:avLst>
              <a:gd name="adj" fmla="val 5681"/>
            </a:avLst>
          </a:prstGeom>
          <a:solidFill>
            <a:schemeClr val="accent1"/>
          </a:solidFill>
          <a:ln w="25400" cap="flat" cmpd="sng" algn="ctr">
            <a:noFill/>
            <a:prstDash val="solid"/>
          </a:ln>
          <a:effectLst/>
        </p:spPr>
        <p:txBody>
          <a:bodyPr lIns="9144" rIns="9144" rtlCol="0" anchor="ct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sz="1000" b="1" i="0" u="none" strike="noStrike" kern="0" cap="none" spc="0" normalizeH="0" baseline="0" noProof="0" dirty="0">
                <a:ln>
                  <a:noFill/>
                </a:ln>
                <a:solidFill>
                  <a:schemeClr val="bg1"/>
                </a:solidFill>
                <a:effectLst/>
                <a:uLnTx/>
                <a:uFillTx/>
                <a:latin typeface="+mj-lt"/>
                <a:ea typeface="Calibri" panose="020F0502020204030204" pitchFamily="34" charset="0"/>
                <a:cs typeface="Calibri" panose="020F0502020204030204" pitchFamily="34" charset="0"/>
              </a:rPr>
              <a:t>P/E</a:t>
            </a:r>
          </a:p>
        </p:txBody>
      </p:sp>
      <p:sp>
        <p:nvSpPr>
          <p:cNvPr id="70" name="Rectangle: Rounded Corners 69">
            <a:extLst>
              <a:ext uri="{FF2B5EF4-FFF2-40B4-BE49-F238E27FC236}">
                <a16:creationId xmlns:a16="http://schemas.microsoft.com/office/drawing/2014/main" id="{A63894EC-2BCB-2CEC-6BC8-29DC29E006D2}"/>
              </a:ext>
            </a:extLst>
          </p:cNvPr>
          <p:cNvSpPr/>
          <p:nvPr/>
        </p:nvSpPr>
        <p:spPr>
          <a:xfrm>
            <a:off x="1827271" y="3701414"/>
            <a:ext cx="621291" cy="913233"/>
          </a:xfrm>
          <a:prstGeom prst="roundRect">
            <a:avLst>
              <a:gd name="adj" fmla="val 5681"/>
            </a:avLst>
          </a:prstGeom>
          <a:solidFill>
            <a:schemeClr val="accent1"/>
          </a:solidFill>
          <a:ln w="25400" cap="flat" cmpd="sng" algn="ctr">
            <a:noFill/>
            <a:prstDash val="solid"/>
          </a:ln>
          <a:effectLst/>
        </p:spPr>
        <p:txBody>
          <a:bodyPr lIns="9144" rIns="9144" rtlCol="0" anchor="ctr"/>
          <a:lstStyle/>
          <a:p>
            <a:pPr marL="0" marR="0" lvl="0" indent="0" algn="ctr" defTabSz="914400" eaLnBrk="1" fontAlgn="auto" latinLnBrk="0" hangingPunct="1">
              <a:lnSpc>
                <a:spcPct val="120000"/>
              </a:lnSpc>
              <a:spcBef>
                <a:spcPts val="0"/>
              </a:spcBef>
              <a:spcAft>
                <a:spcPts val="0"/>
              </a:spcAft>
              <a:buClrTx/>
              <a:buSzTx/>
              <a:buFontTx/>
              <a:buNone/>
              <a:tabLst/>
              <a:defRPr/>
            </a:pPr>
            <a:r>
              <a:rPr lang="en-US" altLang="zh-CN" sz="1000" kern="0">
                <a:solidFill>
                  <a:schemeClr val="bg1"/>
                </a:solidFill>
                <a:ea typeface="Calibri" panose="020F0502020204030204" pitchFamily="34" charset="0"/>
                <a:cs typeface="Calibri" panose="020F0502020204030204" pitchFamily="34" charset="0"/>
              </a:rPr>
              <a:t>P/S</a:t>
            </a:r>
            <a:endParaRPr lang="en-US" sz="1000" kern="0">
              <a:solidFill>
                <a:schemeClr val="bg1"/>
              </a:solidFill>
              <a:ea typeface="Calibri" panose="020F0502020204030204" pitchFamily="34" charset="0"/>
              <a:cs typeface="Calibri" panose="020F0502020204030204" pitchFamily="34" charset="0"/>
            </a:endParaRPr>
          </a:p>
        </p:txBody>
      </p:sp>
      <p:sp>
        <p:nvSpPr>
          <p:cNvPr id="71" name="Rectangle 70">
            <a:extLst>
              <a:ext uri="{FF2B5EF4-FFF2-40B4-BE49-F238E27FC236}">
                <a16:creationId xmlns:a16="http://schemas.microsoft.com/office/drawing/2014/main" id="{0E53E527-394A-A3DB-A166-F28A5CFB7FA3}"/>
              </a:ext>
            </a:extLst>
          </p:cNvPr>
          <p:cNvSpPr/>
          <p:nvPr/>
        </p:nvSpPr>
        <p:spPr>
          <a:xfrm>
            <a:off x="337185" y="3891300"/>
            <a:ext cx="1588779" cy="400110"/>
          </a:xfrm>
          <a:prstGeom prst="rect">
            <a:avLst/>
          </a:prstGeom>
          <a:noFill/>
          <a:ln w="19050" cap="flat" cmpd="sng" algn="ctr">
            <a:noFill/>
            <a:prstDash val="solid"/>
          </a:ln>
          <a:effectLst/>
        </p:spPr>
        <p:txBody>
          <a:bodyPr lIns="45720" rIns="45720" rtlCol="0" anchor="ctr">
            <a:spAutoFit/>
          </a:bodyPr>
          <a:lstStyle/>
          <a:p>
            <a:pPr marL="182563" lvl="0" indent="-171450" defTabSz="914400">
              <a:spcAft>
                <a:spcPts val="600"/>
              </a:spcAft>
              <a:buClr>
                <a:srgbClr val="C00000"/>
              </a:buClr>
              <a:buFont typeface="Wingdings 2" panose="05020102010507070707" pitchFamily="18" charset="2"/>
              <a:buChar char="¡"/>
              <a:defRPr/>
            </a:pPr>
            <a:r>
              <a:rPr lang="en-US" altLang="zh-CN" sz="1000" kern="0" dirty="0">
                <a:solidFill>
                  <a:schemeClr val="tx1"/>
                </a:solidFill>
                <a:ea typeface="Calibri" panose="020F0502020204030204" pitchFamily="34" charset="0"/>
                <a:cs typeface="Calibri" panose="020F0502020204030204" pitchFamily="34" charset="0"/>
              </a:rPr>
              <a:t>2026F Revenue: US$[6,353] million</a:t>
            </a:r>
          </a:p>
        </p:txBody>
      </p:sp>
      <p:sp>
        <p:nvSpPr>
          <p:cNvPr id="53" name="Rectangle 52">
            <a:extLst>
              <a:ext uri="{FF2B5EF4-FFF2-40B4-BE49-F238E27FC236}">
                <a16:creationId xmlns:a16="http://schemas.microsoft.com/office/drawing/2014/main" id="{CC99A9B3-912B-14ED-FB89-447B9AB362E6}"/>
              </a:ext>
            </a:extLst>
          </p:cNvPr>
          <p:cNvSpPr/>
          <p:nvPr/>
        </p:nvSpPr>
        <p:spPr bwMode="auto">
          <a:xfrm>
            <a:off x="4747062" y="3874524"/>
            <a:ext cx="992510" cy="1687538"/>
          </a:xfrm>
          <a:prstGeom prst="rect">
            <a:avLst/>
          </a:prstGeom>
          <a:noFill/>
          <a:ln w="19050">
            <a:solidFill>
              <a:schemeClr val="bg1">
                <a:lumMod val="50000"/>
              </a:schemeClr>
            </a:solidFill>
            <a:prstDash val="dash"/>
          </a:ln>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GB" sz="1000" b="0" i="0" u="none" strike="noStrike" cap="none" normalizeH="0" baseline="0">
              <a:ln>
                <a:noFill/>
              </a:ln>
              <a:solidFill>
                <a:schemeClr val="tx1"/>
              </a:solidFill>
              <a:effectLst/>
              <a:latin typeface="+mj-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02EB7CA-82E8-703E-8E95-BF6678AD520F}"/>
              </a:ext>
            </a:extLst>
          </p:cNvPr>
          <p:cNvSpPr txBox="1"/>
          <p:nvPr/>
        </p:nvSpPr>
        <p:spPr>
          <a:xfrm>
            <a:off x="4357211" y="3530348"/>
            <a:ext cx="922281" cy="276999"/>
          </a:xfrm>
          <a:prstGeom prst="rect">
            <a:avLst/>
          </a:prstGeom>
          <a:noFill/>
        </p:spPr>
        <p:txBody>
          <a:bodyPr wrap="square" rtlCol="0">
            <a:spAutoFit/>
          </a:bodyPr>
          <a:lstStyle/>
          <a:p>
            <a:r>
              <a:rPr lang="en-US" sz="1200">
                <a:solidFill>
                  <a:schemeClr val="accent1"/>
                </a:solidFill>
                <a:latin typeface="+mj-lt"/>
                <a:ea typeface="Calibri" panose="020F0502020204030204" pitchFamily="34" charset="0"/>
                <a:cs typeface="Calibri" panose="020F0502020204030204" pitchFamily="34" charset="0"/>
              </a:rPr>
              <a:t>US$2.5</a:t>
            </a:r>
            <a:r>
              <a:rPr lang="en-US" sz="1200" b="1">
                <a:solidFill>
                  <a:schemeClr val="accent1"/>
                </a:solidFill>
                <a:latin typeface="+mj-lt"/>
                <a:ea typeface="Calibri" panose="020F0502020204030204" pitchFamily="34" charset="0"/>
                <a:cs typeface="Calibri" panose="020F0502020204030204" pitchFamily="34" charset="0"/>
              </a:rPr>
              <a:t>b</a:t>
            </a:r>
            <a:endParaRPr lang="en-HK" sz="1200" b="1">
              <a:solidFill>
                <a:schemeClr val="accent1"/>
              </a:solidFill>
              <a:latin typeface="+mj-lt"/>
              <a:ea typeface="Calibri" panose="020F0502020204030204" pitchFamily="34" charset="0"/>
              <a:cs typeface="Calibri" panose="020F0502020204030204" pitchFamily="34" charset="0"/>
            </a:endParaRPr>
          </a:p>
        </p:txBody>
      </p:sp>
      <p:graphicFrame>
        <p:nvGraphicFramePr>
          <p:cNvPr id="21" name="Table 20">
            <a:extLst>
              <a:ext uri="{FF2B5EF4-FFF2-40B4-BE49-F238E27FC236}">
                <a16:creationId xmlns:a16="http://schemas.microsoft.com/office/drawing/2014/main" id="{365E5189-94BE-FAB7-6806-A3AA30FD8BDA}"/>
              </a:ext>
            </a:extLst>
          </p:cNvPr>
          <p:cNvGraphicFramePr>
            <a:graphicFrameLocks noGrp="1"/>
          </p:cNvGraphicFramePr>
          <p:nvPr>
            <p:extLst>
              <p:ext uri="{D42A27DB-BD31-4B8C-83A1-F6EECF244321}">
                <p14:modId xmlns:p14="http://schemas.microsoft.com/office/powerpoint/2010/main" val="4292018290"/>
              </p:ext>
            </p:extLst>
          </p:nvPr>
        </p:nvGraphicFramePr>
        <p:xfrm>
          <a:off x="2599638" y="678501"/>
          <a:ext cx="7168137" cy="2580885"/>
        </p:xfrm>
        <a:graphic>
          <a:graphicData uri="http://schemas.openxmlformats.org/drawingml/2006/table">
            <a:tbl>
              <a:tblPr/>
              <a:tblGrid>
                <a:gridCol w="1518706">
                  <a:extLst>
                    <a:ext uri="{9D8B030D-6E8A-4147-A177-3AD203B41FA5}">
                      <a16:colId xmlns:a16="http://schemas.microsoft.com/office/drawing/2014/main" val="757913033"/>
                    </a:ext>
                  </a:extLst>
                </a:gridCol>
                <a:gridCol w="726523">
                  <a:extLst>
                    <a:ext uri="{9D8B030D-6E8A-4147-A177-3AD203B41FA5}">
                      <a16:colId xmlns:a16="http://schemas.microsoft.com/office/drawing/2014/main" val="1801281980"/>
                    </a:ext>
                  </a:extLst>
                </a:gridCol>
                <a:gridCol w="942685">
                  <a:extLst>
                    <a:ext uri="{9D8B030D-6E8A-4147-A177-3AD203B41FA5}">
                      <a16:colId xmlns:a16="http://schemas.microsoft.com/office/drawing/2014/main" val="2163548721"/>
                    </a:ext>
                  </a:extLst>
                </a:gridCol>
                <a:gridCol w="942685">
                  <a:extLst>
                    <a:ext uri="{9D8B030D-6E8A-4147-A177-3AD203B41FA5}">
                      <a16:colId xmlns:a16="http://schemas.microsoft.com/office/drawing/2014/main" val="3698224368"/>
                    </a:ext>
                  </a:extLst>
                </a:gridCol>
                <a:gridCol w="942685">
                  <a:extLst>
                    <a:ext uri="{9D8B030D-6E8A-4147-A177-3AD203B41FA5}">
                      <a16:colId xmlns:a16="http://schemas.microsoft.com/office/drawing/2014/main" val="3720218480"/>
                    </a:ext>
                  </a:extLst>
                </a:gridCol>
                <a:gridCol w="698284">
                  <a:extLst>
                    <a:ext uri="{9D8B030D-6E8A-4147-A177-3AD203B41FA5}">
                      <a16:colId xmlns:a16="http://schemas.microsoft.com/office/drawing/2014/main" val="1595753286"/>
                    </a:ext>
                  </a:extLst>
                </a:gridCol>
                <a:gridCol w="548594">
                  <a:extLst>
                    <a:ext uri="{9D8B030D-6E8A-4147-A177-3AD203B41FA5}">
                      <a16:colId xmlns:a16="http://schemas.microsoft.com/office/drawing/2014/main" val="2297612841"/>
                    </a:ext>
                  </a:extLst>
                </a:gridCol>
                <a:gridCol w="847975">
                  <a:extLst>
                    <a:ext uri="{9D8B030D-6E8A-4147-A177-3AD203B41FA5}">
                      <a16:colId xmlns:a16="http://schemas.microsoft.com/office/drawing/2014/main" val="189677803"/>
                    </a:ext>
                  </a:extLst>
                </a:gridCol>
              </a:tblGrid>
              <a:tr h="120650">
                <a:tc>
                  <a:txBody>
                    <a:bodyPr/>
                    <a:lstStyle/>
                    <a:p>
                      <a:pPr algn="l" fontAlgn="b">
                        <a:buNone/>
                      </a:pPr>
                      <a:endParaRPr lang="en-GB" sz="900" b="1" i="0" u="none" strike="noStrike">
                        <a:solidFill>
                          <a:srgbClr val="000000"/>
                        </a:solidFill>
                        <a:effectLst/>
                        <a:latin typeface="+mj-lt"/>
                        <a:ea typeface="宋体" panose="02010600030101010101" pitchFamily="2" charset="-122"/>
                      </a:endParaRPr>
                    </a:p>
                  </a:txBody>
                  <a:tcPr marL="18000" marR="18000" marT="36000" marB="36000" anchor="b">
                    <a:lnL w="6350" cap="flat" cmpd="sng" algn="ctr">
                      <a:no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no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noFill/>
                  </a:tcPr>
                </a:tc>
                <a:tc gridSpan="2">
                  <a:txBody>
                    <a:bodyPr/>
                    <a:lstStyle/>
                    <a:p>
                      <a:pPr algn="ctr" fontAlgn="b">
                        <a:buNone/>
                      </a:pPr>
                      <a:r>
                        <a:rPr lang="en-GB" sz="900" b="1" i="0" u="none" strike="noStrike">
                          <a:solidFill>
                            <a:schemeClr val="tx1"/>
                          </a:solidFill>
                          <a:effectLst/>
                          <a:latin typeface="+mj-lt"/>
                          <a:ea typeface="宋体" panose="02010600030101010101" pitchFamily="2" charset="-122"/>
                        </a:rPr>
                        <a:t>26F Key Financials</a:t>
                      </a:r>
                      <a:r>
                        <a:rPr lang="en-GB" sz="900" b="1" i="0" u="none" strike="noStrike" baseline="30000">
                          <a:solidFill>
                            <a:schemeClr val="tx1"/>
                          </a:solidFill>
                          <a:effectLst/>
                          <a:latin typeface="+mj-lt"/>
                          <a:ea typeface="宋体" panose="02010600030101010101" pitchFamily="2" charset="-122"/>
                        </a:rPr>
                        <a:t>2,3,4</a:t>
                      </a:r>
                    </a:p>
                  </a:txBody>
                  <a:tcPr marL="18000" marR="18000" marT="36000" marB="36000" anchor="b">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solidFill>
                      <a:schemeClr val="bg1">
                        <a:lumMod val="85000"/>
                      </a:schemeClr>
                    </a:solidFill>
                  </a:tcPr>
                </a:tc>
                <a:tc hMerge="1">
                  <a:txBody>
                    <a:bodyPr/>
                    <a:lstStyle/>
                    <a:p>
                      <a:endParaRPr lang="en-GB"/>
                    </a:p>
                  </a:txBody>
                  <a:tcPr/>
                </a:tc>
                <a:tc gridSpan="2">
                  <a:txBody>
                    <a:bodyPr/>
                    <a:lstStyle/>
                    <a:p>
                      <a:pPr algn="ctr"/>
                      <a:r>
                        <a:rPr lang="en-HK" sz="900" b="1" i="0" u="none" strike="noStrike" kern="1200">
                          <a:solidFill>
                            <a:schemeClr val="tx1"/>
                          </a:solidFill>
                          <a:effectLst/>
                          <a:latin typeface="+mj-lt"/>
                          <a:ea typeface="宋体" panose="02010600030101010101" pitchFamily="2" charset="-122"/>
                          <a:cs typeface="+mn-cs"/>
                        </a:rPr>
                        <a:t>24-26F CAGR</a:t>
                      </a:r>
                      <a:r>
                        <a:rPr lang="en-GB" sz="900" b="1" i="0" u="none" strike="noStrike" kern="1200" baseline="30000">
                          <a:solidFill>
                            <a:schemeClr val="tx1"/>
                          </a:solidFill>
                          <a:effectLst/>
                          <a:latin typeface="+mj-lt"/>
                          <a:ea typeface="宋体" panose="02010600030101010101" pitchFamily="2" charset="-122"/>
                          <a:cs typeface="+mn-cs"/>
                        </a:rPr>
                        <a:t>2,3,4</a:t>
                      </a:r>
                      <a:endParaRPr lang="en-GB" sz="900" b="1" i="0" u="none" strike="noStrike" kern="1200">
                        <a:solidFill>
                          <a:schemeClr val="tx1"/>
                        </a:solidFill>
                        <a:effectLst/>
                        <a:latin typeface="+mj-lt"/>
                        <a:ea typeface="宋体" panose="02010600030101010101" pitchFamily="2" charset="-122"/>
                        <a:cs typeface="+mn-cs"/>
                      </a:endParaRPr>
                    </a:p>
                  </a:txBody>
                  <a:tcP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solidFill>
                      <a:schemeClr val="bg1">
                        <a:lumMod val="85000"/>
                      </a:schemeClr>
                    </a:solidFill>
                  </a:tcPr>
                </a:tc>
                <a:tc hMerge="1">
                  <a:txBody>
                    <a:bodyPr/>
                    <a:lstStyle/>
                    <a:p>
                      <a:endParaRPr lang="en-GB"/>
                    </a:p>
                  </a:txBody>
                  <a:tcPr/>
                </a:tc>
                <a:tc gridSpan="3">
                  <a:txBody>
                    <a:bodyPr/>
                    <a:lstStyle/>
                    <a:p>
                      <a:pPr algn="ctr" fontAlgn="b">
                        <a:buNone/>
                      </a:pPr>
                      <a:r>
                        <a:rPr lang="en-GB" sz="900" b="1" i="0" u="none" strike="noStrike" dirty="0">
                          <a:solidFill>
                            <a:schemeClr val="bg1"/>
                          </a:solidFill>
                          <a:effectLst/>
                          <a:latin typeface="+mj-lt"/>
                          <a:ea typeface="宋体" panose="02010600030101010101" pitchFamily="2" charset="-122"/>
                        </a:rPr>
                        <a:t>26F Valuation</a:t>
                      </a:r>
                      <a:r>
                        <a:rPr lang="en-GB" sz="900" b="1" i="0" u="none" strike="noStrike" kern="1200" baseline="30000" dirty="0">
                          <a:solidFill>
                            <a:schemeClr val="bg1"/>
                          </a:solidFill>
                          <a:effectLst/>
                          <a:latin typeface="+mj-lt"/>
                          <a:ea typeface="宋体" panose="02010600030101010101" pitchFamily="2" charset="-122"/>
                          <a:cs typeface="+mn-cs"/>
                        </a:rPr>
                        <a:t>2,3,4</a:t>
                      </a:r>
                      <a:endParaRPr lang="en-GB" sz="900" b="1" i="0" u="none" strike="noStrike" dirty="0">
                        <a:solidFill>
                          <a:schemeClr val="bg1"/>
                        </a:solidFill>
                        <a:effectLst/>
                        <a:latin typeface="+mj-lt"/>
                        <a:ea typeface="宋体" panose="02010600030101010101" pitchFamily="2" charset="-122"/>
                      </a:endParaRPr>
                    </a:p>
                  </a:txBody>
                  <a:tcPr marL="18000" marR="18000" marT="36000" marB="36000" anchor="b">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solidFill>
                      <a:srgbClr val="C00000"/>
                    </a:solidFill>
                  </a:tcPr>
                </a:tc>
                <a:tc hMerge="1">
                  <a:txBody>
                    <a:bodyPr/>
                    <a:lstStyle/>
                    <a:p>
                      <a:endParaRPr lang="en-GB"/>
                    </a:p>
                  </a:txBody>
                  <a:tcPr/>
                </a:tc>
                <a:tc hMerge="1">
                  <a:txBody>
                    <a:bodyPr/>
                    <a:lstStyle/>
                    <a:p>
                      <a:pPr algn="ctr" fontAlgn="b">
                        <a:buNone/>
                      </a:pPr>
                      <a:endParaRPr lang="en-GB" sz="900" b="1" i="0" u="none" strike="noStrike" dirty="0">
                        <a:solidFill>
                          <a:schemeClr val="bg1"/>
                        </a:solidFill>
                        <a:effectLst/>
                        <a:latin typeface="+mj-lt"/>
                        <a:ea typeface="宋体" panose="02010600030101010101" pitchFamily="2" charset="-122"/>
                      </a:endParaRPr>
                    </a:p>
                  </a:txBody>
                  <a:tcPr marL="18000" marR="18000" marT="36000" marB="36000" anchor="b">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solidFill>
                      <a:srgbClr val="C00000"/>
                    </a:solidFill>
                  </a:tcPr>
                </a:tc>
                <a:extLst>
                  <a:ext uri="{0D108BD9-81ED-4DB2-BD59-A6C34878D82A}">
                    <a16:rowId xmlns:a16="http://schemas.microsoft.com/office/drawing/2014/main" val="3770040577"/>
                  </a:ext>
                </a:extLst>
              </a:tr>
              <a:tr h="111031">
                <a:tc>
                  <a:txBody>
                    <a:bodyPr/>
                    <a:lstStyle/>
                    <a:p>
                      <a:pPr algn="l" fontAlgn="b">
                        <a:buNone/>
                      </a:pPr>
                      <a:r>
                        <a:rPr lang="en-GB" sz="900" b="1" i="0" u="none" strike="noStrike">
                          <a:solidFill>
                            <a:schemeClr val="tx1"/>
                          </a:solidFill>
                          <a:effectLst/>
                          <a:latin typeface="+mj-lt"/>
                          <a:ea typeface="宋体" panose="02010600030101010101" pitchFamily="2" charset="-122"/>
                        </a:rPr>
                        <a:t>Company</a:t>
                      </a:r>
                    </a:p>
                  </a:txBody>
                  <a:tcPr marL="36000" marR="18000" marT="36000" marB="3600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solidFill>
                      <a:schemeClr val="bg1">
                        <a:lumMod val="85000"/>
                      </a:schemeClr>
                    </a:solidFill>
                  </a:tcPr>
                </a:tc>
                <a:tc>
                  <a:txBody>
                    <a:bodyPr/>
                    <a:lstStyle/>
                    <a:p>
                      <a:pPr algn="ctr" fontAlgn="b">
                        <a:buNone/>
                      </a:pPr>
                      <a:r>
                        <a:rPr lang="en-GB" sz="900" b="1" i="0" u="none" strike="noStrike" dirty="0">
                          <a:solidFill>
                            <a:schemeClr val="tx1"/>
                          </a:solidFill>
                          <a:effectLst/>
                          <a:latin typeface="+mj-lt"/>
                          <a:ea typeface="宋体" panose="02010600030101010101" pitchFamily="2" charset="-122"/>
                        </a:rPr>
                        <a:t>Revenue</a:t>
                      </a:r>
                    </a:p>
                  </a:txBody>
                  <a:tcPr marL="18000" marR="18000" marT="36000" marB="3600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solidFill>
                      <a:schemeClr val="bg1">
                        <a:lumMod val="85000"/>
                      </a:schemeClr>
                    </a:solidFill>
                  </a:tcPr>
                </a:tc>
                <a:tc>
                  <a:txBody>
                    <a:bodyPr/>
                    <a:lstStyle/>
                    <a:p>
                      <a:pPr algn="ctr" fontAlgn="b">
                        <a:buNone/>
                      </a:pPr>
                      <a:r>
                        <a:rPr lang="en-GB" sz="900" b="1" i="0" u="none" strike="noStrike">
                          <a:solidFill>
                            <a:schemeClr val="tx1"/>
                          </a:solidFill>
                          <a:effectLst/>
                          <a:latin typeface="+mj-lt"/>
                          <a:ea typeface="宋体" panose="02010600030101010101" pitchFamily="2" charset="-122"/>
                        </a:rPr>
                        <a:t>Net profit margin</a:t>
                      </a:r>
                    </a:p>
                  </a:txBody>
                  <a:tcPr marL="18000" marR="18000" marT="36000" marB="3600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solidFill>
                      <a:schemeClr val="bg1">
                        <a:lumMod val="85000"/>
                      </a:schemeClr>
                    </a:solidFill>
                  </a:tcPr>
                </a:tc>
                <a:tc>
                  <a:txBody>
                    <a:bodyPr/>
                    <a:lstStyle/>
                    <a:p>
                      <a:pPr algn="ctr" fontAlgn="b">
                        <a:buNone/>
                      </a:pPr>
                      <a:r>
                        <a:rPr lang="en-GB" sz="900" b="1" i="0" u="none" strike="noStrike">
                          <a:solidFill>
                            <a:schemeClr val="tx1"/>
                          </a:solidFill>
                          <a:effectLst/>
                          <a:latin typeface="+mj-lt"/>
                          <a:ea typeface="宋体" panose="02010600030101010101" pitchFamily="2" charset="-122"/>
                        </a:rPr>
                        <a:t>Revenue</a:t>
                      </a:r>
                    </a:p>
                  </a:txBody>
                  <a:tcPr marL="18000" marR="18000" marT="36000" marB="3600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solidFill>
                      <a:schemeClr val="bg1">
                        <a:lumMod val="85000"/>
                      </a:schemeClr>
                    </a:solidFill>
                  </a:tcPr>
                </a:tc>
                <a:tc>
                  <a:txBody>
                    <a:bodyPr/>
                    <a:lstStyle/>
                    <a:p>
                      <a:pPr algn="ctr" fontAlgn="b">
                        <a:buNone/>
                      </a:pPr>
                      <a:r>
                        <a:rPr lang="en-GB" sz="900" b="1" i="0" u="none" strike="noStrike">
                          <a:solidFill>
                            <a:schemeClr val="tx1"/>
                          </a:solidFill>
                          <a:effectLst/>
                          <a:latin typeface="+mj-lt"/>
                          <a:ea typeface="宋体" panose="02010600030101010101" pitchFamily="2" charset="-122"/>
                        </a:rPr>
                        <a:t>Net profit</a:t>
                      </a:r>
                    </a:p>
                  </a:txBody>
                  <a:tcPr marL="18000" marR="18000" marT="36000" marB="3600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solidFill>
                      <a:schemeClr val="bg1">
                        <a:lumMod val="85000"/>
                      </a:schemeClr>
                    </a:solidFill>
                  </a:tcPr>
                </a:tc>
                <a:tc>
                  <a:txBody>
                    <a:bodyPr/>
                    <a:lstStyle/>
                    <a:p>
                      <a:pPr algn="ctr" fontAlgn="b">
                        <a:buNone/>
                      </a:pPr>
                      <a:r>
                        <a:rPr lang="en-GB" sz="900" b="1" i="0" u="none" strike="noStrike">
                          <a:solidFill>
                            <a:schemeClr val="bg1"/>
                          </a:solidFill>
                          <a:effectLst/>
                          <a:latin typeface="+mj-lt"/>
                          <a:ea typeface="宋体" panose="02010600030101010101" pitchFamily="2" charset="-122"/>
                        </a:rPr>
                        <a:t>P/S (x) </a:t>
                      </a:r>
                    </a:p>
                  </a:txBody>
                  <a:tcPr marL="18000" marR="18000" marT="36000" marB="36000" anchor="b">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solidFill>
                      <a:srgbClr val="C00000"/>
                    </a:solidFill>
                  </a:tcPr>
                </a:tc>
                <a:tc>
                  <a:txBody>
                    <a:bodyPr/>
                    <a:lstStyle/>
                    <a:p>
                      <a:pPr algn="ctr" fontAlgn="b">
                        <a:buNone/>
                      </a:pPr>
                      <a:r>
                        <a:rPr lang="en-GB" sz="900" b="1" i="0" u="none" strike="noStrike" dirty="0">
                          <a:solidFill>
                            <a:schemeClr val="bg1"/>
                          </a:solidFill>
                          <a:effectLst/>
                          <a:latin typeface="+mj-lt"/>
                          <a:ea typeface="宋体" panose="02010600030101010101" pitchFamily="2" charset="-122"/>
                        </a:rPr>
                        <a:t>P/E(x) </a:t>
                      </a:r>
                    </a:p>
                  </a:txBody>
                  <a:tcPr marL="18000" marR="18000" marT="36000" marB="36000" anchor="b">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solidFill>
                      <a:srgbClr val="C00000"/>
                    </a:solidFill>
                  </a:tcPr>
                </a:tc>
                <a:tc>
                  <a:txBody>
                    <a:bodyPr/>
                    <a:lstStyle/>
                    <a:p>
                      <a:pPr algn="ctr" fontAlgn="b">
                        <a:buNone/>
                      </a:pPr>
                      <a:r>
                        <a:rPr lang="en-US" sz="900" b="1" i="0" u="none" strike="noStrike" kern="1200" dirty="0">
                          <a:solidFill>
                            <a:schemeClr val="bg1"/>
                          </a:solidFill>
                          <a:effectLst/>
                          <a:latin typeface="+mj-lt"/>
                          <a:ea typeface="宋体" panose="02010600030101010101" pitchFamily="2" charset="-122"/>
                          <a:cs typeface="+mn-cs"/>
                        </a:rPr>
                        <a:t>EV/EBITDA</a:t>
                      </a:r>
                      <a:r>
                        <a:rPr lang="en-GB" sz="900" b="1" i="0" u="none" strike="noStrike" kern="1200" dirty="0">
                          <a:solidFill>
                            <a:schemeClr val="bg1"/>
                          </a:solidFill>
                          <a:effectLst/>
                          <a:latin typeface="+mn-lt"/>
                          <a:ea typeface="宋体" panose="02010600030101010101" pitchFamily="2" charset="-122"/>
                          <a:cs typeface="+mn-cs"/>
                        </a:rPr>
                        <a:t>(x)</a:t>
                      </a:r>
                      <a:r>
                        <a:rPr lang="en-US" sz="900" b="1" i="0" u="none" strike="noStrike" kern="1200" dirty="0">
                          <a:solidFill>
                            <a:schemeClr val="bg1"/>
                          </a:solidFill>
                          <a:effectLst/>
                          <a:latin typeface="+mj-lt"/>
                          <a:ea typeface="宋体" panose="02010600030101010101" pitchFamily="2" charset="-122"/>
                          <a:cs typeface="+mn-cs"/>
                        </a:rPr>
                        <a:t> </a:t>
                      </a:r>
                      <a:endParaRPr lang="en-GB" sz="900" b="1" i="0" u="none" strike="noStrike" kern="1200" dirty="0">
                        <a:solidFill>
                          <a:schemeClr val="bg1"/>
                        </a:solidFill>
                        <a:effectLst/>
                        <a:latin typeface="+mj-lt"/>
                        <a:ea typeface="宋体" panose="02010600030101010101" pitchFamily="2" charset="-122"/>
                        <a:cs typeface="+mn-cs"/>
                      </a:endParaRPr>
                    </a:p>
                  </a:txBody>
                  <a:tcPr marL="18000" marR="18000" marT="36000" marB="36000" anchor="b">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chemeClr val="bg1">
                          <a:lumMod val="65000"/>
                        </a:schemeClr>
                      </a:solidFill>
                      <a:prstDash val="sysDot"/>
                      <a:round/>
                      <a:headEnd type="none" w="med" len="med"/>
                      <a:tailEnd type="none" w="med" len="med"/>
                    </a:lnB>
                    <a:solidFill>
                      <a:srgbClr val="C00000"/>
                    </a:solidFill>
                  </a:tcPr>
                </a:tc>
                <a:extLst>
                  <a:ext uri="{0D108BD9-81ED-4DB2-BD59-A6C34878D82A}">
                    <a16:rowId xmlns:a16="http://schemas.microsoft.com/office/drawing/2014/main" val="2189072441"/>
                  </a:ext>
                </a:extLst>
              </a:tr>
              <a:tr h="75406">
                <a:tc>
                  <a:txBody>
                    <a:bodyPr/>
                    <a:lstStyle/>
                    <a:p>
                      <a:pPr algn="l" fontAlgn="b">
                        <a:buNone/>
                      </a:pPr>
                      <a:r>
                        <a:rPr lang="en-HK" sz="900" b="1" i="0" u="none" strike="noStrike">
                          <a:solidFill>
                            <a:srgbClr val="C00000"/>
                          </a:solidFill>
                          <a:effectLst/>
                          <a:latin typeface="+mj-lt"/>
                          <a:ea typeface="宋体" panose="02010600030101010101" pitchFamily="2" charset="-122"/>
                        </a:rPr>
                        <a:t>[L&amp;F]</a:t>
                      </a:r>
                      <a:r>
                        <a:rPr lang="en-HK" sz="900" b="1" i="0" u="none" strike="noStrike" baseline="30000">
                          <a:solidFill>
                            <a:srgbClr val="C00000"/>
                          </a:solidFill>
                          <a:effectLst/>
                          <a:latin typeface="+mj-lt"/>
                          <a:ea typeface="宋体" panose="02010600030101010101" pitchFamily="2" charset="-122"/>
                        </a:rPr>
                        <a:t>1</a:t>
                      </a:r>
                      <a:endParaRPr lang="en-GB" sz="900" b="1" i="0" u="none" strike="noStrike" baseline="30000">
                        <a:solidFill>
                          <a:srgbClr val="C00000"/>
                        </a:solidFill>
                        <a:effectLst/>
                        <a:latin typeface="+mj-lt"/>
                        <a:ea typeface="宋体" panose="02010600030101010101" pitchFamily="2" charset="-122"/>
                      </a:endParaRPr>
                    </a:p>
                  </a:txBody>
                  <a:tcPr marL="36000" marR="18000" marT="0" marB="0" anchor="ctr">
                    <a:lnL w="6350" cap="flat" cmpd="sng" algn="ctr">
                      <a:noFill/>
                      <a:prstDash val="sysDot"/>
                      <a:round/>
                      <a:headEnd type="none" w="med" len="med"/>
                      <a:tailEnd type="none" w="med" len="med"/>
                    </a:lnL>
                    <a:lnR>
                      <a:noFill/>
                    </a:lnR>
                    <a:lnT w="6350" cap="flat" cmpd="sng" algn="ctr">
                      <a:solidFill>
                        <a:schemeClr val="bg1">
                          <a:lumMod val="65000"/>
                        </a:schemeClr>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1" i="0" u="none" strike="noStrike" kern="1200">
                          <a:solidFill>
                            <a:srgbClr val="C00000"/>
                          </a:solidFill>
                          <a:effectLst/>
                          <a:latin typeface="+mj-lt"/>
                          <a:ea typeface="+mn-ea"/>
                          <a:cs typeface="+mn-cs"/>
                        </a:rPr>
                        <a:t>[6,353]</a:t>
                      </a:r>
                    </a:p>
                  </a:txBody>
                  <a:tcPr marL="0" marR="0" marT="0" marB="0" anchor="ctr">
                    <a:lnL>
                      <a:noFill/>
                    </a:lnL>
                    <a:lnR>
                      <a:noFill/>
                    </a:lnR>
                    <a:lnT w="6350" cap="flat" cmpd="sng" algn="ctr">
                      <a:solidFill>
                        <a:schemeClr val="bg1">
                          <a:lumMod val="65000"/>
                        </a:schemeClr>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1" i="0" u="none" strike="noStrike" kern="1200">
                          <a:solidFill>
                            <a:srgbClr val="C00000"/>
                          </a:solidFill>
                          <a:effectLst/>
                          <a:latin typeface="+mj-lt"/>
                          <a:ea typeface="+mn-ea"/>
                          <a:cs typeface="+mn-cs"/>
                        </a:rPr>
                        <a:t>[1.2]</a:t>
                      </a:r>
                      <a:r>
                        <a:rPr lang="en-US" sz="900" b="1" i="0" u="none" strike="noStrike" kern="1200">
                          <a:solidFill>
                            <a:srgbClr val="C00000"/>
                          </a:solidFill>
                          <a:effectLst/>
                          <a:highlight>
                            <a:srgbClr val="00FFFF"/>
                          </a:highlight>
                          <a:latin typeface="+mn-lt"/>
                          <a:ea typeface="+mn-ea"/>
                          <a:cs typeface="+mn-cs"/>
                        </a:rPr>
                        <a:t>%</a:t>
                      </a:r>
                      <a:endParaRPr lang="en-US" sz="900" b="1" i="0" u="none" strike="noStrike" kern="1200">
                        <a:solidFill>
                          <a:srgbClr val="C00000"/>
                        </a:solidFill>
                        <a:effectLst/>
                        <a:highlight>
                          <a:srgbClr val="00FFFF"/>
                        </a:highlight>
                        <a:latin typeface="+mj-lt"/>
                        <a:ea typeface="+mn-ea"/>
                        <a:cs typeface="+mn-cs"/>
                      </a:endParaRPr>
                    </a:p>
                  </a:txBody>
                  <a:tcPr marL="0" marR="0" marT="0" marB="0" anchor="ctr">
                    <a:lnL>
                      <a:noFill/>
                    </a:lnL>
                    <a:lnR>
                      <a:noFill/>
                    </a:lnR>
                    <a:lnT w="6350" cap="flat" cmpd="sng" algn="ctr">
                      <a:solidFill>
                        <a:schemeClr val="bg1">
                          <a:lumMod val="65000"/>
                        </a:schemeClr>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1" i="0" u="none" strike="noStrike" kern="1200">
                          <a:solidFill>
                            <a:srgbClr val="C00000"/>
                          </a:solidFill>
                          <a:effectLst/>
                          <a:latin typeface="+mj-lt"/>
                          <a:ea typeface="+mn-ea"/>
                          <a:cs typeface="+mn-cs"/>
                        </a:rPr>
                        <a:t>[-1.8]%</a:t>
                      </a:r>
                    </a:p>
                  </a:txBody>
                  <a:tcPr marL="0" marR="0" marT="0" marB="0" anchor="ctr">
                    <a:lnL>
                      <a:noFill/>
                    </a:lnL>
                    <a:lnR>
                      <a:noFill/>
                    </a:lnR>
                    <a:lnT w="6350" cap="flat" cmpd="sng" algn="ctr">
                      <a:solidFill>
                        <a:schemeClr val="bg1">
                          <a:lumMod val="65000"/>
                        </a:schemeClr>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1" i="0" u="none" strike="noStrike" kern="1200">
                          <a:solidFill>
                            <a:srgbClr val="C00000"/>
                          </a:solidFill>
                          <a:effectLst/>
                          <a:latin typeface="+mj-lt"/>
                          <a:ea typeface="+mn-ea"/>
                          <a:cs typeface="+mn-cs"/>
                        </a:rPr>
                        <a:t>[5.5]%</a:t>
                      </a:r>
                    </a:p>
                  </a:txBody>
                  <a:tcPr marL="0" marR="0" marT="0" marB="0" anchor="ctr">
                    <a:lnL>
                      <a:noFill/>
                    </a:lnL>
                    <a:lnR>
                      <a:noFill/>
                    </a:lnR>
                    <a:lnT w="6350" cap="flat" cmpd="sng" algn="ctr">
                      <a:solidFill>
                        <a:schemeClr val="bg1">
                          <a:lumMod val="65000"/>
                        </a:schemeClr>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1" i="0" u="none" strike="noStrike">
                          <a:solidFill>
                            <a:srgbClr val="C00000"/>
                          </a:solidFill>
                          <a:effectLst/>
                          <a:latin typeface="+mj-lt"/>
                        </a:rPr>
                        <a:t>N/A</a:t>
                      </a:r>
                    </a:p>
                  </a:txBody>
                  <a:tcPr marL="0" marR="0" marT="0" marB="0" anchor="ctr">
                    <a:lnL>
                      <a:noFill/>
                    </a:lnL>
                    <a:lnR>
                      <a:noFill/>
                    </a:lnR>
                    <a:lnT w="6350" cap="flat" cmpd="sng" algn="ctr">
                      <a:solidFill>
                        <a:schemeClr val="bg1">
                          <a:lumMod val="65000"/>
                        </a:schemeClr>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1" i="0" u="none" strike="noStrike" dirty="0">
                          <a:solidFill>
                            <a:srgbClr val="C00000"/>
                          </a:solidFill>
                          <a:effectLst/>
                          <a:latin typeface="+mj-lt"/>
                        </a:rPr>
                        <a:t>N/A</a:t>
                      </a:r>
                    </a:p>
                  </a:txBody>
                  <a:tcPr marL="0" marR="0" marT="0" marB="0" anchor="ctr">
                    <a:lnL>
                      <a:noFill/>
                    </a:lnL>
                    <a:lnR w="6350" cap="flat" cmpd="sng" algn="ctr">
                      <a:no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lang="en-US" sz="900" b="1" i="0" u="none" strike="noStrike" kern="1200" dirty="0">
                          <a:solidFill>
                            <a:srgbClr val="C00000"/>
                          </a:solidFill>
                          <a:effectLst/>
                          <a:latin typeface="+mn-lt"/>
                          <a:ea typeface="+mn-ea"/>
                          <a:cs typeface="+mn-cs"/>
                        </a:rPr>
                        <a:t>N/A</a:t>
                      </a:r>
                    </a:p>
                  </a:txBody>
                  <a:tcPr marL="0" marR="0" marT="0" marB="0" anchor="ctr">
                    <a:lnL>
                      <a:noFill/>
                    </a:lnL>
                    <a:lnR w="6350" cap="flat" cmpd="sng" algn="ctr">
                      <a:noFill/>
                      <a:prstDash val="sysDot"/>
                      <a:round/>
                      <a:headEnd type="none" w="med" len="med"/>
                      <a:tailEnd type="none" w="med" len="med"/>
                    </a:lnR>
                    <a:lnT w="6350" cap="flat" cmpd="sng" algn="ctr">
                      <a:solidFill>
                        <a:schemeClr val="bg1">
                          <a:lumMod val="65000"/>
                        </a:schemeClr>
                      </a:solidFill>
                      <a:prstDash val="sys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8640888"/>
                  </a:ext>
                </a:extLst>
              </a:tr>
              <a:tr h="75406">
                <a:tc>
                  <a:txBody>
                    <a:bodyPr/>
                    <a:lstStyle/>
                    <a:p>
                      <a:pPr algn="l" fontAlgn="ctr">
                        <a:buNone/>
                      </a:pPr>
                      <a:r>
                        <a:rPr lang="en-GB" sz="900" b="0" i="0" u="none" strike="noStrike">
                          <a:effectLst/>
                          <a:latin typeface="+mj-lt"/>
                          <a:ea typeface="宋体" panose="02010600030101010101" pitchFamily="2" charset="-122"/>
                        </a:rPr>
                        <a:t>PDS</a:t>
                      </a:r>
                    </a:p>
                  </a:txBody>
                  <a:tcPr marL="36000" marR="18000" marT="0" marB="0" anchor="ctr">
                    <a:lnL w="6350" cap="flat" cmpd="sng" algn="ctr">
                      <a:noFill/>
                      <a:prstDash val="sys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1,472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mj-lt"/>
                        </a:rPr>
                        <a:t>1.0%</a:t>
                      </a:r>
                    </a:p>
                  </a:txBody>
                  <a:tcPr marL="9525" marR="9525" marT="9525" marB="0" anchor="b">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1.40%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-12.80%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0.3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dirty="0">
                          <a:solidFill>
                            <a:schemeClr val="tx1"/>
                          </a:solidFill>
                          <a:effectLst/>
                          <a:latin typeface="+mj-lt"/>
                        </a:rPr>
                        <a:t>35</a:t>
                      </a:r>
                    </a:p>
                  </a:txBody>
                  <a:tcPr marL="0" marR="0" marT="0" marB="0" anchor="ctr">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b">
                        <a:buNone/>
                      </a:pPr>
                      <a:r>
                        <a:rPr lang="en-US" sz="900" b="0" i="0" u="none" strike="noStrike" kern="1200" dirty="0">
                          <a:solidFill>
                            <a:schemeClr val="tx1"/>
                          </a:solidFill>
                          <a:effectLst/>
                          <a:latin typeface="+mj-lt"/>
                          <a:ea typeface="+mn-ea"/>
                          <a:cs typeface="+mn-cs"/>
                        </a:rPr>
                        <a:t>#N/A</a:t>
                      </a:r>
                    </a:p>
                  </a:txBody>
                  <a:tcPr marL="6350" marR="6350" marT="6350" marB="0" anchor="b">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192712353"/>
                  </a:ext>
                </a:extLst>
              </a:tr>
              <a:tr h="75406">
                <a:tc>
                  <a:txBody>
                    <a:bodyPr/>
                    <a:lstStyle/>
                    <a:p>
                      <a:pPr marL="0" marR="0" lvl="0" indent="0" algn="l" defTabSz="742950" rtl="0" eaLnBrk="1" fontAlgn="ctr"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mj-lt"/>
                          <a:ea typeface="宋体" panose="02010600030101010101" pitchFamily="2" charset="-122"/>
                          <a:cs typeface="+mn-cs"/>
                        </a:rPr>
                        <a:t>Walmart</a:t>
                      </a:r>
                    </a:p>
                  </a:txBody>
                  <a:tcPr marL="36000" marR="18000" marT="0" marB="0" anchor="ctr">
                    <a:lnL w="6350" cap="flat" cmpd="sng" algn="ctr">
                      <a:noFill/>
                      <a:prstDash val="sys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746,937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mj-lt"/>
                        </a:rPr>
                        <a:t>3.0%</a:t>
                      </a:r>
                    </a:p>
                  </a:txBody>
                  <a:tcPr marL="9525" marR="9525" marT="9525" marB="0" anchor="b">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5.40%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10.50%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1.3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dirty="0">
                          <a:solidFill>
                            <a:schemeClr val="tx1"/>
                          </a:solidFill>
                          <a:effectLst/>
                          <a:latin typeface="+mj-lt"/>
                        </a:rPr>
                        <a:t>42</a:t>
                      </a:r>
                    </a:p>
                  </a:txBody>
                  <a:tcPr marL="0" marR="0" marT="0" marB="0" anchor="ctr">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b">
                        <a:buNone/>
                      </a:pPr>
                      <a:r>
                        <a:rPr lang="en-US" sz="900" b="0" i="0" u="none" strike="noStrike" kern="1200">
                          <a:solidFill>
                            <a:schemeClr val="tx1"/>
                          </a:solidFill>
                          <a:effectLst/>
                          <a:latin typeface="+mj-lt"/>
                          <a:ea typeface="+mn-ea"/>
                          <a:cs typeface="+mn-cs"/>
                        </a:rPr>
                        <a:t>21.7</a:t>
                      </a:r>
                    </a:p>
                  </a:txBody>
                  <a:tcPr marL="6350" marR="6350" marT="6350" marB="0" anchor="b">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54086327"/>
                  </a:ext>
                </a:extLst>
              </a:tr>
              <a:tr h="75406">
                <a:tc>
                  <a:txBody>
                    <a:bodyPr/>
                    <a:lstStyle/>
                    <a:p>
                      <a:pPr marL="0" marR="0" lvl="0" indent="0" algn="l" defTabSz="742950" rtl="0" eaLnBrk="1" fontAlgn="ctr"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mj-lt"/>
                          <a:ea typeface="宋体" panose="02010600030101010101" pitchFamily="2" charset="-122"/>
                          <a:cs typeface="+mn-cs"/>
                        </a:rPr>
                        <a:t>American Eagle</a:t>
                      </a:r>
                    </a:p>
                  </a:txBody>
                  <a:tcPr marL="36000" marR="18000" marT="0" marB="0" anchor="ctr">
                    <a:lnL w="6350" cap="flat" cmpd="sng" algn="ctr">
                      <a:noFill/>
                      <a:prstDash val="sys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5,778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mj-lt"/>
                        </a:rPr>
                        <a:t>5.3%</a:t>
                      </a:r>
                    </a:p>
                  </a:txBody>
                  <a:tcPr marL="9525" marR="9525" marT="9525" marB="0" anchor="b">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3.70%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-1.30%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0.5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9</a:t>
                      </a:r>
                    </a:p>
                  </a:txBody>
                  <a:tcPr marL="0" marR="0" marT="0" marB="0" anchor="ctr">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b">
                        <a:buNone/>
                      </a:pPr>
                      <a:r>
                        <a:rPr lang="en-US" sz="900" b="0" i="0" u="none" strike="noStrike" kern="1200" dirty="0">
                          <a:solidFill>
                            <a:schemeClr val="tx1"/>
                          </a:solidFill>
                          <a:effectLst/>
                          <a:latin typeface="+mj-lt"/>
                          <a:ea typeface="+mn-ea"/>
                          <a:cs typeface="+mn-cs"/>
                        </a:rPr>
                        <a:t>8.3</a:t>
                      </a:r>
                    </a:p>
                  </a:txBody>
                  <a:tcPr marL="6350" marR="6350" marT="6350" marB="0" anchor="b">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7384645"/>
                  </a:ext>
                </a:extLst>
              </a:tr>
              <a:tr h="75406">
                <a:tc>
                  <a:txBody>
                    <a:bodyPr/>
                    <a:lstStyle/>
                    <a:p>
                      <a:pPr marL="0" marR="0" lvl="0" indent="0" algn="l" defTabSz="742950" rtl="0" eaLnBrk="1" fontAlgn="ctr"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mj-lt"/>
                          <a:ea typeface="宋体" panose="02010600030101010101" pitchFamily="2" charset="-122"/>
                          <a:cs typeface="+mn-cs"/>
                        </a:rPr>
                        <a:t>Costco</a:t>
                      </a:r>
                    </a:p>
                  </a:txBody>
                  <a:tcPr marL="36000" marR="18000" marT="0" marB="0" anchor="ctr">
                    <a:lnL w="6350" cap="flat" cmpd="sng" algn="ctr">
                      <a:noFill/>
                      <a:prstDash val="sys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309,456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mj-lt"/>
                        </a:rPr>
                        <a:t>3.0%</a:t>
                      </a:r>
                    </a:p>
                  </a:txBody>
                  <a:tcPr marL="9525" marR="9525" marT="9525" marB="0" anchor="b">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8.60%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13.40%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1.5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dirty="0">
                          <a:solidFill>
                            <a:schemeClr val="tx1"/>
                          </a:solidFill>
                          <a:effectLst/>
                          <a:latin typeface="+mj-lt"/>
                        </a:rPr>
                        <a:t>48</a:t>
                      </a:r>
                    </a:p>
                  </a:txBody>
                  <a:tcPr marL="0" marR="0" marT="0" marB="0" anchor="ctr">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b">
                        <a:buNone/>
                      </a:pPr>
                      <a:r>
                        <a:rPr lang="en-US" sz="900" b="0" i="0" u="none" strike="noStrike" kern="1200">
                          <a:solidFill>
                            <a:schemeClr val="tx1"/>
                          </a:solidFill>
                          <a:effectLst/>
                          <a:latin typeface="+mj-lt"/>
                          <a:ea typeface="+mn-ea"/>
                          <a:cs typeface="+mn-cs"/>
                        </a:rPr>
                        <a:t>28.0</a:t>
                      </a:r>
                    </a:p>
                  </a:txBody>
                  <a:tcPr marL="6350" marR="6350" marT="6350" marB="0" anchor="b">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45035277"/>
                  </a:ext>
                </a:extLst>
              </a:tr>
              <a:tr h="75406">
                <a:tc>
                  <a:txBody>
                    <a:bodyPr/>
                    <a:lstStyle/>
                    <a:p>
                      <a:pPr marL="0" marR="0" lvl="0" indent="0" algn="l" defTabSz="742950" rtl="0" eaLnBrk="1" fontAlgn="ctr"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mj-lt"/>
                          <a:ea typeface="宋体" panose="02010600030101010101" pitchFamily="2" charset="-122"/>
                          <a:cs typeface="+mn-cs"/>
                        </a:rPr>
                        <a:t>CVS Health</a:t>
                      </a:r>
                    </a:p>
                  </a:txBody>
                  <a:tcPr marL="36000" marR="18000" marT="0" marB="0" anchor="ctr">
                    <a:lnL w="6350" cap="flat" cmpd="sng" algn="ctr">
                      <a:noFill/>
                      <a:prstDash val="sys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407,416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mj-lt"/>
                        </a:rPr>
                        <a:t>1.9%</a:t>
                      </a:r>
                    </a:p>
                  </a:txBody>
                  <a:tcPr marL="9525" marR="9525" marT="9525" marB="0" anchor="b">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4.50%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30.70%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0.3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dirty="0">
                          <a:solidFill>
                            <a:schemeClr val="tx1"/>
                          </a:solidFill>
                          <a:effectLst/>
                          <a:latin typeface="+mj-lt"/>
                        </a:rPr>
                        <a:t>15</a:t>
                      </a:r>
                    </a:p>
                  </a:txBody>
                  <a:tcPr marL="0" marR="0" marT="0" marB="0" anchor="ctr">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marR="0" lvl="0" indent="0" algn="r" defTabSz="742950" rtl="0" eaLnBrk="1" fontAlgn="b" latinLnBrk="0" hangingPunct="1">
                        <a:lnSpc>
                          <a:spcPct val="100000"/>
                        </a:lnSpc>
                        <a:spcBef>
                          <a:spcPts val="0"/>
                        </a:spcBef>
                        <a:spcAft>
                          <a:spcPts val="0"/>
                        </a:spcAft>
                        <a:buClrTx/>
                        <a:buSzTx/>
                        <a:buFontTx/>
                        <a:buNone/>
                        <a:tabLst/>
                        <a:defRPr/>
                      </a:pPr>
                      <a:r>
                        <a:rPr lang="en-US" sz="900" b="0" i="0" u="none" strike="noStrike" kern="1200" dirty="0">
                          <a:solidFill>
                            <a:schemeClr val="tx1"/>
                          </a:solidFill>
                          <a:effectLst/>
                          <a:latin typeface="+mn-lt"/>
                          <a:ea typeface="+mn-ea"/>
                          <a:cs typeface="+mn-cs"/>
                        </a:rPr>
                        <a:t>9.1</a:t>
                      </a:r>
                    </a:p>
                  </a:txBody>
                  <a:tcPr marL="6350" marR="6350" marT="6350" marB="0" anchor="b">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539849343"/>
                  </a:ext>
                </a:extLst>
              </a:tr>
              <a:tr h="0">
                <a:tc>
                  <a:txBody>
                    <a:bodyPr/>
                    <a:lstStyle/>
                    <a:p>
                      <a:pPr marL="0" marR="0" lvl="0" indent="0" algn="l" defTabSz="742950" rtl="0" eaLnBrk="1" fontAlgn="ctr"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mj-lt"/>
                          <a:ea typeface="宋体" panose="02010600030101010101" pitchFamily="2" charset="-122"/>
                          <a:cs typeface="+mn-cs"/>
                        </a:rPr>
                        <a:t>Associated British Foods</a:t>
                      </a:r>
                    </a:p>
                  </a:txBody>
                  <a:tcPr marL="36000" marR="18000" marT="0" marB="0" anchor="ctr">
                    <a:lnL w="6350" cap="flat" cmpd="sng" algn="ctr">
                      <a:noFill/>
                      <a:prstDash val="sys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dirty="0">
                          <a:solidFill>
                            <a:schemeClr val="tx1"/>
                          </a:solidFill>
                          <a:effectLst/>
                          <a:latin typeface="+mj-lt"/>
                        </a:rPr>
                        <a:t>25,520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mj-lt"/>
                        </a:rPr>
                        <a:t>5.5%</a:t>
                      </a:r>
                    </a:p>
                  </a:txBody>
                  <a:tcPr marL="9525" marR="9525" marT="9525" marB="0" anchor="b">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dirty="0">
                          <a:solidFill>
                            <a:schemeClr val="tx1"/>
                          </a:solidFill>
                          <a:effectLst/>
                          <a:latin typeface="+mj-lt"/>
                        </a:rPr>
                        <a:t>-3.10%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dirty="0">
                          <a:solidFill>
                            <a:schemeClr val="tx1"/>
                          </a:solidFill>
                          <a:effectLst/>
                          <a:latin typeface="+mj-lt"/>
                        </a:rPr>
                        <a:t>-11.20%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dirty="0">
                          <a:solidFill>
                            <a:schemeClr val="tx1"/>
                          </a:solidFill>
                          <a:effectLst/>
                          <a:latin typeface="+mj-lt"/>
                        </a:rPr>
                        <a:t>0.7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dirty="0">
                          <a:solidFill>
                            <a:schemeClr val="tx1"/>
                          </a:solidFill>
                          <a:effectLst/>
                          <a:latin typeface="+mj-lt"/>
                        </a:rPr>
                        <a:t>12</a:t>
                      </a:r>
                    </a:p>
                  </a:txBody>
                  <a:tcPr marL="0" marR="0" marT="0" marB="0" anchor="ctr">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marL="0" marR="0" lvl="0" indent="0" algn="r" defTabSz="742950" rtl="0" eaLnBrk="1" fontAlgn="b" latinLnBrk="0" hangingPunct="1">
                        <a:lnSpc>
                          <a:spcPct val="100000"/>
                        </a:lnSpc>
                        <a:spcBef>
                          <a:spcPts val="0"/>
                        </a:spcBef>
                        <a:spcAft>
                          <a:spcPts val="0"/>
                        </a:spcAft>
                        <a:buClrTx/>
                        <a:buSzTx/>
                        <a:buFontTx/>
                        <a:buNone/>
                        <a:tabLst/>
                        <a:defRPr/>
                      </a:pPr>
                      <a:r>
                        <a:rPr lang="en-US" sz="900" b="0" i="0" u="none" strike="noStrike" kern="1200" dirty="0">
                          <a:solidFill>
                            <a:schemeClr val="tx1"/>
                          </a:solidFill>
                          <a:effectLst/>
                          <a:latin typeface="+mn-lt"/>
                          <a:ea typeface="+mn-ea"/>
                          <a:cs typeface="+mn-cs"/>
                        </a:rPr>
                        <a:t>7.3</a:t>
                      </a:r>
                    </a:p>
                  </a:txBody>
                  <a:tcPr marL="6350" marR="6350" marT="6350" marB="0" anchor="b">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13843041"/>
                  </a:ext>
                </a:extLst>
              </a:tr>
              <a:tr h="75406">
                <a:tc>
                  <a:txBody>
                    <a:bodyPr/>
                    <a:lstStyle/>
                    <a:p>
                      <a:pPr marL="0" marR="0" lvl="0" indent="0" algn="l" defTabSz="742950" rtl="0" eaLnBrk="1" fontAlgn="ctr"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000000"/>
                          </a:solidFill>
                          <a:effectLst/>
                          <a:uLnTx/>
                          <a:uFillTx/>
                          <a:latin typeface="+mj-lt"/>
                          <a:ea typeface="宋体" panose="02010600030101010101" pitchFamily="2" charset="-122"/>
                          <a:cs typeface="+mn-cs"/>
                        </a:rPr>
                        <a:t>H&amp;M</a:t>
                      </a:r>
                    </a:p>
                  </a:txBody>
                  <a:tcPr marL="36000" marR="18000" marT="0" marB="0" anchor="ctr">
                    <a:lnL w="6350" cap="flat" cmpd="sng" algn="ctr">
                      <a:noFill/>
                      <a:prstDash val="sys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23,950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mj-lt"/>
                        </a:rPr>
                        <a:t>5.9%</a:t>
                      </a:r>
                    </a:p>
                  </a:txBody>
                  <a:tcPr marL="9525" marR="9525" marT="9525" marB="0" anchor="b">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0.90%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7.60%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1.2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dirty="0">
                          <a:solidFill>
                            <a:schemeClr val="tx1"/>
                          </a:solidFill>
                          <a:effectLst/>
                          <a:latin typeface="+mj-lt"/>
                        </a:rPr>
                        <a:t>20</a:t>
                      </a:r>
                    </a:p>
                  </a:txBody>
                  <a:tcPr marL="0" marR="0" marT="0" marB="0" anchor="ctr">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b">
                        <a:buNone/>
                      </a:pPr>
                      <a:r>
                        <a:rPr lang="en-US" sz="900" b="0" i="0" u="none" strike="noStrike" kern="1200" dirty="0">
                          <a:solidFill>
                            <a:schemeClr val="tx1"/>
                          </a:solidFill>
                          <a:effectLst/>
                          <a:latin typeface="+mj-lt"/>
                          <a:ea typeface="+mn-ea"/>
                          <a:cs typeface="+mn-cs"/>
                        </a:rPr>
                        <a:t>8.3</a:t>
                      </a:r>
                    </a:p>
                  </a:txBody>
                  <a:tcPr marL="6350" marR="6350" marT="6350" marB="0" anchor="b">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586584638"/>
                  </a:ext>
                </a:extLst>
              </a:tr>
              <a:tr h="75406">
                <a:tc>
                  <a:txBody>
                    <a:bodyPr/>
                    <a:lstStyle/>
                    <a:p>
                      <a:pPr marL="0" marR="0" lvl="0" indent="0" algn="l" defTabSz="742950" rtl="0" eaLnBrk="1" fontAlgn="ctr"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mj-lt"/>
                          <a:ea typeface="宋体" panose="02010600030101010101" pitchFamily="2" charset="-122"/>
                          <a:cs typeface="+mn-cs"/>
                        </a:rPr>
                        <a:t>Manhattan Associates</a:t>
                      </a:r>
                    </a:p>
                  </a:txBody>
                  <a:tcPr marL="36000" marR="18000" marT="0" marB="0" anchor="ctr">
                    <a:lnL w="6350" cap="flat" cmpd="sng" algn="ctr">
                      <a:noFill/>
                      <a:prstDash val="sys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1,153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mj-lt"/>
                        </a:rPr>
                        <a:t>19.2%</a:t>
                      </a:r>
                    </a:p>
                  </a:txBody>
                  <a:tcPr marL="9525" marR="9525" marT="9525" marB="0" anchor="b">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5.20%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0.70%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7.1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dirty="0">
                          <a:solidFill>
                            <a:schemeClr val="tx1"/>
                          </a:solidFill>
                          <a:effectLst/>
                          <a:latin typeface="+mj-lt"/>
                        </a:rPr>
                        <a:t>37</a:t>
                      </a:r>
                    </a:p>
                  </a:txBody>
                  <a:tcPr marL="0" marR="0" marT="0" marB="0" anchor="ctr">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b">
                        <a:buNone/>
                      </a:pPr>
                      <a:r>
                        <a:rPr lang="en-US" sz="900" b="0" i="0" u="none" strike="noStrike" kern="1200" dirty="0">
                          <a:solidFill>
                            <a:schemeClr val="tx1"/>
                          </a:solidFill>
                          <a:effectLst/>
                          <a:latin typeface="+mj-lt"/>
                          <a:ea typeface="+mn-ea"/>
                          <a:cs typeface="+mn-cs"/>
                        </a:rPr>
                        <a:t>22.8</a:t>
                      </a:r>
                    </a:p>
                  </a:txBody>
                  <a:tcPr marL="6350" marR="6350" marT="6350" marB="0" anchor="b">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38726345"/>
                  </a:ext>
                </a:extLst>
              </a:tr>
              <a:tr h="75406">
                <a:tc>
                  <a:txBody>
                    <a:bodyPr/>
                    <a:lstStyle/>
                    <a:p>
                      <a:pPr marL="0" marR="0" lvl="0" indent="0" algn="l" defTabSz="742950" rtl="0" eaLnBrk="1" fontAlgn="ctr"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000000"/>
                          </a:solidFill>
                          <a:effectLst/>
                          <a:uLnTx/>
                          <a:uFillTx/>
                          <a:latin typeface="+mj-lt"/>
                          <a:ea typeface="宋体" panose="02010600030101010101" pitchFamily="2" charset="-122"/>
                          <a:cs typeface="+mn-cs"/>
                        </a:rPr>
                        <a:t>CH Robinson</a:t>
                      </a:r>
                    </a:p>
                  </a:txBody>
                  <a:tcPr marL="36000" marR="18000" marT="0" marB="0" anchor="ctr">
                    <a:lnL w="6350" cap="flat" cmpd="sng" algn="ctr">
                      <a:noFill/>
                      <a:prstDash val="sys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16,887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mj-lt"/>
                        </a:rPr>
                        <a:t>4.3%</a:t>
                      </a:r>
                    </a:p>
                  </a:txBody>
                  <a:tcPr marL="9525" marR="9525" marT="9525" marB="0" anchor="b">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-2.40%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25.30%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a:solidFill>
                            <a:schemeClr val="tx1"/>
                          </a:solidFill>
                          <a:effectLst/>
                          <a:latin typeface="+mj-lt"/>
                        </a:rPr>
                        <a:t>1.2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dirty="0">
                          <a:solidFill>
                            <a:schemeClr val="tx1"/>
                          </a:solidFill>
                          <a:effectLst/>
                          <a:latin typeface="+mj-lt"/>
                        </a:rPr>
                        <a:t>28</a:t>
                      </a:r>
                    </a:p>
                  </a:txBody>
                  <a:tcPr marL="0" marR="0" marT="0" marB="0" anchor="ctr">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b">
                        <a:buNone/>
                      </a:pPr>
                      <a:r>
                        <a:rPr lang="en-US" sz="900" b="0" i="0" u="none" strike="noStrike" kern="1200" dirty="0">
                          <a:solidFill>
                            <a:schemeClr val="tx1"/>
                          </a:solidFill>
                          <a:effectLst/>
                          <a:latin typeface="+mj-lt"/>
                          <a:ea typeface="+mn-ea"/>
                          <a:cs typeface="+mn-cs"/>
                        </a:rPr>
                        <a:t>21.8</a:t>
                      </a:r>
                    </a:p>
                  </a:txBody>
                  <a:tcPr marL="6350" marR="6350" marT="6350" marB="0" anchor="b">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819001023"/>
                  </a:ext>
                </a:extLst>
              </a:tr>
              <a:tr h="75406">
                <a:tc>
                  <a:txBody>
                    <a:bodyPr/>
                    <a:lstStyle/>
                    <a:p>
                      <a:pPr algn="l" fontAlgn="b">
                        <a:buNone/>
                      </a:pPr>
                      <a:endParaRPr lang="en-GB" sz="900" b="0" i="0" u="none" strike="noStrike">
                        <a:solidFill>
                          <a:srgbClr val="000000"/>
                        </a:solidFill>
                        <a:effectLst/>
                        <a:latin typeface="+mj-lt"/>
                        <a:ea typeface="宋体" panose="02010600030101010101" pitchFamily="2" charset="-122"/>
                      </a:endParaRPr>
                    </a:p>
                  </a:txBody>
                  <a:tcPr marL="18000" marR="18000" marT="0" marB="0" anchor="b">
                    <a:lnL w="6350" cap="flat" cmpd="sng" algn="ctr">
                      <a:noFill/>
                      <a:prstDash val="sysDot"/>
                      <a:round/>
                      <a:headEnd type="none" w="med" len="med"/>
                      <a:tailEnd type="none" w="med" len="med"/>
                    </a:lnL>
                    <a:lnR>
                      <a:noFill/>
                    </a:lnR>
                    <a:lnT w="6350" cap="flat" cmpd="sng" algn="ctr">
                      <a:solidFill>
                        <a:srgbClr val="000000"/>
                      </a:solidFill>
                      <a:prstDash val="dot"/>
                      <a:round/>
                      <a:headEnd type="none" w="med" len="med"/>
                      <a:tailEnd type="none" w="med" len="med"/>
                    </a:lnT>
                    <a:lnB>
                      <a:noFill/>
                    </a:lnB>
                    <a:noFill/>
                  </a:tcPr>
                </a:tc>
                <a:tc>
                  <a:txBody>
                    <a:bodyPr/>
                    <a:lstStyle/>
                    <a:p>
                      <a:pPr algn="l" fontAlgn="b">
                        <a:buNone/>
                      </a:pPr>
                      <a:endParaRPr lang="en-GB" sz="900" b="0" i="0" u="none" strike="noStrike">
                        <a:solidFill>
                          <a:srgbClr val="000000"/>
                        </a:solidFill>
                        <a:effectLst/>
                        <a:latin typeface="+mj-lt"/>
                        <a:ea typeface="宋体" panose="02010600030101010101" pitchFamily="2" charset="-122"/>
                      </a:endParaRPr>
                    </a:p>
                  </a:txBody>
                  <a:tcPr marL="18000" marR="18000" marT="0" marB="0" anchor="b">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l" fontAlgn="b">
                        <a:buNone/>
                      </a:pPr>
                      <a:endParaRPr lang="en-GB" sz="900" b="0" i="0" u="none" strike="noStrike">
                        <a:solidFill>
                          <a:srgbClr val="000000"/>
                        </a:solidFill>
                        <a:effectLst/>
                        <a:latin typeface="+mj-lt"/>
                        <a:ea typeface="宋体" panose="02010600030101010101" pitchFamily="2" charset="-122"/>
                      </a:endParaRPr>
                    </a:p>
                  </a:txBody>
                  <a:tcPr marL="18000" marR="18000" marT="0" marB="0" anchor="b">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l" fontAlgn="b">
                        <a:buNone/>
                      </a:pPr>
                      <a:endParaRPr lang="en-GB" sz="900" b="0" i="0" u="none" strike="noStrike">
                        <a:solidFill>
                          <a:srgbClr val="000000"/>
                        </a:solidFill>
                        <a:effectLst/>
                        <a:latin typeface="+mj-lt"/>
                        <a:ea typeface="宋体" panose="02010600030101010101" pitchFamily="2" charset="-122"/>
                      </a:endParaRPr>
                    </a:p>
                  </a:txBody>
                  <a:tcPr marL="18000" marR="18000" marT="0" marB="0" anchor="b">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r" fontAlgn="b">
                        <a:buNone/>
                      </a:pPr>
                      <a:r>
                        <a:rPr lang="en-GB" sz="900" b="1" i="0" u="none" strike="noStrike">
                          <a:solidFill>
                            <a:schemeClr val="tx1">
                              <a:lumMod val="65000"/>
                              <a:lumOff val="35000"/>
                            </a:schemeClr>
                          </a:solidFill>
                          <a:effectLst/>
                          <a:latin typeface="+mj-lt"/>
                          <a:ea typeface="宋体" panose="02010600030101010101" pitchFamily="2" charset="-122"/>
                        </a:rPr>
                        <a:t>Max</a:t>
                      </a:r>
                    </a:p>
                  </a:txBody>
                  <a:tcPr marL="18000" marR="18000" marT="0" marB="0" anchor="b">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rtl="0" fontAlgn="b">
                        <a:buNone/>
                      </a:pPr>
                      <a:r>
                        <a:rPr lang="en-US" sz="900" b="1" i="0" u="none" strike="noStrike">
                          <a:solidFill>
                            <a:srgbClr val="000000"/>
                          </a:solidFill>
                          <a:effectLst/>
                          <a:latin typeface="+mj-lt"/>
                        </a:rPr>
                        <a:t>7.1</a:t>
                      </a:r>
                    </a:p>
                  </a:txBody>
                  <a:tcPr marL="0" marR="0" marT="0" marB="0" anchor="b">
                    <a:lnL>
                      <a:noFill/>
                    </a:lnL>
                    <a:lnR>
                      <a:noFill/>
                    </a:lnR>
                    <a:lnT w="6350" cap="flat" cmpd="sng" algn="ctr">
                      <a:solidFill>
                        <a:srgbClr val="000000"/>
                      </a:solidFill>
                      <a:prstDash val="dot"/>
                      <a:round/>
                      <a:headEnd type="none" w="med" len="med"/>
                      <a:tailEnd type="none" w="med" len="med"/>
                    </a:lnT>
                    <a:lnB>
                      <a:noFill/>
                    </a:lnB>
                    <a:noFill/>
                  </a:tcPr>
                </a:tc>
                <a:tc>
                  <a:txBody>
                    <a:bodyPr/>
                    <a:lstStyle/>
                    <a:p>
                      <a:pPr algn="ctr" rtl="0" fontAlgn="b">
                        <a:buNone/>
                      </a:pPr>
                      <a:r>
                        <a:rPr lang="en-US" sz="900" b="1" i="0" u="none" strike="noStrike" dirty="0">
                          <a:solidFill>
                            <a:srgbClr val="000000"/>
                          </a:solidFill>
                          <a:effectLst/>
                          <a:latin typeface="+mj-lt"/>
                        </a:rPr>
                        <a:t>48</a:t>
                      </a:r>
                    </a:p>
                  </a:txBody>
                  <a:tcPr marL="0" marR="0" marT="0" marB="0" anchor="b">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a:noFill/>
                    </a:lnB>
                    <a:noFill/>
                  </a:tcPr>
                </a:tc>
                <a:tc>
                  <a:txBody>
                    <a:bodyPr/>
                    <a:lstStyle/>
                    <a:p>
                      <a:pPr algn="ctr" rtl="0" fontAlgn="b">
                        <a:buNone/>
                      </a:pPr>
                      <a:endParaRPr lang="en-US" sz="900" b="1" i="0" u="none" strike="noStrike" dirty="0">
                        <a:solidFill>
                          <a:srgbClr val="000000"/>
                        </a:solidFill>
                        <a:effectLst/>
                        <a:latin typeface="+mj-lt"/>
                      </a:endParaRPr>
                    </a:p>
                  </a:txBody>
                  <a:tcPr marL="0" marR="0" marT="0" marB="0" anchor="b">
                    <a:lnL>
                      <a:noFill/>
                    </a:lnL>
                    <a:lnR w="6350" cap="flat" cmpd="sng" algn="ctr">
                      <a:noFill/>
                      <a:prstDash val="sysDot"/>
                      <a:round/>
                      <a:headEnd type="none" w="med" len="med"/>
                      <a:tailEnd type="none" w="med" len="med"/>
                    </a:lnR>
                    <a:lnT w="6350" cap="flat" cmpd="sng" algn="ctr">
                      <a:solidFill>
                        <a:srgbClr val="000000"/>
                      </a:solidFill>
                      <a:prstDash val="dot"/>
                      <a:round/>
                      <a:headEnd type="none" w="med" len="med"/>
                      <a:tailEnd type="none" w="med" len="med"/>
                    </a:lnT>
                    <a:lnB>
                      <a:noFill/>
                    </a:lnB>
                    <a:noFill/>
                  </a:tcPr>
                </a:tc>
                <a:extLst>
                  <a:ext uri="{0D108BD9-81ED-4DB2-BD59-A6C34878D82A}">
                    <a16:rowId xmlns:a16="http://schemas.microsoft.com/office/drawing/2014/main" val="2696469348"/>
                  </a:ext>
                </a:extLst>
              </a:tr>
              <a:tr h="75406">
                <a:tc>
                  <a:txBody>
                    <a:bodyPr/>
                    <a:lstStyle/>
                    <a:p>
                      <a:pPr algn="l" fontAlgn="b">
                        <a:buNone/>
                      </a:pPr>
                      <a:endParaRPr lang="en-GB" sz="900" b="0" i="0" u="none" strike="noStrike">
                        <a:solidFill>
                          <a:srgbClr val="000000"/>
                        </a:solidFill>
                        <a:effectLst/>
                        <a:latin typeface="+mj-lt"/>
                        <a:ea typeface="宋体" panose="02010600030101010101" pitchFamily="2" charset="-122"/>
                      </a:endParaRPr>
                    </a:p>
                  </a:txBody>
                  <a:tcPr marL="18000" marR="18000" marT="0" marB="0" anchor="b">
                    <a:lnL w="6350" cap="flat" cmpd="sng" algn="ctr">
                      <a:noFill/>
                      <a:prstDash val="sysDot"/>
                      <a:round/>
                      <a:headEnd type="none" w="med" len="med"/>
                      <a:tailEnd type="none" w="med" len="med"/>
                    </a:lnL>
                    <a:lnR>
                      <a:noFill/>
                    </a:lnR>
                    <a:lnT>
                      <a:noFill/>
                    </a:lnT>
                    <a:lnB>
                      <a:noFill/>
                    </a:lnB>
                    <a:noFill/>
                  </a:tcPr>
                </a:tc>
                <a:tc>
                  <a:txBody>
                    <a:bodyPr/>
                    <a:lstStyle/>
                    <a:p>
                      <a:pPr algn="l" fontAlgn="b">
                        <a:buNone/>
                      </a:pPr>
                      <a:endParaRPr lang="en-GB" sz="900" b="0" i="0" u="none" strike="noStrike">
                        <a:solidFill>
                          <a:srgbClr val="000000"/>
                        </a:solidFill>
                        <a:effectLst/>
                        <a:latin typeface="+mj-lt"/>
                        <a:ea typeface="宋体" panose="02010600030101010101" pitchFamily="2" charset="-122"/>
                      </a:endParaRPr>
                    </a:p>
                  </a:txBody>
                  <a:tcPr marL="18000" marR="18000" marT="0" marB="0" anchor="b">
                    <a:lnL>
                      <a:noFill/>
                    </a:lnL>
                    <a:lnR>
                      <a:noFill/>
                    </a:lnR>
                    <a:lnT>
                      <a:noFill/>
                    </a:lnT>
                    <a:lnB>
                      <a:noFill/>
                    </a:lnB>
                    <a:noFill/>
                  </a:tcPr>
                </a:tc>
                <a:tc>
                  <a:txBody>
                    <a:bodyPr/>
                    <a:lstStyle/>
                    <a:p>
                      <a:pPr algn="l" fontAlgn="b">
                        <a:buNone/>
                      </a:pPr>
                      <a:endParaRPr lang="en-GB" sz="900" b="0" i="0" u="none" strike="noStrike">
                        <a:solidFill>
                          <a:srgbClr val="000000"/>
                        </a:solidFill>
                        <a:effectLst/>
                        <a:latin typeface="+mj-lt"/>
                        <a:ea typeface="宋体" panose="02010600030101010101" pitchFamily="2" charset="-122"/>
                      </a:endParaRPr>
                    </a:p>
                  </a:txBody>
                  <a:tcPr marL="18000" marR="18000" marT="0" marB="0" anchor="b">
                    <a:lnL>
                      <a:noFill/>
                    </a:lnL>
                    <a:lnR>
                      <a:noFill/>
                    </a:lnR>
                    <a:lnT>
                      <a:noFill/>
                    </a:lnT>
                    <a:lnB>
                      <a:noFill/>
                    </a:lnB>
                    <a:noFill/>
                  </a:tcPr>
                </a:tc>
                <a:tc gridSpan="2">
                  <a:txBody>
                    <a:bodyPr/>
                    <a:lstStyle/>
                    <a:p>
                      <a:pPr algn="r" fontAlgn="b">
                        <a:buNone/>
                      </a:pPr>
                      <a:r>
                        <a:rPr lang="en-GB" sz="900" b="1" i="0" u="none" strike="noStrike">
                          <a:solidFill>
                            <a:schemeClr val="tx1">
                              <a:lumMod val="65000"/>
                              <a:lumOff val="35000"/>
                            </a:schemeClr>
                          </a:solidFill>
                          <a:effectLst/>
                          <a:highlight>
                            <a:srgbClr val="00FFFF"/>
                          </a:highlight>
                          <a:latin typeface="+mj-lt"/>
                          <a:ea typeface="宋体" panose="02010600030101010101" pitchFamily="2" charset="-122"/>
                        </a:rPr>
                        <a:t>(b4 normalised) </a:t>
                      </a:r>
                      <a:r>
                        <a:rPr lang="en-GB" sz="900" b="1" i="0" u="none" strike="noStrike">
                          <a:solidFill>
                            <a:schemeClr val="tx1">
                              <a:lumMod val="65000"/>
                              <a:lumOff val="35000"/>
                            </a:schemeClr>
                          </a:solidFill>
                          <a:effectLst/>
                          <a:latin typeface="+mj-lt"/>
                          <a:ea typeface="宋体" panose="02010600030101010101" pitchFamily="2" charset="-122"/>
                        </a:rPr>
                        <a:t>Median</a:t>
                      </a:r>
                    </a:p>
                  </a:txBody>
                  <a:tcPr marL="18000" marR="18000" marT="0" marB="0" anchor="b">
                    <a:lnL>
                      <a:noFill/>
                    </a:lnL>
                    <a:lnR>
                      <a:noFill/>
                    </a:lnR>
                    <a:lnT>
                      <a:noFill/>
                    </a:lnT>
                    <a:lnB>
                      <a:noFill/>
                    </a:lnB>
                    <a:noFill/>
                  </a:tcPr>
                </a:tc>
                <a:tc hMerge="1">
                  <a:txBody>
                    <a:bodyPr/>
                    <a:lstStyle/>
                    <a:p>
                      <a:endParaRPr/>
                    </a:p>
                  </a:txBody>
                  <a:tcPr marL="18000" marR="18000" marT="0" marB="0" anchor="b">
                    <a:lnL>
                      <a:noFill/>
                    </a:lnL>
                    <a:lnR>
                      <a:noFill/>
                    </a:lnR>
                    <a:lnT>
                      <a:noFill/>
                    </a:lnT>
                    <a:lnB>
                      <a:noFill/>
                    </a:lnB>
                    <a:noFill/>
                  </a:tcPr>
                </a:tc>
                <a:tc>
                  <a:txBody>
                    <a:bodyPr/>
                    <a:lstStyle/>
                    <a:p>
                      <a:pPr algn="ctr" rtl="0" fontAlgn="b">
                        <a:buNone/>
                      </a:pPr>
                      <a:r>
                        <a:rPr lang="en-US" sz="900" b="1" i="0" u="none" strike="noStrike" dirty="0">
                          <a:solidFill>
                            <a:srgbClr val="000000"/>
                          </a:solidFill>
                          <a:effectLst/>
                          <a:highlight>
                            <a:srgbClr val="00FF00"/>
                          </a:highlight>
                          <a:latin typeface="+mj-lt"/>
                        </a:rPr>
                        <a:t>1.2</a:t>
                      </a:r>
                    </a:p>
                  </a:txBody>
                  <a:tcPr marL="0" marR="0" marT="0" marB="0" anchor="b">
                    <a:lnL>
                      <a:noFill/>
                    </a:lnL>
                    <a:lnR>
                      <a:noFill/>
                    </a:lnR>
                    <a:lnT>
                      <a:noFill/>
                    </a:lnT>
                    <a:lnB>
                      <a:noFill/>
                    </a:lnB>
                    <a:noFill/>
                  </a:tcPr>
                </a:tc>
                <a:tc>
                  <a:txBody>
                    <a:bodyPr/>
                    <a:lstStyle/>
                    <a:p>
                      <a:pPr algn="ctr" rtl="0" fontAlgn="b">
                        <a:buNone/>
                      </a:pPr>
                      <a:r>
                        <a:rPr lang="en-US" sz="900" b="1" i="0" u="none" strike="noStrike" dirty="0">
                          <a:solidFill>
                            <a:srgbClr val="000000"/>
                          </a:solidFill>
                          <a:effectLst/>
                          <a:latin typeface="+mj-lt"/>
                        </a:rPr>
                        <a:t>28</a:t>
                      </a:r>
                    </a:p>
                  </a:txBody>
                  <a:tcPr marL="0" marR="0" marT="0" marB="0" anchor="b">
                    <a:lnL>
                      <a:noFill/>
                    </a:lnL>
                    <a:lnR w="6350" cap="flat" cmpd="sng" algn="ctr">
                      <a:noFill/>
                      <a:prstDash val="sysDot"/>
                      <a:round/>
                      <a:headEnd type="none" w="med" len="med"/>
                      <a:tailEnd type="none" w="med" len="med"/>
                    </a:lnR>
                    <a:lnT>
                      <a:noFill/>
                    </a:lnT>
                    <a:lnB>
                      <a:noFill/>
                    </a:lnB>
                    <a:noFill/>
                  </a:tcPr>
                </a:tc>
                <a:tc>
                  <a:txBody>
                    <a:bodyPr/>
                    <a:lstStyle/>
                    <a:p>
                      <a:pPr algn="ctr" rtl="0" fontAlgn="b">
                        <a:buNone/>
                      </a:pPr>
                      <a:endParaRPr lang="en-US" sz="900" b="1" i="0" u="none" strike="noStrike" dirty="0">
                        <a:solidFill>
                          <a:srgbClr val="000000"/>
                        </a:solidFill>
                        <a:effectLst/>
                        <a:latin typeface="+mj-lt"/>
                      </a:endParaRPr>
                    </a:p>
                  </a:txBody>
                  <a:tcPr marL="0" marR="0" marT="0" marB="0" anchor="b">
                    <a:lnL>
                      <a:noFill/>
                    </a:lnL>
                    <a:lnR w="6350" cap="flat" cmpd="sng" algn="ctr">
                      <a:noFill/>
                      <a:prstDash val="sysDot"/>
                      <a:round/>
                      <a:headEnd type="none" w="med" len="med"/>
                      <a:tailEnd type="none" w="med" len="med"/>
                    </a:lnR>
                    <a:lnT>
                      <a:noFill/>
                    </a:lnT>
                    <a:lnB>
                      <a:noFill/>
                    </a:lnB>
                    <a:noFill/>
                  </a:tcPr>
                </a:tc>
                <a:extLst>
                  <a:ext uri="{0D108BD9-81ED-4DB2-BD59-A6C34878D82A}">
                    <a16:rowId xmlns:a16="http://schemas.microsoft.com/office/drawing/2014/main" val="4106767239"/>
                  </a:ext>
                </a:extLst>
              </a:tr>
              <a:tr h="75406">
                <a:tc>
                  <a:txBody>
                    <a:bodyPr/>
                    <a:lstStyle/>
                    <a:p>
                      <a:pPr algn="l" fontAlgn="b">
                        <a:buNone/>
                      </a:pPr>
                      <a:endParaRPr lang="en-GB" sz="900" b="0" i="0" u="none" strike="noStrike">
                        <a:solidFill>
                          <a:srgbClr val="000000"/>
                        </a:solidFill>
                        <a:effectLst/>
                        <a:latin typeface="+mj-lt"/>
                        <a:ea typeface="宋体" panose="02010600030101010101" pitchFamily="2" charset="-122"/>
                      </a:endParaRPr>
                    </a:p>
                  </a:txBody>
                  <a:tcPr marL="18000" marR="18000" marT="0" marB="0" anchor="b">
                    <a:lnL w="6350" cap="flat" cmpd="sng" algn="ctr">
                      <a:noFill/>
                      <a:prstDash val="sysDot"/>
                      <a:round/>
                      <a:headEnd type="none" w="med" len="med"/>
                      <a:tailEnd type="none" w="med" len="med"/>
                    </a:lnL>
                    <a:lnR>
                      <a:noFill/>
                    </a:lnR>
                    <a:lnT>
                      <a:noFill/>
                    </a:lnT>
                    <a:lnB w="6350" cap="flat" cmpd="sng" algn="ctr">
                      <a:noFill/>
                      <a:prstDash val="sysDot"/>
                      <a:round/>
                      <a:headEnd type="none" w="med" len="med"/>
                      <a:tailEnd type="none" w="med" len="med"/>
                    </a:lnB>
                    <a:noFill/>
                  </a:tcPr>
                </a:tc>
                <a:tc>
                  <a:txBody>
                    <a:bodyPr/>
                    <a:lstStyle/>
                    <a:p>
                      <a:pPr algn="l" fontAlgn="b">
                        <a:buNone/>
                      </a:pPr>
                      <a:endParaRPr lang="en-GB" sz="900" b="0" i="0" u="none" strike="noStrike">
                        <a:solidFill>
                          <a:srgbClr val="000000"/>
                        </a:solidFill>
                        <a:effectLst/>
                        <a:latin typeface="+mj-lt"/>
                        <a:ea typeface="宋体" panose="02010600030101010101" pitchFamily="2" charset="-122"/>
                      </a:endParaRPr>
                    </a:p>
                  </a:txBody>
                  <a:tcPr marL="18000" marR="18000" marT="0" marB="0" anchor="b">
                    <a:lnL>
                      <a:noFill/>
                    </a:lnL>
                    <a:lnR>
                      <a:noFill/>
                    </a:lnR>
                    <a:lnT>
                      <a:noFill/>
                    </a:lnT>
                    <a:lnB w="6350" cap="flat" cmpd="sng" algn="ctr">
                      <a:noFill/>
                      <a:prstDash val="sysDot"/>
                      <a:round/>
                      <a:headEnd type="none" w="med" len="med"/>
                      <a:tailEnd type="none" w="med" len="med"/>
                    </a:lnB>
                    <a:noFill/>
                  </a:tcPr>
                </a:tc>
                <a:tc>
                  <a:txBody>
                    <a:bodyPr/>
                    <a:lstStyle/>
                    <a:p>
                      <a:pPr algn="l" fontAlgn="b">
                        <a:buNone/>
                      </a:pPr>
                      <a:endParaRPr lang="en-GB" sz="900" b="0" i="0" u="none" strike="noStrike">
                        <a:solidFill>
                          <a:srgbClr val="000000"/>
                        </a:solidFill>
                        <a:effectLst/>
                        <a:latin typeface="+mj-lt"/>
                        <a:ea typeface="宋体" panose="02010600030101010101" pitchFamily="2" charset="-122"/>
                      </a:endParaRPr>
                    </a:p>
                  </a:txBody>
                  <a:tcPr marL="18000" marR="18000" marT="0" marB="0" anchor="b">
                    <a:lnL>
                      <a:noFill/>
                    </a:lnL>
                    <a:lnR>
                      <a:noFill/>
                    </a:lnR>
                    <a:lnT>
                      <a:noFill/>
                    </a:lnT>
                    <a:lnB w="6350" cap="flat" cmpd="sng" algn="ctr">
                      <a:noFill/>
                      <a:prstDash val="sysDot"/>
                      <a:round/>
                      <a:headEnd type="none" w="med" len="med"/>
                      <a:tailEnd type="none" w="med" len="med"/>
                    </a:lnB>
                    <a:noFill/>
                  </a:tcPr>
                </a:tc>
                <a:tc>
                  <a:txBody>
                    <a:bodyPr/>
                    <a:lstStyle/>
                    <a:p>
                      <a:pPr algn="l" fontAlgn="b">
                        <a:buNone/>
                      </a:pPr>
                      <a:endParaRPr lang="en-GB" sz="900" b="0" i="0" u="none" strike="noStrike">
                        <a:solidFill>
                          <a:srgbClr val="000000"/>
                        </a:solidFill>
                        <a:effectLst/>
                        <a:latin typeface="+mj-lt"/>
                        <a:ea typeface="宋体" panose="02010600030101010101" pitchFamily="2" charset="-122"/>
                      </a:endParaRPr>
                    </a:p>
                  </a:txBody>
                  <a:tcPr marL="18000" marR="18000" marT="0" marB="0" anchor="b">
                    <a:lnL>
                      <a:noFill/>
                    </a:lnL>
                    <a:lnR>
                      <a:noFill/>
                    </a:lnR>
                    <a:lnT>
                      <a:noFill/>
                    </a:lnT>
                    <a:lnB w="6350" cap="flat" cmpd="sng" algn="ctr">
                      <a:noFill/>
                      <a:prstDash val="sysDot"/>
                      <a:round/>
                      <a:headEnd type="none" w="med" len="med"/>
                      <a:tailEnd type="none" w="med" len="med"/>
                    </a:lnB>
                    <a:noFill/>
                  </a:tcPr>
                </a:tc>
                <a:tc>
                  <a:txBody>
                    <a:bodyPr/>
                    <a:lstStyle/>
                    <a:p>
                      <a:pPr algn="r" fontAlgn="b">
                        <a:buNone/>
                      </a:pPr>
                      <a:r>
                        <a:rPr lang="en-GB" sz="900" b="1" i="0" u="none" strike="noStrike">
                          <a:solidFill>
                            <a:schemeClr val="tx1">
                              <a:lumMod val="65000"/>
                              <a:lumOff val="35000"/>
                            </a:schemeClr>
                          </a:solidFill>
                          <a:effectLst/>
                          <a:latin typeface="+mj-lt"/>
                          <a:ea typeface="宋体" panose="02010600030101010101" pitchFamily="2" charset="-122"/>
                        </a:rPr>
                        <a:t>Min</a:t>
                      </a:r>
                    </a:p>
                  </a:txBody>
                  <a:tcPr marL="18000" marR="18000" marT="0" marB="0" anchor="b">
                    <a:lnL>
                      <a:noFill/>
                    </a:lnL>
                    <a:lnR>
                      <a:noFill/>
                    </a:lnR>
                    <a:lnT>
                      <a:noFill/>
                    </a:lnT>
                    <a:lnB w="6350" cap="flat" cmpd="sng" algn="ctr">
                      <a:noFill/>
                      <a:prstDash val="sysDot"/>
                      <a:round/>
                      <a:headEnd type="none" w="med" len="med"/>
                      <a:tailEnd type="none" w="med" len="med"/>
                    </a:lnB>
                    <a:noFill/>
                  </a:tcPr>
                </a:tc>
                <a:tc>
                  <a:txBody>
                    <a:bodyPr/>
                    <a:lstStyle/>
                    <a:p>
                      <a:pPr algn="ctr" rtl="0" fontAlgn="b">
                        <a:buNone/>
                      </a:pPr>
                      <a:r>
                        <a:rPr lang="en-US" sz="900" b="1" i="0" u="none" strike="noStrike">
                          <a:solidFill>
                            <a:srgbClr val="000000"/>
                          </a:solidFill>
                          <a:effectLst/>
                          <a:latin typeface="+mj-lt"/>
                        </a:rPr>
                        <a:t>0.3</a:t>
                      </a:r>
                    </a:p>
                  </a:txBody>
                  <a:tcPr marL="0" marR="0" marT="0" marB="0" anchor="b">
                    <a:lnL>
                      <a:noFill/>
                    </a:lnL>
                    <a:lnR>
                      <a:noFill/>
                    </a:lnR>
                    <a:lnT>
                      <a:noFill/>
                    </a:lnT>
                    <a:lnB w="6350" cap="flat" cmpd="sng" algn="ctr">
                      <a:noFill/>
                      <a:prstDash val="sysDot"/>
                      <a:round/>
                      <a:headEnd type="none" w="med" len="med"/>
                      <a:tailEnd type="none" w="med" len="med"/>
                    </a:lnB>
                    <a:noFill/>
                  </a:tcPr>
                </a:tc>
                <a:tc>
                  <a:txBody>
                    <a:bodyPr/>
                    <a:lstStyle/>
                    <a:p>
                      <a:pPr algn="ctr" rtl="0" fontAlgn="b">
                        <a:buNone/>
                      </a:pPr>
                      <a:r>
                        <a:rPr lang="en-US" sz="900" b="1" i="0" u="none" strike="noStrike" dirty="0">
                          <a:solidFill>
                            <a:srgbClr val="000000"/>
                          </a:solidFill>
                          <a:effectLst/>
                          <a:latin typeface="+mj-lt"/>
                        </a:rPr>
                        <a:t>9</a:t>
                      </a:r>
                    </a:p>
                  </a:txBody>
                  <a:tcPr marL="0" marR="0" marT="0" marB="0" anchor="b">
                    <a:lnL>
                      <a:noFill/>
                    </a:lnL>
                    <a:lnR w="6350" cap="flat" cmpd="sng" algn="ctr">
                      <a:noFill/>
                      <a:prstDash val="sysDot"/>
                      <a:round/>
                      <a:headEnd type="none" w="med" len="med"/>
                      <a:tailEnd type="none" w="med" len="med"/>
                    </a:lnR>
                    <a:lnT>
                      <a:noFill/>
                    </a:lnT>
                    <a:lnB w="6350" cap="flat" cmpd="sng" algn="ctr">
                      <a:noFill/>
                      <a:prstDash val="sysDot"/>
                      <a:round/>
                      <a:headEnd type="none" w="med" len="med"/>
                      <a:tailEnd type="none" w="med" len="med"/>
                    </a:lnB>
                    <a:noFill/>
                  </a:tcPr>
                </a:tc>
                <a:tc>
                  <a:txBody>
                    <a:bodyPr/>
                    <a:lstStyle/>
                    <a:p>
                      <a:pPr algn="ctr" rtl="0" fontAlgn="b">
                        <a:buNone/>
                      </a:pPr>
                      <a:endParaRPr lang="en-US" sz="900" b="1" i="0" u="none" strike="noStrike" dirty="0">
                        <a:solidFill>
                          <a:srgbClr val="000000"/>
                        </a:solidFill>
                        <a:effectLst/>
                        <a:latin typeface="+mj-lt"/>
                      </a:endParaRPr>
                    </a:p>
                  </a:txBody>
                  <a:tcPr marL="0" marR="0" marT="0" marB="0" anchor="b">
                    <a:lnL>
                      <a:noFill/>
                    </a:lnL>
                    <a:lnR w="6350" cap="flat" cmpd="sng" algn="ctr">
                      <a:noFill/>
                      <a:prstDash val="sysDot"/>
                      <a:round/>
                      <a:headEnd type="none" w="med" len="med"/>
                      <a:tailEnd type="none" w="med" len="med"/>
                    </a:lnR>
                    <a:lnT>
                      <a:noFill/>
                    </a:lnT>
                    <a:lnB w="6350" cap="flat" cmpd="sng" algn="ctr">
                      <a:noFill/>
                      <a:prstDash val="sysDot"/>
                      <a:round/>
                      <a:headEnd type="none" w="med" len="med"/>
                      <a:tailEnd type="none" w="med" len="med"/>
                    </a:lnB>
                    <a:noFill/>
                  </a:tcPr>
                </a:tc>
                <a:extLst>
                  <a:ext uri="{0D108BD9-81ED-4DB2-BD59-A6C34878D82A}">
                    <a16:rowId xmlns:a16="http://schemas.microsoft.com/office/drawing/2014/main" val="3878968191"/>
                  </a:ext>
                </a:extLst>
              </a:tr>
              <a:tr h="75406">
                <a:tc>
                  <a:txBody>
                    <a:bodyPr/>
                    <a:lstStyle/>
                    <a:p>
                      <a:pPr algn="l" fontAlgn="b">
                        <a:buNone/>
                      </a:pPr>
                      <a:endParaRPr lang="en-GB" sz="900" b="0" i="0" u="none" strike="noStrike">
                        <a:solidFill>
                          <a:srgbClr val="000000"/>
                        </a:solidFill>
                        <a:effectLst/>
                        <a:latin typeface="+mj-lt"/>
                        <a:ea typeface="宋体" panose="02010600030101010101" pitchFamily="2" charset="-122"/>
                      </a:endParaRPr>
                    </a:p>
                  </a:txBody>
                  <a:tcPr marL="18000" marR="18000" marT="0" marB="0" anchor="b">
                    <a:lnL w="6350" cap="flat" cmpd="sng" algn="ctr">
                      <a:noFill/>
                      <a:prstDash val="sysDot"/>
                      <a:round/>
                      <a:headEnd type="none" w="med" len="med"/>
                      <a:tailEnd type="none" w="med" len="med"/>
                    </a:lnL>
                    <a:lnR>
                      <a:noFill/>
                    </a:lnR>
                    <a:lnT>
                      <a:noFill/>
                    </a:lnT>
                    <a:lnB w="6350" cap="flat" cmpd="sng" algn="ctr">
                      <a:noFill/>
                      <a:prstDash val="sysDot"/>
                      <a:round/>
                      <a:headEnd type="none" w="med" len="med"/>
                      <a:tailEnd type="none" w="med" len="med"/>
                    </a:lnB>
                    <a:noFill/>
                  </a:tcPr>
                </a:tc>
                <a:tc>
                  <a:txBody>
                    <a:bodyPr/>
                    <a:lstStyle/>
                    <a:p>
                      <a:pPr algn="l" fontAlgn="b">
                        <a:buNone/>
                      </a:pPr>
                      <a:endParaRPr lang="en-GB" sz="900" b="0" i="0" u="none" strike="noStrike">
                        <a:solidFill>
                          <a:srgbClr val="000000"/>
                        </a:solidFill>
                        <a:effectLst/>
                        <a:latin typeface="+mj-lt"/>
                        <a:ea typeface="宋体" panose="02010600030101010101" pitchFamily="2" charset="-122"/>
                      </a:endParaRPr>
                    </a:p>
                  </a:txBody>
                  <a:tcPr marL="18000" marR="18000" marT="0" marB="0" anchor="b">
                    <a:lnL>
                      <a:noFill/>
                    </a:lnL>
                    <a:lnR>
                      <a:noFill/>
                    </a:lnR>
                    <a:lnT>
                      <a:noFill/>
                    </a:lnT>
                    <a:lnB w="6350" cap="flat" cmpd="sng" algn="ctr">
                      <a:noFill/>
                      <a:prstDash val="sysDot"/>
                      <a:round/>
                      <a:headEnd type="none" w="med" len="med"/>
                      <a:tailEnd type="none" w="med" len="med"/>
                    </a:lnB>
                    <a:noFill/>
                  </a:tcPr>
                </a:tc>
                <a:tc>
                  <a:txBody>
                    <a:bodyPr/>
                    <a:lstStyle/>
                    <a:p>
                      <a:pPr algn="l" fontAlgn="b">
                        <a:buNone/>
                      </a:pPr>
                      <a:endParaRPr lang="en-GB" sz="900" b="0" i="0" u="none" strike="noStrike" dirty="0">
                        <a:solidFill>
                          <a:srgbClr val="000000"/>
                        </a:solidFill>
                        <a:effectLst/>
                        <a:latin typeface="+mj-lt"/>
                        <a:ea typeface="宋体" panose="02010600030101010101" pitchFamily="2" charset="-122"/>
                      </a:endParaRPr>
                    </a:p>
                  </a:txBody>
                  <a:tcPr marL="18000" marR="18000" marT="0" marB="0" anchor="b">
                    <a:lnL>
                      <a:noFill/>
                    </a:lnL>
                    <a:lnR>
                      <a:noFill/>
                    </a:lnR>
                    <a:lnT>
                      <a:noFill/>
                    </a:lnT>
                    <a:lnB w="6350" cap="flat" cmpd="sng" algn="ctr">
                      <a:noFill/>
                      <a:prstDash val="sysDot"/>
                      <a:round/>
                      <a:headEnd type="none" w="med" len="med"/>
                      <a:tailEnd type="none" w="med" len="med"/>
                    </a:lnB>
                    <a:noFill/>
                  </a:tcPr>
                </a:tc>
                <a:tc gridSpan="2">
                  <a:txBody>
                    <a:bodyPr/>
                    <a:lstStyle/>
                    <a:p>
                      <a:pPr algn="r" fontAlgn="b">
                        <a:buNone/>
                      </a:pPr>
                      <a:r>
                        <a:rPr lang="en-GB" sz="900" b="1" i="0" u="none" strike="noStrike" kern="1200">
                          <a:solidFill>
                            <a:schemeClr val="tx1">
                              <a:lumMod val="65000"/>
                              <a:lumOff val="35000"/>
                            </a:schemeClr>
                          </a:solidFill>
                          <a:effectLst/>
                          <a:highlight>
                            <a:srgbClr val="00FFFF"/>
                          </a:highlight>
                          <a:latin typeface="+mn-lt"/>
                          <a:ea typeface="宋体" panose="02010600030101010101" pitchFamily="2" charset="-122"/>
                          <a:cs typeface="+mn-cs"/>
                        </a:rPr>
                        <a:t>(post normalised) </a:t>
                      </a:r>
                      <a:r>
                        <a:rPr lang="en-GB" sz="900" b="1" i="0" u="none" strike="noStrike">
                          <a:solidFill>
                            <a:schemeClr val="tx1">
                              <a:lumMod val="65000"/>
                              <a:lumOff val="35000"/>
                            </a:schemeClr>
                          </a:solidFill>
                          <a:effectLst/>
                          <a:highlight>
                            <a:srgbClr val="00FFFF"/>
                          </a:highlight>
                          <a:latin typeface="+mj-lt"/>
                          <a:ea typeface="宋体" panose="02010600030101010101" pitchFamily="2" charset="-122"/>
                        </a:rPr>
                        <a:t>Median</a:t>
                      </a:r>
                    </a:p>
                  </a:txBody>
                  <a:tcPr marL="18000" marR="18000" marT="0" marB="0" anchor="b">
                    <a:lnL>
                      <a:noFill/>
                    </a:lnL>
                    <a:lnR>
                      <a:noFill/>
                    </a:lnR>
                    <a:lnT>
                      <a:noFill/>
                    </a:lnT>
                    <a:lnB w="6350" cap="flat" cmpd="sng" algn="ctr">
                      <a:noFill/>
                      <a:prstDash val="sysDot"/>
                      <a:round/>
                      <a:headEnd type="none" w="med" len="med"/>
                      <a:tailEnd type="none" w="med" len="med"/>
                    </a:lnB>
                    <a:noFill/>
                  </a:tcPr>
                </a:tc>
                <a:tc hMerge="1">
                  <a:txBody>
                    <a:bodyPr/>
                    <a:lstStyle/>
                    <a:p>
                      <a:endParaRPr/>
                    </a:p>
                  </a:txBody>
                  <a:tcPr marL="18000" marR="18000" marT="0" marB="0" anchor="b">
                    <a:lnL>
                      <a:noFill/>
                    </a:lnL>
                    <a:lnR>
                      <a:noFill/>
                    </a:lnR>
                    <a:lnT>
                      <a:noFill/>
                    </a:lnT>
                    <a:lnB w="6350" cap="flat" cmpd="sng" algn="ctr">
                      <a:noFill/>
                      <a:prstDash val="sysDot"/>
                      <a:round/>
                      <a:headEnd type="none" w="med" len="med"/>
                      <a:tailEnd type="none" w="med" len="med"/>
                    </a:lnB>
                    <a:noFill/>
                  </a:tcPr>
                </a:tc>
                <a:tc>
                  <a:txBody>
                    <a:bodyPr/>
                    <a:lstStyle/>
                    <a:p>
                      <a:pPr algn="ctr" rtl="0" fontAlgn="b">
                        <a:buNone/>
                      </a:pPr>
                      <a:r>
                        <a:rPr lang="en-US" sz="900" b="1" i="0" u="none" strike="noStrike" dirty="0">
                          <a:solidFill>
                            <a:srgbClr val="000000"/>
                          </a:solidFill>
                          <a:effectLst/>
                          <a:highlight>
                            <a:srgbClr val="00FFFF"/>
                          </a:highlight>
                          <a:latin typeface="+mj-lt"/>
                        </a:rPr>
                        <a:t>0.4</a:t>
                      </a:r>
                    </a:p>
                  </a:txBody>
                  <a:tcPr marL="0" marR="0" marT="0" marB="0" anchor="b">
                    <a:lnL>
                      <a:noFill/>
                    </a:lnL>
                    <a:lnR>
                      <a:noFill/>
                    </a:lnR>
                    <a:lnT>
                      <a:noFill/>
                    </a:lnT>
                    <a:lnB w="6350" cap="flat" cmpd="sng" algn="ctr">
                      <a:noFill/>
                      <a:prstDash val="sysDot"/>
                      <a:round/>
                      <a:headEnd type="none" w="med" len="med"/>
                      <a:tailEnd type="none" w="med" len="med"/>
                    </a:lnB>
                    <a:noFill/>
                  </a:tcPr>
                </a:tc>
                <a:tc>
                  <a:txBody>
                    <a:bodyPr/>
                    <a:lstStyle/>
                    <a:p>
                      <a:pPr algn="ctr" rtl="0" fontAlgn="b">
                        <a:buNone/>
                      </a:pPr>
                      <a:r>
                        <a:rPr lang="en-US" sz="900" b="1" i="0" u="none" strike="noStrike" dirty="0">
                          <a:solidFill>
                            <a:srgbClr val="000000"/>
                          </a:solidFill>
                          <a:effectLst/>
                          <a:highlight>
                            <a:srgbClr val="00FFFF"/>
                          </a:highlight>
                          <a:latin typeface="+mj-lt"/>
                        </a:rPr>
                        <a:t>12</a:t>
                      </a:r>
                    </a:p>
                  </a:txBody>
                  <a:tcPr marL="0" marR="0" marT="0" marB="0" anchor="b">
                    <a:lnL>
                      <a:noFill/>
                    </a:lnL>
                    <a:lnR w="6350" cap="flat" cmpd="sng" algn="ctr">
                      <a:noFill/>
                      <a:prstDash val="sysDot"/>
                      <a:round/>
                      <a:headEnd type="none" w="med" len="med"/>
                      <a:tailEnd type="none" w="med" len="med"/>
                    </a:lnR>
                    <a:lnT>
                      <a:noFill/>
                    </a:lnT>
                    <a:lnB w="6350" cap="flat" cmpd="sng" algn="ctr">
                      <a:noFill/>
                      <a:prstDash val="sysDot"/>
                      <a:round/>
                      <a:headEnd type="none" w="med" len="med"/>
                      <a:tailEnd type="none" w="med" len="med"/>
                    </a:lnB>
                    <a:noFill/>
                  </a:tcPr>
                </a:tc>
                <a:tc>
                  <a:txBody>
                    <a:bodyPr/>
                    <a:lstStyle/>
                    <a:p>
                      <a:pPr algn="ctr" rtl="0" fontAlgn="b">
                        <a:buNone/>
                      </a:pPr>
                      <a:endParaRPr lang="en-US" sz="900" b="1" i="0" u="none" strike="noStrike" dirty="0">
                        <a:solidFill>
                          <a:srgbClr val="000000"/>
                        </a:solidFill>
                        <a:effectLst/>
                        <a:highlight>
                          <a:srgbClr val="00FFFF"/>
                        </a:highlight>
                        <a:latin typeface="+mj-lt"/>
                      </a:endParaRPr>
                    </a:p>
                  </a:txBody>
                  <a:tcPr marL="0" marR="0" marT="0" marB="0" anchor="b">
                    <a:lnL>
                      <a:noFill/>
                    </a:lnL>
                    <a:lnR w="6350" cap="flat" cmpd="sng" algn="ctr">
                      <a:noFill/>
                      <a:prstDash val="sysDot"/>
                      <a:round/>
                      <a:headEnd type="none" w="med" len="med"/>
                      <a:tailEnd type="none" w="med" len="med"/>
                    </a:lnR>
                    <a:lnT>
                      <a:noFill/>
                    </a:lnT>
                    <a:lnB w="6350" cap="flat" cmpd="sng" algn="ctr">
                      <a:noFill/>
                      <a:prstDash val="sysDot"/>
                      <a:round/>
                      <a:headEnd type="none" w="med" len="med"/>
                      <a:tailEnd type="none" w="med" len="med"/>
                    </a:lnB>
                    <a:noFill/>
                  </a:tcPr>
                </a:tc>
                <a:extLst>
                  <a:ext uri="{0D108BD9-81ED-4DB2-BD59-A6C34878D82A}">
                    <a16:rowId xmlns:a16="http://schemas.microsoft.com/office/drawing/2014/main" val="880603724"/>
                  </a:ext>
                </a:extLst>
              </a:tr>
            </a:tbl>
          </a:graphicData>
        </a:graphic>
      </p:graphicFrame>
      <p:sp>
        <p:nvSpPr>
          <p:cNvPr id="18" name="TextBox 17">
            <a:extLst>
              <a:ext uri="{FF2B5EF4-FFF2-40B4-BE49-F238E27FC236}">
                <a16:creationId xmlns:a16="http://schemas.microsoft.com/office/drawing/2014/main" id="{1DED2E58-369C-076F-4BD6-824FC1C5EA27}"/>
              </a:ext>
            </a:extLst>
          </p:cNvPr>
          <p:cNvSpPr txBox="1"/>
          <p:nvPr/>
        </p:nvSpPr>
        <p:spPr>
          <a:xfrm>
            <a:off x="3630734" y="4377135"/>
            <a:ext cx="1208174" cy="299295"/>
          </a:xfrm>
          <a:prstGeom prst="rect">
            <a:avLst/>
          </a:prstGeom>
          <a:noFill/>
        </p:spPr>
        <p:txBody>
          <a:bodyPr wrap="square" lIns="72000" tIns="72000" rIns="72000" bIns="72000" rtlCol="0">
            <a:spAutoFit/>
          </a:bodyPr>
          <a:lstStyle/>
          <a:p>
            <a:r>
              <a:rPr lang="en-HK" sz="1000">
                <a:solidFill>
                  <a:srgbClr val="C00000"/>
                </a:solidFill>
              </a:rPr>
              <a:t>Implied P/S: 0.4x</a:t>
            </a:r>
            <a:endParaRPr lang="en-GB" sz="1000">
              <a:solidFill>
                <a:srgbClr val="C00000"/>
              </a:solidFill>
            </a:endParaRPr>
          </a:p>
        </p:txBody>
      </p:sp>
      <p:sp>
        <p:nvSpPr>
          <p:cNvPr id="20" name="TextBox 19">
            <a:extLst>
              <a:ext uri="{FF2B5EF4-FFF2-40B4-BE49-F238E27FC236}">
                <a16:creationId xmlns:a16="http://schemas.microsoft.com/office/drawing/2014/main" id="{7B166196-0F29-EA94-8D98-65839E18FFDF}"/>
              </a:ext>
            </a:extLst>
          </p:cNvPr>
          <p:cNvSpPr txBox="1"/>
          <p:nvPr/>
        </p:nvSpPr>
        <p:spPr>
          <a:xfrm>
            <a:off x="5702570" y="4377135"/>
            <a:ext cx="392269" cy="299295"/>
          </a:xfrm>
          <a:prstGeom prst="rect">
            <a:avLst/>
          </a:prstGeom>
          <a:noFill/>
        </p:spPr>
        <p:txBody>
          <a:bodyPr wrap="none" lIns="72000" tIns="72000" rIns="72000" bIns="72000" rtlCol="0">
            <a:spAutoFit/>
          </a:bodyPr>
          <a:lstStyle/>
          <a:p>
            <a:pPr algn="l"/>
            <a:r>
              <a:rPr lang="en-HK" sz="1000">
                <a:solidFill>
                  <a:srgbClr val="C00000"/>
                </a:solidFill>
              </a:rPr>
              <a:t>0.6x</a:t>
            </a:r>
            <a:endParaRPr lang="en-GB" sz="1000">
              <a:solidFill>
                <a:srgbClr val="C00000"/>
              </a:solidFill>
            </a:endParaRPr>
          </a:p>
        </p:txBody>
      </p:sp>
      <p:sp>
        <p:nvSpPr>
          <p:cNvPr id="28" name="TextBox 27">
            <a:extLst>
              <a:ext uri="{FF2B5EF4-FFF2-40B4-BE49-F238E27FC236}">
                <a16:creationId xmlns:a16="http://schemas.microsoft.com/office/drawing/2014/main" id="{11750B01-971C-DCE2-537B-C72FF57F3CA7}"/>
              </a:ext>
            </a:extLst>
          </p:cNvPr>
          <p:cNvSpPr txBox="1"/>
          <p:nvPr/>
        </p:nvSpPr>
        <p:spPr>
          <a:xfrm>
            <a:off x="2657953" y="5367434"/>
            <a:ext cx="2359320" cy="299295"/>
          </a:xfrm>
          <a:prstGeom prst="rect">
            <a:avLst/>
          </a:prstGeom>
          <a:noFill/>
        </p:spPr>
        <p:txBody>
          <a:bodyPr wrap="square" lIns="72000" tIns="72000" rIns="72000" bIns="72000" rtlCol="0">
            <a:spAutoFit/>
          </a:bodyPr>
          <a:lstStyle/>
          <a:p>
            <a:r>
              <a:rPr lang="en-HK" sz="1000">
                <a:solidFill>
                  <a:srgbClr val="C00000"/>
                </a:solidFill>
              </a:rPr>
              <a:t>Implied P/E: </a:t>
            </a:r>
            <a:r>
              <a:rPr lang="en-HK" sz="1000">
                <a:solidFill>
                  <a:srgbClr val="C00000"/>
                </a:solidFill>
                <a:highlight>
                  <a:srgbClr val="00FFFF"/>
                </a:highlight>
              </a:rPr>
              <a:t>12x</a:t>
            </a:r>
            <a:r>
              <a:rPr lang="en-HK" sz="1000">
                <a:solidFill>
                  <a:srgbClr val="C00000"/>
                </a:solidFill>
              </a:rPr>
              <a:t>                </a:t>
            </a:r>
            <a:r>
              <a:rPr lang="en-HK" sz="1000">
                <a:solidFill>
                  <a:srgbClr val="C00000"/>
                </a:solidFill>
                <a:highlight>
                  <a:srgbClr val="00FFFF"/>
                </a:highlight>
              </a:rPr>
              <a:t>28x</a:t>
            </a:r>
            <a:r>
              <a:rPr lang="en-HK" sz="1000">
                <a:solidFill>
                  <a:srgbClr val="C00000"/>
                </a:solidFill>
              </a:rPr>
              <a:t>  34x</a:t>
            </a:r>
            <a:endParaRPr lang="en-GB" sz="1000">
              <a:solidFill>
                <a:srgbClr val="C00000"/>
              </a:solidFill>
            </a:endParaRPr>
          </a:p>
        </p:txBody>
      </p:sp>
      <p:sp>
        <p:nvSpPr>
          <p:cNvPr id="29" name="TextBox 28">
            <a:extLst>
              <a:ext uri="{FF2B5EF4-FFF2-40B4-BE49-F238E27FC236}">
                <a16:creationId xmlns:a16="http://schemas.microsoft.com/office/drawing/2014/main" id="{0AB89F37-AF22-D3A9-E259-679EAD72912E}"/>
              </a:ext>
            </a:extLst>
          </p:cNvPr>
          <p:cNvSpPr txBox="1"/>
          <p:nvPr/>
        </p:nvSpPr>
        <p:spPr>
          <a:xfrm>
            <a:off x="5716734" y="5387508"/>
            <a:ext cx="357003" cy="299295"/>
          </a:xfrm>
          <a:prstGeom prst="rect">
            <a:avLst/>
          </a:prstGeom>
          <a:noFill/>
        </p:spPr>
        <p:txBody>
          <a:bodyPr wrap="none" lIns="72000" tIns="72000" rIns="72000" bIns="72000" rtlCol="0">
            <a:spAutoFit/>
          </a:bodyPr>
          <a:lstStyle/>
          <a:p>
            <a:pPr algn="l"/>
            <a:r>
              <a:rPr lang="en-HK" sz="1000">
                <a:solidFill>
                  <a:srgbClr val="C00000"/>
                </a:solidFill>
              </a:rPr>
              <a:t>50x</a:t>
            </a:r>
            <a:endParaRPr lang="en-GB" sz="1000">
              <a:solidFill>
                <a:srgbClr val="C00000"/>
              </a:solidFill>
            </a:endParaRPr>
          </a:p>
        </p:txBody>
      </p:sp>
      <p:sp>
        <p:nvSpPr>
          <p:cNvPr id="30" name="TextBox 29">
            <a:extLst>
              <a:ext uri="{FF2B5EF4-FFF2-40B4-BE49-F238E27FC236}">
                <a16:creationId xmlns:a16="http://schemas.microsoft.com/office/drawing/2014/main" id="{B8760797-455D-B047-CEA2-1B0A222FA34D}"/>
              </a:ext>
            </a:extLst>
          </p:cNvPr>
          <p:cNvSpPr txBox="1"/>
          <p:nvPr/>
        </p:nvSpPr>
        <p:spPr>
          <a:xfrm>
            <a:off x="5283651" y="3530348"/>
            <a:ext cx="935775" cy="276999"/>
          </a:xfrm>
          <a:prstGeom prst="rect">
            <a:avLst/>
          </a:prstGeom>
          <a:noFill/>
        </p:spPr>
        <p:txBody>
          <a:bodyPr wrap="square" rtlCol="0">
            <a:spAutoFit/>
          </a:bodyPr>
          <a:lstStyle/>
          <a:p>
            <a:r>
              <a:rPr lang="en-US" sz="1200" b="1">
                <a:solidFill>
                  <a:schemeClr val="accent1"/>
                </a:solidFill>
                <a:latin typeface="+mj-lt"/>
                <a:ea typeface="Calibri" panose="020F0502020204030204" pitchFamily="34" charset="0"/>
                <a:cs typeface="Calibri" panose="020F0502020204030204" pitchFamily="34" charset="0"/>
              </a:rPr>
              <a:t>US$3.7</a:t>
            </a:r>
            <a:r>
              <a:rPr lang="en-US" sz="1200">
                <a:solidFill>
                  <a:schemeClr val="accent1"/>
                </a:solidFill>
                <a:latin typeface="+mj-lt"/>
                <a:ea typeface="Calibri" panose="020F0502020204030204" pitchFamily="34" charset="0"/>
                <a:cs typeface="Calibri" panose="020F0502020204030204" pitchFamily="34" charset="0"/>
              </a:rPr>
              <a:t>b</a:t>
            </a:r>
            <a:endParaRPr lang="en-HK" sz="1200" b="1">
              <a:solidFill>
                <a:schemeClr val="accent1"/>
              </a:solidFill>
              <a:latin typeface="+mj-lt"/>
              <a:ea typeface="Calibri" panose="020F0502020204030204" pitchFamily="34" charset="0"/>
              <a:cs typeface="Calibri" panose="020F0502020204030204" pitchFamily="34" charset="0"/>
            </a:endParaRPr>
          </a:p>
        </p:txBody>
      </p:sp>
      <p:sp>
        <p:nvSpPr>
          <p:cNvPr id="5" name="Rectangle: Rounded Corners 4">
            <a:extLst>
              <a:ext uri="{FF2B5EF4-FFF2-40B4-BE49-F238E27FC236}">
                <a16:creationId xmlns:a16="http://schemas.microsoft.com/office/drawing/2014/main" id="{CBAFB179-0EF9-27B9-5D61-0D9906CD3E86}"/>
              </a:ext>
            </a:extLst>
          </p:cNvPr>
          <p:cNvSpPr/>
          <p:nvPr/>
        </p:nvSpPr>
        <p:spPr bwMode="auto">
          <a:xfrm>
            <a:off x="-9012927" y="4158030"/>
            <a:ext cx="8540604" cy="544830"/>
          </a:xfrm>
          <a:prstGeom prst="roundRect">
            <a:avLst/>
          </a:prstGeom>
          <a:gradFill>
            <a:gsLst>
              <a:gs pos="0">
                <a:srgbClr val="C30303">
                  <a:lumMod val="5000"/>
                  <a:lumOff val="95000"/>
                </a:srgbClr>
              </a:gs>
              <a:gs pos="100000">
                <a:schemeClr val="bg1"/>
              </a:gs>
            </a:gsLst>
            <a:lin ang="5400000" scaled="1"/>
          </a:gradFill>
          <a:ln w="12700" cap="flat" cmpd="sng" algn="ctr">
            <a:gradFill>
              <a:gsLst>
                <a:gs pos="0">
                  <a:srgbClr val="C30303">
                    <a:lumMod val="5000"/>
                    <a:lumOff val="95000"/>
                  </a:srgbClr>
                </a:gs>
                <a:gs pos="100000">
                  <a:srgbClr val="C30303">
                    <a:lumMod val="30000"/>
                    <a:lumOff val="70000"/>
                  </a:srgbClr>
                </a:gs>
              </a:gsLst>
              <a:lin ang="5400000" scaled="1"/>
            </a:gradFill>
            <a:prstDash val="solid"/>
            <a:miter lim="800000"/>
          </a:ln>
          <a:effectLst>
            <a:outerShdw blurRad="50800" dist="38100" dir="2700000" algn="tl" rotWithShape="0">
              <a:sysClr val="windowText" lastClr="000000">
                <a:lumMod val="65000"/>
                <a:lumOff val="35000"/>
                <a:alpha val="40000"/>
              </a:sysClr>
            </a:outerShdw>
          </a:effectLst>
        </p:spPr>
        <p:txBody>
          <a:bodyPr wrap="square" rtlCol="0" anchor="ctr">
            <a:spAutoFit/>
          </a:bodyPr>
          <a:lstStyle/>
          <a:p>
            <a:pPr algn="ctr" defTabSz="685783" eaLnBrk="0" hangingPunct="0">
              <a:spcAft>
                <a:spcPts val="600"/>
              </a:spcAft>
            </a:pPr>
            <a:r>
              <a:rPr lang="en-US" sz="1050" dirty="0">
                <a:solidFill>
                  <a:sysClr val="windowText" lastClr="000000"/>
                </a:solidFill>
                <a:latin typeface="Arial" panose="020B0604020202020204" pitchFamily="34" charset="0"/>
                <a:ea typeface="STKaiti" panose="02010600040101010101" pitchFamily="2" charset="-122"/>
                <a:cs typeface="Arial" panose="020B0604020202020204" pitchFamily="34" charset="0"/>
              </a:rPr>
              <a:t>[L&amp;F] should command a premium IPO pre-money valuation of approximately </a:t>
            </a:r>
            <a:r>
              <a:rPr lang="en-US" sz="1050" dirty="0">
                <a:solidFill>
                  <a:srgbClr val="C00000"/>
                </a:solidFill>
                <a:latin typeface="Arial" panose="020B0604020202020204" pitchFamily="34" charset="0"/>
                <a:ea typeface="STKaiti" panose="02010600040101010101" pitchFamily="2" charset="-122"/>
                <a:cs typeface="Arial" panose="020B0604020202020204" pitchFamily="34" charset="0"/>
              </a:rPr>
              <a:t>US$2.5 billion – US$3.7 billion</a:t>
            </a:r>
            <a:r>
              <a:rPr lang="en-US" sz="1050" dirty="0">
                <a:solidFill>
                  <a:schemeClr val="tx1"/>
                </a:solidFill>
                <a:latin typeface="Arial" panose="020B0604020202020204" pitchFamily="34" charset="0"/>
                <a:ea typeface="STKaiti" panose="02010600040101010101" pitchFamily="2" charset="-122"/>
                <a:cs typeface="Arial" panose="020B0604020202020204" pitchFamily="34" charset="0"/>
              </a:rPr>
              <a:t>,</a:t>
            </a:r>
          </a:p>
          <a:p>
            <a:pPr algn="ctr" defTabSz="685783" eaLnBrk="0" hangingPunct="0">
              <a:spcAft>
                <a:spcPts val="600"/>
              </a:spcAft>
            </a:pPr>
            <a:r>
              <a:rPr lang="en-US" sz="1050" dirty="0">
                <a:solidFill>
                  <a:sysClr val="windowText" lastClr="000000"/>
                </a:solidFill>
                <a:latin typeface="Arial" panose="020B0604020202020204" pitchFamily="34" charset="0"/>
                <a:ea typeface="STKaiti" panose="02010600040101010101" pitchFamily="2" charset="-122"/>
                <a:cs typeface="Arial" panose="020B0604020202020204" pitchFamily="34" charset="0"/>
              </a:rPr>
              <a:t>representing </a:t>
            </a:r>
            <a:r>
              <a:rPr lang="en-US" sz="1050" dirty="0">
                <a:solidFill>
                  <a:srgbClr val="C00000"/>
                </a:solidFill>
                <a:latin typeface="Arial" panose="020B0604020202020204" pitchFamily="34" charset="0"/>
                <a:ea typeface="STKaiti" panose="02010600040101010101" pitchFamily="2" charset="-122"/>
                <a:cs typeface="Arial" panose="020B0604020202020204" pitchFamily="34" charset="0"/>
              </a:rPr>
              <a:t>2026F P/S of 0.4x to 0.6x </a:t>
            </a:r>
            <a:r>
              <a:rPr lang="en-US" sz="1050" dirty="0">
                <a:solidFill>
                  <a:sysClr val="windowText" lastClr="000000"/>
                </a:solidFill>
                <a:latin typeface="Arial" panose="020B0604020202020204" pitchFamily="34" charset="0"/>
                <a:ea typeface="STKaiti" panose="02010600040101010101" pitchFamily="2" charset="-122"/>
                <a:cs typeface="Arial" panose="020B0604020202020204" pitchFamily="34" charset="0"/>
              </a:rPr>
              <a:t>and </a:t>
            </a:r>
            <a:r>
              <a:rPr lang="en-US" sz="1050" dirty="0">
                <a:solidFill>
                  <a:srgbClr val="C00000"/>
                </a:solidFill>
                <a:latin typeface="Arial" panose="020B0604020202020204" pitchFamily="34" charset="0"/>
                <a:ea typeface="STKaiti" panose="02010600040101010101" pitchFamily="2" charset="-122"/>
                <a:cs typeface="Arial" panose="020B0604020202020204" pitchFamily="34" charset="0"/>
              </a:rPr>
              <a:t>2026F P/E of 34x to 50x</a:t>
            </a:r>
          </a:p>
        </p:txBody>
      </p:sp>
      <p:sp>
        <p:nvSpPr>
          <p:cNvPr id="33" name="Slide Number Placeholder 3">
            <a:extLst>
              <a:ext uri="{FF2B5EF4-FFF2-40B4-BE49-F238E27FC236}">
                <a16:creationId xmlns:a16="http://schemas.microsoft.com/office/drawing/2014/main" id="{09944566-9AAF-49F1-57CE-07330B9FB275}"/>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2</a:t>
            </a:fld>
            <a:endParaRPr lang="en-US"/>
          </a:p>
        </p:txBody>
      </p:sp>
      <p:sp>
        <p:nvSpPr>
          <p:cNvPr id="8" name="Rectangle 7">
            <a:extLst>
              <a:ext uri="{FF2B5EF4-FFF2-40B4-BE49-F238E27FC236}">
                <a16:creationId xmlns:a16="http://schemas.microsoft.com/office/drawing/2014/main" id="{4C7A3EF0-F93A-9666-B29C-C224F3F441F2}"/>
              </a:ext>
            </a:extLst>
          </p:cNvPr>
          <p:cNvSpPr/>
          <p:nvPr/>
        </p:nvSpPr>
        <p:spPr bwMode="auto">
          <a:xfrm>
            <a:off x="7664008" y="73043"/>
            <a:ext cx="2009775" cy="357233"/>
          </a:xfrm>
          <a:prstGeom prst="rect">
            <a:avLst/>
          </a:prstGeom>
          <a:solidFill>
            <a:schemeClr val="bg1">
              <a:lumMod val="95000"/>
            </a:schemeClr>
          </a:solidFill>
          <a:ln>
            <a:noFill/>
          </a:ln>
          <a:effectLst>
            <a:outerShdw blurRad="50800" dist="38100" dir="2700000" algn="ctr" rotWithShape="0">
              <a:schemeClr val="tx1">
                <a:alpha val="40000"/>
              </a:schemeClr>
            </a:outerShdw>
          </a:effectLst>
        </p:spPr>
        <p:txBody>
          <a:bodyPr vert="horz" wrap="square" lIns="36000" tIns="36000" rIns="36000" bIns="36000" numCol="1" rtlCol="0" anchor="t" anchorCtr="0" compatLnSpc="1">
            <a:prstTxWarp prst="textNoShape">
              <a:avLst/>
            </a:prstTxWarp>
          </a:bodyPr>
          <a:lstStyle/>
          <a:p>
            <a:pPr marR="0" algn="ctr" defTabSz="914400" rtl="0" eaLnBrk="0" fontAlgn="base" latinLnBrk="0" hangingPunct="0">
              <a:lnSpc>
                <a:spcPct val="110000"/>
              </a:lnSpc>
              <a:spcBef>
                <a:spcPct val="0"/>
              </a:spcBef>
              <a:spcAft>
                <a:spcPct val="0"/>
              </a:spcAft>
              <a:buClrTx/>
              <a:buSzTx/>
              <a:tabLst/>
            </a:pPr>
            <a:r>
              <a:rPr kumimoji="0" lang="en-US" altLang="zh-CN" sz="2000" b="0" i="0" u="none" strike="noStrike" cap="none" normalizeH="0" baseline="0">
                <a:ln>
                  <a:noFill/>
                </a:ln>
                <a:solidFill>
                  <a:schemeClr val="tx1"/>
                </a:solidFill>
                <a:effectLst/>
                <a:highlight>
                  <a:srgbClr val="FFFF00"/>
                </a:highlight>
                <a:latin typeface="Arial" panose="020B0604020202020204" pitchFamily="34" charset="0"/>
              </a:rPr>
              <a:t>TBU</a:t>
            </a:r>
            <a:endParaRPr kumimoji="0" lang="en-US" sz="2000" b="0" i="0" u="none" strike="noStrike" cap="none" normalizeH="0" baseline="0">
              <a:ln>
                <a:noFill/>
              </a:ln>
              <a:solidFill>
                <a:schemeClr val="tx1"/>
              </a:solidFill>
              <a:effectLst/>
              <a:highlight>
                <a:srgbClr val="FFFF00"/>
              </a:highlight>
              <a:latin typeface="Arial" panose="020B0604020202020204" pitchFamily="34" charset="0"/>
            </a:endParaRPr>
          </a:p>
        </p:txBody>
      </p:sp>
      <p:sp>
        <p:nvSpPr>
          <p:cNvPr id="24" name="TextBox 23">
            <a:extLst>
              <a:ext uri="{FF2B5EF4-FFF2-40B4-BE49-F238E27FC236}">
                <a16:creationId xmlns:a16="http://schemas.microsoft.com/office/drawing/2014/main" id="{03A73014-BDB3-80F9-C668-65D3F5916C73}"/>
              </a:ext>
            </a:extLst>
          </p:cNvPr>
          <p:cNvSpPr txBox="1"/>
          <p:nvPr/>
        </p:nvSpPr>
        <p:spPr>
          <a:xfrm>
            <a:off x="8751869" y="4111486"/>
            <a:ext cx="630137" cy="153888"/>
          </a:xfrm>
          <a:prstGeom prst="rect">
            <a:avLst/>
          </a:prstGeom>
          <a:solidFill>
            <a:schemeClr val="bg1"/>
          </a:solidFill>
          <a:ln w="9525">
            <a:noFill/>
            <a:prstDash val="lgDash"/>
          </a:ln>
        </p:spPr>
        <p:txBody>
          <a:bodyPr wrap="square" lIns="0" tIns="0" rIns="0" bIns="0" rtlCol="0">
            <a:spAutoFit/>
          </a:bodyPr>
          <a:lstStyle/>
          <a:p>
            <a:pPr algn="ctr"/>
            <a:r>
              <a:rPr lang="en-HK" sz="1000" b="0">
                <a:solidFill>
                  <a:schemeClr val="tx1"/>
                </a:solidFill>
              </a:rPr>
              <a:t>US$7.6b</a:t>
            </a:r>
            <a:endParaRPr lang="en-GB" sz="1000" b="0">
              <a:solidFill>
                <a:schemeClr val="tx1"/>
              </a:solidFill>
            </a:endParaRPr>
          </a:p>
        </p:txBody>
      </p:sp>
      <p:sp>
        <p:nvSpPr>
          <p:cNvPr id="25" name="TextBox 24">
            <a:extLst>
              <a:ext uri="{FF2B5EF4-FFF2-40B4-BE49-F238E27FC236}">
                <a16:creationId xmlns:a16="http://schemas.microsoft.com/office/drawing/2014/main" id="{0A9EC031-9FAE-5640-958F-DA8863CD6099}"/>
              </a:ext>
            </a:extLst>
          </p:cNvPr>
          <p:cNvSpPr txBox="1"/>
          <p:nvPr/>
        </p:nvSpPr>
        <p:spPr>
          <a:xfrm>
            <a:off x="2895600" y="5043003"/>
            <a:ext cx="599648" cy="153888"/>
          </a:xfrm>
          <a:prstGeom prst="rect">
            <a:avLst/>
          </a:prstGeom>
          <a:solidFill>
            <a:schemeClr val="bg1"/>
          </a:solidFill>
          <a:ln w="9525">
            <a:noFill/>
            <a:prstDash val="lgDash"/>
          </a:ln>
        </p:spPr>
        <p:txBody>
          <a:bodyPr wrap="square" lIns="0" tIns="0" rIns="0" bIns="0" rtlCol="0">
            <a:spAutoFit/>
          </a:bodyPr>
          <a:lstStyle/>
          <a:p>
            <a:pPr algn="ctr"/>
            <a:r>
              <a:rPr lang="en-HK" sz="1000" b="0">
                <a:solidFill>
                  <a:schemeClr val="tx1"/>
                </a:solidFill>
              </a:rPr>
              <a:t>US$0.9b</a:t>
            </a:r>
            <a:endParaRPr lang="en-GB" sz="1000" b="0">
              <a:solidFill>
                <a:schemeClr val="tx1"/>
              </a:solidFill>
            </a:endParaRPr>
          </a:p>
        </p:txBody>
      </p:sp>
      <p:sp>
        <p:nvSpPr>
          <p:cNvPr id="7" name="TextBox 6">
            <a:extLst>
              <a:ext uri="{FF2B5EF4-FFF2-40B4-BE49-F238E27FC236}">
                <a16:creationId xmlns:a16="http://schemas.microsoft.com/office/drawing/2014/main" id="{46C66797-3D33-161B-03DB-257173F19646}"/>
              </a:ext>
            </a:extLst>
          </p:cNvPr>
          <p:cNvSpPr txBox="1"/>
          <p:nvPr/>
        </p:nvSpPr>
        <p:spPr>
          <a:xfrm>
            <a:off x="4229810" y="4126478"/>
            <a:ext cx="494392" cy="153888"/>
          </a:xfrm>
          <a:prstGeom prst="rect">
            <a:avLst/>
          </a:prstGeom>
          <a:solidFill>
            <a:schemeClr val="bg1"/>
          </a:solidFill>
          <a:ln w="9525">
            <a:noFill/>
            <a:prstDash val="lgDash"/>
          </a:ln>
        </p:spPr>
        <p:txBody>
          <a:bodyPr wrap="square" lIns="0" tIns="0" rIns="0" bIns="0" rtlCol="0">
            <a:spAutoFit/>
          </a:bodyPr>
          <a:lstStyle/>
          <a:p>
            <a:pPr algn="ctr"/>
            <a:r>
              <a:rPr lang="en-HK" sz="1000" b="0">
                <a:solidFill>
                  <a:schemeClr val="tx1"/>
                </a:solidFill>
              </a:rPr>
              <a:t>US$2.5b</a:t>
            </a:r>
            <a:endParaRPr lang="en-GB" sz="1000" b="0">
              <a:solidFill>
                <a:schemeClr val="tx1"/>
              </a:solidFill>
            </a:endParaRPr>
          </a:p>
        </p:txBody>
      </p:sp>
      <p:sp>
        <p:nvSpPr>
          <p:cNvPr id="10" name="TextBox 9">
            <a:extLst>
              <a:ext uri="{FF2B5EF4-FFF2-40B4-BE49-F238E27FC236}">
                <a16:creationId xmlns:a16="http://schemas.microsoft.com/office/drawing/2014/main" id="{B5B19FCF-567C-BDA0-F00D-E5944BDB1BCE}"/>
              </a:ext>
            </a:extLst>
          </p:cNvPr>
          <p:cNvSpPr txBox="1"/>
          <p:nvPr/>
        </p:nvSpPr>
        <p:spPr>
          <a:xfrm>
            <a:off x="4089098" y="5043003"/>
            <a:ext cx="599648" cy="153888"/>
          </a:xfrm>
          <a:prstGeom prst="rect">
            <a:avLst/>
          </a:prstGeom>
          <a:solidFill>
            <a:schemeClr val="bg1"/>
          </a:solidFill>
          <a:ln w="9525">
            <a:noFill/>
            <a:prstDash val="lgDash"/>
          </a:ln>
        </p:spPr>
        <p:txBody>
          <a:bodyPr wrap="square" lIns="0" tIns="0" rIns="0" bIns="0" rtlCol="0">
            <a:spAutoFit/>
          </a:bodyPr>
          <a:lstStyle/>
          <a:p>
            <a:pPr algn="ctr"/>
            <a:r>
              <a:rPr lang="en-HK" sz="1000" b="0">
                <a:solidFill>
                  <a:schemeClr val="tx1"/>
                </a:solidFill>
              </a:rPr>
              <a:t>US$2.1b</a:t>
            </a:r>
            <a:endParaRPr lang="en-GB" sz="1000" b="0">
              <a:solidFill>
                <a:schemeClr val="tx1"/>
              </a:solidFill>
            </a:endParaRPr>
          </a:p>
        </p:txBody>
      </p:sp>
      <p:sp>
        <p:nvSpPr>
          <p:cNvPr id="11" name="TextBox 10">
            <a:extLst>
              <a:ext uri="{FF2B5EF4-FFF2-40B4-BE49-F238E27FC236}">
                <a16:creationId xmlns:a16="http://schemas.microsoft.com/office/drawing/2014/main" id="{47F6204A-669F-DCBE-C3CF-9657444FF490}"/>
              </a:ext>
            </a:extLst>
          </p:cNvPr>
          <p:cNvSpPr txBox="1"/>
          <p:nvPr/>
        </p:nvSpPr>
        <p:spPr>
          <a:xfrm>
            <a:off x="5726664" y="5043003"/>
            <a:ext cx="599648" cy="153888"/>
          </a:xfrm>
          <a:prstGeom prst="rect">
            <a:avLst/>
          </a:prstGeom>
          <a:noFill/>
          <a:ln w="9525">
            <a:noFill/>
            <a:prstDash val="lgDash"/>
          </a:ln>
        </p:spPr>
        <p:txBody>
          <a:bodyPr wrap="square" lIns="0" tIns="0" rIns="0" bIns="0" rtlCol="0">
            <a:spAutoFit/>
          </a:bodyPr>
          <a:lstStyle/>
          <a:p>
            <a:pPr algn="ctr"/>
            <a:r>
              <a:rPr lang="en-HK" sz="1000" b="0">
                <a:solidFill>
                  <a:schemeClr val="tx1"/>
                </a:solidFill>
              </a:rPr>
              <a:t>US$3.7b</a:t>
            </a:r>
            <a:endParaRPr lang="en-GB" sz="1000" b="0">
              <a:solidFill>
                <a:schemeClr val="tx1"/>
              </a:solidFill>
            </a:endParaRPr>
          </a:p>
        </p:txBody>
      </p:sp>
      <p:sp>
        <p:nvSpPr>
          <p:cNvPr id="9" name="TextBox 8">
            <a:extLst>
              <a:ext uri="{FF2B5EF4-FFF2-40B4-BE49-F238E27FC236}">
                <a16:creationId xmlns:a16="http://schemas.microsoft.com/office/drawing/2014/main" id="{10066DFC-F22C-E1AF-B166-FBDE1D1406E8}"/>
              </a:ext>
            </a:extLst>
          </p:cNvPr>
          <p:cNvSpPr txBox="1"/>
          <p:nvPr/>
        </p:nvSpPr>
        <p:spPr>
          <a:xfrm>
            <a:off x="8582265" y="4378461"/>
            <a:ext cx="392269" cy="299295"/>
          </a:xfrm>
          <a:prstGeom prst="rect">
            <a:avLst/>
          </a:prstGeom>
          <a:noFill/>
        </p:spPr>
        <p:txBody>
          <a:bodyPr wrap="none" lIns="72000" tIns="72000" rIns="72000" bIns="72000" rtlCol="0">
            <a:spAutoFit/>
          </a:bodyPr>
          <a:lstStyle/>
          <a:p>
            <a:pPr algn="l"/>
            <a:r>
              <a:rPr lang="en-HK" sz="1000">
                <a:solidFill>
                  <a:srgbClr val="C00000"/>
                </a:solidFill>
                <a:highlight>
                  <a:srgbClr val="00FFFF"/>
                </a:highlight>
              </a:rPr>
              <a:t>1.2x</a:t>
            </a:r>
            <a:endParaRPr lang="en-GB" sz="1000">
              <a:solidFill>
                <a:srgbClr val="C00000"/>
              </a:solidFill>
              <a:highlight>
                <a:srgbClr val="00FFFF"/>
              </a:highlight>
            </a:endParaRPr>
          </a:p>
        </p:txBody>
      </p:sp>
      <p:sp>
        <p:nvSpPr>
          <p:cNvPr id="26" name="Rectangle: Rounded Corners 25">
            <a:extLst>
              <a:ext uri="{FF2B5EF4-FFF2-40B4-BE49-F238E27FC236}">
                <a16:creationId xmlns:a16="http://schemas.microsoft.com/office/drawing/2014/main" id="{11BD9724-63F8-C67E-6612-4D77A608D1E6}"/>
              </a:ext>
            </a:extLst>
          </p:cNvPr>
          <p:cNvSpPr/>
          <p:nvPr/>
        </p:nvSpPr>
        <p:spPr>
          <a:xfrm>
            <a:off x="1830345" y="5767269"/>
            <a:ext cx="621291" cy="871177"/>
          </a:xfrm>
          <a:prstGeom prst="roundRect">
            <a:avLst>
              <a:gd name="adj" fmla="val 5681"/>
            </a:avLst>
          </a:prstGeom>
          <a:solidFill>
            <a:schemeClr val="accent1"/>
          </a:solidFill>
          <a:ln w="25400" cap="flat" cmpd="sng" algn="ctr">
            <a:noFill/>
            <a:prstDash val="solid"/>
          </a:ln>
          <a:effectLst/>
        </p:spPr>
        <p:txBody>
          <a:bodyPr lIns="9144" rIns="9144" rtlCol="0" anchor="ct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sz="1000" b="1" i="0" u="none" strike="noStrike" kern="0" cap="none" spc="0" normalizeH="0" baseline="0" noProof="0" dirty="0">
                <a:ln>
                  <a:noFill/>
                </a:ln>
                <a:solidFill>
                  <a:schemeClr val="bg1"/>
                </a:solidFill>
                <a:effectLst/>
                <a:uLnTx/>
                <a:uFillTx/>
                <a:latin typeface="+mj-lt"/>
                <a:ea typeface="Calibri" panose="020F0502020204030204" pitchFamily="34" charset="0"/>
                <a:cs typeface="Calibri" panose="020F0502020204030204" pitchFamily="34" charset="0"/>
              </a:rPr>
              <a:t>EV</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en-US" sz="1000" b="1" i="0" u="none" strike="noStrike" kern="0" cap="none" spc="0" normalizeH="0" baseline="0" noProof="0" dirty="0">
                <a:ln>
                  <a:noFill/>
                </a:ln>
                <a:solidFill>
                  <a:schemeClr val="bg1"/>
                </a:solidFill>
                <a:effectLst/>
                <a:uLnTx/>
                <a:uFillTx/>
                <a:latin typeface="+mj-lt"/>
                <a:ea typeface="Calibri" panose="020F0502020204030204" pitchFamily="34" charset="0"/>
                <a:cs typeface="Calibri" panose="020F0502020204030204" pitchFamily="34" charset="0"/>
              </a:rPr>
              <a:t>/</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en-US" sz="1000" b="1" i="0" u="none" strike="noStrike" kern="0" cap="none" spc="0" normalizeH="0" baseline="0" noProof="0" dirty="0">
                <a:ln>
                  <a:noFill/>
                </a:ln>
                <a:solidFill>
                  <a:schemeClr val="bg1"/>
                </a:solidFill>
                <a:effectLst/>
                <a:uLnTx/>
                <a:uFillTx/>
                <a:latin typeface="+mj-lt"/>
                <a:ea typeface="Calibri" panose="020F0502020204030204" pitchFamily="34" charset="0"/>
                <a:cs typeface="Calibri" panose="020F0502020204030204" pitchFamily="34" charset="0"/>
              </a:rPr>
              <a:t>EBITDA</a:t>
            </a:r>
          </a:p>
        </p:txBody>
      </p:sp>
      <p:sp>
        <p:nvSpPr>
          <p:cNvPr id="27" name="Rectangle 26">
            <a:extLst>
              <a:ext uri="{FF2B5EF4-FFF2-40B4-BE49-F238E27FC236}">
                <a16:creationId xmlns:a16="http://schemas.microsoft.com/office/drawing/2014/main" id="{805D1271-90B0-4143-8897-C82754809980}"/>
              </a:ext>
            </a:extLst>
          </p:cNvPr>
          <p:cNvSpPr/>
          <p:nvPr/>
        </p:nvSpPr>
        <p:spPr>
          <a:xfrm>
            <a:off x="301830" y="5762101"/>
            <a:ext cx="1525441" cy="444674"/>
          </a:xfrm>
          <a:prstGeom prst="rect">
            <a:avLst/>
          </a:prstGeom>
          <a:noFill/>
          <a:ln w="19050" cap="flat" cmpd="sng" algn="ctr">
            <a:noFill/>
            <a:prstDash val="solid"/>
          </a:ln>
          <a:effectLst/>
        </p:spPr>
        <p:txBody>
          <a:bodyPr lIns="45720" rIns="45720" rtlCol="0" anchor="ctr">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lang="en-US" altLang="zh-CN" sz="1000" kern="0" dirty="0">
                <a:solidFill>
                  <a:schemeClr val="tx1"/>
                </a:solidFill>
                <a:ea typeface="Calibri" panose="020F0502020204030204" pitchFamily="34" charset="0"/>
                <a:cs typeface="Calibri" panose="020F0502020204030204" pitchFamily="34" charset="0"/>
              </a:rPr>
              <a:t>2026F </a:t>
            </a:r>
            <a:r>
              <a:rPr lang="en-US" sz="1000" kern="0" dirty="0">
                <a:solidFill>
                  <a:schemeClr val="tx1"/>
                </a:solidFill>
                <a:ea typeface="Calibri" panose="020F0502020204030204" pitchFamily="34" charset="0"/>
                <a:cs typeface="Calibri" panose="020F0502020204030204" pitchFamily="34" charset="0"/>
              </a:rPr>
              <a:t>EBITDA </a:t>
            </a:r>
            <a:r>
              <a:rPr lang="en-US" altLang="zh-CN" sz="1000" kern="0" dirty="0">
                <a:solidFill>
                  <a:schemeClr val="tx1"/>
                </a:solidFill>
                <a:ea typeface="Calibri" panose="020F0502020204030204" pitchFamily="34" charset="0"/>
                <a:cs typeface="Calibri" panose="020F0502020204030204" pitchFamily="34" charset="0"/>
              </a:rPr>
              <a:t>: US$[285] million</a:t>
            </a:r>
            <a:endParaRPr lang="en-US" altLang="zh-CN" sz="1000" kern="0" dirty="0">
              <a:solidFill>
                <a:schemeClr val="tx1"/>
              </a:solidFill>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135613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83e2480-703a-4536-938d-6f2928d55c6e"/>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BS-CMG_v1.6">
  <a:themeElements>
    <a:clrScheme name="Custom 2">
      <a:dk1>
        <a:srgbClr val="000000"/>
      </a:dk1>
      <a:lt1>
        <a:srgbClr val="FFFFFF"/>
      </a:lt1>
      <a:dk2>
        <a:srgbClr val="262626"/>
      </a:dk2>
      <a:lt2>
        <a:srgbClr val="262626"/>
      </a:lt2>
      <a:accent1>
        <a:srgbClr val="C00000"/>
      </a:accent1>
      <a:accent2>
        <a:srgbClr val="7F7F7F"/>
      </a:accent2>
      <a:accent3>
        <a:srgbClr val="3F3F3F"/>
      </a:accent3>
      <a:accent4>
        <a:srgbClr val="990000"/>
      </a:accent4>
      <a:accent5>
        <a:srgbClr val="FDBBBC"/>
      </a:accent5>
      <a:accent6>
        <a:srgbClr val="D8D8D8"/>
      </a:accent6>
      <a:hlink>
        <a:srgbClr val="0563C1"/>
      </a:hlink>
      <a:folHlink>
        <a:srgbClr val="954F72"/>
      </a:folHlink>
    </a:clrScheme>
    <a:fontScheme name="Custom 1">
      <a:majorFont>
        <a:latin typeface="Arial"/>
        <a:ea typeface="STKaiti"/>
        <a:cs typeface=""/>
      </a:majorFont>
      <a:minorFont>
        <a:latin typeface="Arial"/>
        <a:ea typeface="STKait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bg1">
            <a:lumMod val="95000"/>
          </a:schemeClr>
        </a:solidFill>
        <a:ln>
          <a:noFill/>
        </a:ln>
        <a:effectLst>
          <a:outerShdw blurRad="50800" dist="38100" dir="2700000" algn="ctr" rotWithShape="0">
            <a:schemeClr val="tx1">
              <a:alpha val="40000"/>
            </a:schemeClr>
          </a:outerShdw>
        </a:effectLst>
      </a:spPr>
      <a:bodyPr vert="horz" wrap="square" lIns="36000" tIns="36000" rIns="36000" bIns="36000" numCol="1" rtlCol="0" anchor="t" anchorCtr="0" compatLnSpc="1">
        <a:prstTxWarp prst="textNoShape">
          <a:avLst/>
        </a:prstTxWarp>
      </a:bodyPr>
      <a:lstStyle>
        <a:def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defRPr kumimoji="0" sz="1000" b="0" i="0" u="none" strike="noStrike" cap="none" normalizeH="0" baseline="0" dirty="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800" b="1" i="0" u="none" strike="noStrike" cap="none" normalizeH="0" baseline="0" smtClean="0">
            <a:ln>
              <a:noFill/>
            </a:ln>
            <a:solidFill>
              <a:schemeClr val="tx1"/>
            </a:solidFill>
            <a:effectLst/>
            <a:latin typeface="Arial" panose="020B0604020202020204" pitchFamily="34" charset="0"/>
          </a:defRPr>
        </a:defPPr>
      </a:lstStyle>
    </a:lnDef>
    <a:txDef>
      <a:spPr>
        <a:noFill/>
      </a:spPr>
      <a:bodyPr wrap="square" lIns="72000" tIns="72000" rIns="72000" bIns="72000" rtlCol="0">
        <a:spAutoFit/>
      </a:bodyPr>
      <a:lstStyle>
        <a:defPPr algn="l">
          <a:defRPr sz="1200" b="0" dirty="0" smtClean="0">
            <a:solidFill>
              <a:schemeClr val="tx1"/>
            </a:solidFill>
          </a:defRPr>
        </a:defPPr>
      </a:lstStyle>
    </a:txDef>
  </a:objectDefaults>
  <a:extraClrSchemeLst>
    <a:extraClrScheme>
      <a:clrScheme name="DBS PPT template 02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S PPT template 02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BS PPT template 02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S PPT template 02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S PPT template 02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S PPT template 02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BS PPT template 02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S Colour Theme" id="{96DFB9BB-14DA-4277-8074-37C6C6857950}" vid="{04737458-0D02-45A3-8C9C-C6F56AD3942F}"/>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AA53A12D24D774E8BF208EFDF8265AA" ma:contentTypeVersion="15" ma:contentTypeDescription="Create a new document." ma:contentTypeScope="" ma:versionID="681145651eea06a584d27149e4628571">
  <xsd:schema xmlns:xsd="http://www.w3.org/2001/XMLSchema" xmlns:xs="http://www.w3.org/2001/XMLSchema" xmlns:p="http://schemas.microsoft.com/office/2006/metadata/properties" xmlns:ns2="58048602-5fd1-4777-b2d4-750a4696923f" xmlns:ns3="d27e5f7d-f0ff-4de2-90b8-382edadbb92e" targetNamespace="http://schemas.microsoft.com/office/2006/metadata/properties" ma:root="true" ma:fieldsID="bb920e1f4364254216c038aefab94305" ns2:_="" ns3:_="">
    <xsd:import namespace="58048602-5fd1-4777-b2d4-750a4696923f"/>
    <xsd:import namespace="d27e5f7d-f0ff-4de2-90b8-382edadbb92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048602-5fd1-4777-b2d4-750a4696923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eeec5372-01d4-4a73-8daf-4ba62b902125}" ma:internalName="TaxCatchAll" ma:showField="CatchAllData" ma:web="58048602-5fd1-4777-b2d4-750a4696923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27e5f7d-f0ff-4de2-90b8-382edadbb92e"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c5afc53d-a465-4c37-9d87-7482417fd67c"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58048602-5fd1-4777-b2d4-750a4696923f">
      <UserInfo>
        <DisplayName>Joanne Hoy Yan PANG</DisplayName>
        <AccountId>34</AccountId>
        <AccountType/>
      </UserInfo>
      <UserInfo>
        <DisplayName>CM Connect Admin - HK Content</DisplayName>
        <AccountId>38</AccountId>
        <AccountType/>
      </UserInfo>
      <UserInfo>
        <DisplayName>Limited Access System Group For List 0989de2b-2f9f-4cc7-b069-62f6084c2af1</DisplayName>
        <AccountId>109</AccountId>
        <AccountType/>
      </UserInfo>
      <UserInfo>
        <DisplayName>Cathy Wen LONG</DisplayName>
        <AccountId>46</AccountId>
        <AccountType/>
      </UserInfo>
      <UserInfo>
        <DisplayName>Le Sa CHEAH</DisplayName>
        <AccountId>32</AccountId>
        <AccountType/>
      </UserInfo>
      <UserInfo>
        <DisplayName>Jonathan HO</DisplayName>
        <AccountId>54</AccountId>
        <AccountType/>
      </UserInfo>
      <UserInfo>
        <DisplayName>Wei Han LOH</DisplayName>
        <AccountId>128</AccountId>
        <AccountType/>
      </UserInfo>
      <UserInfo>
        <DisplayName>Christopher Leng Chong SAW</DisplayName>
        <AccountId>92</AccountId>
        <AccountType/>
      </UserInfo>
      <UserInfo>
        <DisplayName>Sanjog KUSUMWAL</DisplayName>
        <AccountId>85</AccountId>
        <AccountType/>
      </UserInfo>
      <UserInfo>
        <DisplayName>Jerry Chi Yuen LAI</DisplayName>
        <AccountId>52</AccountId>
        <AccountType/>
      </UserInfo>
      <UserInfo>
        <DisplayName>Jennifer Kam Yin LIU</DisplayName>
        <AccountId>51</AccountId>
        <AccountType/>
      </UserInfo>
      <UserInfo>
        <DisplayName>Lilian SIM</DisplayName>
        <AccountId>18</AccountId>
        <AccountType/>
      </UserInfo>
    </SharedWithUsers>
    <lcf76f155ced4ddcb4097134ff3c332f xmlns="d27e5f7d-f0ff-4de2-90b8-382edadbb92e">
      <Terms xmlns="http://schemas.microsoft.com/office/infopath/2007/PartnerControls"/>
    </lcf76f155ced4ddcb4097134ff3c332f>
    <TaxCatchAll xmlns="58048602-5fd1-4777-b2d4-750a4696923f" xsi:nil="true"/>
  </documentManagement>
</p:properties>
</file>

<file path=customXml/itemProps1.xml><?xml version="1.0" encoding="utf-8"?>
<ds:datastoreItem xmlns:ds="http://schemas.openxmlformats.org/officeDocument/2006/customXml" ds:itemID="{559A9F15-5CE9-47BB-B607-FC688EF78729}">
  <ds:schemaRefs>
    <ds:schemaRef ds:uri="http://schemas.microsoft.com/sharepoint/v3/contenttype/forms"/>
  </ds:schemaRefs>
</ds:datastoreItem>
</file>

<file path=customXml/itemProps2.xml><?xml version="1.0" encoding="utf-8"?>
<ds:datastoreItem xmlns:ds="http://schemas.openxmlformats.org/officeDocument/2006/customXml" ds:itemID="{33E1D93A-AAD2-4305-99D7-CD1C56B0AA63}">
  <ds:schemaRefs>
    <ds:schemaRef ds:uri="58048602-5fd1-4777-b2d4-750a4696923f"/>
    <ds:schemaRef ds:uri="d27e5f7d-f0ff-4de2-90b8-382edadbb92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7E0216D0-BCE7-44D0-8064-6A537768DB0C}">
  <ds:schemaRefs>
    <ds:schemaRef ds:uri="d27e5f7d-f0ff-4de2-90b8-382edadbb92e"/>
    <ds:schemaRef ds:uri="http://schemas.openxmlformats.org/package/2006/metadata/core-properties"/>
    <ds:schemaRef ds:uri="http://www.w3.org/XML/1998/namespace"/>
    <ds:schemaRef ds:uri="http://schemas.microsoft.com/office/infopath/2007/PartnerControls"/>
    <ds:schemaRef ds:uri="http://purl.org/dc/elements/1.1/"/>
    <ds:schemaRef ds:uri="http://schemas.microsoft.com/office/2006/documentManagement/types"/>
    <ds:schemaRef ds:uri="http://purl.org/dc/terms/"/>
    <ds:schemaRef ds:uri="58048602-5fd1-4777-b2d4-750a4696923f"/>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28</TotalTime>
  <Words>1243</Words>
  <Application>Microsoft Office PowerPoint</Application>
  <PresentationFormat>A4 Paper (210x297 mm)</PresentationFormat>
  <Paragraphs>367</Paragraphs>
  <Slides>2</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8" baseType="lpstr">
      <vt:lpstr>Arial</vt:lpstr>
      <vt:lpstr>Calibri</vt:lpstr>
      <vt:lpstr>Wingdings</vt:lpstr>
      <vt:lpstr>Wingdings 2</vt:lpstr>
      <vt:lpstr>DBS-CMG_v1.6</vt:lpstr>
      <vt:lpstr>think-cell Slide</vt:lpstr>
      <vt:lpstr>Indicative Valuation Analysis (based on Comparables)</vt:lpstr>
      <vt:lpstr>Indicative Valuation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Discussion Paper</dc:title>
  <dc:creator>weihanloh@dbs.com</dc:creator>
  <cp:lastModifiedBy>Jayson Xicheng LU</cp:lastModifiedBy>
  <cp:revision>2</cp:revision>
  <cp:lastPrinted>2026-01-12T12:22:14Z</cp:lastPrinted>
  <dcterms:modified xsi:type="dcterms:W3CDTF">2026-06-04T12:30:00Z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0x010100BAA53A12D24D774E8BF208EFDF8265AA</vt:lpwstr>
  </property>
  <property fmtid="{D5CDD505-2E9C-101B-9397-08002B2CF9AE}" pid="3" name="AuthorIds_UIVersion_3072">
    <vt:lpwstr>53</vt:lpwstr>
  </property>
  <property fmtid="{D5CDD505-2E9C-101B-9397-08002B2CF9AE}" pid="4" name="MediaServiceImageTags">
    <vt:lpwstr/>
  </property>
  <property fmtid="{D5CDD505-2E9C-101B-9397-08002B2CF9AE}" pid="5" name="Language">
    <vt:lpwstr>EnglishUS</vt:lpwstr>
  </property>
</Properties>
</file>