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p:sldMasterIdLst>
    <p:sldMasterId id="2147483909" r:id="rId1"/>
  </p:sldMasterIdLst>
  <p:notesMasterIdLst>
    <p:notesMasterId r:id="rId8"/>
  </p:notesMasterIdLst>
  <p:handoutMasterIdLst>
    <p:handoutMasterId r:id="rId9"/>
  </p:handoutMasterIdLst>
  <p:sldIdLst>
    <p:sldId id="2145706043" r:id="rId2"/>
    <p:sldId id="22701" r:id="rId3"/>
    <p:sldId id="2145706038" r:id="rId4"/>
    <p:sldId id="22698" r:id="rId5"/>
    <p:sldId id="22699" r:id="rId6"/>
    <p:sldId id="22700" r:id="rId7"/>
  </p:sldIdLst>
  <p:sldSz cx="9144000" cy="6858000" type="screen4x3"/>
  <p:notesSz cx="7016750" cy="9302750"/>
  <p:defaultTextStyle>
    <a:defPPr>
      <a:defRPr lang="en-US"/>
    </a:defPPr>
    <a:lvl1pPr algn="ctr" rtl="0" eaLnBrk="0" fontAlgn="base" hangingPunct="0">
      <a:spcBef>
        <a:spcPct val="50000"/>
      </a:spcBef>
      <a:spcAft>
        <a:spcPct val="0"/>
      </a:spcAft>
      <a:defRPr sz="1600" b="1" kern="1200">
        <a:solidFill>
          <a:schemeClr val="tx1"/>
        </a:solidFill>
        <a:latin typeface="Arial" charset="0"/>
        <a:ea typeface="華康簡楷" pitchFamily="65" charset="-120"/>
        <a:cs typeface="+mn-cs"/>
      </a:defRPr>
    </a:lvl1pPr>
    <a:lvl2pPr marL="457200" algn="ctr" rtl="0" eaLnBrk="0" fontAlgn="base" hangingPunct="0">
      <a:spcBef>
        <a:spcPct val="50000"/>
      </a:spcBef>
      <a:spcAft>
        <a:spcPct val="0"/>
      </a:spcAft>
      <a:defRPr sz="1600" b="1" kern="1200">
        <a:solidFill>
          <a:schemeClr val="tx1"/>
        </a:solidFill>
        <a:latin typeface="Arial" charset="0"/>
        <a:ea typeface="華康簡楷" pitchFamily="65" charset="-120"/>
        <a:cs typeface="+mn-cs"/>
      </a:defRPr>
    </a:lvl2pPr>
    <a:lvl3pPr marL="914400" algn="ctr" rtl="0" eaLnBrk="0" fontAlgn="base" hangingPunct="0">
      <a:spcBef>
        <a:spcPct val="50000"/>
      </a:spcBef>
      <a:spcAft>
        <a:spcPct val="0"/>
      </a:spcAft>
      <a:defRPr sz="1600" b="1" kern="1200">
        <a:solidFill>
          <a:schemeClr val="tx1"/>
        </a:solidFill>
        <a:latin typeface="Arial" charset="0"/>
        <a:ea typeface="華康簡楷" pitchFamily="65" charset="-120"/>
        <a:cs typeface="+mn-cs"/>
      </a:defRPr>
    </a:lvl3pPr>
    <a:lvl4pPr marL="1371600" algn="ctr" rtl="0" eaLnBrk="0" fontAlgn="base" hangingPunct="0">
      <a:spcBef>
        <a:spcPct val="50000"/>
      </a:spcBef>
      <a:spcAft>
        <a:spcPct val="0"/>
      </a:spcAft>
      <a:defRPr sz="1600" b="1" kern="1200">
        <a:solidFill>
          <a:schemeClr val="tx1"/>
        </a:solidFill>
        <a:latin typeface="Arial" charset="0"/>
        <a:ea typeface="華康簡楷" pitchFamily="65" charset="-120"/>
        <a:cs typeface="+mn-cs"/>
      </a:defRPr>
    </a:lvl4pPr>
    <a:lvl5pPr marL="1828800" algn="ctr" rtl="0" eaLnBrk="0" fontAlgn="base" hangingPunct="0">
      <a:spcBef>
        <a:spcPct val="50000"/>
      </a:spcBef>
      <a:spcAft>
        <a:spcPct val="0"/>
      </a:spcAft>
      <a:defRPr sz="1600" b="1" kern="1200">
        <a:solidFill>
          <a:schemeClr val="tx1"/>
        </a:solidFill>
        <a:latin typeface="Arial" charset="0"/>
        <a:ea typeface="華康簡楷" pitchFamily="65" charset="-120"/>
        <a:cs typeface="+mn-cs"/>
      </a:defRPr>
    </a:lvl5pPr>
    <a:lvl6pPr marL="2286000" algn="l" defTabSz="914400" rtl="0" eaLnBrk="1" latinLnBrk="0" hangingPunct="1">
      <a:defRPr sz="1600" b="1" kern="1200">
        <a:solidFill>
          <a:schemeClr val="tx1"/>
        </a:solidFill>
        <a:latin typeface="Arial" charset="0"/>
        <a:ea typeface="華康簡楷" pitchFamily="65" charset="-120"/>
        <a:cs typeface="+mn-cs"/>
      </a:defRPr>
    </a:lvl6pPr>
    <a:lvl7pPr marL="2743200" algn="l" defTabSz="914400" rtl="0" eaLnBrk="1" latinLnBrk="0" hangingPunct="1">
      <a:defRPr sz="1600" b="1" kern="1200">
        <a:solidFill>
          <a:schemeClr val="tx1"/>
        </a:solidFill>
        <a:latin typeface="Arial" charset="0"/>
        <a:ea typeface="華康簡楷" pitchFamily="65" charset="-120"/>
        <a:cs typeface="+mn-cs"/>
      </a:defRPr>
    </a:lvl7pPr>
    <a:lvl8pPr marL="3200400" algn="l" defTabSz="914400" rtl="0" eaLnBrk="1" latinLnBrk="0" hangingPunct="1">
      <a:defRPr sz="1600" b="1" kern="1200">
        <a:solidFill>
          <a:schemeClr val="tx1"/>
        </a:solidFill>
        <a:latin typeface="Arial" charset="0"/>
        <a:ea typeface="華康簡楷" pitchFamily="65" charset="-120"/>
        <a:cs typeface="+mn-cs"/>
      </a:defRPr>
    </a:lvl8pPr>
    <a:lvl9pPr marL="3657600" algn="l" defTabSz="914400" rtl="0" eaLnBrk="1" latinLnBrk="0" hangingPunct="1">
      <a:defRPr sz="1600" b="1" kern="1200">
        <a:solidFill>
          <a:schemeClr val="tx1"/>
        </a:solidFill>
        <a:latin typeface="Arial" charset="0"/>
        <a:ea typeface="華康簡楷" pitchFamily="65" charset="-120"/>
        <a:cs typeface="+mn-cs"/>
      </a:defRPr>
    </a:lvl9pPr>
  </p:defaultTextStyle>
  <p:extLst>
    <p:ext uri="{521415D9-36F7-43E2-AB2F-B90AF26B5E84}">
      <p14:sectionLst xmlns:p14="http://schemas.microsoft.com/office/powerpoint/2010/main">
        <p14:section name="Default Section" id="{F2E24CC2-9720-4F0F-9C8F-5ABA0243504D}">
          <p14:sldIdLst>
            <p14:sldId id="2145706043"/>
            <p14:sldId id="22701"/>
            <p14:sldId id="2145706038"/>
            <p14:sldId id="22698"/>
            <p14:sldId id="22699"/>
            <p14:sldId id="22700"/>
          </p14:sldIdLst>
        </p14:section>
        <p14:section name="backup" id="{7BA59205-6845-4D8D-882A-DA70A6CFAF19}">
          <p14:sldIdLst/>
        </p14:section>
      </p14:sectionLst>
    </p:ext>
    <p:ext uri="{EFAFB233-063F-42B5-8137-9DF3F51BA10A}">
      <p15:sldGuideLst xmlns:p15="http://schemas.microsoft.com/office/powerpoint/2012/main">
        <p15:guide id="1" orient="horz" pos="668">
          <p15:clr>
            <a:srgbClr val="A4A3A4"/>
          </p15:clr>
        </p15:guide>
        <p15:guide id="2" pos="408" userDrawn="1">
          <p15:clr>
            <a:srgbClr val="A4A3A4"/>
          </p15:clr>
        </p15:guide>
        <p15:guide id="3" pos="5361">
          <p15:clr>
            <a:srgbClr val="A4A3A4"/>
          </p15:clr>
        </p15:guide>
      </p15:sldGuideLst>
    </p:ext>
    <p:ext uri="{2D200454-40CA-4A62-9FC3-DE9A4176ACB9}">
      <p15:notesGuideLst xmlns:p15="http://schemas.microsoft.com/office/powerpoint/2012/main">
        <p15:guide id="1" orient="horz" pos="2923" userDrawn="1">
          <p15:clr>
            <a:srgbClr val="A4A3A4"/>
          </p15:clr>
        </p15:guide>
        <p15:guide id="2" pos="222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9B9D"/>
    <a:srgbClr val="F2E2D4"/>
    <a:srgbClr val="C00000"/>
    <a:srgbClr val="3F3F3F"/>
    <a:srgbClr val="FF0000"/>
    <a:srgbClr val="CECFDF"/>
    <a:srgbClr val="B2B2B2"/>
    <a:srgbClr val="626262"/>
    <a:srgbClr val="EAEAF2"/>
    <a:srgbClr val="2039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05" autoAdjust="0"/>
    <p:restoredTop sz="98837" autoAdjust="0"/>
  </p:normalViewPr>
  <p:slideViewPr>
    <p:cSldViewPr snapToGrid="0" snapToObjects="1" showGuides="1">
      <p:cViewPr>
        <p:scale>
          <a:sx n="85" d="100"/>
          <a:sy n="85" d="100"/>
        </p:scale>
        <p:origin x="126" y="114"/>
      </p:cViewPr>
      <p:guideLst>
        <p:guide orient="horz" pos="668"/>
        <p:guide pos="408"/>
        <p:guide pos="5361"/>
      </p:guideLst>
    </p:cSldViewPr>
  </p:slideViewPr>
  <p:outlineViewPr>
    <p:cViewPr>
      <p:scale>
        <a:sx n="75" d="100"/>
        <a:sy n="75" d="100"/>
      </p:scale>
      <p:origin x="0" y="0"/>
    </p:cViewPr>
  </p:outlineViewPr>
  <p:notesTextViewPr>
    <p:cViewPr>
      <p:scale>
        <a:sx n="66" d="100"/>
        <a:sy n="66" d="100"/>
      </p:scale>
      <p:origin x="0" y="0"/>
    </p:cViewPr>
  </p:notesTextViewPr>
  <p:sorterViewPr>
    <p:cViewPr>
      <p:scale>
        <a:sx n="140" d="100"/>
        <a:sy n="140" d="100"/>
      </p:scale>
      <p:origin x="0" y="-10962"/>
    </p:cViewPr>
  </p:sorterViewPr>
  <p:notesViewPr>
    <p:cSldViewPr snapToGrid="0" snapToObjects="1" showGuides="1">
      <p:cViewPr>
        <p:scale>
          <a:sx n="75" d="100"/>
          <a:sy n="75" d="100"/>
        </p:scale>
        <p:origin x="3198" y="372"/>
      </p:cViewPr>
      <p:guideLst>
        <p:guide orient="horz" pos="2923"/>
        <p:guide pos="2223"/>
      </p:guideLst>
    </p:cSldViewPr>
  </p:notesViewPr>
  <p:gridSpacing cx="38100" cy="381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238" name="Rectangle 1030"/>
          <p:cNvSpPr>
            <a:spLocks noGrp="1" noChangeArrowheads="1"/>
          </p:cNvSpPr>
          <p:nvPr>
            <p:ph type="hdr" sz="quarter"/>
          </p:nvPr>
        </p:nvSpPr>
        <p:spPr bwMode="auto">
          <a:xfrm>
            <a:off x="5" y="4"/>
            <a:ext cx="3072873" cy="499901"/>
          </a:xfrm>
          <a:prstGeom prst="rect">
            <a:avLst/>
          </a:prstGeom>
          <a:noFill/>
          <a:ln>
            <a:noFill/>
          </a:ln>
          <a:effectLst/>
        </p:spPr>
        <p:txBody>
          <a:bodyPr vert="horz" wrap="square" lIns="94836" tIns="47410" rIns="94836" bIns="47410" numCol="1" anchor="t" anchorCtr="0" compatLnSpc="1">
            <a:prstTxWarp prst="textNoShape">
              <a:avLst/>
            </a:prstTxWarp>
          </a:bodyPr>
          <a:lstStyle>
            <a:lvl1pPr algn="l" defTabSz="950913" eaLnBrk="1" hangingPunct="1">
              <a:spcBef>
                <a:spcPct val="0"/>
              </a:spcBef>
              <a:defRPr sz="1200" b="0">
                <a:latin typeface="Times New Roman" pitchFamily="18" charset="0"/>
                <a:ea typeface="華康簡楷" charset="-120"/>
                <a:cs typeface="+mn-cs"/>
              </a:defRPr>
            </a:lvl1pPr>
          </a:lstStyle>
          <a:p>
            <a:pPr>
              <a:defRPr/>
            </a:pPr>
            <a:endParaRPr lang="en-GB" altLang="en-US"/>
          </a:p>
        </p:txBody>
      </p:sp>
      <p:sp>
        <p:nvSpPr>
          <p:cNvPr id="95239" name="Rectangle 1031"/>
          <p:cNvSpPr>
            <a:spLocks noGrp="1" noChangeArrowheads="1"/>
          </p:cNvSpPr>
          <p:nvPr>
            <p:ph type="dt" sz="quarter" idx="1"/>
          </p:nvPr>
        </p:nvSpPr>
        <p:spPr bwMode="auto">
          <a:xfrm>
            <a:off x="3943879" y="4"/>
            <a:ext cx="3072873" cy="499901"/>
          </a:xfrm>
          <a:prstGeom prst="rect">
            <a:avLst/>
          </a:prstGeom>
          <a:noFill/>
          <a:ln>
            <a:noFill/>
          </a:ln>
          <a:effectLst/>
        </p:spPr>
        <p:txBody>
          <a:bodyPr vert="horz" wrap="square" lIns="94836" tIns="47410" rIns="94836" bIns="47410" numCol="1" anchor="t" anchorCtr="0" compatLnSpc="1">
            <a:prstTxWarp prst="textNoShape">
              <a:avLst/>
            </a:prstTxWarp>
          </a:bodyPr>
          <a:lstStyle>
            <a:lvl1pPr algn="r" defTabSz="950913" eaLnBrk="1" hangingPunct="1">
              <a:spcBef>
                <a:spcPct val="0"/>
              </a:spcBef>
              <a:defRPr sz="1200" b="0">
                <a:latin typeface="Times New Roman" pitchFamily="18" charset="0"/>
                <a:ea typeface="華康簡楷" charset="-120"/>
                <a:cs typeface="+mn-cs"/>
              </a:defRPr>
            </a:lvl1pPr>
          </a:lstStyle>
          <a:p>
            <a:pPr>
              <a:defRPr/>
            </a:pPr>
            <a:endParaRPr lang="en-GB" altLang="en-US"/>
          </a:p>
        </p:txBody>
      </p:sp>
      <p:sp>
        <p:nvSpPr>
          <p:cNvPr id="95240" name="Rectangle 1032"/>
          <p:cNvSpPr>
            <a:spLocks noGrp="1" noChangeArrowheads="1"/>
          </p:cNvSpPr>
          <p:nvPr>
            <p:ph type="ftr" sz="quarter" idx="2"/>
          </p:nvPr>
        </p:nvSpPr>
        <p:spPr bwMode="auto">
          <a:xfrm>
            <a:off x="5" y="8802852"/>
            <a:ext cx="3072873" cy="499900"/>
          </a:xfrm>
          <a:prstGeom prst="rect">
            <a:avLst/>
          </a:prstGeom>
          <a:noFill/>
          <a:ln>
            <a:noFill/>
          </a:ln>
          <a:effectLst/>
        </p:spPr>
        <p:txBody>
          <a:bodyPr vert="horz" wrap="square" lIns="94836" tIns="47410" rIns="94836" bIns="47410" numCol="1" anchor="b" anchorCtr="0" compatLnSpc="1">
            <a:prstTxWarp prst="textNoShape">
              <a:avLst/>
            </a:prstTxWarp>
          </a:bodyPr>
          <a:lstStyle>
            <a:lvl1pPr algn="l" defTabSz="950913" eaLnBrk="1" hangingPunct="1">
              <a:spcBef>
                <a:spcPct val="0"/>
              </a:spcBef>
              <a:defRPr sz="1200" b="0">
                <a:latin typeface="Times New Roman" pitchFamily="18" charset="0"/>
                <a:ea typeface="華康簡楷" charset="-120"/>
                <a:cs typeface="+mn-cs"/>
              </a:defRPr>
            </a:lvl1pPr>
          </a:lstStyle>
          <a:p>
            <a:pPr>
              <a:defRPr/>
            </a:pPr>
            <a:endParaRPr lang="en-GB" altLang="en-US"/>
          </a:p>
        </p:txBody>
      </p:sp>
    </p:spTree>
    <p:extLst>
      <p:ext uri="{BB962C8B-B14F-4D97-AF65-F5344CB8AC3E}">
        <p14:creationId xmlns:p14="http://schemas.microsoft.com/office/powerpoint/2010/main" val="34581822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8" y="0"/>
            <a:ext cx="3043942" cy="464523"/>
          </a:xfrm>
          <a:prstGeom prst="rect">
            <a:avLst/>
          </a:prstGeom>
          <a:noFill/>
          <a:ln>
            <a:noFill/>
          </a:ln>
          <a:effectLst/>
        </p:spPr>
        <p:txBody>
          <a:bodyPr vert="horz" wrap="square" lIns="93441" tIns="46717" rIns="93441" bIns="46717" numCol="1" anchor="t" anchorCtr="0" compatLnSpc="1">
            <a:prstTxWarp prst="textNoShape">
              <a:avLst/>
            </a:prstTxWarp>
          </a:bodyPr>
          <a:lstStyle>
            <a:lvl1pPr algn="l" defTabSz="935038" eaLnBrk="1" hangingPunct="1">
              <a:spcBef>
                <a:spcPct val="0"/>
              </a:spcBef>
              <a:defRPr sz="1200" b="0">
                <a:latin typeface="Times New Roman" pitchFamily="18" charset="0"/>
                <a:ea typeface="華康簡楷" charset="-120"/>
                <a:cs typeface="+mn-cs"/>
              </a:defRPr>
            </a:lvl1pPr>
          </a:lstStyle>
          <a:p>
            <a:pPr>
              <a:defRPr/>
            </a:pPr>
            <a:endParaRPr lang="zh-TW" altLang="zh-TW"/>
          </a:p>
        </p:txBody>
      </p:sp>
      <p:sp>
        <p:nvSpPr>
          <p:cNvPr id="9219" name="Rectangle 3"/>
          <p:cNvSpPr>
            <a:spLocks noGrp="1" noChangeArrowheads="1"/>
          </p:cNvSpPr>
          <p:nvPr>
            <p:ph type="dt" idx="1"/>
          </p:nvPr>
        </p:nvSpPr>
        <p:spPr bwMode="auto">
          <a:xfrm>
            <a:off x="3972809" y="0"/>
            <a:ext cx="3043941" cy="464523"/>
          </a:xfrm>
          <a:prstGeom prst="rect">
            <a:avLst/>
          </a:prstGeom>
          <a:noFill/>
          <a:ln>
            <a:noFill/>
          </a:ln>
          <a:effectLst/>
        </p:spPr>
        <p:txBody>
          <a:bodyPr vert="horz" wrap="square" lIns="93441" tIns="46717" rIns="93441" bIns="46717" numCol="1" anchor="t" anchorCtr="0" compatLnSpc="1">
            <a:prstTxWarp prst="textNoShape">
              <a:avLst/>
            </a:prstTxWarp>
          </a:bodyPr>
          <a:lstStyle>
            <a:lvl1pPr algn="r" defTabSz="935038" eaLnBrk="1" hangingPunct="1">
              <a:spcBef>
                <a:spcPct val="0"/>
              </a:spcBef>
              <a:defRPr sz="1200" b="0">
                <a:latin typeface="Times New Roman" pitchFamily="18" charset="0"/>
                <a:ea typeface="華康簡楷" charset="-120"/>
                <a:cs typeface="+mn-cs"/>
              </a:defRPr>
            </a:lvl1pPr>
          </a:lstStyle>
          <a:p>
            <a:pPr>
              <a:defRPr/>
            </a:pPr>
            <a:endParaRPr lang="zh-TW" altLang="zh-TW"/>
          </a:p>
        </p:txBody>
      </p:sp>
      <p:sp>
        <p:nvSpPr>
          <p:cNvPr id="64516" name="Rectangle 4"/>
          <p:cNvSpPr>
            <a:spLocks noGrp="1" noRot="1" noChangeAspect="1" noChangeArrowheads="1" noTextEdit="1"/>
          </p:cNvSpPr>
          <p:nvPr>
            <p:ph type="sldImg" idx="2"/>
          </p:nvPr>
        </p:nvSpPr>
        <p:spPr bwMode="auto">
          <a:xfrm>
            <a:off x="1223963" y="682625"/>
            <a:ext cx="4657725" cy="3494088"/>
          </a:xfrm>
          <a:prstGeom prst="rect">
            <a:avLst/>
          </a:prstGeom>
          <a:noFill/>
          <a:ln w="9525">
            <a:solidFill>
              <a:srgbClr val="000000"/>
            </a:solidFill>
            <a:miter lim="800000"/>
            <a:headEnd/>
            <a:tailEnd/>
          </a:ln>
        </p:spPr>
      </p:sp>
      <p:sp>
        <p:nvSpPr>
          <p:cNvPr id="9221" name="Rectangle 5"/>
          <p:cNvSpPr>
            <a:spLocks noGrp="1" noChangeArrowheads="1"/>
          </p:cNvSpPr>
          <p:nvPr>
            <p:ph type="body" sz="quarter" idx="3"/>
          </p:nvPr>
        </p:nvSpPr>
        <p:spPr bwMode="auto">
          <a:xfrm>
            <a:off x="934960" y="4419115"/>
            <a:ext cx="5146834" cy="4188390"/>
          </a:xfrm>
          <a:prstGeom prst="rect">
            <a:avLst/>
          </a:prstGeom>
          <a:noFill/>
          <a:ln w="3175">
            <a:solidFill>
              <a:schemeClr val="tx1"/>
            </a:solidFill>
            <a:miter lim="800000"/>
            <a:headEnd/>
            <a:tailEnd/>
          </a:ln>
          <a:effectLst/>
        </p:spPr>
        <p:txBody>
          <a:bodyPr vert="horz" wrap="square" lIns="93441" tIns="46717" rIns="93441" bIns="46717" numCol="1" anchor="t" anchorCtr="0" compatLnSpc="1">
            <a:prstTxWarp prst="textNoShape">
              <a:avLst/>
            </a:prstTxWarp>
          </a:bodyPr>
          <a:lstStyle/>
          <a:p>
            <a:pPr lvl="0"/>
            <a:r>
              <a:rPr lang="en-US" altLang="zh-TW" noProof="0"/>
              <a:t>Click to edit Master text styles</a:t>
            </a:r>
          </a:p>
          <a:p>
            <a:pPr lvl="1"/>
            <a:r>
              <a:rPr lang="en-US" altLang="zh-TW" noProof="0"/>
              <a:t>Second level</a:t>
            </a:r>
          </a:p>
          <a:p>
            <a:pPr lvl="2"/>
            <a:r>
              <a:rPr lang="en-US" altLang="zh-TW" noProof="0"/>
              <a:t>Third level</a:t>
            </a:r>
          </a:p>
          <a:p>
            <a:pPr lvl="3"/>
            <a:r>
              <a:rPr lang="en-US" altLang="zh-TW" noProof="0"/>
              <a:t>Fourth level</a:t>
            </a:r>
          </a:p>
          <a:p>
            <a:pPr lvl="4"/>
            <a:r>
              <a:rPr lang="en-US" altLang="zh-TW" noProof="0"/>
              <a:t>Fifth level</a:t>
            </a:r>
          </a:p>
        </p:txBody>
      </p:sp>
      <p:sp>
        <p:nvSpPr>
          <p:cNvPr id="9222" name="Rectangle 6"/>
          <p:cNvSpPr>
            <a:spLocks noGrp="1" noChangeArrowheads="1"/>
          </p:cNvSpPr>
          <p:nvPr>
            <p:ph type="ftr" sz="quarter" idx="4"/>
          </p:nvPr>
        </p:nvSpPr>
        <p:spPr bwMode="auto">
          <a:xfrm>
            <a:off x="8" y="8838230"/>
            <a:ext cx="3043942" cy="464523"/>
          </a:xfrm>
          <a:prstGeom prst="rect">
            <a:avLst/>
          </a:prstGeom>
          <a:noFill/>
          <a:ln>
            <a:noFill/>
          </a:ln>
          <a:effectLst/>
        </p:spPr>
        <p:txBody>
          <a:bodyPr vert="horz" wrap="square" lIns="93441" tIns="46717" rIns="93441" bIns="46717" numCol="1" anchor="b" anchorCtr="0" compatLnSpc="1">
            <a:prstTxWarp prst="textNoShape">
              <a:avLst/>
            </a:prstTxWarp>
          </a:bodyPr>
          <a:lstStyle>
            <a:lvl1pPr algn="l" defTabSz="935038" eaLnBrk="1" hangingPunct="1">
              <a:spcBef>
                <a:spcPct val="0"/>
              </a:spcBef>
              <a:defRPr sz="1200" b="0">
                <a:latin typeface="Times New Roman" pitchFamily="18" charset="0"/>
                <a:ea typeface="華康簡楷" charset="-120"/>
                <a:cs typeface="+mn-cs"/>
              </a:defRPr>
            </a:lvl1pPr>
          </a:lstStyle>
          <a:p>
            <a:pPr>
              <a:defRPr/>
            </a:pPr>
            <a:endParaRPr lang="zh-TW" altLang="zh-TW"/>
          </a:p>
        </p:txBody>
      </p:sp>
      <p:sp>
        <p:nvSpPr>
          <p:cNvPr id="9223" name="Rectangle 7"/>
          <p:cNvSpPr>
            <a:spLocks noGrp="1" noChangeArrowheads="1"/>
          </p:cNvSpPr>
          <p:nvPr>
            <p:ph type="sldNum" sz="quarter" idx="5"/>
          </p:nvPr>
        </p:nvSpPr>
        <p:spPr bwMode="auto">
          <a:xfrm>
            <a:off x="3972809" y="8838230"/>
            <a:ext cx="3043941" cy="464523"/>
          </a:xfrm>
          <a:prstGeom prst="rect">
            <a:avLst/>
          </a:prstGeom>
          <a:noFill/>
          <a:ln>
            <a:noFill/>
          </a:ln>
          <a:effectLst/>
        </p:spPr>
        <p:txBody>
          <a:bodyPr vert="horz" wrap="square" lIns="93441" tIns="46717" rIns="93441" bIns="46717" numCol="1" anchor="b" anchorCtr="0" compatLnSpc="1">
            <a:prstTxWarp prst="textNoShape">
              <a:avLst/>
            </a:prstTxWarp>
          </a:bodyPr>
          <a:lstStyle>
            <a:lvl1pPr algn="r" defTabSz="935038" eaLnBrk="1" hangingPunct="1">
              <a:spcBef>
                <a:spcPct val="0"/>
              </a:spcBef>
              <a:defRPr sz="1200" b="0">
                <a:latin typeface="Times New Roman" pitchFamily="18" charset="0"/>
                <a:ea typeface="華康簡楷" charset="-120"/>
                <a:cs typeface="+mn-cs"/>
              </a:defRPr>
            </a:lvl1pPr>
          </a:lstStyle>
          <a:p>
            <a:pPr>
              <a:defRPr/>
            </a:pPr>
            <a:fld id="{8145A894-5B6D-4108-86BB-37DF76B21A3E}" type="slidenum">
              <a:rPr lang="zh-TW" altLang="en-US"/>
              <a:pPr>
                <a:defRPr/>
              </a:pPr>
              <a:t>‹#›</a:t>
            </a:fld>
            <a:endParaRPr lang="zh-TW" altLang="zh-TW"/>
          </a:p>
        </p:txBody>
      </p:sp>
    </p:spTree>
    <p:extLst>
      <p:ext uri="{BB962C8B-B14F-4D97-AF65-F5344CB8AC3E}">
        <p14:creationId xmlns:p14="http://schemas.microsoft.com/office/powerpoint/2010/main" val="42576329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Verdana" pitchFamily="34" charset="0"/>
        <a:ea typeface="華康簡楷" charset="-120"/>
        <a:cs typeface="+mn-cs"/>
      </a:defRPr>
    </a:lvl1pPr>
    <a:lvl2pPr marL="457200" algn="l" rtl="0" eaLnBrk="0" fontAlgn="base" hangingPunct="0">
      <a:spcBef>
        <a:spcPct val="30000"/>
      </a:spcBef>
      <a:spcAft>
        <a:spcPct val="0"/>
      </a:spcAft>
      <a:defRPr sz="1200" kern="1200">
        <a:solidFill>
          <a:schemeClr val="tx1"/>
        </a:solidFill>
        <a:latin typeface="Verdana" pitchFamily="34" charset="0"/>
        <a:ea typeface="華康簡楷" charset="-120"/>
        <a:cs typeface="+mn-cs"/>
      </a:defRPr>
    </a:lvl2pPr>
    <a:lvl3pPr marL="914400" algn="l" rtl="0" eaLnBrk="0" fontAlgn="base" hangingPunct="0">
      <a:spcBef>
        <a:spcPct val="30000"/>
      </a:spcBef>
      <a:spcAft>
        <a:spcPct val="0"/>
      </a:spcAft>
      <a:defRPr sz="1200" kern="1200">
        <a:solidFill>
          <a:schemeClr val="tx1"/>
        </a:solidFill>
        <a:latin typeface="Verdana" pitchFamily="34" charset="0"/>
        <a:ea typeface="華康簡楷" charset="-120"/>
        <a:cs typeface="+mn-cs"/>
      </a:defRPr>
    </a:lvl3pPr>
    <a:lvl4pPr marL="1371600" algn="l" rtl="0" eaLnBrk="0" fontAlgn="base" hangingPunct="0">
      <a:spcBef>
        <a:spcPct val="30000"/>
      </a:spcBef>
      <a:spcAft>
        <a:spcPct val="0"/>
      </a:spcAft>
      <a:defRPr sz="1200" kern="1200">
        <a:solidFill>
          <a:schemeClr val="tx1"/>
        </a:solidFill>
        <a:latin typeface="Verdana" pitchFamily="34" charset="0"/>
        <a:ea typeface="華康簡楷" charset="-120"/>
        <a:cs typeface="+mn-cs"/>
      </a:defRPr>
    </a:lvl4pPr>
    <a:lvl5pPr marL="1828800" algn="l" rtl="0" eaLnBrk="0" fontAlgn="base" hangingPunct="0">
      <a:spcBef>
        <a:spcPct val="30000"/>
      </a:spcBef>
      <a:spcAft>
        <a:spcPct val="0"/>
      </a:spcAft>
      <a:defRPr sz="1200" kern="1200">
        <a:solidFill>
          <a:schemeClr val="tx1"/>
        </a:solidFill>
        <a:latin typeface="Verdana" pitchFamily="34" charset="0"/>
        <a:ea typeface="華康簡楷"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684213" y="776288"/>
            <a:ext cx="5316537" cy="3987800"/>
          </a:xfrm>
          <a:ln/>
        </p:spPr>
      </p:sp>
      <p:sp>
        <p:nvSpPr>
          <p:cNvPr id="91139" name="Rectangle 3"/>
          <p:cNvSpPr>
            <a:spLocks noGrp="1" noChangeArrowheads="1"/>
          </p:cNvSpPr>
          <p:nvPr>
            <p:ph type="body" idx="1"/>
          </p:nvPr>
        </p:nvSpPr>
        <p:spPr>
          <a:xfrm>
            <a:off x="892445" y="5314957"/>
            <a:ext cx="4816038" cy="4628645"/>
          </a:xfrm>
          <a:noFill/>
        </p:spPr>
        <p:txBody>
          <a:bodyPr lIns="94596" tIns="47296" rIns="94596" bIns="47296"/>
          <a:lstStyle/>
          <a:p>
            <a:pPr eaLnBrk="1" hangingPunct="1"/>
            <a:endParaRPr lang="zh-TW" altLang="en-US" dirty="0">
              <a:ea typeface="華康簡楷" pitchFamily="65" charset="-120"/>
            </a:endParaRPr>
          </a:p>
          <a:p>
            <a:pPr eaLnBrk="1" hangingPunct="1"/>
            <a:endParaRPr lang="zh-TW" altLang="en-US" dirty="0">
              <a:ea typeface="華康簡楷" pitchFamily="65" charset="-120"/>
            </a:endParaRPr>
          </a:p>
        </p:txBody>
      </p:sp>
    </p:spTree>
    <p:extLst>
      <p:ext uri="{BB962C8B-B14F-4D97-AF65-F5344CB8AC3E}">
        <p14:creationId xmlns:p14="http://schemas.microsoft.com/office/powerpoint/2010/main" val="308685358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034FB9E-37B3-4BF7-AA69-8E9F9B7D7160}"/>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4414" y="2400820"/>
            <a:ext cx="9150700" cy="4541861"/>
          </a:xfrm>
          <a:prstGeom prst="rect">
            <a:avLst/>
          </a:prstGeom>
        </p:spPr>
      </p:pic>
      <p:sp>
        <p:nvSpPr>
          <p:cNvPr id="12" name="Rectangle 11">
            <a:extLst>
              <a:ext uri="{FF2B5EF4-FFF2-40B4-BE49-F238E27FC236}">
                <a16:creationId xmlns:a16="http://schemas.microsoft.com/office/drawing/2014/main" id="{2ABEBD58-316C-4BA0-95CF-56F91A24B5A3}"/>
              </a:ext>
            </a:extLst>
          </p:cNvPr>
          <p:cNvSpPr/>
          <p:nvPr userDrawn="1"/>
        </p:nvSpPr>
        <p:spPr bwMode="auto">
          <a:xfrm flipV="1">
            <a:off x="-3358" y="2097088"/>
            <a:ext cx="9150699" cy="1890938"/>
          </a:xfrm>
          <a:prstGeom prst="rect">
            <a:avLst/>
          </a:prstGeom>
          <a:gradFill>
            <a:gsLst>
              <a:gs pos="67000">
                <a:srgbClr val="FFFFFF"/>
              </a:gs>
              <a:gs pos="53000">
                <a:schemeClr val="bg1"/>
              </a:gs>
              <a:gs pos="93000">
                <a:srgbClr val="FFFFFF"/>
              </a:gs>
              <a:gs pos="100000">
                <a:srgbClr val="FFFFFF">
                  <a:alpha val="0"/>
                </a:srgbClr>
              </a:gs>
              <a:gs pos="0">
                <a:schemeClr val="bg1">
                  <a:alpha val="0"/>
                </a:schemeClr>
              </a:gs>
            </a:gsLst>
            <a:lin ang="5400000" scaled="0"/>
          </a:gradFill>
          <a:ln w="3175" cap="flat" cmpd="sng" algn="ctr">
            <a:noFill/>
            <a:prstDash val="solid"/>
            <a:round/>
            <a:headEnd type="none" w="med" len="med"/>
            <a:tailEnd type="none" w="med" len="med"/>
          </a:ln>
          <a:effectLst/>
        </p:spPr>
        <p:txBody>
          <a:bodyPr vert="horz" wrap="none" lIns="84406" tIns="42203" rIns="84406" bIns="42203" numCol="1" rtlCol="0" anchor="ctr" anchorCtr="0" compatLnSpc="1">
            <a:prstTxWarp prst="textNoShape">
              <a:avLst/>
            </a:prstTxWarp>
          </a:bodyPr>
          <a:lstStyle/>
          <a:p>
            <a:pPr marL="0" marR="0" indent="0" algn="ctr" defTabSz="844083" rtl="0" eaLnBrk="0" fontAlgn="base" latinLnBrk="0" hangingPunct="0">
              <a:lnSpc>
                <a:spcPct val="100000"/>
              </a:lnSpc>
              <a:spcBef>
                <a:spcPct val="0"/>
              </a:spcBef>
              <a:spcAft>
                <a:spcPct val="0"/>
              </a:spcAft>
              <a:buClrTx/>
              <a:buSzTx/>
              <a:buFontTx/>
              <a:buNone/>
              <a:tabLst/>
            </a:pPr>
            <a:endParaRPr kumimoji="0" lang="en-US" sz="1108" b="1" i="0" u="none" strike="noStrike" cap="none" normalizeH="0" baseline="0" dirty="0">
              <a:ln>
                <a:noFill/>
              </a:ln>
              <a:solidFill>
                <a:srgbClr val="0000FF"/>
              </a:solidFill>
              <a:effectLst/>
              <a:latin typeface="Calibri" pitchFamily="34" charset="0"/>
            </a:endParaRPr>
          </a:p>
        </p:txBody>
      </p:sp>
      <p:sp>
        <p:nvSpPr>
          <p:cNvPr id="7" name="Text Box 7"/>
          <p:cNvSpPr txBox="1">
            <a:spLocks noChangeArrowheads="1"/>
          </p:cNvSpPr>
          <p:nvPr/>
        </p:nvSpPr>
        <p:spPr bwMode="auto">
          <a:xfrm>
            <a:off x="501650" y="6270625"/>
            <a:ext cx="6705600" cy="336550"/>
          </a:xfrm>
          <a:prstGeom prst="rect">
            <a:avLst/>
          </a:prstGeom>
          <a:noFill/>
          <a:ln w="9525">
            <a:noFill/>
            <a:miter lim="800000"/>
            <a:headEnd/>
            <a:tailEnd/>
          </a:ln>
          <a:effectLst/>
        </p:spPr>
        <p:txBody>
          <a:bodyPr>
            <a:spAutoFit/>
          </a:bodyPr>
          <a:lstStyle/>
          <a:p>
            <a:pPr algn="l">
              <a:spcBef>
                <a:spcPct val="0"/>
              </a:spcBef>
            </a:pPr>
            <a:r>
              <a:rPr lang="zh-CN" altLang="en-US" sz="800" b="0">
                <a:solidFill>
                  <a:srgbClr val="000000"/>
                </a:solidFill>
                <a:latin typeface="DFKaiShu-GB5" pitchFamily="65" charset="-128"/>
                <a:ea typeface="DFKaiShu-GB5" pitchFamily="65" charset="-128"/>
                <a:cs typeface="DFKaiShu-GB5" pitchFamily="65" charset="-128"/>
              </a:rPr>
              <a:t>声明</a:t>
            </a:r>
            <a:r>
              <a:rPr lang="en-US" altLang="zh-CN" sz="800" b="0">
                <a:solidFill>
                  <a:srgbClr val="000000"/>
                </a:solidFill>
                <a:latin typeface="DFKaiShu-GB5" pitchFamily="65" charset="-128"/>
                <a:ea typeface="DFKaiShu-GB5" pitchFamily="65" charset="-128"/>
                <a:cs typeface="DFKaiShu-GB5" pitchFamily="65" charset="-128"/>
              </a:rPr>
              <a:t>-</a:t>
            </a:r>
            <a:r>
              <a:rPr lang="zh-CN" altLang="en-US" sz="800" b="0">
                <a:solidFill>
                  <a:srgbClr val="000000"/>
                </a:solidFill>
                <a:latin typeface="DFKaiShu-GB5" pitchFamily="65" charset="-128"/>
                <a:ea typeface="DFKaiShu-GB5" pitchFamily="65" charset="-128"/>
                <a:cs typeface="DFKaiShu-GB5" pitchFamily="65" charset="-128"/>
              </a:rPr>
              <a:t>本介绍所刊载之内容，只供收件人查阅，收件人必需严密保管。本介绍所刊载统计的数据均摘录于公开数据及本介绍所提供的意见均属诚恳之意见，然而我们对有关本介绍之内容并不负上任何法律责任。</a:t>
            </a:r>
            <a:endParaRPr lang="zh-TW" altLang="en-US" sz="800" b="0">
              <a:solidFill>
                <a:srgbClr val="000000"/>
              </a:solidFill>
              <a:latin typeface="DFKaiShu-GB5" pitchFamily="65" charset="-128"/>
              <a:ea typeface="DFKaiShu-GB5" pitchFamily="65" charset="-128"/>
              <a:cs typeface="DFKaiShu-GB5" pitchFamily="65" charset="-128"/>
            </a:endParaRPr>
          </a:p>
        </p:txBody>
      </p:sp>
      <p:sp>
        <p:nvSpPr>
          <p:cNvPr id="8" name="Text Box 8"/>
          <p:cNvSpPr txBox="1">
            <a:spLocks noChangeArrowheads="1"/>
          </p:cNvSpPr>
          <p:nvPr/>
        </p:nvSpPr>
        <p:spPr bwMode="auto">
          <a:xfrm>
            <a:off x="6242050" y="88902"/>
            <a:ext cx="2286000" cy="244475"/>
          </a:xfrm>
          <a:prstGeom prst="rect">
            <a:avLst/>
          </a:prstGeom>
          <a:noFill/>
          <a:ln w="9525" algn="ctr">
            <a:noFill/>
            <a:miter lim="800000"/>
            <a:headEnd/>
            <a:tailEnd/>
          </a:ln>
        </p:spPr>
        <p:txBody>
          <a:bodyPr lIns="0" tIns="0" rIns="0" bIns="0">
            <a:spAutoFit/>
          </a:bodyPr>
          <a:lstStyle/>
          <a:p>
            <a:pPr algn="r"/>
            <a:r>
              <a:rPr lang="zh-TW" altLang="en-US" i="1">
                <a:solidFill>
                  <a:srgbClr val="FF0000"/>
                </a:solidFill>
                <a:latin typeface="Arial" pitchFamily="34" charset="0"/>
                <a:ea typeface="DFKaiShu-GB5" pitchFamily="65" charset="-128"/>
                <a:cs typeface="DFKaiShu-GB5" pitchFamily="65" charset="-128"/>
              </a:rPr>
              <a:t>严格保密</a:t>
            </a:r>
          </a:p>
        </p:txBody>
      </p:sp>
      <p:pic>
        <p:nvPicPr>
          <p:cNvPr id="10" name="Picture 9">
            <a:extLst>
              <a:ext uri="{FF2B5EF4-FFF2-40B4-BE49-F238E27FC236}">
                <a16:creationId xmlns:a16="http://schemas.microsoft.com/office/drawing/2014/main" id="{91CF5539-0B3F-41D7-9516-7E8FA3182D9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 y="728459"/>
            <a:ext cx="1481504" cy="592666"/>
          </a:xfrm>
          <a:prstGeom prst="rect">
            <a:avLst/>
          </a:prstGeom>
        </p:spPr>
      </p:pic>
      <p:sp>
        <p:nvSpPr>
          <p:cNvPr id="13" name="Rectangle 2">
            <a:extLst>
              <a:ext uri="{FF2B5EF4-FFF2-40B4-BE49-F238E27FC236}">
                <a16:creationId xmlns:a16="http://schemas.microsoft.com/office/drawing/2014/main" id="{AF86BD98-C281-4988-9C1E-855C8C4C36AD}"/>
              </a:ext>
            </a:extLst>
          </p:cNvPr>
          <p:cNvSpPr txBox="1">
            <a:spLocks noChangeArrowheads="1"/>
          </p:cNvSpPr>
          <p:nvPr userDrawn="1"/>
        </p:nvSpPr>
        <p:spPr bwMode="auto">
          <a:xfrm>
            <a:off x="1234440" y="1920289"/>
            <a:ext cx="6675120" cy="492443"/>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algn="ctr" rtl="0" eaLnBrk="0" fontAlgn="base" hangingPunct="0">
              <a:lnSpc>
                <a:spcPct val="100000"/>
              </a:lnSpc>
              <a:spcBef>
                <a:spcPts val="0"/>
              </a:spcBef>
              <a:spcAft>
                <a:spcPts val="0"/>
              </a:spcAft>
              <a:tabLst>
                <a:tab pos="457200" algn="l"/>
              </a:tabLst>
              <a:defRPr sz="3200" b="1">
                <a:solidFill>
                  <a:schemeClr val="tx1"/>
                </a:solidFill>
                <a:latin typeface="+mj-lt"/>
                <a:ea typeface="+mj-ea"/>
                <a:cs typeface="Calibri" panose="020F0502020204030204" pitchFamily="34" charset="0"/>
              </a:defRPr>
            </a:lvl1pPr>
            <a:lvl2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2pPr>
            <a:lvl3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3pPr>
            <a:lvl4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4pPr>
            <a:lvl5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5pPr>
            <a:lvl6pPr marL="457200" algn="l" rtl="0" fontAlgn="base">
              <a:spcBef>
                <a:spcPct val="0"/>
              </a:spcBef>
              <a:spcAft>
                <a:spcPct val="0"/>
              </a:spcAft>
              <a:defRPr sz="2600" b="1">
                <a:solidFill>
                  <a:schemeClr val="tx1"/>
                </a:solidFill>
                <a:latin typeface="Arial" charset="0"/>
                <a:ea typeface="DFKaiShu-GB5" pitchFamily="65" charset="-128"/>
                <a:cs typeface="Arial" charset="0"/>
              </a:defRPr>
            </a:lvl6pPr>
            <a:lvl7pPr marL="914400" algn="l" rtl="0" fontAlgn="base">
              <a:spcBef>
                <a:spcPct val="0"/>
              </a:spcBef>
              <a:spcAft>
                <a:spcPct val="0"/>
              </a:spcAft>
              <a:defRPr sz="2600" b="1">
                <a:solidFill>
                  <a:schemeClr val="tx1"/>
                </a:solidFill>
                <a:latin typeface="Arial" charset="0"/>
                <a:ea typeface="DFKaiShu-GB5" pitchFamily="65" charset="-128"/>
                <a:cs typeface="Arial" charset="0"/>
              </a:defRPr>
            </a:lvl7pPr>
            <a:lvl8pPr marL="1371600" algn="l" rtl="0" fontAlgn="base">
              <a:spcBef>
                <a:spcPct val="0"/>
              </a:spcBef>
              <a:spcAft>
                <a:spcPct val="0"/>
              </a:spcAft>
              <a:defRPr sz="2600" b="1">
                <a:solidFill>
                  <a:schemeClr val="tx1"/>
                </a:solidFill>
                <a:latin typeface="Arial" charset="0"/>
                <a:ea typeface="DFKaiShu-GB5" pitchFamily="65" charset="-128"/>
                <a:cs typeface="Arial" charset="0"/>
              </a:defRPr>
            </a:lvl8pPr>
            <a:lvl9pPr marL="1828800" algn="l" rtl="0" fontAlgn="base">
              <a:spcBef>
                <a:spcPct val="0"/>
              </a:spcBef>
              <a:spcAft>
                <a:spcPct val="0"/>
              </a:spcAft>
              <a:defRPr sz="2600" b="1">
                <a:solidFill>
                  <a:schemeClr val="tx1"/>
                </a:solidFill>
                <a:latin typeface="Arial" charset="0"/>
                <a:ea typeface="DFKaiShu-GB5" pitchFamily="65" charset="-128"/>
                <a:cs typeface="Arial" charset="0"/>
              </a:defRPr>
            </a:lvl9pPr>
          </a:lstStyle>
          <a:p>
            <a:r>
              <a:rPr lang="zh-CN" altLang="en-US" kern="0" dirty="0"/>
              <a:t>香港房地产信托</a:t>
            </a:r>
            <a:endParaRPr lang="en-GB" altLang="en-US" kern="0" dirty="0"/>
          </a:p>
        </p:txBody>
      </p:sp>
      <p:sp>
        <p:nvSpPr>
          <p:cNvPr id="14" name="Rectangle 16">
            <a:extLst>
              <a:ext uri="{FF2B5EF4-FFF2-40B4-BE49-F238E27FC236}">
                <a16:creationId xmlns:a16="http://schemas.microsoft.com/office/drawing/2014/main" id="{B862ED00-BD75-4F6B-90FA-0C5BA831299D}"/>
              </a:ext>
            </a:extLst>
          </p:cNvPr>
          <p:cNvSpPr txBox="1">
            <a:spLocks noChangeArrowheads="1"/>
          </p:cNvSpPr>
          <p:nvPr userDrawn="1"/>
        </p:nvSpPr>
        <p:spPr bwMode="auto">
          <a:xfrm>
            <a:off x="1234440" y="2491211"/>
            <a:ext cx="6675120" cy="369332"/>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txBody>
          <a:bodyPr vert="horz" wrap="square" lIns="0" tIns="0" rIns="0" bIns="0" numCol="1" anchor="t" anchorCtr="0" compatLnSpc="1">
            <a:prstTxWarp prst="textNoShape">
              <a:avLst/>
            </a:prstTxWarp>
            <a:spAutoFit/>
          </a:bodyPr>
          <a:lstStyle>
            <a:lvl1pPr marL="0" indent="0" algn="ctr" rtl="0" eaLnBrk="0" fontAlgn="base" hangingPunct="0">
              <a:lnSpc>
                <a:spcPct val="100000"/>
              </a:lnSpc>
              <a:spcBef>
                <a:spcPts val="0"/>
              </a:spcBef>
              <a:spcAft>
                <a:spcPts val="0"/>
              </a:spcAft>
              <a:buClr>
                <a:srgbClr val="BE050A"/>
              </a:buClr>
              <a:buFont typeface="Wingdings" panose="05000000000000000000" pitchFamily="2" charset="2"/>
              <a:buNone/>
              <a:defRPr sz="2400" b="1">
                <a:solidFill>
                  <a:schemeClr val="tx1"/>
                </a:solidFill>
                <a:latin typeface="+mj-lt"/>
                <a:ea typeface="+mn-ea"/>
                <a:cs typeface="Calibri" panose="020F0502020204030204" pitchFamily="34" charset="0"/>
              </a:defRPr>
            </a:lvl1pPr>
            <a:lvl2pPr marL="684213" indent="-285750" algn="l" rtl="0" eaLnBrk="0" fontAlgn="base" hangingPunct="0">
              <a:spcBef>
                <a:spcPts val="200"/>
              </a:spcBef>
              <a:spcAft>
                <a:spcPts val="200"/>
              </a:spcAft>
              <a:buClr>
                <a:srgbClr val="626262"/>
              </a:buClr>
              <a:buFont typeface="Wingdings" pitchFamily="2" charset="2"/>
              <a:buChar char="u"/>
              <a:defRPr sz="1500">
                <a:solidFill>
                  <a:schemeClr val="tx1"/>
                </a:solidFill>
                <a:latin typeface="+mn-lt"/>
                <a:ea typeface="+mn-ea"/>
                <a:cs typeface="+mn-cs"/>
              </a:defRPr>
            </a:lvl2pPr>
            <a:lvl3pPr marL="1068388" indent="-269875" algn="l" rtl="0" eaLnBrk="0" fontAlgn="base" hangingPunct="0">
              <a:spcBef>
                <a:spcPts val="200"/>
              </a:spcBef>
              <a:spcAft>
                <a:spcPts val="200"/>
              </a:spcAft>
              <a:buFont typeface="Arial" pitchFamily="34" charset="0"/>
              <a:buChar char="—"/>
              <a:defRPr sz="1500">
                <a:solidFill>
                  <a:schemeClr val="tx1"/>
                </a:solidFill>
                <a:latin typeface="+mn-lt"/>
                <a:ea typeface="+mn-ea"/>
                <a:cs typeface="+mn-cs"/>
              </a:defRPr>
            </a:lvl3pPr>
            <a:lvl4pPr marL="1484313" indent="-301625" algn="l" rtl="0" eaLnBrk="0" fontAlgn="base" hangingPunct="0">
              <a:spcBef>
                <a:spcPts val="200"/>
              </a:spcBef>
              <a:spcAft>
                <a:spcPts val="200"/>
              </a:spcAft>
              <a:buChar char="–"/>
              <a:defRPr sz="1500">
                <a:solidFill>
                  <a:schemeClr val="tx1"/>
                </a:solidFill>
                <a:latin typeface="+mn-lt"/>
                <a:ea typeface="+mn-ea"/>
                <a:cs typeface="+mn-cs"/>
              </a:defRPr>
            </a:lvl4pPr>
            <a:lvl5pPr marL="1827213" indent="-228600" algn="l" rtl="0" eaLnBrk="0" fontAlgn="base" hangingPunct="0">
              <a:spcBef>
                <a:spcPts val="200"/>
              </a:spcBef>
              <a:spcAft>
                <a:spcPts val="200"/>
              </a:spcAft>
              <a:buChar char="»"/>
              <a:defRPr sz="1500">
                <a:solidFill>
                  <a:schemeClr val="tx1"/>
                </a:solidFill>
                <a:latin typeface="+mn-lt"/>
                <a:ea typeface="+mn-ea"/>
                <a:cs typeface="+mn-cs"/>
              </a:defRPr>
            </a:lvl5pPr>
            <a:lvl6pPr marL="2284413" indent="-228600" algn="l" rtl="0" fontAlgn="base">
              <a:spcBef>
                <a:spcPct val="0"/>
              </a:spcBef>
              <a:spcAft>
                <a:spcPct val="30000"/>
              </a:spcAft>
              <a:buChar char="»"/>
              <a:defRPr sz="1500">
                <a:solidFill>
                  <a:schemeClr val="tx1"/>
                </a:solidFill>
                <a:latin typeface="+mn-lt"/>
                <a:ea typeface="+mn-ea"/>
                <a:cs typeface="+mn-cs"/>
              </a:defRPr>
            </a:lvl6pPr>
            <a:lvl7pPr marL="2741613" indent="-228600" algn="l" rtl="0" fontAlgn="base">
              <a:spcBef>
                <a:spcPct val="0"/>
              </a:spcBef>
              <a:spcAft>
                <a:spcPct val="30000"/>
              </a:spcAft>
              <a:buChar char="»"/>
              <a:defRPr sz="1500">
                <a:solidFill>
                  <a:schemeClr val="tx1"/>
                </a:solidFill>
                <a:latin typeface="+mn-lt"/>
                <a:ea typeface="+mn-ea"/>
                <a:cs typeface="+mn-cs"/>
              </a:defRPr>
            </a:lvl7pPr>
            <a:lvl8pPr marL="3198813" indent="-228600" algn="l" rtl="0" fontAlgn="base">
              <a:spcBef>
                <a:spcPct val="0"/>
              </a:spcBef>
              <a:spcAft>
                <a:spcPct val="30000"/>
              </a:spcAft>
              <a:buChar char="»"/>
              <a:defRPr sz="1500">
                <a:solidFill>
                  <a:schemeClr val="tx1"/>
                </a:solidFill>
                <a:latin typeface="+mn-lt"/>
                <a:ea typeface="+mn-ea"/>
                <a:cs typeface="+mn-cs"/>
              </a:defRPr>
            </a:lvl8pPr>
            <a:lvl9pPr marL="3656013" indent="-228600" algn="l" rtl="0" fontAlgn="base">
              <a:spcBef>
                <a:spcPct val="0"/>
              </a:spcBef>
              <a:spcAft>
                <a:spcPct val="30000"/>
              </a:spcAft>
              <a:buChar char="»"/>
              <a:defRPr sz="1500">
                <a:solidFill>
                  <a:schemeClr val="tx1"/>
                </a:solidFill>
                <a:latin typeface="+mn-lt"/>
                <a:ea typeface="+mn-ea"/>
                <a:cs typeface="+mn-cs"/>
              </a:defRPr>
            </a:lvl9pPr>
          </a:lstStyle>
          <a:p>
            <a:r>
              <a:rPr lang="zh-CN" altLang="en-US" kern="0" dirty="0"/>
              <a:t>业务介绍</a:t>
            </a:r>
            <a:endParaRPr lang="en-GB" altLang="en-US" kern="0" dirty="0"/>
          </a:p>
        </p:txBody>
      </p:sp>
      <p:sp>
        <p:nvSpPr>
          <p:cNvPr id="15" name="Footer Placeholder 5">
            <a:extLst>
              <a:ext uri="{FF2B5EF4-FFF2-40B4-BE49-F238E27FC236}">
                <a16:creationId xmlns:a16="http://schemas.microsoft.com/office/drawing/2014/main" id="{59438C64-D064-4C0E-9589-644F085653FC}"/>
              </a:ext>
            </a:extLst>
          </p:cNvPr>
          <p:cNvSpPr>
            <a:spLocks noGrp="1"/>
          </p:cNvSpPr>
          <p:nvPr>
            <p:ph type="ftr" sz="quarter" idx="10"/>
          </p:nvPr>
        </p:nvSpPr>
        <p:spPr>
          <a:xfrm>
            <a:off x="7184082" y="6291265"/>
            <a:ext cx="1883718" cy="365125"/>
          </a:xfrm>
          <a:prstGeom prst="rect">
            <a:avLst/>
          </a:prstGeom>
        </p:spPr>
        <p:txBody>
          <a:bodyPr/>
          <a:lstStyle>
            <a:lvl1pPr algn="ctr">
              <a:defRPr sz="738" b="1">
                <a:solidFill>
                  <a:schemeClr val="bg1"/>
                </a:solidFill>
                <a:latin typeface="+mj-lt"/>
                <a:cs typeface="Calibri" panose="020F0502020204030204" pitchFamily="34" charset="0"/>
              </a:defRPr>
            </a:lvl1pPr>
          </a:lstStyle>
          <a:p>
            <a:pPr>
              <a:defRPr/>
            </a:pPr>
            <a:endParaRPr lang="en-SG" dirty="0"/>
          </a:p>
        </p:txBody>
      </p:sp>
      <p:sp>
        <p:nvSpPr>
          <p:cNvPr id="16" name="Text Placeholder 2">
            <a:extLst>
              <a:ext uri="{FF2B5EF4-FFF2-40B4-BE49-F238E27FC236}">
                <a16:creationId xmlns:a16="http://schemas.microsoft.com/office/drawing/2014/main" id="{EDC3C5A4-6B19-4C09-B937-EE3E07EB5BA3}"/>
              </a:ext>
            </a:extLst>
          </p:cNvPr>
          <p:cNvSpPr>
            <a:spLocks noGrp="1"/>
          </p:cNvSpPr>
          <p:nvPr>
            <p:ph type="body" sz="quarter" idx="11" hasCustomPrompt="1"/>
          </p:nvPr>
        </p:nvSpPr>
        <p:spPr>
          <a:xfrm>
            <a:off x="1234440" y="2958304"/>
            <a:ext cx="6675120" cy="276999"/>
          </a:xfrm>
          <a:prstGeom prst="rect">
            <a:avLst/>
          </a:prstGeom>
        </p:spPr>
        <p:txBody>
          <a:bodyPr>
            <a:spAutoFit/>
          </a:bodyPr>
          <a:lstStyle>
            <a:lvl1pPr marL="0" indent="0" algn="ctr">
              <a:lnSpc>
                <a:spcPct val="100000"/>
              </a:lnSpc>
              <a:spcBef>
                <a:spcPts val="0"/>
              </a:spcBef>
              <a:spcAft>
                <a:spcPts val="0"/>
              </a:spcAft>
              <a:buNone/>
              <a:defRPr sz="1200" b="1"/>
            </a:lvl1pPr>
            <a:lvl2pPr marL="342909" indent="0">
              <a:buNone/>
              <a:defRPr/>
            </a:lvl2pPr>
            <a:lvl3pPr marL="685817" indent="0">
              <a:buNone/>
              <a:defRPr/>
            </a:lvl3pPr>
            <a:lvl4pPr marL="1028726" indent="0">
              <a:buNone/>
              <a:defRPr/>
            </a:lvl4pPr>
            <a:lvl5pPr marL="1371634" indent="0">
              <a:buNone/>
              <a:defRPr/>
            </a:lvl5pPr>
          </a:lstStyle>
          <a:p>
            <a:pPr lvl="0"/>
            <a:r>
              <a:rPr lang="en-US" dirty="0"/>
              <a:t>2022</a:t>
            </a:r>
            <a:r>
              <a:rPr lang="zh-CN" altLang="en-US" dirty="0"/>
              <a:t>年</a:t>
            </a:r>
            <a:r>
              <a:rPr lang="en-US" altLang="zh-CN" dirty="0"/>
              <a:t>5</a:t>
            </a:r>
            <a:r>
              <a:rPr lang="zh-CN" altLang="en-US" dirty="0"/>
              <a:t>月</a:t>
            </a:r>
            <a:endParaRPr lang="en-US" dirty="0"/>
          </a:p>
        </p:txBody>
      </p:sp>
      <p:grpSp>
        <p:nvGrpSpPr>
          <p:cNvPr id="17" name="Group 16">
            <a:extLst>
              <a:ext uri="{FF2B5EF4-FFF2-40B4-BE49-F238E27FC236}">
                <a16:creationId xmlns:a16="http://schemas.microsoft.com/office/drawing/2014/main" id="{9D82C786-C585-426F-BFF7-83E76DFBEBF7}"/>
              </a:ext>
            </a:extLst>
          </p:cNvPr>
          <p:cNvGrpSpPr/>
          <p:nvPr userDrawn="1"/>
        </p:nvGrpSpPr>
        <p:grpSpPr>
          <a:xfrm>
            <a:off x="5767151" y="3220801"/>
            <a:ext cx="3387410" cy="3651885"/>
            <a:chOff x="6247747" y="2666366"/>
            <a:chExt cx="3669694" cy="3651885"/>
          </a:xfrm>
        </p:grpSpPr>
        <p:sp>
          <p:nvSpPr>
            <p:cNvPr id="18" name="Freeform 9">
              <a:extLst>
                <a:ext uri="{FF2B5EF4-FFF2-40B4-BE49-F238E27FC236}">
                  <a16:creationId xmlns:a16="http://schemas.microsoft.com/office/drawing/2014/main" id="{8E1BF8FB-B91E-4D99-ABDC-E254EA793EB7}"/>
                </a:ext>
              </a:extLst>
            </p:cNvPr>
            <p:cNvSpPr/>
            <p:nvPr userDrawn="1"/>
          </p:nvSpPr>
          <p:spPr>
            <a:xfrm>
              <a:off x="6697980" y="2666366"/>
              <a:ext cx="3219461" cy="3651885"/>
            </a:xfrm>
            <a:custGeom>
              <a:avLst/>
              <a:gdLst>
                <a:gd name="connsiteX0" fmla="*/ 3211209 w 3219461"/>
                <a:gd name="connsiteY0" fmla="*/ 0 h 3651885"/>
                <a:gd name="connsiteX1" fmla="*/ 3219461 w 3219461"/>
                <a:gd name="connsiteY1" fmla="*/ 3651885 h 3651885"/>
                <a:gd name="connsiteX2" fmla="*/ 856413 w 3219461"/>
                <a:gd name="connsiteY2" fmla="*/ 3651885 h 3651885"/>
                <a:gd name="connsiteX3" fmla="*/ 0 w 3219461"/>
                <a:gd name="connsiteY3" fmla="*/ 1486535 h 3651885"/>
              </a:gdLst>
              <a:ahLst/>
              <a:cxnLst>
                <a:cxn ang="0">
                  <a:pos x="connsiteX0" y="connsiteY0"/>
                </a:cxn>
                <a:cxn ang="0">
                  <a:pos x="connsiteX1" y="connsiteY1"/>
                </a:cxn>
                <a:cxn ang="0">
                  <a:pos x="connsiteX2" y="connsiteY2"/>
                </a:cxn>
                <a:cxn ang="0">
                  <a:pos x="connsiteX3" y="connsiteY3"/>
                </a:cxn>
              </a:cxnLst>
              <a:rect l="l" t="t" r="r" b="b"/>
              <a:pathLst>
                <a:path w="3219461" h="3651885">
                  <a:moveTo>
                    <a:pt x="3211209" y="0"/>
                  </a:moveTo>
                  <a:lnTo>
                    <a:pt x="3219461" y="3651885"/>
                  </a:lnTo>
                  <a:lnTo>
                    <a:pt x="856413" y="3651885"/>
                  </a:lnTo>
                  <a:lnTo>
                    <a:pt x="0" y="1486535"/>
                  </a:lnTo>
                  <a:close/>
                </a:path>
              </a:pathLst>
            </a:cu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dirty="0">
                <a:ln>
                  <a:noFill/>
                </a:ln>
                <a:solidFill>
                  <a:prstClr val="white"/>
                </a:solidFill>
                <a:effectLst/>
                <a:uLnTx/>
                <a:uFillTx/>
                <a:latin typeface="Arial"/>
                <a:ea typeface="+mn-ea"/>
                <a:cs typeface="+mn-cs"/>
              </a:endParaRPr>
            </a:p>
          </p:txBody>
        </p:sp>
        <p:sp>
          <p:nvSpPr>
            <p:cNvPr id="19" name="Freeform 9">
              <a:extLst>
                <a:ext uri="{FF2B5EF4-FFF2-40B4-BE49-F238E27FC236}">
                  <a16:creationId xmlns:a16="http://schemas.microsoft.com/office/drawing/2014/main" id="{4AD37F74-3033-41B8-8D37-C4D329758034}"/>
                </a:ext>
              </a:extLst>
            </p:cNvPr>
            <p:cNvSpPr>
              <a:spLocks/>
            </p:cNvSpPr>
            <p:nvPr userDrawn="1"/>
          </p:nvSpPr>
          <p:spPr bwMode="auto">
            <a:xfrm rot="5400000">
              <a:off x="6413515" y="3402068"/>
              <a:ext cx="1383616" cy="1715151"/>
            </a:xfrm>
            <a:custGeom>
              <a:avLst/>
              <a:gdLst>
                <a:gd name="T0" fmla="*/ 15 w 138"/>
                <a:gd name="T1" fmla="*/ 152 h 176"/>
                <a:gd name="T2" fmla="*/ 48 w 138"/>
                <a:gd name="T3" fmla="*/ 140 h 176"/>
                <a:gd name="T4" fmla="*/ 56 w 138"/>
                <a:gd name="T5" fmla="*/ 140 h 176"/>
                <a:gd name="T6" fmla="*/ 62 w 138"/>
                <a:gd name="T7" fmla="*/ 146 h 176"/>
                <a:gd name="T8" fmla="*/ 79 w 138"/>
                <a:gd name="T9" fmla="*/ 176 h 176"/>
                <a:gd name="T10" fmla="*/ 79 w 138"/>
                <a:gd name="T11" fmla="*/ 176 h 176"/>
                <a:gd name="T12" fmla="*/ 67 w 138"/>
                <a:gd name="T13" fmla="*/ 143 h 176"/>
                <a:gd name="T14" fmla="*/ 67 w 138"/>
                <a:gd name="T15" fmla="*/ 135 h 176"/>
                <a:gd name="T16" fmla="*/ 73 w 138"/>
                <a:gd name="T17" fmla="*/ 129 h 176"/>
                <a:gd name="T18" fmla="*/ 138 w 138"/>
                <a:gd name="T19" fmla="*/ 97 h 176"/>
                <a:gd name="T20" fmla="*/ 138 w 138"/>
                <a:gd name="T21" fmla="*/ 97 h 176"/>
                <a:gd name="T22" fmla="*/ 70 w 138"/>
                <a:gd name="T23" fmla="*/ 124 h 176"/>
                <a:gd name="T24" fmla="*/ 62 w 138"/>
                <a:gd name="T25" fmla="*/ 124 h 176"/>
                <a:gd name="T26" fmla="*/ 56 w 138"/>
                <a:gd name="T27" fmla="*/ 118 h 176"/>
                <a:gd name="T28" fmla="*/ 0 w 138"/>
                <a:gd name="T29" fmla="*/ 0 h 176"/>
                <a:gd name="T30" fmla="*/ 0 w 138"/>
                <a:gd name="T31" fmla="*/ 0 h 176"/>
                <a:gd name="T32" fmla="*/ 51 w 138"/>
                <a:gd name="T33" fmla="*/ 121 h 176"/>
                <a:gd name="T34" fmla="*/ 51 w 138"/>
                <a:gd name="T35" fmla="*/ 129 h 176"/>
                <a:gd name="T36" fmla="*/ 45 w 138"/>
                <a:gd name="T37" fmla="*/ 135 h 176"/>
                <a:gd name="T38" fmla="*/ 15 w 138"/>
                <a:gd name="T39" fmla="*/ 152 h 176"/>
                <a:gd name="T40" fmla="*/ 15 w 138"/>
                <a:gd name="T41" fmla="*/ 15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8" h="176">
                  <a:moveTo>
                    <a:pt x="15" y="152"/>
                  </a:moveTo>
                  <a:cubicBezTo>
                    <a:pt x="48" y="140"/>
                    <a:pt x="48" y="140"/>
                    <a:pt x="48" y="140"/>
                  </a:cubicBezTo>
                  <a:cubicBezTo>
                    <a:pt x="48" y="140"/>
                    <a:pt x="52" y="138"/>
                    <a:pt x="56" y="140"/>
                  </a:cubicBezTo>
                  <a:cubicBezTo>
                    <a:pt x="60" y="141"/>
                    <a:pt x="62" y="146"/>
                    <a:pt x="62" y="146"/>
                  </a:cubicBezTo>
                  <a:cubicBezTo>
                    <a:pt x="79" y="176"/>
                    <a:pt x="79" y="176"/>
                    <a:pt x="79" y="176"/>
                  </a:cubicBezTo>
                  <a:cubicBezTo>
                    <a:pt x="79" y="176"/>
                    <a:pt x="79" y="176"/>
                    <a:pt x="79" y="176"/>
                  </a:cubicBezTo>
                  <a:cubicBezTo>
                    <a:pt x="67" y="143"/>
                    <a:pt x="67" y="143"/>
                    <a:pt x="67" y="143"/>
                  </a:cubicBezTo>
                  <a:cubicBezTo>
                    <a:pt x="67" y="143"/>
                    <a:pt x="66" y="139"/>
                    <a:pt x="67" y="135"/>
                  </a:cubicBezTo>
                  <a:cubicBezTo>
                    <a:pt x="68" y="131"/>
                    <a:pt x="73" y="129"/>
                    <a:pt x="73" y="129"/>
                  </a:cubicBezTo>
                  <a:cubicBezTo>
                    <a:pt x="138" y="97"/>
                    <a:pt x="138" y="97"/>
                    <a:pt x="138" y="97"/>
                  </a:cubicBezTo>
                  <a:cubicBezTo>
                    <a:pt x="138" y="97"/>
                    <a:pt x="138" y="97"/>
                    <a:pt x="138" y="97"/>
                  </a:cubicBezTo>
                  <a:cubicBezTo>
                    <a:pt x="70" y="124"/>
                    <a:pt x="70" y="124"/>
                    <a:pt x="70" y="124"/>
                  </a:cubicBezTo>
                  <a:cubicBezTo>
                    <a:pt x="70" y="124"/>
                    <a:pt x="66" y="126"/>
                    <a:pt x="62" y="124"/>
                  </a:cubicBezTo>
                  <a:cubicBezTo>
                    <a:pt x="58" y="123"/>
                    <a:pt x="56" y="118"/>
                    <a:pt x="56" y="118"/>
                  </a:cubicBezTo>
                  <a:cubicBezTo>
                    <a:pt x="0" y="0"/>
                    <a:pt x="0" y="0"/>
                    <a:pt x="0" y="0"/>
                  </a:cubicBezTo>
                  <a:cubicBezTo>
                    <a:pt x="0" y="0"/>
                    <a:pt x="0" y="0"/>
                    <a:pt x="0" y="0"/>
                  </a:cubicBezTo>
                  <a:cubicBezTo>
                    <a:pt x="51" y="121"/>
                    <a:pt x="51" y="121"/>
                    <a:pt x="51" y="121"/>
                  </a:cubicBezTo>
                  <a:cubicBezTo>
                    <a:pt x="51" y="121"/>
                    <a:pt x="53" y="125"/>
                    <a:pt x="51" y="129"/>
                  </a:cubicBezTo>
                  <a:cubicBezTo>
                    <a:pt x="50" y="133"/>
                    <a:pt x="45" y="135"/>
                    <a:pt x="45" y="135"/>
                  </a:cubicBezTo>
                  <a:cubicBezTo>
                    <a:pt x="15" y="152"/>
                    <a:pt x="15" y="152"/>
                    <a:pt x="15" y="152"/>
                  </a:cubicBezTo>
                  <a:cubicBezTo>
                    <a:pt x="15" y="152"/>
                    <a:pt x="15" y="152"/>
                    <a:pt x="15" y="152"/>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844083"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dirty="0">
                <a:ln>
                  <a:noFill/>
                </a:ln>
                <a:solidFill>
                  <a:prstClr val="black"/>
                </a:solidFill>
                <a:effectLst/>
                <a:uLnTx/>
                <a:uFillTx/>
                <a:latin typeface="Arial"/>
                <a:ea typeface="+mn-ea"/>
                <a:cs typeface="+mn-c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b="0"/>
            </a:lvl1pPr>
          </a:lstStyle>
          <a:p>
            <a:pPr>
              <a:defRPr/>
            </a:pPr>
            <a:fld id="{8795C5C0-7116-4AAA-B0BC-FF75AF793D81}" type="slidenum">
              <a:rPr lang="en-US" altLang="en-US" smtClean="0">
                <a:solidFill>
                  <a:srgbClr val="000000"/>
                </a:solidFill>
              </a:rPr>
              <a:pPr>
                <a:defRPr/>
              </a:pPr>
              <a:t>‹#›</a:t>
            </a:fld>
            <a:endParaRPr lang="en-US" altLang="en-US" dirty="0">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61988" y="407894"/>
            <a:ext cx="7840662" cy="577850"/>
          </a:xfrm>
        </p:spPr>
        <p:txBody>
          <a:bodyPr/>
          <a:lstStyle/>
          <a:p>
            <a:r>
              <a:rPr lang="en-US" dirty="0"/>
              <a:t>Click to edit Master title style</a:t>
            </a:r>
          </a:p>
        </p:txBody>
      </p:sp>
      <p:sp>
        <p:nvSpPr>
          <p:cNvPr id="3" name="Rectangle 4"/>
          <p:cNvSpPr>
            <a:spLocks noGrp="1" noChangeArrowheads="1"/>
          </p:cNvSpPr>
          <p:nvPr>
            <p:ph type="sldNum" sz="quarter" idx="10"/>
          </p:nvPr>
        </p:nvSpPr>
        <p:spPr>
          <a:ln/>
        </p:spPr>
        <p:txBody>
          <a:bodyPr/>
          <a:lstStyle>
            <a:lvl1pPr>
              <a:defRPr b="0"/>
            </a:lvl1pPr>
          </a:lstStyle>
          <a:p>
            <a:pPr>
              <a:defRPr/>
            </a:pPr>
            <a:fld id="{BFD2DB3C-12D9-42DA-A5B5-E77AE444DFAC}" type="slidenum">
              <a:rPr lang="en-US" altLang="en-US" smtClean="0">
                <a:solidFill>
                  <a:srgbClr val="000000"/>
                </a:solidFill>
              </a:rPr>
              <a:pPr>
                <a:defRPr/>
              </a:pPr>
              <a:t>‹#›</a:t>
            </a:fld>
            <a:endParaRPr lang="en-US" altLang="en-US">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3" name="Title 1"/>
          <p:cNvSpPr>
            <a:spLocks noGrp="1"/>
          </p:cNvSpPr>
          <p:nvPr>
            <p:ph type="title"/>
          </p:nvPr>
        </p:nvSpPr>
        <p:spPr>
          <a:xfrm>
            <a:off x="663575" y="528638"/>
            <a:ext cx="7843838" cy="457200"/>
          </a:xfrm>
        </p:spPr>
        <p:txBody>
          <a:bodyPr/>
          <a:lstStyle/>
          <a:p>
            <a:r>
              <a:rPr lang="en-US"/>
              <a:t>Click to edit Master title style</a:t>
            </a:r>
          </a:p>
        </p:txBody>
      </p:sp>
      <p:sp>
        <p:nvSpPr>
          <p:cNvPr id="4" name="Rectangle 45"/>
          <p:cNvSpPr>
            <a:spLocks noGrp="1" noChangeArrowheads="1"/>
          </p:cNvSpPr>
          <p:nvPr>
            <p:ph type="sldNum" sz="quarter" idx="10"/>
          </p:nvPr>
        </p:nvSpPr>
        <p:spPr>
          <a:ln/>
        </p:spPr>
        <p:txBody>
          <a:bodyPr/>
          <a:lstStyle>
            <a:lvl1pPr>
              <a:defRPr/>
            </a:lvl1pPr>
          </a:lstStyle>
          <a:p>
            <a:pPr>
              <a:defRPr/>
            </a:pPr>
            <a:fld id="{90FB4F5F-C942-40B6-AF50-16AA6C86747A}" type="slidenum">
              <a:rPr lang="en-US" altLang="en-US"/>
              <a:pPr>
                <a:defRPr/>
              </a:pPr>
              <a:t>‹#›</a:t>
            </a:fld>
            <a:endParaRPr lang="en-US" altLang="en-US"/>
          </a:p>
        </p:txBody>
      </p:sp>
    </p:spTree>
    <p:extLst>
      <p:ext uri="{BB962C8B-B14F-4D97-AF65-F5344CB8AC3E}">
        <p14:creationId xmlns:p14="http://schemas.microsoft.com/office/powerpoint/2010/main" val="3569391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9" name="Text Placeholder 22"/>
          <p:cNvSpPr>
            <a:spLocks noGrp="1"/>
          </p:cNvSpPr>
          <p:nvPr>
            <p:ph type="body" sz="quarter" idx="44" hasCustomPrompt="1"/>
          </p:nvPr>
        </p:nvSpPr>
        <p:spPr>
          <a:xfrm>
            <a:off x="417635" y="6384665"/>
            <a:ext cx="6499274" cy="85280"/>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lvl1pPr marL="0" marR="0" indent="0" algn="l" defTabSz="844083" rtl="0" eaLnBrk="1" fontAlgn="auto" latinLnBrk="0" hangingPunct="1">
              <a:lnSpc>
                <a:spcPct val="100000"/>
              </a:lnSpc>
              <a:spcBef>
                <a:spcPts val="0"/>
              </a:spcBef>
              <a:spcAft>
                <a:spcPts val="0"/>
              </a:spcAft>
              <a:buClrTx/>
              <a:buSzTx/>
              <a:buFontTx/>
              <a:buNone/>
              <a:tabLst/>
              <a:defRPr kumimoji="0" lang="en-US" sz="554" b="0" i="1" u="none" strike="noStrike" kern="1200" cap="none" spc="0" normalizeH="0" baseline="0" noProof="0">
                <a:ln>
                  <a:noFill/>
                </a:ln>
                <a:solidFill>
                  <a:schemeClr val="tx1"/>
                </a:solidFill>
                <a:effectLst/>
                <a:uLnTx/>
                <a:uFillTx/>
                <a:latin typeface="Calibri" panose="020F0502020204030204" pitchFamily="34" charset="0"/>
                <a:ea typeface="SimSun" panose="02010600030101010101" pitchFamily="2" charset="-122"/>
                <a:cs typeface="+mn-cs"/>
              </a:defRPr>
            </a:lvl1pPr>
          </a:lstStyle>
          <a:p>
            <a:pPr marL="0" marR="0" lvl="0" indent="0" algn="l" defTabSz="844083" rtl="0" eaLnBrk="1" fontAlgn="auto" latinLnBrk="0" hangingPunct="1">
              <a:lnSpc>
                <a:spcPct val="100000"/>
              </a:lnSpc>
              <a:spcBef>
                <a:spcPts val="0"/>
              </a:spcBef>
              <a:spcAft>
                <a:spcPts val="0"/>
              </a:spcAft>
              <a:buClrTx/>
              <a:buSzTx/>
              <a:buFontTx/>
              <a:buNone/>
              <a:tabLst/>
              <a:defRPr/>
            </a:pPr>
            <a:r>
              <a:rPr lang="en-US" dirty="0"/>
              <a:t>Notes/Sources:</a:t>
            </a:r>
          </a:p>
        </p:txBody>
      </p:sp>
      <p:sp>
        <p:nvSpPr>
          <p:cNvPr id="4" name="Title 1"/>
          <p:cNvSpPr>
            <a:spLocks noGrp="1"/>
          </p:cNvSpPr>
          <p:nvPr>
            <p:ph type="title"/>
          </p:nvPr>
        </p:nvSpPr>
        <p:spPr>
          <a:xfrm>
            <a:off x="417635" y="570833"/>
            <a:ext cx="8317523" cy="369332"/>
          </a:xfrm>
        </p:spPr>
        <p:txBody>
          <a:bodyPr vert="horz" wrap="square" lIns="0" tIns="0" rIns="0" bIns="0" rtlCol="0" anchor="b" anchorCtr="0">
            <a:spAutoFit/>
          </a:bodyPr>
          <a:lstStyle>
            <a:lvl1pPr>
              <a:defRPr lang="en-US" baseline="0" dirty="0">
                <a:latin typeface="Calibri" panose="020F0502020204030204" pitchFamily="34" charset="0"/>
                <a:ea typeface="SimSun" panose="02010600030101010101" pitchFamily="2" charset="-122"/>
              </a:defRPr>
            </a:lvl1pPr>
          </a:lstStyle>
          <a:p>
            <a:pPr lvl="0"/>
            <a:r>
              <a:rPr lang="en-US" dirty="0"/>
              <a:t>Click to edit Master title style</a:t>
            </a:r>
          </a:p>
        </p:txBody>
      </p:sp>
    </p:spTree>
    <p:extLst>
      <p:ext uri="{BB962C8B-B14F-4D97-AF65-F5344CB8AC3E}">
        <p14:creationId xmlns:p14="http://schemas.microsoft.com/office/powerpoint/2010/main" val="34529757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661988" y="381000"/>
            <a:ext cx="7840662" cy="577850"/>
          </a:xfrm>
          <a:prstGeom prst="rect">
            <a:avLst/>
          </a:prstGeom>
          <a:noFill/>
          <a:ln w="9525">
            <a:noFill/>
            <a:miter lim="800000"/>
            <a:headEnd/>
            <a:tailEnd/>
          </a:ln>
        </p:spPr>
        <p:txBody>
          <a:bodyPr vert="horz" wrap="square" lIns="0" tIns="45720" rIns="0" bIns="45720" numCol="1" anchor="b" anchorCtr="0" compatLnSpc="1">
            <a:prstTxWarp prst="textNoShape">
              <a:avLst/>
            </a:prstTxWarp>
          </a:bodyPr>
          <a:lstStyle/>
          <a:p>
            <a:pPr lvl="0"/>
            <a:r>
              <a:rPr lang="en-US" altLang="en-US" dirty="0"/>
              <a:t>Click to edit Master title / style</a:t>
            </a:r>
          </a:p>
        </p:txBody>
      </p:sp>
      <p:sp>
        <p:nvSpPr>
          <p:cNvPr id="6147" name="Rectangle 3"/>
          <p:cNvSpPr>
            <a:spLocks noGrp="1" noChangeArrowheads="1"/>
          </p:cNvSpPr>
          <p:nvPr>
            <p:ph type="body" idx="1"/>
          </p:nvPr>
        </p:nvSpPr>
        <p:spPr bwMode="auto">
          <a:xfrm>
            <a:off x="661988" y="1038225"/>
            <a:ext cx="7840662" cy="5060950"/>
          </a:xfrm>
          <a:prstGeom prst="rect">
            <a:avLst/>
          </a:prstGeom>
          <a:noFill/>
          <a:ln w="9525">
            <a:noFill/>
            <a:miter lim="800000"/>
            <a:headEnd/>
            <a:tailEnd/>
          </a:ln>
        </p:spPr>
        <p:txBody>
          <a:bodyPr vert="horz" wrap="square" lIns="0" tIns="45720" rIns="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a:t>Fifth level</a:t>
            </a:r>
            <a:endParaRPr lang="en-US" altLang="en-US" dirty="0"/>
          </a:p>
        </p:txBody>
      </p:sp>
      <p:sp>
        <p:nvSpPr>
          <p:cNvPr id="6148" name="Rectangle 4"/>
          <p:cNvSpPr>
            <a:spLocks noGrp="1" noChangeArrowheads="1"/>
          </p:cNvSpPr>
          <p:nvPr>
            <p:ph type="sldNum" sz="quarter" idx="4"/>
          </p:nvPr>
        </p:nvSpPr>
        <p:spPr bwMode="auto">
          <a:xfrm>
            <a:off x="7897813" y="6370638"/>
            <a:ext cx="1066800" cy="381000"/>
          </a:xfrm>
          <a:prstGeom prst="rect">
            <a:avLst/>
          </a:prstGeom>
          <a:noFill/>
          <a:ln w="9525">
            <a:noFill/>
            <a:miter lim="800000"/>
            <a:headEnd/>
            <a:tailEnd/>
          </a:ln>
          <a:effectLst/>
        </p:spPr>
        <p:txBody>
          <a:bodyPr vert="horz" wrap="none" lIns="45720" tIns="45720" rIns="45720" bIns="45720" numCol="1" anchor="ctr" anchorCtr="0" compatLnSpc="1">
            <a:prstTxWarp prst="textNoShape">
              <a:avLst/>
            </a:prstTxWarp>
          </a:bodyPr>
          <a:lstStyle>
            <a:lvl1pPr algn="r" eaLnBrk="0" hangingPunct="0">
              <a:defRPr sz="900">
                <a:latin typeface="+mn-lt"/>
                <a:ea typeface="DFKaiShu-GB5" pitchFamily="65" charset="-128"/>
                <a:cs typeface="+mn-cs"/>
              </a:defRPr>
            </a:lvl1pPr>
          </a:lstStyle>
          <a:p>
            <a:pPr>
              <a:spcBef>
                <a:spcPct val="0"/>
              </a:spcBef>
              <a:defRPr/>
            </a:pPr>
            <a:fld id="{EFB97E77-A14C-4D4A-B483-93BB0C8192BC}" type="slidenum">
              <a:rPr lang="en-US" altLang="en-US" b="0" smtClean="0">
                <a:solidFill>
                  <a:srgbClr val="000000"/>
                </a:solidFill>
              </a:rPr>
              <a:pPr>
                <a:spcBef>
                  <a:spcPct val="0"/>
                </a:spcBef>
                <a:defRPr/>
              </a:pPr>
              <a:t>‹#›</a:t>
            </a:fld>
            <a:endParaRPr lang="en-US" altLang="en-US" b="0">
              <a:solidFill>
                <a:srgbClr val="000000"/>
              </a:solidFill>
            </a:endParaRPr>
          </a:p>
        </p:txBody>
      </p:sp>
      <p:sp>
        <p:nvSpPr>
          <p:cNvPr id="1029" name="Line 5"/>
          <p:cNvSpPr>
            <a:spLocks noChangeShapeType="1"/>
          </p:cNvSpPr>
          <p:nvPr/>
        </p:nvSpPr>
        <p:spPr bwMode="auto">
          <a:xfrm>
            <a:off x="647700" y="6172200"/>
            <a:ext cx="7843838" cy="0"/>
          </a:xfrm>
          <a:prstGeom prst="line">
            <a:avLst/>
          </a:prstGeom>
          <a:noFill/>
          <a:ln w="19050">
            <a:solidFill>
              <a:srgbClr val="BE050A"/>
            </a:solidFill>
            <a:round/>
            <a:headEnd/>
            <a:tailEnd/>
          </a:ln>
        </p:spPr>
        <p:txBody>
          <a:bodyPr wrap="none" lIns="45720" rIns="45720" anchor="ctr"/>
          <a:lstStyle/>
          <a:p>
            <a:pPr algn="l" eaLnBrk="1" hangingPunct="1">
              <a:spcBef>
                <a:spcPct val="0"/>
              </a:spcBef>
              <a:defRPr/>
            </a:pPr>
            <a:endParaRPr lang="en-US" sz="1800" b="0">
              <a:solidFill>
                <a:srgbClr val="000000"/>
              </a:solidFill>
              <a:latin typeface="Calibri" pitchFamily="34" charset="0"/>
              <a:ea typeface="DFKaiShu-GB5" pitchFamily="65" charset="-128"/>
              <a:cs typeface="DFKaiShu-GB5" pitchFamily="65" charset="-128"/>
            </a:endParaRPr>
          </a:p>
        </p:txBody>
      </p:sp>
      <p:pic>
        <p:nvPicPr>
          <p:cNvPr id="6150" name="Picture 6"/>
          <p:cNvPicPr preferRelativeResize="0">
            <a:picLocks noChangeAspect="1" noChangeArrowheads="1"/>
          </p:cNvPicPr>
          <p:nvPr/>
        </p:nvPicPr>
        <p:blipFill>
          <a:blip r:embed="rId7" cstate="print"/>
          <a:srcRect/>
          <a:stretch>
            <a:fillRect/>
          </a:stretch>
        </p:blipFill>
        <p:spPr bwMode="auto">
          <a:xfrm>
            <a:off x="7445379" y="6280150"/>
            <a:ext cx="1089025" cy="317500"/>
          </a:xfrm>
          <a:prstGeom prst="rect">
            <a:avLst/>
          </a:prstGeom>
          <a:noFill/>
          <a:ln w="9525">
            <a:noFill/>
            <a:miter lim="800000"/>
            <a:headEnd/>
            <a:tailEnd/>
          </a:ln>
        </p:spPr>
      </p:pic>
      <p:sp>
        <p:nvSpPr>
          <p:cNvPr id="1031" name="Line 7"/>
          <p:cNvSpPr>
            <a:spLocks noChangeShapeType="1"/>
          </p:cNvSpPr>
          <p:nvPr/>
        </p:nvSpPr>
        <p:spPr bwMode="gray">
          <a:xfrm>
            <a:off x="661988" y="990600"/>
            <a:ext cx="7843837" cy="0"/>
          </a:xfrm>
          <a:prstGeom prst="line">
            <a:avLst/>
          </a:prstGeom>
          <a:noFill/>
          <a:ln w="19050">
            <a:solidFill>
              <a:srgbClr val="BE050A"/>
            </a:solidFill>
            <a:round/>
            <a:headEnd/>
            <a:tailEnd/>
          </a:ln>
        </p:spPr>
        <p:txBody>
          <a:bodyPr wrap="none" anchor="ctr"/>
          <a:lstStyle/>
          <a:p>
            <a:pPr algn="l" eaLnBrk="1" hangingPunct="1">
              <a:spcBef>
                <a:spcPct val="0"/>
              </a:spcBef>
              <a:defRPr/>
            </a:pPr>
            <a:endParaRPr lang="en-US" sz="1800" b="0">
              <a:solidFill>
                <a:srgbClr val="000000"/>
              </a:solidFill>
              <a:latin typeface="Calibri" pitchFamily="34" charset="0"/>
              <a:ea typeface="DFKaiShu-GB5" pitchFamily="65" charset="-128"/>
              <a:cs typeface="DFKaiShu-GB5" pitchFamily="65" charset="-128"/>
            </a:endParaRPr>
          </a:p>
        </p:txBody>
      </p:sp>
      <p:sp>
        <p:nvSpPr>
          <p:cNvPr id="1032" name="Line 8"/>
          <p:cNvSpPr>
            <a:spLocks noChangeShapeType="1"/>
          </p:cNvSpPr>
          <p:nvPr/>
        </p:nvSpPr>
        <p:spPr bwMode="auto">
          <a:xfrm>
            <a:off x="647700" y="6172200"/>
            <a:ext cx="7843838" cy="0"/>
          </a:xfrm>
          <a:prstGeom prst="line">
            <a:avLst/>
          </a:prstGeom>
          <a:noFill/>
          <a:ln w="19050">
            <a:solidFill>
              <a:srgbClr val="BE050A"/>
            </a:solidFill>
            <a:round/>
            <a:headEnd/>
            <a:tailEnd/>
          </a:ln>
        </p:spPr>
        <p:txBody>
          <a:bodyPr wrap="none" lIns="45720" rIns="45720" anchor="ctr"/>
          <a:lstStyle/>
          <a:p>
            <a:pPr algn="l" eaLnBrk="1" hangingPunct="1">
              <a:spcBef>
                <a:spcPct val="0"/>
              </a:spcBef>
              <a:defRPr/>
            </a:pPr>
            <a:endParaRPr lang="en-US" sz="1800" b="0">
              <a:solidFill>
                <a:srgbClr val="000000"/>
              </a:solidFill>
              <a:latin typeface="Calibri" pitchFamily="34" charset="0"/>
              <a:ea typeface="DFKaiShu-GB5" pitchFamily="65" charset="-128"/>
              <a:cs typeface="DFKaiShu-GB5" pitchFamily="65" charset="-128"/>
            </a:endParaRPr>
          </a:p>
        </p:txBody>
      </p:sp>
      <p:pic>
        <p:nvPicPr>
          <p:cNvPr id="6153" name="Picture 9"/>
          <p:cNvPicPr preferRelativeResize="0">
            <a:picLocks noChangeAspect="1" noChangeArrowheads="1"/>
          </p:cNvPicPr>
          <p:nvPr/>
        </p:nvPicPr>
        <p:blipFill>
          <a:blip r:embed="rId7" cstate="print"/>
          <a:srcRect/>
          <a:stretch>
            <a:fillRect/>
          </a:stretch>
        </p:blipFill>
        <p:spPr bwMode="auto">
          <a:xfrm>
            <a:off x="7445379" y="6280150"/>
            <a:ext cx="1089025" cy="317500"/>
          </a:xfrm>
          <a:prstGeom prst="rect">
            <a:avLst/>
          </a:prstGeom>
          <a:noFill/>
          <a:ln w="9525">
            <a:noFill/>
            <a:miter lim="800000"/>
            <a:headEnd/>
            <a:tailEnd/>
          </a:ln>
        </p:spPr>
      </p:pic>
      <p:sp>
        <p:nvSpPr>
          <p:cNvPr id="1034" name="Line 10"/>
          <p:cNvSpPr>
            <a:spLocks noChangeShapeType="1"/>
          </p:cNvSpPr>
          <p:nvPr/>
        </p:nvSpPr>
        <p:spPr bwMode="gray">
          <a:xfrm>
            <a:off x="661988" y="990600"/>
            <a:ext cx="7843837" cy="0"/>
          </a:xfrm>
          <a:prstGeom prst="line">
            <a:avLst/>
          </a:prstGeom>
          <a:noFill/>
          <a:ln w="19050">
            <a:solidFill>
              <a:srgbClr val="BE050A"/>
            </a:solidFill>
            <a:round/>
            <a:headEnd/>
            <a:tailEnd/>
          </a:ln>
        </p:spPr>
        <p:txBody>
          <a:bodyPr wrap="none" anchor="ctr"/>
          <a:lstStyle/>
          <a:p>
            <a:pPr algn="l" eaLnBrk="1" hangingPunct="1">
              <a:spcBef>
                <a:spcPct val="0"/>
              </a:spcBef>
              <a:defRPr/>
            </a:pPr>
            <a:endParaRPr lang="en-US" sz="1800" b="0">
              <a:solidFill>
                <a:srgbClr val="000000"/>
              </a:solidFill>
              <a:latin typeface="Calibri" pitchFamily="34" charset="0"/>
              <a:ea typeface="DFKaiShu-GB5" pitchFamily="65" charset="-128"/>
              <a:cs typeface="DFKaiShu-GB5" pitchFamily="65" charset="-128"/>
            </a:endParaRPr>
          </a:p>
        </p:txBody>
      </p:sp>
      <p:sp>
        <p:nvSpPr>
          <p:cNvPr id="1035" name="Text Box 11"/>
          <p:cNvSpPr txBox="1">
            <a:spLocks noChangeArrowheads="1"/>
          </p:cNvSpPr>
          <p:nvPr/>
        </p:nvSpPr>
        <p:spPr bwMode="auto">
          <a:xfrm>
            <a:off x="6242050" y="88902"/>
            <a:ext cx="2286000" cy="244475"/>
          </a:xfrm>
          <a:prstGeom prst="rect">
            <a:avLst/>
          </a:prstGeom>
          <a:noFill/>
          <a:ln w="9525" algn="ctr">
            <a:noFill/>
            <a:miter lim="800000"/>
            <a:headEnd/>
            <a:tailEnd/>
          </a:ln>
        </p:spPr>
        <p:txBody>
          <a:bodyPr lIns="0" tIns="0" rIns="0" bIns="0">
            <a:spAutoFit/>
          </a:bodyPr>
          <a:lstStyle/>
          <a:p>
            <a:pPr algn="r"/>
            <a:r>
              <a:rPr lang="zh-TW" altLang="en-US" i="1" dirty="0">
                <a:solidFill>
                  <a:srgbClr val="FF0000"/>
                </a:solidFill>
                <a:latin typeface="Arial" pitchFamily="34" charset="0"/>
                <a:ea typeface="DFKaiShu-GB5" pitchFamily="65" charset="-128"/>
                <a:cs typeface="DFKaiShu-GB5" pitchFamily="65" charset="-128"/>
              </a:rPr>
              <a:t>严格保密</a:t>
            </a:r>
          </a:p>
        </p:txBody>
      </p:sp>
      <p:sp>
        <p:nvSpPr>
          <p:cNvPr id="6156" name="Text Box 12"/>
          <p:cNvSpPr txBox="1">
            <a:spLocks noChangeArrowheads="1"/>
          </p:cNvSpPr>
          <p:nvPr/>
        </p:nvSpPr>
        <p:spPr bwMode="auto">
          <a:xfrm>
            <a:off x="501650" y="6270625"/>
            <a:ext cx="6705600" cy="336550"/>
          </a:xfrm>
          <a:prstGeom prst="rect">
            <a:avLst/>
          </a:prstGeom>
          <a:noFill/>
          <a:ln w="9525">
            <a:noFill/>
            <a:miter lim="800000"/>
            <a:headEnd/>
            <a:tailEnd/>
          </a:ln>
          <a:effectLst/>
        </p:spPr>
        <p:txBody>
          <a:bodyPr>
            <a:spAutoFit/>
          </a:bodyPr>
          <a:lstStyle/>
          <a:p>
            <a:pPr algn="l">
              <a:spcBef>
                <a:spcPct val="0"/>
              </a:spcBef>
            </a:pPr>
            <a:r>
              <a:rPr lang="zh-CN" altLang="en-US" sz="800" b="0">
                <a:solidFill>
                  <a:srgbClr val="000000"/>
                </a:solidFill>
                <a:latin typeface="DFKaiShu-GB5" pitchFamily="65" charset="-128"/>
                <a:ea typeface="DFKaiShu-GB5" pitchFamily="65" charset="-128"/>
                <a:cs typeface="DFKaiShu-GB5" pitchFamily="65" charset="-128"/>
              </a:rPr>
              <a:t>声明</a:t>
            </a:r>
            <a:r>
              <a:rPr lang="en-US" altLang="zh-CN" sz="800" b="0">
                <a:solidFill>
                  <a:srgbClr val="000000"/>
                </a:solidFill>
                <a:latin typeface="DFKaiShu-GB5" pitchFamily="65" charset="-128"/>
                <a:ea typeface="DFKaiShu-GB5" pitchFamily="65" charset="-128"/>
                <a:cs typeface="DFKaiShu-GB5" pitchFamily="65" charset="-128"/>
              </a:rPr>
              <a:t>-</a:t>
            </a:r>
            <a:r>
              <a:rPr lang="zh-CN" altLang="en-US" sz="800" b="0">
                <a:solidFill>
                  <a:srgbClr val="000000"/>
                </a:solidFill>
                <a:latin typeface="DFKaiShu-GB5" pitchFamily="65" charset="-128"/>
                <a:ea typeface="DFKaiShu-GB5" pitchFamily="65" charset="-128"/>
                <a:cs typeface="DFKaiShu-GB5" pitchFamily="65" charset="-128"/>
              </a:rPr>
              <a:t>本介绍所刊载之内容，只供收件人查阅，收件人必需严密保管。本介绍所刊载统计的数据均摘录于公开数据及本介绍所提供的意见均属诚恳之意见，然而我们对有关本介绍之内容并不负上任何法律责任。</a:t>
            </a:r>
            <a:endParaRPr lang="zh-TW" altLang="en-US" sz="800" b="0">
              <a:solidFill>
                <a:srgbClr val="000000"/>
              </a:solidFill>
              <a:latin typeface="DFKaiShu-GB5" pitchFamily="65" charset="-128"/>
              <a:ea typeface="DFKaiShu-GB5" pitchFamily="65" charset="-128"/>
              <a:cs typeface="DFKaiShu-GB5" pitchFamily="65" charset="-128"/>
            </a:endParaRPr>
          </a:p>
        </p:txBody>
      </p:sp>
    </p:spTree>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 id="2147483916" r:id="rId4"/>
    <p:sldLayoutId id="2147483919" r:id="rId5"/>
  </p:sldLayoutIdLst>
  <p:hf hdr="0" ftr="0" dt="0"/>
  <p:txStyles>
    <p:titleStyle>
      <a:lvl1pPr algn="l" rtl="0" eaLnBrk="0" fontAlgn="base" hangingPunct="0">
        <a:spcBef>
          <a:spcPct val="0"/>
        </a:spcBef>
        <a:spcAft>
          <a:spcPct val="0"/>
        </a:spcAft>
        <a:tabLst>
          <a:tab pos="457200" algn="l"/>
        </a:tabLst>
        <a:defRPr sz="2600" b="1">
          <a:solidFill>
            <a:schemeClr val="tx1"/>
          </a:solidFill>
          <a:latin typeface="+mj-lt"/>
          <a:ea typeface="+mj-ea"/>
          <a:cs typeface="+mj-cs"/>
        </a:defRPr>
      </a:lvl1pPr>
      <a:lvl2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2pPr>
      <a:lvl3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3pPr>
      <a:lvl4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4pPr>
      <a:lvl5pPr algn="l" rtl="0" eaLnBrk="0" fontAlgn="base" hangingPunct="0">
        <a:spcBef>
          <a:spcPct val="0"/>
        </a:spcBef>
        <a:spcAft>
          <a:spcPct val="0"/>
        </a:spcAft>
        <a:defRPr sz="2600" b="1">
          <a:solidFill>
            <a:schemeClr val="tx1"/>
          </a:solidFill>
          <a:latin typeface="Arial" charset="0"/>
          <a:ea typeface="DFKaiShu-GB5" pitchFamily="65" charset="-128"/>
          <a:cs typeface="Arial" charset="0"/>
        </a:defRPr>
      </a:lvl5pPr>
      <a:lvl6pPr marL="457200" algn="l" rtl="0" fontAlgn="base">
        <a:spcBef>
          <a:spcPct val="0"/>
        </a:spcBef>
        <a:spcAft>
          <a:spcPct val="0"/>
        </a:spcAft>
        <a:defRPr sz="2600" b="1">
          <a:solidFill>
            <a:schemeClr val="tx1"/>
          </a:solidFill>
          <a:latin typeface="Arial" charset="0"/>
          <a:ea typeface="DFKaiShu-GB5" pitchFamily="65" charset="-128"/>
          <a:cs typeface="Arial" charset="0"/>
        </a:defRPr>
      </a:lvl6pPr>
      <a:lvl7pPr marL="914400" algn="l" rtl="0" fontAlgn="base">
        <a:spcBef>
          <a:spcPct val="0"/>
        </a:spcBef>
        <a:spcAft>
          <a:spcPct val="0"/>
        </a:spcAft>
        <a:defRPr sz="2600" b="1">
          <a:solidFill>
            <a:schemeClr val="tx1"/>
          </a:solidFill>
          <a:latin typeface="Arial" charset="0"/>
          <a:ea typeface="DFKaiShu-GB5" pitchFamily="65" charset="-128"/>
          <a:cs typeface="Arial" charset="0"/>
        </a:defRPr>
      </a:lvl7pPr>
      <a:lvl8pPr marL="1371600" algn="l" rtl="0" fontAlgn="base">
        <a:spcBef>
          <a:spcPct val="0"/>
        </a:spcBef>
        <a:spcAft>
          <a:spcPct val="0"/>
        </a:spcAft>
        <a:defRPr sz="2600" b="1">
          <a:solidFill>
            <a:schemeClr val="tx1"/>
          </a:solidFill>
          <a:latin typeface="Arial" charset="0"/>
          <a:ea typeface="DFKaiShu-GB5" pitchFamily="65" charset="-128"/>
          <a:cs typeface="Arial" charset="0"/>
        </a:defRPr>
      </a:lvl8pPr>
      <a:lvl9pPr marL="1828800" algn="l" rtl="0" fontAlgn="base">
        <a:spcBef>
          <a:spcPct val="0"/>
        </a:spcBef>
        <a:spcAft>
          <a:spcPct val="0"/>
        </a:spcAft>
        <a:defRPr sz="2600" b="1">
          <a:solidFill>
            <a:schemeClr val="tx1"/>
          </a:solidFill>
          <a:latin typeface="Arial" charset="0"/>
          <a:ea typeface="DFKaiShu-GB5" pitchFamily="65" charset="-128"/>
          <a:cs typeface="Arial" charset="0"/>
        </a:defRPr>
      </a:lvl9pPr>
    </p:titleStyle>
    <p:bodyStyle>
      <a:lvl1pPr marL="284163" indent="-284163" algn="l" rtl="0" eaLnBrk="0" fontAlgn="base" hangingPunct="0">
        <a:spcBef>
          <a:spcPts val="200"/>
        </a:spcBef>
        <a:spcAft>
          <a:spcPts val="200"/>
        </a:spcAft>
        <a:buClr>
          <a:srgbClr val="BE050A"/>
        </a:buClr>
        <a:buFont typeface="Wingdings" pitchFamily="2" charset="2"/>
        <a:buChar char="n"/>
        <a:defRPr sz="1600">
          <a:solidFill>
            <a:schemeClr val="tx1"/>
          </a:solidFill>
          <a:latin typeface="+mn-lt"/>
          <a:ea typeface="+mn-ea"/>
          <a:cs typeface="+mn-cs"/>
        </a:defRPr>
      </a:lvl1pPr>
      <a:lvl2pPr marL="684213" indent="-285750" algn="l" rtl="0" eaLnBrk="0" fontAlgn="base" hangingPunct="0">
        <a:spcBef>
          <a:spcPts val="200"/>
        </a:spcBef>
        <a:spcAft>
          <a:spcPts val="200"/>
        </a:spcAft>
        <a:buClr>
          <a:srgbClr val="626262"/>
        </a:buClr>
        <a:buFont typeface="Wingdings" pitchFamily="2" charset="2"/>
        <a:buChar char="u"/>
        <a:defRPr sz="1500">
          <a:solidFill>
            <a:schemeClr val="tx1"/>
          </a:solidFill>
          <a:latin typeface="+mn-lt"/>
          <a:ea typeface="+mn-ea"/>
          <a:cs typeface="+mn-cs"/>
        </a:defRPr>
      </a:lvl2pPr>
      <a:lvl3pPr marL="1068388" indent="-269875" algn="l" rtl="0" eaLnBrk="0" fontAlgn="base" hangingPunct="0">
        <a:spcBef>
          <a:spcPts val="200"/>
        </a:spcBef>
        <a:spcAft>
          <a:spcPts val="200"/>
        </a:spcAft>
        <a:buFont typeface="Arial" pitchFamily="34" charset="0"/>
        <a:buChar char="—"/>
        <a:defRPr sz="1500">
          <a:solidFill>
            <a:schemeClr val="tx1"/>
          </a:solidFill>
          <a:latin typeface="+mn-lt"/>
          <a:ea typeface="+mn-ea"/>
          <a:cs typeface="+mn-cs"/>
        </a:defRPr>
      </a:lvl3pPr>
      <a:lvl4pPr marL="1484313" indent="-301625" algn="l" rtl="0" eaLnBrk="0" fontAlgn="base" hangingPunct="0">
        <a:spcBef>
          <a:spcPts val="200"/>
        </a:spcBef>
        <a:spcAft>
          <a:spcPts val="200"/>
        </a:spcAft>
        <a:buChar char="–"/>
        <a:defRPr sz="1500">
          <a:solidFill>
            <a:schemeClr val="tx1"/>
          </a:solidFill>
          <a:latin typeface="+mn-lt"/>
          <a:ea typeface="+mn-ea"/>
          <a:cs typeface="+mn-cs"/>
        </a:defRPr>
      </a:lvl4pPr>
      <a:lvl5pPr marL="1827213" indent="-228600" algn="l" rtl="0" eaLnBrk="0" fontAlgn="base" hangingPunct="0">
        <a:spcBef>
          <a:spcPts val="200"/>
        </a:spcBef>
        <a:spcAft>
          <a:spcPts val="200"/>
        </a:spcAft>
        <a:buChar char="»"/>
        <a:defRPr sz="1500">
          <a:solidFill>
            <a:schemeClr val="tx1"/>
          </a:solidFill>
          <a:latin typeface="+mn-lt"/>
          <a:ea typeface="+mn-ea"/>
          <a:cs typeface="+mn-cs"/>
        </a:defRPr>
      </a:lvl5pPr>
      <a:lvl6pPr marL="2284413" indent="-228600" algn="l" rtl="0" fontAlgn="base">
        <a:spcBef>
          <a:spcPct val="0"/>
        </a:spcBef>
        <a:spcAft>
          <a:spcPct val="30000"/>
        </a:spcAft>
        <a:buChar char="»"/>
        <a:defRPr sz="1500">
          <a:solidFill>
            <a:schemeClr val="tx1"/>
          </a:solidFill>
          <a:latin typeface="+mn-lt"/>
          <a:ea typeface="+mn-ea"/>
          <a:cs typeface="+mn-cs"/>
        </a:defRPr>
      </a:lvl6pPr>
      <a:lvl7pPr marL="2741613" indent="-228600" algn="l" rtl="0" fontAlgn="base">
        <a:spcBef>
          <a:spcPct val="0"/>
        </a:spcBef>
        <a:spcAft>
          <a:spcPct val="30000"/>
        </a:spcAft>
        <a:buChar char="»"/>
        <a:defRPr sz="1500">
          <a:solidFill>
            <a:schemeClr val="tx1"/>
          </a:solidFill>
          <a:latin typeface="+mn-lt"/>
          <a:ea typeface="+mn-ea"/>
          <a:cs typeface="+mn-cs"/>
        </a:defRPr>
      </a:lvl7pPr>
      <a:lvl8pPr marL="3198813" indent="-228600" algn="l" rtl="0" fontAlgn="base">
        <a:spcBef>
          <a:spcPct val="0"/>
        </a:spcBef>
        <a:spcAft>
          <a:spcPct val="30000"/>
        </a:spcAft>
        <a:buChar char="»"/>
        <a:defRPr sz="1500">
          <a:solidFill>
            <a:schemeClr val="tx1"/>
          </a:solidFill>
          <a:latin typeface="+mn-lt"/>
          <a:ea typeface="+mn-ea"/>
          <a:cs typeface="+mn-cs"/>
        </a:defRPr>
      </a:lvl8pPr>
      <a:lvl9pPr marL="3656013" indent="-228600" algn="l" rtl="0" fontAlgn="base">
        <a:spcBef>
          <a:spcPct val="0"/>
        </a:spcBef>
        <a:spcAft>
          <a:spcPct val="30000"/>
        </a:spcAft>
        <a:buChar char="»"/>
        <a:defRPr sz="15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661988" y="2449294"/>
            <a:ext cx="7840662" cy="1292662"/>
          </a:xfrm>
        </p:spPr>
        <p:txBody>
          <a:bodyPr/>
          <a:lstStyle/>
          <a:p>
            <a:pPr algn="r"/>
            <a:r>
              <a:rPr lang="en-US" dirty="0"/>
              <a:t>Appendix 2</a:t>
            </a:r>
            <a:br>
              <a:rPr lang="en-US" dirty="0"/>
            </a:br>
            <a:br>
              <a:rPr lang="en-US" altLang="zh-TW" dirty="0"/>
            </a:br>
            <a:r>
              <a:rPr lang="en-US" dirty="0"/>
              <a:t>Comparison Between REIT and Company Listing</a:t>
            </a:r>
          </a:p>
        </p:txBody>
      </p:sp>
      <p:sp>
        <p:nvSpPr>
          <p:cNvPr id="5" name="Slide Number Placeholder 4">
            <a:extLst>
              <a:ext uri="{FF2B5EF4-FFF2-40B4-BE49-F238E27FC236}">
                <a16:creationId xmlns:a16="http://schemas.microsoft.com/office/drawing/2014/main" id="{8F904645-D21E-4F63-B06A-D87A8878C30F}"/>
              </a:ext>
            </a:extLst>
          </p:cNvPr>
          <p:cNvSpPr>
            <a:spLocks noGrp="1"/>
          </p:cNvSpPr>
          <p:nvPr>
            <p:ph type="sldNum" sz="quarter" idx="10"/>
          </p:nvPr>
        </p:nvSpPr>
        <p:spPr/>
        <p:txBody>
          <a:bodyPr/>
          <a:lstStyle/>
          <a:p>
            <a:pPr>
              <a:defRPr/>
            </a:pPr>
            <a:fld id="{90FB4F5F-C942-40B6-AF50-16AA6C86747A}" type="slidenum">
              <a:rPr lang="en-US" altLang="en-US" b="0" smtClean="0"/>
              <a:pPr>
                <a:defRPr/>
              </a:pPr>
              <a:t>0</a:t>
            </a:fld>
            <a:endParaRPr lang="en-US" altLang="en-US" b="0" dirty="0"/>
          </a:p>
        </p:txBody>
      </p:sp>
    </p:spTree>
    <p:extLst>
      <p:ext uri="{BB962C8B-B14F-4D97-AF65-F5344CB8AC3E}">
        <p14:creationId xmlns:p14="http://schemas.microsoft.com/office/powerpoint/2010/main" val="424093690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D526280-348D-4569-8A97-5381F559059F}"/>
              </a:ext>
            </a:extLst>
          </p:cNvPr>
          <p:cNvSpPr>
            <a:spLocks noGrp="1"/>
          </p:cNvSpPr>
          <p:nvPr>
            <p:ph type="title"/>
          </p:nvPr>
        </p:nvSpPr>
        <p:spPr>
          <a:xfrm>
            <a:off x="708102" y="506602"/>
            <a:ext cx="8049358" cy="400110"/>
          </a:xfrm>
        </p:spPr>
        <p:txBody>
          <a:bodyPr/>
          <a:lstStyle/>
          <a:p>
            <a:r>
              <a:rPr lang="en-US" dirty="0"/>
              <a:t>Comparison Between REIT and Company Listing (1/5)</a:t>
            </a:r>
            <a:endParaRPr lang="en-SG" dirty="0">
              <a:ea typeface="+mn-ea"/>
            </a:endParaRPr>
          </a:p>
        </p:txBody>
      </p:sp>
      <p:sp>
        <p:nvSpPr>
          <p:cNvPr id="12" name="Slide Number Placeholder 2">
            <a:extLst>
              <a:ext uri="{FF2B5EF4-FFF2-40B4-BE49-F238E27FC236}">
                <a16:creationId xmlns:a16="http://schemas.microsoft.com/office/drawing/2014/main" id="{66A83794-04F4-4312-9B88-6EA4924EBBF5}"/>
              </a:ext>
            </a:extLst>
          </p:cNvPr>
          <p:cNvSpPr txBox="1">
            <a:spLocks/>
          </p:cNvSpPr>
          <p:nvPr/>
        </p:nvSpPr>
        <p:spPr>
          <a:xfrm>
            <a:off x="7897813" y="6398780"/>
            <a:ext cx="1066800" cy="217937"/>
          </a:xfrm>
          <a:prstGeom prst="rect">
            <a:avLst/>
          </a:prstGeom>
        </p:spPr>
        <p:txBody>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algn="r">
              <a:defRPr/>
            </a:pPr>
            <a:fld id="{17AE90FD-2A67-4F1C-8A5E-6FE36A4F61F0}" type="slidenum">
              <a:rPr lang="en-US" altLang="en-US" sz="800" i="0" smtClean="0">
                <a:solidFill>
                  <a:srgbClr val="000000"/>
                </a:solidFill>
                <a:latin typeface="Calibri"/>
                <a:cs typeface="+mn-cs"/>
              </a:rPr>
              <a:pPr algn="r">
                <a:defRPr/>
              </a:pPr>
              <a:t>1</a:t>
            </a:fld>
            <a:endParaRPr lang="en-US" altLang="en-US" sz="800" i="0" dirty="0">
              <a:solidFill>
                <a:srgbClr val="000000"/>
              </a:solidFill>
              <a:latin typeface="Calibri"/>
              <a:cs typeface="+mn-cs"/>
            </a:endParaRPr>
          </a:p>
        </p:txBody>
      </p:sp>
      <p:graphicFrame>
        <p:nvGraphicFramePr>
          <p:cNvPr id="4" name="Table 3">
            <a:extLst>
              <a:ext uri="{FF2B5EF4-FFF2-40B4-BE49-F238E27FC236}">
                <a16:creationId xmlns:a16="http://schemas.microsoft.com/office/drawing/2014/main" id="{4D3D4BEC-0213-40FE-AB3F-02A415C02683}"/>
              </a:ext>
            </a:extLst>
          </p:cNvPr>
          <p:cNvGraphicFramePr>
            <a:graphicFrameLocks noGrp="1"/>
          </p:cNvGraphicFramePr>
          <p:nvPr>
            <p:extLst>
              <p:ext uri="{D42A27DB-BD31-4B8C-83A1-F6EECF244321}">
                <p14:modId xmlns:p14="http://schemas.microsoft.com/office/powerpoint/2010/main" val="2917828818"/>
              </p:ext>
            </p:extLst>
          </p:nvPr>
        </p:nvGraphicFramePr>
        <p:xfrm>
          <a:off x="649224" y="1286438"/>
          <a:ext cx="7992074" cy="4470550"/>
        </p:xfrm>
        <a:graphic>
          <a:graphicData uri="http://schemas.openxmlformats.org/drawingml/2006/table">
            <a:tbl>
              <a:tblPr firstRow="1" bandRow="1"/>
              <a:tblGrid>
                <a:gridCol w="1744980">
                  <a:extLst>
                    <a:ext uri="{9D8B030D-6E8A-4147-A177-3AD203B41FA5}">
                      <a16:colId xmlns:a16="http://schemas.microsoft.com/office/drawing/2014/main" val="803488614"/>
                    </a:ext>
                  </a:extLst>
                </a:gridCol>
                <a:gridCol w="3150131">
                  <a:extLst>
                    <a:ext uri="{9D8B030D-6E8A-4147-A177-3AD203B41FA5}">
                      <a16:colId xmlns:a16="http://schemas.microsoft.com/office/drawing/2014/main" val="2149212134"/>
                    </a:ext>
                  </a:extLst>
                </a:gridCol>
                <a:gridCol w="3096963">
                  <a:extLst>
                    <a:ext uri="{9D8B030D-6E8A-4147-A177-3AD203B41FA5}">
                      <a16:colId xmlns:a16="http://schemas.microsoft.com/office/drawing/2014/main" val="1315670992"/>
                    </a:ext>
                  </a:extLst>
                </a:gridCol>
              </a:tblGrid>
              <a:tr h="347472">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BE050A"/>
                    </a:solidFill>
                  </a:tcPr>
                </a:tc>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pPr marL="0" algn="ctr" defTabSz="914303" rtl="0" eaLnBrk="1" latinLnBrk="0" hangingPunct="1"/>
                      <a:r>
                        <a:rPr lang="en-US" sz="1100" dirty="0"/>
                        <a:t>Company</a:t>
                      </a:r>
                      <a:endParaRPr lang="en-US" sz="1100" b="1" kern="1200" dirty="0">
                        <a:solidFill>
                          <a:schemeClr val="lt1"/>
                        </a:solidFill>
                        <a:latin typeface="Calibri" panose="020F0502020204030204" pitchFamily="34" charset="0"/>
                        <a:ea typeface="DFKaiShu-GB5" panose="03000509000000000000" pitchFamily="65" charset="-128"/>
                        <a:cs typeface="Calibri" panose="020F050202020403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BE050A"/>
                    </a:solidFill>
                  </a:tcPr>
                </a:tc>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pPr marL="0" algn="ctr" defTabSz="914303" rtl="0" eaLnBrk="1" latinLnBrk="0" hangingPunct="1"/>
                      <a:r>
                        <a:rPr lang="en-US" sz="1100" dirty="0"/>
                        <a:t>REIT</a:t>
                      </a:r>
                      <a:endParaRPr lang="en-US" sz="1100" b="1" kern="1200" dirty="0">
                        <a:solidFill>
                          <a:schemeClr val="lt1"/>
                        </a:solidFill>
                        <a:latin typeface="Calibri" panose="020F0502020204030204" pitchFamily="34" charset="0"/>
                        <a:ea typeface="DFKaiShu-GB5" panose="03000509000000000000" pitchFamily="65" charset="-128"/>
                        <a:cs typeface="Calibri" panose="020F050202020403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BE050A"/>
                    </a:solidFill>
                  </a:tcPr>
                </a:tc>
                <a:extLst>
                  <a:ext uri="{0D108BD9-81ED-4DB2-BD59-A6C34878D82A}">
                    <a16:rowId xmlns:a16="http://schemas.microsoft.com/office/drawing/2014/main" val="2070801902"/>
                  </a:ext>
                </a:extLst>
              </a:tr>
              <a:tr h="1210186">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Shareholder exit flexibility</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171450" indent="-171450">
                        <a:buClr>
                          <a:srgbClr val="FF0000"/>
                        </a:buClr>
                        <a:buFont typeface="Wingdings" panose="05000000000000000000" pitchFamily="2" charset="2"/>
                        <a:buChar char="û"/>
                      </a:pPr>
                      <a:r>
                        <a:rPr lang="en-US" altLang="zh-CN" sz="1100" dirty="0">
                          <a:latin typeface="Calibri" panose="020F0502020204030204" pitchFamily="34" charset="0"/>
                          <a:ea typeface="DFKaiShu-GB5" panose="03000509000000000000" pitchFamily="65" charset="-128"/>
                          <a:cs typeface="Calibri" panose="020F0502020204030204" pitchFamily="34" charset="0"/>
                        </a:rPr>
                        <a:t>Typically, the issuance ratio is 15%-25% of total equity, and the proportion that can exit during the initial issuance is limited
At the same time, the controlling shareholder cannot change within one year after listing</a:t>
                      </a:r>
                      <a:endParaRPr lang="en-US"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171450" indent="-171450">
                        <a:buClr>
                          <a:srgbClr val="00B050"/>
                        </a:buClr>
                        <a:buFont typeface="Wingdings" panose="05000000000000000000" pitchFamily="2" charset="2"/>
                        <a:buChar char="ü"/>
                      </a:pPr>
                      <a:r>
                        <a:rPr lang="en-US" altLang="zh-CN" sz="1100" dirty="0">
                          <a:latin typeface="Calibri" panose="020F0502020204030204" pitchFamily="34" charset="0"/>
                          <a:ea typeface="DFKaiShu-GB5" panose="03000509000000000000" pitchFamily="65" charset="-128"/>
                          <a:cs typeface="Calibri" panose="020F0502020204030204" pitchFamily="34" charset="0"/>
                        </a:rPr>
                        <a:t>It is not subject to the regulation that the controlling shareholder cannot change within one year after listing
</a:t>
                      </a:r>
                      <a:r>
                        <a:rPr lang="en-US" altLang="zh-CN" sz="1100" dirty="0">
                          <a:highlight>
                            <a:srgbClr val="FFFF00"/>
                          </a:highlight>
                          <a:latin typeface="Calibri" panose="020F0502020204030204" pitchFamily="34" charset="0"/>
                          <a:ea typeface="DFKaiShu-GB5" panose="03000509000000000000" pitchFamily="65" charset="-128"/>
                          <a:cs typeface="Calibri" panose="020F0502020204030204" pitchFamily="34" charset="0"/>
                        </a:rPr>
                        <a:t>At the initial listing, more than 50% of the shares can be exited</a:t>
                      </a:r>
                      <a:endParaRPr lang="en-US" sz="1100" dirty="0">
                        <a:highlight>
                          <a:srgbClr val="FFFF00"/>
                        </a:highlight>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96462288"/>
                  </a:ext>
                </a:extLst>
              </a:tr>
              <a:tr h="629549">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Valuation</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Valuation is generally discounted at price-to-earnings ratio or net asset value</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171450" indent="-171450" algn="l" defTabSz="914400" rtl="0" eaLnBrk="1" latinLnBrk="0" hangingPunct="1">
                        <a:buClr>
                          <a:srgbClr val="00B050"/>
                        </a:buClr>
                        <a:buFont typeface="Wingdings" panose="05000000000000000000" pitchFamily="2" charset="2"/>
                        <a:buChar char="ü"/>
                      </a:pPr>
                      <a:r>
                        <a:rPr lang="en-US" altLang="zh-CN"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rPr>
                        <a:t>Valuing with cash yield yields is more accurate for investment properties</a:t>
                      </a:r>
                      <a:endParaRPr lang="en-US"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96264481"/>
                  </a:ext>
                </a:extLst>
              </a:tr>
              <a:tr h="281302">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latin typeface="Calibri" panose="020F0502020204030204" pitchFamily="34" charset="0"/>
                          <a:ea typeface="DFKaiShu-GB5" panose="03000509000000000000" pitchFamily="65" charset="-128"/>
                          <a:cs typeface="Calibri" panose="020F0502020204030204" pitchFamily="34" charset="0"/>
                        </a:rPr>
                        <a:t>Positioning</a:t>
                      </a:r>
                      <a:endParaRPr lang="en-US" sz="1100" b="1" dirty="0">
                        <a:latin typeface="Calibri" panose="020F0502020204030204" pitchFamily="34" charset="0"/>
                        <a:ea typeface="DFKaiShu-GB5" panose="03000509000000000000" pitchFamily="65" charset="-128"/>
                        <a:cs typeface="Calibri" panose="020F0502020204030204" pitchFamily="34" charset="0"/>
                      </a:endParaRPr>
                    </a:p>
                    <a:p>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Generally, the focus is more on growth</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Focus more on stable returns</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58251553"/>
                  </a:ext>
                </a:extLst>
              </a:tr>
              <a:tr h="667578">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Investors</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171450" indent="-171450" algn="l" defTabSz="914400" rtl="0" eaLnBrk="1" latinLnBrk="0" hangingPunct="1">
                        <a:buClr>
                          <a:srgbClr val="00B050"/>
                        </a:buClr>
                        <a:buFont typeface="Wingdings" panose="05000000000000000000" pitchFamily="2" charset="2"/>
                        <a:buChar char="ü"/>
                      </a:pPr>
                      <a:r>
                        <a:rPr lang="en-US" altLang="zh-CN"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rPr>
                        <a:t>A broader investor base</a:t>
                      </a:r>
                      <a:endParaRPr lang="en-US"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171450" indent="-171450" algn="l" defTabSz="914400" rtl="0" eaLnBrk="1" latinLnBrk="0" hangingPunct="1">
                        <a:buClr>
                          <a:srgbClr val="00B050"/>
                        </a:buClr>
                        <a:buFont typeface="Wingdings" panose="05000000000000000000" pitchFamily="2" charset="2"/>
                        <a:buChar char="ü"/>
                      </a:pPr>
                      <a:r>
                        <a:rPr lang="en-US" altLang="zh-CN"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rPr>
                        <a:t>A broader investor base</a:t>
                      </a:r>
                      <a:endParaRPr lang="en-US"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79200494"/>
                  </a:ext>
                </a:extLst>
              </a:tr>
              <a:tr h="1189045">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Post-market development</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171450" indent="-171450" algn="l" defTabSz="914303" rtl="0" eaLnBrk="1" latinLnBrk="0" hangingPunct="1">
                        <a:buClr>
                          <a:schemeClr val="tx1"/>
                        </a:buClr>
                        <a:buFont typeface="Arial" panose="020B0604020202020204" pitchFamily="34" charset="0"/>
                        <a:buChar char="•"/>
                      </a:pPr>
                      <a:r>
                        <a:rPr lang="en-US" altLang="zh-CN"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rPr>
                        <a:t>The company's platform is the most flexible, but it has the highest financing costs</a:t>
                      </a:r>
                      <a:endParaRPr lang="en-US"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171450" indent="-171450" algn="l" defTabSz="914400" rtl="0" eaLnBrk="1" latinLnBrk="0" hangingPunct="1">
                        <a:buClr>
                          <a:schemeClr val="tx1"/>
                        </a:buClr>
                        <a:buFont typeface="Arial" panose="020B0604020202020204" pitchFamily="34" charset="0"/>
                        <a:buChar char="•"/>
                      </a:pPr>
                      <a:r>
                        <a:rPr lang="en-US" altLang="zh-CN"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rPr>
                        <a:t>REIT's development business is restricted, making it a platform for the company's mature property exits and acquisitions</a:t>
                      </a:r>
                      <a:endParaRPr lang="en-US"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46753257"/>
                  </a:ext>
                </a:extLst>
              </a:tr>
            </a:tbl>
          </a:graphicData>
        </a:graphic>
      </p:graphicFrame>
      <p:sp>
        <p:nvSpPr>
          <p:cNvPr id="5" name="Title 3">
            <a:extLst>
              <a:ext uri="{FF2B5EF4-FFF2-40B4-BE49-F238E27FC236}">
                <a16:creationId xmlns:a16="http://schemas.microsoft.com/office/drawing/2014/main" id="{817163F5-B245-4558-A6BC-675898375413}"/>
              </a:ext>
            </a:extLst>
          </p:cNvPr>
          <p:cNvSpPr txBox="1">
            <a:spLocks/>
          </p:cNvSpPr>
          <p:nvPr/>
        </p:nvSpPr>
        <p:spPr>
          <a:xfrm>
            <a:off x="649224" y="975388"/>
            <a:ext cx="7845552" cy="400101"/>
          </a:xfrm>
          <a:prstGeom prst="rect">
            <a:avLst/>
          </a:prstGeom>
        </p:spPr>
        <p:txBody>
          <a:bodyPr/>
          <a:lstStyle>
            <a:lvl1pPr algn="l" rtl="0" eaLnBrk="1" fontAlgn="base" hangingPunct="1">
              <a:spcBef>
                <a:spcPct val="0"/>
              </a:spcBef>
              <a:spcAft>
                <a:spcPct val="0"/>
              </a:spcAft>
              <a:defRPr sz="2400" b="1" kern="1200">
                <a:solidFill>
                  <a:schemeClr val="tx1"/>
                </a:solidFill>
                <a:latin typeface="+mj-lt"/>
                <a:ea typeface="+mj-ea"/>
                <a:cs typeface="+mj-cs"/>
              </a:defRPr>
            </a:lvl1pPr>
            <a:lvl2pPr algn="l" rtl="0" eaLnBrk="1" fontAlgn="base" hangingPunct="1">
              <a:spcBef>
                <a:spcPct val="0"/>
              </a:spcBef>
              <a:spcAft>
                <a:spcPct val="0"/>
              </a:spcAft>
              <a:defRPr sz="2800" b="1">
                <a:solidFill>
                  <a:schemeClr val="tx1"/>
                </a:solidFill>
                <a:latin typeface="Arial" panose="020B0604020202020204" pitchFamily="34" charset="0"/>
              </a:defRPr>
            </a:lvl2pPr>
            <a:lvl3pPr algn="l" rtl="0" eaLnBrk="1" fontAlgn="base" hangingPunct="1">
              <a:spcBef>
                <a:spcPct val="0"/>
              </a:spcBef>
              <a:spcAft>
                <a:spcPct val="0"/>
              </a:spcAft>
              <a:defRPr sz="2800" b="1">
                <a:solidFill>
                  <a:schemeClr val="tx1"/>
                </a:solidFill>
                <a:latin typeface="Arial" panose="020B0604020202020204" pitchFamily="34" charset="0"/>
              </a:defRPr>
            </a:lvl3pPr>
            <a:lvl4pPr algn="l" rtl="0" eaLnBrk="1" fontAlgn="base" hangingPunct="1">
              <a:spcBef>
                <a:spcPct val="0"/>
              </a:spcBef>
              <a:spcAft>
                <a:spcPct val="0"/>
              </a:spcAft>
              <a:defRPr sz="2800" b="1">
                <a:solidFill>
                  <a:schemeClr val="tx1"/>
                </a:solidFill>
                <a:latin typeface="Arial" panose="020B0604020202020204" pitchFamily="34" charset="0"/>
              </a:defRPr>
            </a:lvl4pPr>
            <a:lvl5pPr algn="l" rtl="0" eaLnBrk="1" fontAlgn="base" hangingPunct="1">
              <a:spcBef>
                <a:spcPct val="0"/>
              </a:spcBef>
              <a:spcAft>
                <a:spcPct val="0"/>
              </a:spcAft>
              <a:defRPr sz="2800" b="1">
                <a:solidFill>
                  <a:schemeClr val="tx1"/>
                </a:solidFill>
                <a:latin typeface="Arial" panose="020B0604020202020204" pitchFamily="34" charset="0"/>
              </a:defRPr>
            </a:lvl5pPr>
            <a:lvl6pPr marL="457200" algn="l" rtl="0" eaLnBrk="1" fontAlgn="base" hangingPunct="1">
              <a:spcBef>
                <a:spcPct val="0"/>
              </a:spcBef>
              <a:spcAft>
                <a:spcPct val="0"/>
              </a:spcAft>
              <a:defRPr sz="2800" b="1">
                <a:solidFill>
                  <a:schemeClr val="tx1"/>
                </a:solidFill>
                <a:latin typeface="Arial" panose="020B0604020202020204" pitchFamily="34" charset="0"/>
              </a:defRPr>
            </a:lvl6pPr>
            <a:lvl7pPr marL="914400" algn="l" rtl="0" eaLnBrk="1" fontAlgn="base" hangingPunct="1">
              <a:spcBef>
                <a:spcPct val="0"/>
              </a:spcBef>
              <a:spcAft>
                <a:spcPct val="0"/>
              </a:spcAft>
              <a:defRPr sz="2800" b="1">
                <a:solidFill>
                  <a:schemeClr val="tx1"/>
                </a:solidFill>
                <a:latin typeface="Arial" panose="020B0604020202020204" pitchFamily="34" charset="0"/>
              </a:defRPr>
            </a:lvl7pPr>
            <a:lvl8pPr marL="1371600" algn="l" rtl="0" eaLnBrk="1" fontAlgn="base" hangingPunct="1">
              <a:spcBef>
                <a:spcPct val="0"/>
              </a:spcBef>
              <a:spcAft>
                <a:spcPct val="0"/>
              </a:spcAft>
              <a:defRPr sz="2800" b="1">
                <a:solidFill>
                  <a:schemeClr val="tx1"/>
                </a:solidFill>
                <a:latin typeface="Arial" panose="020B0604020202020204" pitchFamily="34" charset="0"/>
              </a:defRPr>
            </a:lvl8pPr>
            <a:lvl9pPr marL="1828800" algn="l" rtl="0" eaLnBrk="1" fontAlgn="base" hangingPunct="1">
              <a:spcBef>
                <a:spcPct val="0"/>
              </a:spcBef>
              <a:spcAft>
                <a:spcPct val="0"/>
              </a:spcAft>
              <a:defRPr sz="2800" b="1">
                <a:solidFill>
                  <a:schemeClr val="tx1"/>
                </a:solidFill>
                <a:latin typeface="Arial" panose="020B0604020202020204" pitchFamily="34" charset="0"/>
              </a:defRPr>
            </a:lvl9pPr>
          </a:lstStyle>
          <a:p>
            <a:r>
              <a:rPr lang="en-US" altLang="zh-CN" sz="1400" i="0" u="sng" dirty="0">
                <a:solidFill>
                  <a:srgbClr val="C00000"/>
                </a:solidFill>
                <a:latin typeface="Calibri" panose="020F0502020204030204" pitchFamily="34" charset="0"/>
                <a:ea typeface="DFKaiShu-GB5" panose="03000509000000000000" pitchFamily="65" charset="-128"/>
              </a:rPr>
              <a:t>Major Considerations</a:t>
            </a:r>
            <a:endParaRPr lang="zh-CN" altLang="en-US" sz="1400" i="0" u="sng" dirty="0">
              <a:solidFill>
                <a:srgbClr val="C00000"/>
              </a:solidFill>
              <a:latin typeface="Calibri" panose="020F0502020204030204" pitchFamily="34" charset="0"/>
              <a:ea typeface="DFKaiShu-GB5" panose="03000509000000000000" pitchFamily="65" charset="-128"/>
            </a:endParaRPr>
          </a:p>
        </p:txBody>
      </p:sp>
    </p:spTree>
    <p:extLst>
      <p:ext uri="{BB962C8B-B14F-4D97-AF65-F5344CB8AC3E}">
        <p14:creationId xmlns:p14="http://schemas.microsoft.com/office/powerpoint/2010/main" val="1498753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D526280-348D-4569-8A97-5381F559059F}"/>
              </a:ext>
            </a:extLst>
          </p:cNvPr>
          <p:cNvSpPr>
            <a:spLocks noGrp="1"/>
          </p:cNvSpPr>
          <p:nvPr>
            <p:ph type="title"/>
          </p:nvPr>
        </p:nvSpPr>
        <p:spPr>
          <a:xfrm>
            <a:off x="708102" y="506602"/>
            <a:ext cx="8049358" cy="400110"/>
          </a:xfrm>
        </p:spPr>
        <p:txBody>
          <a:bodyPr/>
          <a:lstStyle/>
          <a:p>
            <a:r>
              <a:rPr lang="en-US" dirty="0"/>
              <a:t>Comparison Between REIT and Company Listing (2/5)</a:t>
            </a:r>
            <a:endParaRPr lang="en-SG" dirty="0">
              <a:ea typeface="+mn-ea"/>
            </a:endParaRPr>
          </a:p>
        </p:txBody>
      </p:sp>
      <p:sp>
        <p:nvSpPr>
          <p:cNvPr id="12" name="Slide Number Placeholder 2">
            <a:extLst>
              <a:ext uri="{FF2B5EF4-FFF2-40B4-BE49-F238E27FC236}">
                <a16:creationId xmlns:a16="http://schemas.microsoft.com/office/drawing/2014/main" id="{66A83794-04F4-4312-9B88-6EA4924EBBF5}"/>
              </a:ext>
            </a:extLst>
          </p:cNvPr>
          <p:cNvSpPr txBox="1">
            <a:spLocks/>
          </p:cNvSpPr>
          <p:nvPr/>
        </p:nvSpPr>
        <p:spPr>
          <a:xfrm>
            <a:off x="7897813" y="6398780"/>
            <a:ext cx="1066800" cy="217937"/>
          </a:xfrm>
          <a:prstGeom prst="rect">
            <a:avLst/>
          </a:prstGeom>
        </p:spPr>
        <p:txBody>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algn="r">
              <a:defRPr/>
            </a:pPr>
            <a:fld id="{17AE90FD-2A67-4F1C-8A5E-6FE36A4F61F0}" type="slidenum">
              <a:rPr lang="en-US" altLang="en-US" sz="800" i="0" smtClean="0">
                <a:solidFill>
                  <a:srgbClr val="000000"/>
                </a:solidFill>
                <a:latin typeface="Calibri"/>
                <a:cs typeface="+mn-cs"/>
              </a:rPr>
              <a:pPr algn="r">
                <a:defRPr/>
              </a:pPr>
              <a:t>2</a:t>
            </a:fld>
            <a:endParaRPr lang="en-US" altLang="en-US" sz="800" i="0" dirty="0">
              <a:solidFill>
                <a:srgbClr val="000000"/>
              </a:solidFill>
              <a:latin typeface="Calibri"/>
              <a:cs typeface="+mn-cs"/>
            </a:endParaRPr>
          </a:p>
        </p:txBody>
      </p:sp>
      <p:graphicFrame>
        <p:nvGraphicFramePr>
          <p:cNvPr id="4" name="Table 3">
            <a:extLst>
              <a:ext uri="{FF2B5EF4-FFF2-40B4-BE49-F238E27FC236}">
                <a16:creationId xmlns:a16="http://schemas.microsoft.com/office/drawing/2014/main" id="{74249035-A9A1-42D0-A87B-DBE9FDAC5238}"/>
              </a:ext>
            </a:extLst>
          </p:cNvPr>
          <p:cNvGraphicFramePr>
            <a:graphicFrameLocks noGrp="1"/>
          </p:cNvGraphicFramePr>
          <p:nvPr>
            <p:extLst>
              <p:ext uri="{D42A27DB-BD31-4B8C-83A1-F6EECF244321}">
                <p14:modId xmlns:p14="http://schemas.microsoft.com/office/powerpoint/2010/main" val="4286312456"/>
              </p:ext>
            </p:extLst>
          </p:nvPr>
        </p:nvGraphicFramePr>
        <p:xfrm>
          <a:off x="575613" y="1281023"/>
          <a:ext cx="7905914" cy="4713094"/>
        </p:xfrm>
        <a:graphic>
          <a:graphicData uri="http://schemas.openxmlformats.org/drawingml/2006/table">
            <a:tbl>
              <a:tblPr firstRow="1" bandRow="1"/>
              <a:tblGrid>
                <a:gridCol w="1719765">
                  <a:extLst>
                    <a:ext uri="{9D8B030D-6E8A-4147-A177-3AD203B41FA5}">
                      <a16:colId xmlns:a16="http://schemas.microsoft.com/office/drawing/2014/main" val="803488614"/>
                    </a:ext>
                  </a:extLst>
                </a:gridCol>
                <a:gridCol w="3126190">
                  <a:extLst>
                    <a:ext uri="{9D8B030D-6E8A-4147-A177-3AD203B41FA5}">
                      <a16:colId xmlns:a16="http://schemas.microsoft.com/office/drawing/2014/main" val="2149212134"/>
                    </a:ext>
                  </a:extLst>
                </a:gridCol>
                <a:gridCol w="3059959">
                  <a:extLst>
                    <a:ext uri="{9D8B030D-6E8A-4147-A177-3AD203B41FA5}">
                      <a16:colId xmlns:a16="http://schemas.microsoft.com/office/drawing/2014/main" val="1315670992"/>
                    </a:ext>
                  </a:extLst>
                </a:gridCol>
              </a:tblGrid>
              <a:tr h="347472">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BE050A"/>
                    </a:solidFill>
                  </a:tcPr>
                </a:tc>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pPr marL="0" algn="ctr" defTabSz="914303" rtl="0" eaLnBrk="1" latinLnBrk="0" hangingPunct="1"/>
                      <a:r>
                        <a:rPr lang="en-US" altLang="zh-CN" sz="1100" b="1" kern="1200" dirty="0">
                          <a:solidFill>
                            <a:schemeClr val="lt1"/>
                          </a:solidFill>
                          <a:latin typeface="Calibri" panose="020F0502020204030204" pitchFamily="34" charset="0"/>
                          <a:ea typeface="DFKaiShu-GB5" panose="03000509000000000000" pitchFamily="65" charset="-128"/>
                          <a:cs typeface="Calibri" panose="020F0502020204030204" pitchFamily="34" charset="0"/>
                        </a:rPr>
                        <a:t>Company</a:t>
                      </a:r>
                      <a:endParaRPr lang="en-US" sz="1100" b="1" kern="1200" dirty="0">
                        <a:solidFill>
                          <a:schemeClr val="lt1"/>
                        </a:solidFill>
                        <a:latin typeface="Calibri" panose="020F0502020204030204" pitchFamily="34" charset="0"/>
                        <a:ea typeface="DFKaiShu-GB5" panose="03000509000000000000" pitchFamily="65" charset="-128"/>
                        <a:cs typeface="Calibri" panose="020F050202020403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BE050A"/>
                    </a:solidFill>
                  </a:tcPr>
                </a:tc>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pPr marL="0" algn="ctr" defTabSz="914303" rtl="0" eaLnBrk="1" latinLnBrk="0" hangingPunct="1"/>
                      <a:r>
                        <a:rPr lang="en-US" sz="1100" dirty="0"/>
                        <a:t>REIT</a:t>
                      </a:r>
                      <a:endParaRPr lang="en-US" sz="1100" b="1" kern="1200" dirty="0">
                        <a:solidFill>
                          <a:schemeClr val="lt1"/>
                        </a:solidFill>
                        <a:latin typeface="Calibri" panose="020F0502020204030204" pitchFamily="34" charset="0"/>
                        <a:ea typeface="DFKaiShu-GB5" panose="03000509000000000000" pitchFamily="65" charset="-128"/>
                        <a:cs typeface="Calibri" panose="020F050202020403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BE050A"/>
                    </a:solidFill>
                  </a:tcPr>
                </a:tc>
                <a:extLst>
                  <a:ext uri="{0D108BD9-81ED-4DB2-BD59-A6C34878D82A}">
                    <a16:rowId xmlns:a16="http://schemas.microsoft.com/office/drawing/2014/main" val="2070801902"/>
                  </a:ext>
                </a:extLst>
              </a:tr>
              <a:tr h="1210186">
                <a:tc>
                  <a:txBody>
                    <a:body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Established</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en-US" altLang="zh-CN" sz="1000" dirty="0">
                          <a:latin typeface="Calibri" panose="020F0502020204030204" pitchFamily="34" charset="0"/>
                          <a:ea typeface="DFKaiShu-GB5" panose="03000509000000000000" pitchFamily="65" charset="-128"/>
                          <a:cs typeface="Calibri" panose="020F0502020204030204" pitchFamily="34" charset="0"/>
                        </a:rPr>
                        <a:t>An independent legal entity
Directly listed on the Stock Exchange</a:t>
                      </a:r>
                      <a:endParaRPr lang="en-US" sz="10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en-US" altLang="zh-CN" sz="1000" dirty="0">
                          <a:latin typeface="Calibri" panose="020F0502020204030204" pitchFamily="34" charset="0"/>
                          <a:ea typeface="DFKaiShu-GB5" panose="03000509000000000000" pitchFamily="65" charset="-128"/>
                          <a:cs typeface="Calibri" panose="020F0502020204030204" pitchFamily="34" charset="0"/>
                        </a:rPr>
                        <a:t>Created according to a trust deed
Regulated by the REIT Code, which has relatively strict requirements
Fund unit holders have beneficial interests, but their control is lower than that of the company's shareholders
Listed on the Stock Exchange, but REIT funds must be authorized by the SFC, and REIT managers must apply for a license</a:t>
                      </a:r>
                      <a:endParaRPr lang="en-US" sz="10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96462288"/>
                  </a:ext>
                </a:extLst>
              </a:tr>
              <a:tr h="410716">
                <a:tc>
                  <a:txBody>
                    <a:body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Regulators/Rules</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en-US" altLang="zh-CN" sz="1000" dirty="0">
                          <a:latin typeface="Calibri" panose="020F0502020204030204" pitchFamily="34" charset="0"/>
                          <a:ea typeface="DFKaiShu-GB5" panose="03000509000000000000" pitchFamily="65" charset="-128"/>
                          <a:cs typeface="Calibri" panose="020F0502020204030204" pitchFamily="34" charset="0"/>
                        </a:rPr>
                        <a:t>The main regulatory authority is the Hong Kong Stock Exchange
Supervision is carried out in accordance with the following regulations</a:t>
                      </a:r>
                      <a:endParaRPr lang="zh-CN" altLang="en-US" sz="1000" dirty="0">
                        <a:latin typeface="Calibri" panose="020F0502020204030204" pitchFamily="34" charset="0"/>
                        <a:ea typeface="DFKaiShu-GB5" panose="03000509000000000000" pitchFamily="65" charset="-128"/>
                        <a:cs typeface="Calibri" panose="020F0502020204030204" pitchFamily="34" charset="0"/>
                      </a:endParaRPr>
                    </a:p>
                    <a:p>
                      <a:pPr marL="225425" indent="0">
                        <a:buFont typeface="Arial" panose="020B0604020202020204" pitchFamily="34" charset="0"/>
                        <a:buNone/>
                      </a:pPr>
                      <a:r>
                        <a:rPr lang="en-US" altLang="zh-CN" sz="1000" i="1" dirty="0">
                          <a:latin typeface="Calibri" panose="020F0502020204030204" pitchFamily="34" charset="0"/>
                          <a:ea typeface="DFKaiShu-GB5" panose="03000509000000000000" pitchFamily="65" charset="-128"/>
                          <a:cs typeface="Calibri" panose="020F0502020204030204" pitchFamily="34" charset="0"/>
                        </a:rPr>
                        <a:t>– Companies Ordinance
– Hong Kong Stock Exchange Listing Rules
– Securities and Futures Ordinance
– Code on Takeovers and Mergers</a:t>
                      </a:r>
                      <a:endParaRPr lang="en-US" sz="1000" i="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en-US" altLang="zh-CN" sz="1000" dirty="0">
                          <a:latin typeface="Calibri" panose="020F0502020204030204" pitchFamily="34" charset="0"/>
                          <a:ea typeface="DFKaiShu-GB5" panose="03000509000000000000" pitchFamily="65" charset="-128"/>
                          <a:cs typeface="Calibri" panose="020F0502020204030204" pitchFamily="34" charset="0"/>
                        </a:rPr>
                        <a:t>The main regulatory authority is the China Securities Regulatory Commission
Supervision is carried out in accordance with the following regulations</a:t>
                      </a:r>
                      <a:endParaRPr lang="zh-CN" altLang="en-US" sz="1000" dirty="0">
                        <a:latin typeface="Calibri" panose="020F0502020204030204" pitchFamily="34" charset="0"/>
                        <a:ea typeface="DFKaiShu-GB5" panose="03000509000000000000" pitchFamily="65" charset="-128"/>
                        <a:cs typeface="Calibri" panose="020F0502020204030204" pitchFamily="34" charset="0"/>
                      </a:endParaRPr>
                    </a:p>
                    <a:p>
                      <a:pPr marL="225425" indent="0">
                        <a:buFont typeface="Arial" panose="020B0604020202020204" pitchFamily="34" charset="0"/>
                        <a:buNone/>
                      </a:pPr>
                      <a:r>
                        <a:rPr lang="en-US" altLang="zh-CN" sz="1000" i="1" dirty="0">
                          <a:latin typeface="Calibri" panose="020F0502020204030204" pitchFamily="34" charset="0"/>
                          <a:ea typeface="DFKaiShu-GB5" panose="03000509000000000000" pitchFamily="65" charset="-128"/>
                          <a:cs typeface="Calibri" panose="020F0502020204030204" pitchFamily="34" charset="0"/>
                        </a:rPr>
                        <a:t>– Code of Conduct for Real Estate Investment Trusts
– Hong Kong Stock Exchange Listing Rules
– Securities and Futures Ordinance
– Code on Takeovers and Mergers</a:t>
                      </a:r>
                      <a:endParaRPr lang="en-US" sz="1000" i="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96264481"/>
                  </a:ext>
                </a:extLst>
              </a:tr>
              <a:tr h="281302">
                <a:tc>
                  <a:txBody>
                    <a:body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Manager</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lgn="l" defTabSz="914303" rtl="0" eaLnBrk="1" latinLnBrk="0" hangingPunct="1">
                        <a:buFont typeface="Arial" panose="020B0604020202020204" pitchFamily="34" charset="0"/>
                        <a:buChar char="•"/>
                      </a:pPr>
                      <a:r>
                        <a:rPr lang="en-US" altLang="zh-CN" sz="1000" kern="1200" dirty="0">
                          <a:solidFill>
                            <a:schemeClr val="dk1"/>
                          </a:solidFill>
                          <a:latin typeface="Calibri" panose="020F0502020204030204" pitchFamily="34" charset="0"/>
                          <a:ea typeface="DFKaiShu-GB5" panose="03000509000000000000" pitchFamily="65" charset="-128"/>
                          <a:cs typeface="Calibri" panose="020F0502020204030204" pitchFamily="34" charset="0"/>
                        </a:rPr>
                        <a:t>None</a:t>
                      </a:r>
                      <a:endParaRPr lang="en-US" sz="1000" kern="1200" dirty="0">
                        <a:solidFill>
                          <a:schemeClr val="dk1"/>
                        </a:solidFill>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Clr>
                          <a:srgbClr val="FF0000"/>
                        </a:buClr>
                        <a:buFont typeface="Wingdings" panose="05000000000000000000" pitchFamily="2" charset="2"/>
                        <a:buChar char="û"/>
                      </a:pPr>
                      <a:r>
                        <a:rPr lang="en-US" altLang="zh-CN" sz="1000" dirty="0">
                          <a:latin typeface="Calibri" panose="020F0502020204030204" pitchFamily="34" charset="0"/>
                          <a:ea typeface="DFKaiShu-GB5" panose="03000509000000000000" pitchFamily="65" charset="-128"/>
                          <a:cs typeface="Calibri" panose="020F0502020204030204" pitchFamily="34" charset="0"/>
                        </a:rPr>
                        <a:t>There is a strict licensing system for REIT managers</a:t>
                      </a:r>
                      <a:endParaRPr lang="en-US" sz="10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58251553"/>
                  </a:ext>
                </a:extLst>
              </a:tr>
              <a:tr h="205740">
                <a:tc>
                  <a:txBody>
                    <a:body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Issues to consider during IPO execution</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en-US" altLang="zh-TW" sz="1000" dirty="0">
                          <a:latin typeface="Calibri" panose="020F0502020204030204" pitchFamily="34" charset="0"/>
                          <a:ea typeface="DFKaiShu-GB5" panose="03000509000000000000" pitchFamily="65" charset="-128"/>
                          <a:cs typeface="Calibri" panose="020F0502020204030204" pitchFamily="34" charset="0"/>
                        </a:rPr>
                        <a:t>Listing requirements for the Hong Kong Stock Exchange</a:t>
                      </a:r>
                      <a:endParaRPr lang="en-US" sz="10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lgn="l" defTabSz="914400" rtl="0" eaLnBrk="1" latinLnBrk="0" hangingPunct="1">
                        <a:buClr>
                          <a:schemeClr val="tx1"/>
                        </a:buClr>
                        <a:buFont typeface="Arial" panose="020B0604020202020204" pitchFamily="34" charset="0"/>
                        <a:buChar char="•"/>
                      </a:pPr>
                      <a:r>
                        <a:rPr lang="en-US" altLang="zh-CN" sz="1000" kern="1200" dirty="0">
                          <a:solidFill>
                            <a:schemeClr val="tx1"/>
                          </a:solidFill>
                          <a:latin typeface="Calibri" panose="020F0502020204030204" pitchFamily="34" charset="0"/>
                          <a:ea typeface="DFKaiShu-GB5" panose="03000509000000000000" pitchFamily="65" charset="-128"/>
                          <a:cs typeface="Calibri" panose="020F0502020204030204" pitchFamily="34" charset="0"/>
                        </a:rPr>
                        <a:t>Listing requirements on the Hong Kong Stock Exchange
The approval of listing applications is led by the SFC
REITs must be authorized by the SFC, and REIT managers must apply for a license
Setting up a trust management company takes a long time. </a:t>
                      </a:r>
                      <a:r>
                        <a:rPr lang="en-US" altLang="zh-CN" sz="1000" kern="1200" dirty="0">
                          <a:solidFill>
                            <a:schemeClr val="tx1"/>
                          </a:solidFill>
                          <a:highlight>
                            <a:srgbClr val="FFFF00"/>
                          </a:highlight>
                          <a:latin typeface="Calibri" panose="020F0502020204030204" pitchFamily="34" charset="0"/>
                          <a:ea typeface="DFKaiShu-GB5" panose="03000509000000000000" pitchFamily="65" charset="-128"/>
                          <a:cs typeface="Calibri" panose="020F0502020204030204" pitchFamily="34" charset="0"/>
                        </a:rPr>
                        <a:t>At least 2 licensed responsible personnel must be selected for a longer period</a:t>
                      </a:r>
                      <a:endParaRPr lang="en-US" sz="1000" kern="1200" dirty="0">
                        <a:solidFill>
                          <a:schemeClr val="tx1"/>
                        </a:solidFill>
                        <a:highlight>
                          <a:srgbClr val="FFFF00"/>
                        </a:highlight>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79200494"/>
                  </a:ext>
                </a:extLst>
              </a:tr>
            </a:tbl>
          </a:graphicData>
        </a:graphic>
      </p:graphicFrame>
      <p:sp>
        <p:nvSpPr>
          <p:cNvPr id="5" name="Title 3">
            <a:extLst>
              <a:ext uri="{FF2B5EF4-FFF2-40B4-BE49-F238E27FC236}">
                <a16:creationId xmlns:a16="http://schemas.microsoft.com/office/drawing/2014/main" id="{54FD0B2D-4A21-4742-B2CD-38F815F3F0F3}"/>
              </a:ext>
            </a:extLst>
          </p:cNvPr>
          <p:cNvSpPr txBox="1">
            <a:spLocks/>
          </p:cNvSpPr>
          <p:nvPr/>
        </p:nvSpPr>
        <p:spPr>
          <a:xfrm>
            <a:off x="575613" y="978280"/>
            <a:ext cx="7845552" cy="400101"/>
          </a:xfrm>
          <a:prstGeom prst="rect">
            <a:avLst/>
          </a:prstGeom>
        </p:spPr>
        <p:txBody>
          <a:bodyPr/>
          <a:lstStyle>
            <a:lvl1pPr algn="l" rtl="0" eaLnBrk="1" fontAlgn="base" hangingPunct="1">
              <a:spcBef>
                <a:spcPct val="0"/>
              </a:spcBef>
              <a:spcAft>
                <a:spcPct val="0"/>
              </a:spcAft>
              <a:defRPr sz="2400" b="1" kern="1200">
                <a:solidFill>
                  <a:schemeClr val="tx1"/>
                </a:solidFill>
                <a:latin typeface="+mj-lt"/>
                <a:ea typeface="+mj-ea"/>
                <a:cs typeface="+mj-cs"/>
              </a:defRPr>
            </a:lvl1pPr>
            <a:lvl2pPr algn="l" rtl="0" eaLnBrk="1" fontAlgn="base" hangingPunct="1">
              <a:spcBef>
                <a:spcPct val="0"/>
              </a:spcBef>
              <a:spcAft>
                <a:spcPct val="0"/>
              </a:spcAft>
              <a:defRPr sz="2800" b="1">
                <a:solidFill>
                  <a:schemeClr val="tx1"/>
                </a:solidFill>
                <a:latin typeface="Arial" panose="020B0604020202020204" pitchFamily="34" charset="0"/>
              </a:defRPr>
            </a:lvl2pPr>
            <a:lvl3pPr algn="l" rtl="0" eaLnBrk="1" fontAlgn="base" hangingPunct="1">
              <a:spcBef>
                <a:spcPct val="0"/>
              </a:spcBef>
              <a:spcAft>
                <a:spcPct val="0"/>
              </a:spcAft>
              <a:defRPr sz="2800" b="1">
                <a:solidFill>
                  <a:schemeClr val="tx1"/>
                </a:solidFill>
                <a:latin typeface="Arial" panose="020B0604020202020204" pitchFamily="34" charset="0"/>
              </a:defRPr>
            </a:lvl3pPr>
            <a:lvl4pPr algn="l" rtl="0" eaLnBrk="1" fontAlgn="base" hangingPunct="1">
              <a:spcBef>
                <a:spcPct val="0"/>
              </a:spcBef>
              <a:spcAft>
                <a:spcPct val="0"/>
              </a:spcAft>
              <a:defRPr sz="2800" b="1">
                <a:solidFill>
                  <a:schemeClr val="tx1"/>
                </a:solidFill>
                <a:latin typeface="Arial" panose="020B0604020202020204" pitchFamily="34" charset="0"/>
              </a:defRPr>
            </a:lvl4pPr>
            <a:lvl5pPr algn="l" rtl="0" eaLnBrk="1" fontAlgn="base" hangingPunct="1">
              <a:spcBef>
                <a:spcPct val="0"/>
              </a:spcBef>
              <a:spcAft>
                <a:spcPct val="0"/>
              </a:spcAft>
              <a:defRPr sz="2800" b="1">
                <a:solidFill>
                  <a:schemeClr val="tx1"/>
                </a:solidFill>
                <a:latin typeface="Arial" panose="020B0604020202020204" pitchFamily="34" charset="0"/>
              </a:defRPr>
            </a:lvl5pPr>
            <a:lvl6pPr marL="457200" algn="l" rtl="0" eaLnBrk="1" fontAlgn="base" hangingPunct="1">
              <a:spcBef>
                <a:spcPct val="0"/>
              </a:spcBef>
              <a:spcAft>
                <a:spcPct val="0"/>
              </a:spcAft>
              <a:defRPr sz="2800" b="1">
                <a:solidFill>
                  <a:schemeClr val="tx1"/>
                </a:solidFill>
                <a:latin typeface="Arial" panose="020B0604020202020204" pitchFamily="34" charset="0"/>
              </a:defRPr>
            </a:lvl6pPr>
            <a:lvl7pPr marL="914400" algn="l" rtl="0" eaLnBrk="1" fontAlgn="base" hangingPunct="1">
              <a:spcBef>
                <a:spcPct val="0"/>
              </a:spcBef>
              <a:spcAft>
                <a:spcPct val="0"/>
              </a:spcAft>
              <a:defRPr sz="2800" b="1">
                <a:solidFill>
                  <a:schemeClr val="tx1"/>
                </a:solidFill>
                <a:latin typeface="Arial" panose="020B0604020202020204" pitchFamily="34" charset="0"/>
              </a:defRPr>
            </a:lvl7pPr>
            <a:lvl8pPr marL="1371600" algn="l" rtl="0" eaLnBrk="1" fontAlgn="base" hangingPunct="1">
              <a:spcBef>
                <a:spcPct val="0"/>
              </a:spcBef>
              <a:spcAft>
                <a:spcPct val="0"/>
              </a:spcAft>
              <a:defRPr sz="2800" b="1">
                <a:solidFill>
                  <a:schemeClr val="tx1"/>
                </a:solidFill>
                <a:latin typeface="Arial" panose="020B0604020202020204" pitchFamily="34" charset="0"/>
              </a:defRPr>
            </a:lvl8pPr>
            <a:lvl9pPr marL="1828800" algn="l" rtl="0" eaLnBrk="1" fontAlgn="base" hangingPunct="1">
              <a:spcBef>
                <a:spcPct val="0"/>
              </a:spcBef>
              <a:spcAft>
                <a:spcPct val="0"/>
              </a:spcAft>
              <a:defRPr sz="2800" b="1">
                <a:solidFill>
                  <a:schemeClr val="tx1"/>
                </a:solidFill>
                <a:latin typeface="Arial" panose="020B0604020202020204" pitchFamily="34" charset="0"/>
              </a:defRPr>
            </a:lvl9pPr>
          </a:lstStyle>
          <a:p>
            <a:r>
              <a:rPr lang="en-US" altLang="zh-CN" sz="1400" u="sng" dirty="0">
                <a:solidFill>
                  <a:srgbClr val="C00000"/>
                </a:solidFill>
                <a:latin typeface="Calibri" panose="020F0502020204030204" pitchFamily="34" charset="0"/>
                <a:ea typeface="DFKaiShu-GB5" panose="03000509000000000000" pitchFamily="65" charset="-128"/>
              </a:rPr>
              <a:t>Pre-market preparation and process</a:t>
            </a:r>
            <a:endParaRPr lang="zh-CN" altLang="en-US" sz="1400" i="0" u="sng" dirty="0">
              <a:solidFill>
                <a:srgbClr val="C00000"/>
              </a:solidFill>
              <a:latin typeface="Calibri" panose="020F0502020204030204" pitchFamily="34" charset="0"/>
              <a:ea typeface="DFKaiShu-GB5" panose="03000509000000000000" pitchFamily="65" charset="-128"/>
            </a:endParaRPr>
          </a:p>
        </p:txBody>
      </p:sp>
    </p:spTree>
    <p:extLst>
      <p:ext uri="{BB962C8B-B14F-4D97-AF65-F5344CB8AC3E}">
        <p14:creationId xmlns:p14="http://schemas.microsoft.com/office/powerpoint/2010/main" val="1095107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D526280-348D-4569-8A97-5381F559059F}"/>
              </a:ext>
            </a:extLst>
          </p:cNvPr>
          <p:cNvSpPr>
            <a:spLocks noGrp="1"/>
          </p:cNvSpPr>
          <p:nvPr>
            <p:ph type="title"/>
          </p:nvPr>
        </p:nvSpPr>
        <p:spPr>
          <a:xfrm>
            <a:off x="708102" y="506602"/>
            <a:ext cx="8049358" cy="400110"/>
          </a:xfrm>
        </p:spPr>
        <p:txBody>
          <a:bodyPr/>
          <a:lstStyle/>
          <a:p>
            <a:r>
              <a:rPr lang="en-US" dirty="0"/>
              <a:t>Comparison Between REIT and Company Listing (3/5)</a:t>
            </a:r>
            <a:endParaRPr lang="en-SG" dirty="0">
              <a:ea typeface="+mn-ea"/>
            </a:endParaRPr>
          </a:p>
        </p:txBody>
      </p:sp>
      <p:sp>
        <p:nvSpPr>
          <p:cNvPr id="12" name="Slide Number Placeholder 2">
            <a:extLst>
              <a:ext uri="{FF2B5EF4-FFF2-40B4-BE49-F238E27FC236}">
                <a16:creationId xmlns:a16="http://schemas.microsoft.com/office/drawing/2014/main" id="{66A83794-04F4-4312-9B88-6EA4924EBBF5}"/>
              </a:ext>
            </a:extLst>
          </p:cNvPr>
          <p:cNvSpPr txBox="1">
            <a:spLocks/>
          </p:cNvSpPr>
          <p:nvPr/>
        </p:nvSpPr>
        <p:spPr>
          <a:xfrm>
            <a:off x="7897813" y="6398780"/>
            <a:ext cx="1066800" cy="217937"/>
          </a:xfrm>
          <a:prstGeom prst="rect">
            <a:avLst/>
          </a:prstGeom>
        </p:spPr>
        <p:txBody>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algn="r">
              <a:defRPr/>
            </a:pPr>
            <a:fld id="{17AE90FD-2A67-4F1C-8A5E-6FE36A4F61F0}" type="slidenum">
              <a:rPr lang="en-US" altLang="en-US" sz="800" i="0" smtClean="0">
                <a:solidFill>
                  <a:srgbClr val="000000"/>
                </a:solidFill>
                <a:latin typeface="Calibri"/>
                <a:cs typeface="+mn-cs"/>
              </a:rPr>
              <a:pPr algn="r">
                <a:defRPr/>
              </a:pPr>
              <a:t>3</a:t>
            </a:fld>
            <a:endParaRPr lang="en-US" altLang="en-US" sz="800" i="0" dirty="0">
              <a:solidFill>
                <a:srgbClr val="000000"/>
              </a:solidFill>
              <a:latin typeface="Calibri"/>
              <a:cs typeface="+mn-cs"/>
            </a:endParaRPr>
          </a:p>
        </p:txBody>
      </p:sp>
      <p:graphicFrame>
        <p:nvGraphicFramePr>
          <p:cNvPr id="4" name="Table 3">
            <a:extLst>
              <a:ext uri="{FF2B5EF4-FFF2-40B4-BE49-F238E27FC236}">
                <a16:creationId xmlns:a16="http://schemas.microsoft.com/office/drawing/2014/main" id="{EDEFFCBF-721B-4E24-ACE2-ABCEECEF10D0}"/>
              </a:ext>
            </a:extLst>
          </p:cNvPr>
          <p:cNvGraphicFramePr>
            <a:graphicFrameLocks noGrp="1"/>
          </p:cNvGraphicFramePr>
          <p:nvPr>
            <p:extLst>
              <p:ext uri="{D42A27DB-BD31-4B8C-83A1-F6EECF244321}">
                <p14:modId xmlns:p14="http://schemas.microsoft.com/office/powerpoint/2010/main" val="1346411717"/>
              </p:ext>
            </p:extLst>
          </p:nvPr>
        </p:nvGraphicFramePr>
        <p:xfrm>
          <a:off x="579396" y="1259169"/>
          <a:ext cx="7845551" cy="5059495"/>
        </p:xfrm>
        <a:graphic>
          <a:graphicData uri="http://schemas.openxmlformats.org/drawingml/2006/table">
            <a:tbl>
              <a:tblPr firstRow="1" bandRow="1"/>
              <a:tblGrid>
                <a:gridCol w="1087937">
                  <a:extLst>
                    <a:ext uri="{9D8B030D-6E8A-4147-A177-3AD203B41FA5}">
                      <a16:colId xmlns:a16="http://schemas.microsoft.com/office/drawing/2014/main" val="803488614"/>
                    </a:ext>
                  </a:extLst>
                </a:gridCol>
                <a:gridCol w="3034317">
                  <a:extLst>
                    <a:ext uri="{9D8B030D-6E8A-4147-A177-3AD203B41FA5}">
                      <a16:colId xmlns:a16="http://schemas.microsoft.com/office/drawing/2014/main" val="2149212134"/>
                    </a:ext>
                  </a:extLst>
                </a:gridCol>
                <a:gridCol w="3723297">
                  <a:extLst>
                    <a:ext uri="{9D8B030D-6E8A-4147-A177-3AD203B41FA5}">
                      <a16:colId xmlns:a16="http://schemas.microsoft.com/office/drawing/2014/main" val="1315670992"/>
                    </a:ext>
                  </a:extLst>
                </a:gridCol>
              </a:tblGrid>
              <a:tr h="329676">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BE050A"/>
                    </a:solidFill>
                  </a:tcPr>
                </a:tc>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pPr marL="0" algn="ctr" defTabSz="914303" rtl="0" eaLnBrk="1" latinLnBrk="0" hangingPunct="1"/>
                      <a:r>
                        <a:rPr lang="en-US" altLang="zh-CN" sz="1100" b="1" kern="1200" dirty="0">
                          <a:solidFill>
                            <a:schemeClr val="lt1"/>
                          </a:solidFill>
                          <a:latin typeface="Calibri" panose="020F0502020204030204" pitchFamily="34" charset="0"/>
                          <a:ea typeface="DFKaiShu-GB5" panose="03000509000000000000" pitchFamily="65" charset="-128"/>
                          <a:cs typeface="Calibri" panose="020F0502020204030204" pitchFamily="34" charset="0"/>
                        </a:rPr>
                        <a:t>Company</a:t>
                      </a:r>
                      <a:endParaRPr lang="en-US" sz="1100" b="1" kern="1200" dirty="0">
                        <a:solidFill>
                          <a:schemeClr val="lt1"/>
                        </a:solidFill>
                        <a:latin typeface="Calibri" panose="020F0502020204030204" pitchFamily="34" charset="0"/>
                        <a:ea typeface="DFKaiShu-GB5" panose="03000509000000000000" pitchFamily="65" charset="-128"/>
                        <a:cs typeface="Calibri" panose="020F050202020403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BE050A"/>
                    </a:solidFill>
                  </a:tcPr>
                </a:tc>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pPr marL="0" algn="ctr" defTabSz="914303" rtl="0" eaLnBrk="1" latinLnBrk="0" hangingPunct="1"/>
                      <a:r>
                        <a:rPr lang="en-US" sz="1100" dirty="0"/>
                        <a:t>REIT</a:t>
                      </a:r>
                      <a:endParaRPr lang="en-US" sz="1100" b="1" kern="1200" dirty="0">
                        <a:solidFill>
                          <a:schemeClr val="lt1"/>
                        </a:solidFill>
                        <a:latin typeface="Calibri" panose="020F0502020204030204" pitchFamily="34" charset="0"/>
                        <a:ea typeface="DFKaiShu-GB5" panose="03000509000000000000" pitchFamily="65" charset="-128"/>
                        <a:cs typeface="Calibri" panose="020F050202020403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BE050A"/>
                    </a:solidFill>
                  </a:tcPr>
                </a:tc>
                <a:extLst>
                  <a:ext uri="{0D108BD9-81ED-4DB2-BD59-A6C34878D82A}">
                    <a16:rowId xmlns:a16="http://schemas.microsoft.com/office/drawing/2014/main" val="2070801902"/>
                  </a:ext>
                </a:extLst>
              </a:tr>
              <a:tr h="762014">
                <a:tc>
                  <a:txBody>
                    <a:body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Operations and future growth and development</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Management and operations are internalized, eliminating the need to hire external managers</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REIT management companies are independent entities and can be spun off
Internal or external REIT management companies can be established (in Hong Kong, most are external).</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96462288"/>
                  </a:ext>
                </a:extLst>
              </a:tr>
              <a:tr h="1140755">
                <a:tc>
                  <a:txBody>
                    <a:body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Corporate governance</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The responsible body is the board of directors and management
At least three independent non-executive directors
It is required that one-third of directors be independent non-executive directors
At least one independent non-executive director possesses the relevant professional qualifications or accounting and related financial management skills</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Responsible persons are independent trustees and licensed REIT managers
The trustee and the REIT manager should be independent of each other
At least one-third of the directors of REIT managers are independent non-executive directors, and at least three directors</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96264481"/>
                  </a:ext>
                </a:extLst>
              </a:tr>
              <a:tr h="935045">
                <a:tc>
                  <a:txBody>
                    <a:body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Control</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lgn="l" defTabSz="914303" rtl="0" eaLnBrk="1" latinLnBrk="0" hangingPunct="1">
                        <a:buFont typeface="Arial" panose="020B0604020202020204" pitchFamily="34" charset="0"/>
                        <a:buChar char="•"/>
                      </a:pPr>
                      <a:r>
                        <a:rPr lang="en-US" altLang="zh-CN"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rPr>
                        <a:t>Control is related to the shares held with voting rights
Dismissal of directors: by ordinary resolution</a:t>
                      </a:r>
                      <a:endParaRPr lang="en-US"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lgn="l" defTabSz="914400" rtl="0" eaLnBrk="1" latinLnBrk="0" hangingPunct="1">
                        <a:buClr>
                          <a:srgbClr val="00B050"/>
                        </a:buClr>
                        <a:buFont typeface="Wingdings" panose="05000000000000000000" pitchFamily="2" charset="2"/>
                        <a:buChar char="ü"/>
                      </a:pPr>
                      <a:r>
                        <a:rPr lang="en-US" altLang="zh-CN"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rPr>
                        <a:t>Control can be separated from economic ownership
You can maintain control over assets through REIT managers while enjoying economic rights through the shares you hold</a:t>
                      </a:r>
                      <a:endParaRPr lang="zh-CN" altLang="en-US"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endParaRPr>
                    </a:p>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Recall of REIT Manager: Passing an ordinary resolution</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58251553"/>
                  </a:ext>
                </a:extLst>
              </a:tr>
              <a:tr h="935045">
                <a:tc>
                  <a:txBody>
                    <a:bodyPr/>
                    <a:lstStyle/>
                    <a:p>
                      <a:r>
                        <a:rPr lang="en-US" altLang="zh-TW" sz="1100" b="1" dirty="0">
                          <a:latin typeface="Calibri" panose="020F0502020204030204" pitchFamily="34" charset="0"/>
                          <a:ea typeface="DFKaiShu-GB5" panose="03000509000000000000" pitchFamily="65" charset="-128"/>
                          <a:cs typeface="Calibri" panose="020F0502020204030204" pitchFamily="34" charset="0"/>
                        </a:rPr>
                        <a:t>Investment restrictions</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defTabSz="914400" rtl="0" eaLnBrk="1" latinLnBrk="0" hangingPunct="1">
                        <a:buClr>
                          <a:srgbClr val="00B050"/>
                        </a:buClr>
                        <a:buFont typeface="Wingdings" panose="05000000000000000000" pitchFamily="2" charset="2"/>
                        <a:buChar char="ü"/>
                      </a:pPr>
                      <a:r>
                        <a:rPr lang="en-US" altLang="zh-TW"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rPr>
                        <a:t>Flexible</a:t>
                      </a:r>
                      <a:endParaRPr lang="en-US"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altLang="zh-CN" sz="1100" dirty="0">
                          <a:highlight>
                            <a:srgbClr val="FFFF00"/>
                          </a:highlight>
                          <a:latin typeface="Calibri" panose="020F0502020204030204" pitchFamily="34" charset="0"/>
                          <a:ea typeface="DFKaiShu-GB5" panose="03000509000000000000" pitchFamily="65" charset="-128"/>
                          <a:cs typeface="Calibri" panose="020F0502020204030204" pitchFamily="34" charset="0"/>
                        </a:rPr>
                        <a:t>At least 75% of REIT's total assets are invested in income-generating properties</a:t>
                      </a:r>
                      <a:r>
                        <a:rPr lang="en-US" altLang="zh-CN" sz="1100" dirty="0">
                          <a:latin typeface="Calibri" panose="020F0502020204030204" pitchFamily="34" charset="0"/>
                          <a:ea typeface="DFKaiShu-GB5" panose="03000509000000000000" pitchFamily="65" charset="-128"/>
                          <a:cs typeface="Calibri" panose="020F0502020204030204" pitchFamily="34" charset="0"/>
                        </a:rPr>
                        <a:t>
</a:t>
                      </a:r>
                      <a:r>
                        <a:rPr lang="en-US" altLang="zh-CN" sz="1100" dirty="0">
                          <a:highlight>
                            <a:srgbClr val="FFFF00"/>
                          </a:highlight>
                          <a:latin typeface="Calibri" panose="020F0502020204030204" pitchFamily="34" charset="0"/>
                          <a:ea typeface="DFKaiShu-GB5" panose="03000509000000000000" pitchFamily="65" charset="-128"/>
                          <a:cs typeface="Calibri" panose="020F0502020204030204" pitchFamily="34" charset="0"/>
                        </a:rPr>
                        <a:t>Investable vacant and non-income-generating or development projects, but not exceeding 25% of the REIT's total assets
Investable financial instruments, with a maximum ratio not exceeding 25% of the REIT's total assets</a:t>
                      </a:r>
                      <a:endParaRPr lang="en-US" sz="1100" dirty="0">
                        <a:highlight>
                          <a:srgbClr val="FFFF00"/>
                        </a:highlight>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9200494"/>
                  </a:ext>
                </a:extLst>
              </a:tr>
            </a:tbl>
          </a:graphicData>
        </a:graphic>
      </p:graphicFrame>
      <p:sp>
        <p:nvSpPr>
          <p:cNvPr id="5" name="Title 3">
            <a:extLst>
              <a:ext uri="{FF2B5EF4-FFF2-40B4-BE49-F238E27FC236}">
                <a16:creationId xmlns:a16="http://schemas.microsoft.com/office/drawing/2014/main" id="{38EC49F6-D61E-41C4-97C9-A9F327FB7ED1}"/>
              </a:ext>
            </a:extLst>
          </p:cNvPr>
          <p:cNvSpPr txBox="1">
            <a:spLocks/>
          </p:cNvSpPr>
          <p:nvPr/>
        </p:nvSpPr>
        <p:spPr>
          <a:xfrm>
            <a:off x="579396" y="988062"/>
            <a:ext cx="7845552" cy="400101"/>
          </a:xfrm>
          <a:prstGeom prst="rect">
            <a:avLst/>
          </a:prstGeom>
        </p:spPr>
        <p:txBody>
          <a:bodyPr/>
          <a:lstStyle>
            <a:lvl1pPr algn="l" rtl="0" eaLnBrk="1" fontAlgn="base" hangingPunct="1">
              <a:spcBef>
                <a:spcPct val="0"/>
              </a:spcBef>
              <a:spcAft>
                <a:spcPct val="0"/>
              </a:spcAft>
              <a:defRPr sz="2400" b="1" kern="1200">
                <a:solidFill>
                  <a:schemeClr val="tx1"/>
                </a:solidFill>
                <a:latin typeface="+mj-lt"/>
                <a:ea typeface="+mj-ea"/>
                <a:cs typeface="+mj-cs"/>
              </a:defRPr>
            </a:lvl1pPr>
            <a:lvl2pPr algn="l" rtl="0" eaLnBrk="1" fontAlgn="base" hangingPunct="1">
              <a:spcBef>
                <a:spcPct val="0"/>
              </a:spcBef>
              <a:spcAft>
                <a:spcPct val="0"/>
              </a:spcAft>
              <a:defRPr sz="2800" b="1">
                <a:solidFill>
                  <a:schemeClr val="tx1"/>
                </a:solidFill>
                <a:latin typeface="Arial" panose="020B0604020202020204" pitchFamily="34" charset="0"/>
              </a:defRPr>
            </a:lvl2pPr>
            <a:lvl3pPr algn="l" rtl="0" eaLnBrk="1" fontAlgn="base" hangingPunct="1">
              <a:spcBef>
                <a:spcPct val="0"/>
              </a:spcBef>
              <a:spcAft>
                <a:spcPct val="0"/>
              </a:spcAft>
              <a:defRPr sz="2800" b="1">
                <a:solidFill>
                  <a:schemeClr val="tx1"/>
                </a:solidFill>
                <a:latin typeface="Arial" panose="020B0604020202020204" pitchFamily="34" charset="0"/>
              </a:defRPr>
            </a:lvl3pPr>
            <a:lvl4pPr algn="l" rtl="0" eaLnBrk="1" fontAlgn="base" hangingPunct="1">
              <a:spcBef>
                <a:spcPct val="0"/>
              </a:spcBef>
              <a:spcAft>
                <a:spcPct val="0"/>
              </a:spcAft>
              <a:defRPr sz="2800" b="1">
                <a:solidFill>
                  <a:schemeClr val="tx1"/>
                </a:solidFill>
                <a:latin typeface="Arial" panose="020B0604020202020204" pitchFamily="34" charset="0"/>
              </a:defRPr>
            </a:lvl4pPr>
            <a:lvl5pPr algn="l" rtl="0" eaLnBrk="1" fontAlgn="base" hangingPunct="1">
              <a:spcBef>
                <a:spcPct val="0"/>
              </a:spcBef>
              <a:spcAft>
                <a:spcPct val="0"/>
              </a:spcAft>
              <a:defRPr sz="2800" b="1">
                <a:solidFill>
                  <a:schemeClr val="tx1"/>
                </a:solidFill>
                <a:latin typeface="Arial" panose="020B0604020202020204" pitchFamily="34" charset="0"/>
              </a:defRPr>
            </a:lvl5pPr>
            <a:lvl6pPr marL="457200" algn="l" rtl="0" eaLnBrk="1" fontAlgn="base" hangingPunct="1">
              <a:spcBef>
                <a:spcPct val="0"/>
              </a:spcBef>
              <a:spcAft>
                <a:spcPct val="0"/>
              </a:spcAft>
              <a:defRPr sz="2800" b="1">
                <a:solidFill>
                  <a:schemeClr val="tx1"/>
                </a:solidFill>
                <a:latin typeface="Arial" panose="020B0604020202020204" pitchFamily="34" charset="0"/>
              </a:defRPr>
            </a:lvl6pPr>
            <a:lvl7pPr marL="914400" algn="l" rtl="0" eaLnBrk="1" fontAlgn="base" hangingPunct="1">
              <a:spcBef>
                <a:spcPct val="0"/>
              </a:spcBef>
              <a:spcAft>
                <a:spcPct val="0"/>
              </a:spcAft>
              <a:defRPr sz="2800" b="1">
                <a:solidFill>
                  <a:schemeClr val="tx1"/>
                </a:solidFill>
                <a:latin typeface="Arial" panose="020B0604020202020204" pitchFamily="34" charset="0"/>
              </a:defRPr>
            </a:lvl7pPr>
            <a:lvl8pPr marL="1371600" algn="l" rtl="0" eaLnBrk="1" fontAlgn="base" hangingPunct="1">
              <a:spcBef>
                <a:spcPct val="0"/>
              </a:spcBef>
              <a:spcAft>
                <a:spcPct val="0"/>
              </a:spcAft>
              <a:defRPr sz="2800" b="1">
                <a:solidFill>
                  <a:schemeClr val="tx1"/>
                </a:solidFill>
                <a:latin typeface="Arial" panose="020B0604020202020204" pitchFamily="34" charset="0"/>
              </a:defRPr>
            </a:lvl8pPr>
            <a:lvl9pPr marL="1828800" algn="l" rtl="0" eaLnBrk="1" fontAlgn="base" hangingPunct="1">
              <a:spcBef>
                <a:spcPct val="0"/>
              </a:spcBef>
              <a:spcAft>
                <a:spcPct val="0"/>
              </a:spcAft>
              <a:defRPr sz="2800" b="1">
                <a:solidFill>
                  <a:schemeClr val="tx1"/>
                </a:solidFill>
                <a:latin typeface="Arial" panose="020B0604020202020204" pitchFamily="34" charset="0"/>
              </a:defRPr>
            </a:lvl9pPr>
          </a:lstStyle>
          <a:p>
            <a:r>
              <a:rPr lang="en-US" altLang="zh-CN" sz="1400" u="sng" dirty="0">
                <a:solidFill>
                  <a:srgbClr val="C00000"/>
                </a:solidFill>
                <a:latin typeface="Calibri" panose="020F0502020204030204" pitchFamily="34" charset="0"/>
                <a:ea typeface="DFKaiShu-GB5" panose="03000509000000000000" pitchFamily="65" charset="-128"/>
              </a:rPr>
              <a:t>Post-listing matters</a:t>
            </a:r>
            <a:endParaRPr lang="zh-CN" altLang="en-US" sz="1400" i="0" u="sng" dirty="0">
              <a:solidFill>
                <a:srgbClr val="C00000"/>
              </a:solidFill>
              <a:latin typeface="Calibri" panose="020F0502020204030204" pitchFamily="34" charset="0"/>
              <a:ea typeface="DFKaiShu-GB5" panose="03000509000000000000" pitchFamily="65" charset="-128"/>
            </a:endParaRPr>
          </a:p>
        </p:txBody>
      </p:sp>
    </p:spTree>
    <p:extLst>
      <p:ext uri="{BB962C8B-B14F-4D97-AF65-F5344CB8AC3E}">
        <p14:creationId xmlns:p14="http://schemas.microsoft.com/office/powerpoint/2010/main" val="2653864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D526280-348D-4569-8A97-5381F559059F}"/>
              </a:ext>
            </a:extLst>
          </p:cNvPr>
          <p:cNvSpPr>
            <a:spLocks noGrp="1"/>
          </p:cNvSpPr>
          <p:nvPr>
            <p:ph type="title"/>
          </p:nvPr>
        </p:nvSpPr>
        <p:spPr>
          <a:xfrm>
            <a:off x="708102" y="506602"/>
            <a:ext cx="8049358" cy="400110"/>
          </a:xfrm>
        </p:spPr>
        <p:txBody>
          <a:bodyPr/>
          <a:lstStyle/>
          <a:p>
            <a:r>
              <a:rPr lang="en-US" dirty="0"/>
              <a:t>Comparison Between REIT and Company Listing (4/5)</a:t>
            </a:r>
            <a:endParaRPr lang="en-SG" dirty="0">
              <a:ea typeface="+mn-ea"/>
            </a:endParaRPr>
          </a:p>
        </p:txBody>
      </p:sp>
      <p:sp>
        <p:nvSpPr>
          <p:cNvPr id="12" name="Slide Number Placeholder 2">
            <a:extLst>
              <a:ext uri="{FF2B5EF4-FFF2-40B4-BE49-F238E27FC236}">
                <a16:creationId xmlns:a16="http://schemas.microsoft.com/office/drawing/2014/main" id="{66A83794-04F4-4312-9B88-6EA4924EBBF5}"/>
              </a:ext>
            </a:extLst>
          </p:cNvPr>
          <p:cNvSpPr txBox="1">
            <a:spLocks/>
          </p:cNvSpPr>
          <p:nvPr/>
        </p:nvSpPr>
        <p:spPr>
          <a:xfrm>
            <a:off x="7897813" y="6398780"/>
            <a:ext cx="1066800" cy="217937"/>
          </a:xfrm>
          <a:prstGeom prst="rect">
            <a:avLst/>
          </a:prstGeom>
        </p:spPr>
        <p:txBody>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algn="r">
              <a:defRPr/>
            </a:pPr>
            <a:fld id="{17AE90FD-2A67-4F1C-8A5E-6FE36A4F61F0}" type="slidenum">
              <a:rPr lang="en-US" altLang="en-US" sz="800" i="0" smtClean="0">
                <a:solidFill>
                  <a:srgbClr val="000000"/>
                </a:solidFill>
                <a:latin typeface="Calibri"/>
                <a:cs typeface="+mn-cs"/>
              </a:rPr>
              <a:pPr algn="r">
                <a:defRPr/>
              </a:pPr>
              <a:t>4</a:t>
            </a:fld>
            <a:endParaRPr lang="en-US" altLang="en-US" sz="800" i="0" dirty="0">
              <a:solidFill>
                <a:srgbClr val="000000"/>
              </a:solidFill>
              <a:latin typeface="Calibri"/>
              <a:cs typeface="+mn-cs"/>
            </a:endParaRPr>
          </a:p>
        </p:txBody>
      </p:sp>
      <p:graphicFrame>
        <p:nvGraphicFramePr>
          <p:cNvPr id="4" name="Table 3">
            <a:extLst>
              <a:ext uri="{FF2B5EF4-FFF2-40B4-BE49-F238E27FC236}">
                <a16:creationId xmlns:a16="http://schemas.microsoft.com/office/drawing/2014/main" id="{8D21FA18-C9E4-448E-B214-EF175E864B69}"/>
              </a:ext>
            </a:extLst>
          </p:cNvPr>
          <p:cNvGraphicFramePr>
            <a:graphicFrameLocks noGrp="1"/>
          </p:cNvGraphicFramePr>
          <p:nvPr>
            <p:extLst>
              <p:ext uri="{D42A27DB-BD31-4B8C-83A1-F6EECF244321}">
                <p14:modId xmlns:p14="http://schemas.microsoft.com/office/powerpoint/2010/main" val="1182113477"/>
              </p:ext>
            </p:extLst>
          </p:nvPr>
        </p:nvGraphicFramePr>
        <p:xfrm>
          <a:off x="579396" y="1273742"/>
          <a:ext cx="7902131" cy="4722489"/>
        </p:xfrm>
        <a:graphic>
          <a:graphicData uri="http://schemas.openxmlformats.org/drawingml/2006/table">
            <a:tbl>
              <a:tblPr firstRow="1" bandRow="1"/>
              <a:tblGrid>
                <a:gridCol w="1174952">
                  <a:extLst>
                    <a:ext uri="{9D8B030D-6E8A-4147-A177-3AD203B41FA5}">
                      <a16:colId xmlns:a16="http://schemas.microsoft.com/office/drawing/2014/main" val="803488614"/>
                    </a:ext>
                  </a:extLst>
                </a:gridCol>
                <a:gridCol w="2665217">
                  <a:extLst>
                    <a:ext uri="{9D8B030D-6E8A-4147-A177-3AD203B41FA5}">
                      <a16:colId xmlns:a16="http://schemas.microsoft.com/office/drawing/2014/main" val="2149212134"/>
                    </a:ext>
                  </a:extLst>
                </a:gridCol>
                <a:gridCol w="4061962">
                  <a:extLst>
                    <a:ext uri="{9D8B030D-6E8A-4147-A177-3AD203B41FA5}">
                      <a16:colId xmlns:a16="http://schemas.microsoft.com/office/drawing/2014/main" val="1315670992"/>
                    </a:ext>
                  </a:extLst>
                </a:gridCol>
              </a:tblGrid>
              <a:tr h="347472">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BE050A"/>
                    </a:solidFill>
                  </a:tcPr>
                </a:tc>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pPr marL="0" algn="ctr" defTabSz="914303" rtl="0" eaLnBrk="1" latinLnBrk="0" hangingPunct="1"/>
                      <a:r>
                        <a:rPr lang="en-US" altLang="zh-CN" sz="1100" b="1" kern="1200" dirty="0">
                          <a:solidFill>
                            <a:schemeClr val="lt1"/>
                          </a:solidFill>
                          <a:latin typeface="Calibri" panose="020F0502020204030204" pitchFamily="34" charset="0"/>
                          <a:ea typeface="DFKaiShu-GB5" panose="03000509000000000000" pitchFamily="65" charset="-128"/>
                          <a:cs typeface="Calibri" panose="020F0502020204030204" pitchFamily="34" charset="0"/>
                        </a:rPr>
                        <a:t>Company</a:t>
                      </a:r>
                      <a:endParaRPr lang="en-US" sz="1100" b="1" kern="1200" dirty="0">
                        <a:solidFill>
                          <a:schemeClr val="lt1"/>
                        </a:solidFill>
                        <a:latin typeface="Calibri" panose="020F0502020204030204" pitchFamily="34" charset="0"/>
                        <a:ea typeface="DFKaiShu-GB5" panose="03000509000000000000" pitchFamily="65" charset="-128"/>
                        <a:cs typeface="Calibri" panose="020F050202020403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BE050A"/>
                    </a:solidFill>
                  </a:tcPr>
                </a:tc>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pPr marL="0" algn="ctr" defTabSz="914303" rtl="0" eaLnBrk="1" latinLnBrk="0" hangingPunct="1"/>
                      <a:r>
                        <a:rPr lang="en-US" sz="1100" dirty="0"/>
                        <a:t>REIT</a:t>
                      </a:r>
                      <a:endParaRPr lang="en-US" sz="1100" b="1" kern="1200" dirty="0">
                        <a:solidFill>
                          <a:schemeClr val="lt1"/>
                        </a:solidFill>
                        <a:latin typeface="Calibri" panose="020F0502020204030204" pitchFamily="34" charset="0"/>
                        <a:ea typeface="DFKaiShu-GB5" panose="03000509000000000000" pitchFamily="65" charset="-128"/>
                        <a:cs typeface="Calibri" panose="020F050202020403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BE050A"/>
                    </a:solidFill>
                  </a:tcPr>
                </a:tc>
                <a:extLst>
                  <a:ext uri="{0D108BD9-81ED-4DB2-BD59-A6C34878D82A}">
                    <a16:rowId xmlns:a16="http://schemas.microsoft.com/office/drawing/2014/main" val="2070801902"/>
                  </a:ext>
                </a:extLst>
              </a:tr>
              <a:tr h="938350">
                <a:tc>
                  <a:txBody>
                    <a:body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Dividends</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Dividends are limited by accounting profit</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Distributions are drawn from capital or cash flow based on solvency
Distributions that exceed accounting profits can be made</a:t>
                      </a:r>
                      <a:endParaRPr lang="zh-CN" altLang="en-US" sz="1100" dirty="0">
                        <a:latin typeface="Calibri" panose="020F0502020204030204" pitchFamily="34" charset="0"/>
                        <a:ea typeface="DFKaiShu-GB5" panose="03000509000000000000" pitchFamily="65" charset="-128"/>
                        <a:cs typeface="Calibri" panose="020F0502020204030204" pitchFamily="34" charset="0"/>
                      </a:endParaRPr>
                    </a:p>
                    <a:p>
                      <a:pPr marL="171450" indent="-171450">
                        <a:buClr>
                          <a:srgbClr val="00B050"/>
                        </a:buClr>
                        <a:buFont typeface="Wingdings" panose="05000000000000000000" pitchFamily="2" charset="2"/>
                        <a:buChar char="ü"/>
                      </a:pPr>
                      <a:r>
                        <a:rPr lang="en-US" altLang="zh-CN" sz="1100" dirty="0">
                          <a:highlight>
                            <a:srgbClr val="FFFF00"/>
                          </a:highlight>
                          <a:latin typeface="Calibri" panose="020F0502020204030204" pitchFamily="34" charset="0"/>
                          <a:ea typeface="DFKaiShu-GB5" panose="03000509000000000000" pitchFamily="65" charset="-128"/>
                          <a:cs typeface="Calibri" panose="020F0502020204030204" pitchFamily="34" charset="0"/>
                        </a:rPr>
                        <a:t>Not less than 90% of the annual audited net income after tax</a:t>
                      </a:r>
                      <a:endParaRPr lang="en-US" sz="1100" dirty="0">
                        <a:highlight>
                          <a:srgbClr val="FFFF00"/>
                        </a:highlight>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96462288"/>
                  </a:ext>
                </a:extLst>
              </a:tr>
              <a:tr h="496111">
                <a:tc>
                  <a:txBody>
                    <a:body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Leverage ratio</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lgn="l" defTabSz="914400" rtl="0" eaLnBrk="1" latinLnBrk="0" hangingPunct="1">
                        <a:buClr>
                          <a:srgbClr val="00B050"/>
                        </a:buClr>
                        <a:buFont typeface="Wingdings" panose="05000000000000000000" pitchFamily="2" charset="2"/>
                        <a:buChar char="ü"/>
                      </a:pPr>
                      <a:r>
                        <a:rPr lang="en-US" altLang="zh-CN"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rPr>
                        <a:t>Generally, there are no restrictions</a:t>
                      </a:r>
                      <a:endParaRPr lang="en-US"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Clr>
                          <a:srgbClr val="FF0000"/>
                        </a:buClr>
                        <a:buFont typeface="Wingdings" panose="05000000000000000000" pitchFamily="2" charset="2"/>
                        <a:buChar char="û"/>
                      </a:pPr>
                      <a:r>
                        <a:rPr lang="en-US" altLang="zh-CN" sz="1100" dirty="0">
                          <a:highlight>
                            <a:srgbClr val="FFFF00"/>
                          </a:highlight>
                          <a:latin typeface="Calibri" panose="020F0502020204030204" pitchFamily="34" charset="0"/>
                          <a:ea typeface="DFKaiShu-GB5" panose="03000509000000000000" pitchFamily="65" charset="-128"/>
                          <a:cs typeface="Calibri" panose="020F0502020204030204" pitchFamily="34" charset="0"/>
                        </a:rPr>
                        <a:t>Capped at 50%</a:t>
                      </a:r>
                      <a:endParaRPr lang="en-US" sz="1100" dirty="0">
                        <a:highlight>
                          <a:srgbClr val="FFFF00"/>
                        </a:highlight>
                        <a:latin typeface="Calibri" panose="020F0502020204030204" pitchFamily="34" charset="0"/>
                        <a:ea typeface="DFKaiShu-GB5" panose="03000509000000000000" pitchFamily="65" charset="-128"/>
                        <a:cs typeface="Calibri" panose="020F050202020403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98874547"/>
                  </a:ext>
                </a:extLst>
              </a:tr>
              <a:tr h="410716">
                <a:tc>
                  <a:txBody>
                    <a:body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Financing costs</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lgn="l" defTabSz="914303" rtl="0" eaLnBrk="1" latinLnBrk="0" hangingPunct="1">
                        <a:buFont typeface="Arial" panose="020B0604020202020204" pitchFamily="34" charset="0"/>
                        <a:buChar char="•"/>
                      </a:pPr>
                      <a:r>
                        <a:rPr lang="en-US" altLang="zh-CN"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rPr>
                        <a:t>Similar to the original company</a:t>
                      </a:r>
                      <a:endParaRPr lang="en-US"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lgn="l" defTabSz="914400" rtl="0" eaLnBrk="1" latinLnBrk="0" hangingPunct="1">
                        <a:buClr>
                          <a:srgbClr val="00B050"/>
                        </a:buClr>
                        <a:buFont typeface="Wingdings" panose="05000000000000000000" pitchFamily="2" charset="2"/>
                        <a:buChar char="ü"/>
                      </a:pPr>
                      <a:r>
                        <a:rPr lang="en-US" altLang="zh-CN"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rPr>
                        <a:t>Lowest financing costs</a:t>
                      </a:r>
                      <a:endParaRPr lang="en-US"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96264481"/>
                  </a:ext>
                </a:extLst>
              </a:tr>
              <a:tr h="281302">
                <a:tc>
                  <a:txBody>
                    <a:bodyPr/>
                    <a:lstStyle/>
                    <a:p>
                      <a:r>
                        <a:rPr lang="en-US" altLang="zh-TW" sz="1100" b="1" dirty="0">
                          <a:latin typeface="Calibri" panose="020F0502020204030204" pitchFamily="34" charset="0"/>
                          <a:ea typeface="DFKaiShu-GB5" panose="03000509000000000000" pitchFamily="65" charset="-128"/>
                          <a:cs typeface="Calibri" panose="020F0502020204030204" pitchFamily="34" charset="0"/>
                        </a:rPr>
                        <a:t>Taxation</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lgn="l" defTabSz="914400" rtl="0" eaLnBrk="1" latinLnBrk="0" hangingPunct="1">
                        <a:buClr>
                          <a:srgbClr val="FF0000"/>
                        </a:buClr>
                        <a:buFont typeface="Wingdings" panose="05000000000000000000" pitchFamily="2" charset="2"/>
                        <a:buChar char="û"/>
                      </a:pPr>
                      <a:r>
                        <a:rPr lang="en-US" altLang="zh-CN"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rPr>
                        <a:t>If a company conducts business in Hong Kong or earns profits from Hong Kong, it must pay corporate income tax at Hong Kong's corporate income tax rate</a:t>
                      </a:r>
                    </a:p>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Dividends received by stockholders are not subject to income tax
Stamp duty must be paid when buying and selling shares</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lgn="l" defTabSz="914400" rtl="0" eaLnBrk="1" latinLnBrk="0" hangingPunct="1">
                        <a:buClr>
                          <a:srgbClr val="00B050"/>
                        </a:buClr>
                        <a:buFont typeface="Wingdings" panose="05000000000000000000" pitchFamily="2" charset="2"/>
                        <a:buChar char="ü"/>
                      </a:pPr>
                      <a:r>
                        <a:rPr lang="en-US" altLang="zh-CN"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rPr>
                        <a:t>REITs authorized by the Listing Rules of the Stock Exchange are exempt from Hong Kong profits tax</a:t>
                      </a:r>
                      <a:endParaRPr lang="zh-CN" altLang="en-US"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endParaRPr>
                    </a:p>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Distributions received by unit holders are exempt from income tax
Stamp duty must be paid when buying or selling REIT units</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58251553"/>
                  </a:ext>
                </a:extLst>
              </a:tr>
              <a:tr h="205740">
                <a:tc>
                  <a:txBody>
                    <a:body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Shareholders exited after listing</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180-day sales restriction
The controlling shareholder cannot change their controlling position within one year
No other requirements except for disclosure</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180-day sales restriction
No other requirements except for disclosure</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9200494"/>
                  </a:ext>
                </a:extLst>
              </a:tr>
            </a:tbl>
          </a:graphicData>
        </a:graphic>
      </p:graphicFrame>
      <p:sp>
        <p:nvSpPr>
          <p:cNvPr id="5" name="Title 3">
            <a:extLst>
              <a:ext uri="{FF2B5EF4-FFF2-40B4-BE49-F238E27FC236}">
                <a16:creationId xmlns:a16="http://schemas.microsoft.com/office/drawing/2014/main" id="{F8EB36FC-EDC9-44D9-867A-882D98587971}"/>
              </a:ext>
            </a:extLst>
          </p:cNvPr>
          <p:cNvSpPr txBox="1">
            <a:spLocks/>
          </p:cNvSpPr>
          <p:nvPr/>
        </p:nvSpPr>
        <p:spPr>
          <a:xfrm>
            <a:off x="579396" y="962532"/>
            <a:ext cx="7845552" cy="400101"/>
          </a:xfrm>
          <a:prstGeom prst="rect">
            <a:avLst/>
          </a:prstGeom>
        </p:spPr>
        <p:txBody>
          <a:bodyPr/>
          <a:lstStyle>
            <a:lvl1pPr algn="l" rtl="0" eaLnBrk="1" fontAlgn="base" hangingPunct="1">
              <a:spcBef>
                <a:spcPct val="0"/>
              </a:spcBef>
              <a:spcAft>
                <a:spcPct val="0"/>
              </a:spcAft>
              <a:defRPr sz="2400" b="1" kern="1200">
                <a:solidFill>
                  <a:schemeClr val="tx1"/>
                </a:solidFill>
                <a:latin typeface="+mj-lt"/>
                <a:ea typeface="+mj-ea"/>
                <a:cs typeface="+mj-cs"/>
              </a:defRPr>
            </a:lvl1pPr>
            <a:lvl2pPr algn="l" rtl="0" eaLnBrk="1" fontAlgn="base" hangingPunct="1">
              <a:spcBef>
                <a:spcPct val="0"/>
              </a:spcBef>
              <a:spcAft>
                <a:spcPct val="0"/>
              </a:spcAft>
              <a:defRPr sz="2800" b="1">
                <a:solidFill>
                  <a:schemeClr val="tx1"/>
                </a:solidFill>
                <a:latin typeface="Arial" panose="020B0604020202020204" pitchFamily="34" charset="0"/>
              </a:defRPr>
            </a:lvl2pPr>
            <a:lvl3pPr algn="l" rtl="0" eaLnBrk="1" fontAlgn="base" hangingPunct="1">
              <a:spcBef>
                <a:spcPct val="0"/>
              </a:spcBef>
              <a:spcAft>
                <a:spcPct val="0"/>
              </a:spcAft>
              <a:defRPr sz="2800" b="1">
                <a:solidFill>
                  <a:schemeClr val="tx1"/>
                </a:solidFill>
                <a:latin typeface="Arial" panose="020B0604020202020204" pitchFamily="34" charset="0"/>
              </a:defRPr>
            </a:lvl3pPr>
            <a:lvl4pPr algn="l" rtl="0" eaLnBrk="1" fontAlgn="base" hangingPunct="1">
              <a:spcBef>
                <a:spcPct val="0"/>
              </a:spcBef>
              <a:spcAft>
                <a:spcPct val="0"/>
              </a:spcAft>
              <a:defRPr sz="2800" b="1">
                <a:solidFill>
                  <a:schemeClr val="tx1"/>
                </a:solidFill>
                <a:latin typeface="Arial" panose="020B0604020202020204" pitchFamily="34" charset="0"/>
              </a:defRPr>
            </a:lvl4pPr>
            <a:lvl5pPr algn="l" rtl="0" eaLnBrk="1" fontAlgn="base" hangingPunct="1">
              <a:spcBef>
                <a:spcPct val="0"/>
              </a:spcBef>
              <a:spcAft>
                <a:spcPct val="0"/>
              </a:spcAft>
              <a:defRPr sz="2800" b="1">
                <a:solidFill>
                  <a:schemeClr val="tx1"/>
                </a:solidFill>
                <a:latin typeface="Arial" panose="020B0604020202020204" pitchFamily="34" charset="0"/>
              </a:defRPr>
            </a:lvl5pPr>
            <a:lvl6pPr marL="457200" algn="l" rtl="0" eaLnBrk="1" fontAlgn="base" hangingPunct="1">
              <a:spcBef>
                <a:spcPct val="0"/>
              </a:spcBef>
              <a:spcAft>
                <a:spcPct val="0"/>
              </a:spcAft>
              <a:defRPr sz="2800" b="1">
                <a:solidFill>
                  <a:schemeClr val="tx1"/>
                </a:solidFill>
                <a:latin typeface="Arial" panose="020B0604020202020204" pitchFamily="34" charset="0"/>
              </a:defRPr>
            </a:lvl6pPr>
            <a:lvl7pPr marL="914400" algn="l" rtl="0" eaLnBrk="1" fontAlgn="base" hangingPunct="1">
              <a:spcBef>
                <a:spcPct val="0"/>
              </a:spcBef>
              <a:spcAft>
                <a:spcPct val="0"/>
              </a:spcAft>
              <a:defRPr sz="2800" b="1">
                <a:solidFill>
                  <a:schemeClr val="tx1"/>
                </a:solidFill>
                <a:latin typeface="Arial" panose="020B0604020202020204" pitchFamily="34" charset="0"/>
              </a:defRPr>
            </a:lvl7pPr>
            <a:lvl8pPr marL="1371600" algn="l" rtl="0" eaLnBrk="1" fontAlgn="base" hangingPunct="1">
              <a:spcBef>
                <a:spcPct val="0"/>
              </a:spcBef>
              <a:spcAft>
                <a:spcPct val="0"/>
              </a:spcAft>
              <a:defRPr sz="2800" b="1">
                <a:solidFill>
                  <a:schemeClr val="tx1"/>
                </a:solidFill>
                <a:latin typeface="Arial" panose="020B0604020202020204" pitchFamily="34" charset="0"/>
              </a:defRPr>
            </a:lvl8pPr>
            <a:lvl9pPr marL="1828800" algn="l" rtl="0" eaLnBrk="1" fontAlgn="base" hangingPunct="1">
              <a:spcBef>
                <a:spcPct val="0"/>
              </a:spcBef>
              <a:spcAft>
                <a:spcPct val="0"/>
              </a:spcAft>
              <a:defRPr sz="2800" b="1">
                <a:solidFill>
                  <a:schemeClr val="tx1"/>
                </a:solidFill>
                <a:latin typeface="Arial" panose="020B0604020202020204" pitchFamily="34" charset="0"/>
              </a:defRPr>
            </a:lvl9pPr>
          </a:lstStyle>
          <a:p>
            <a:r>
              <a:rPr lang="en-US" altLang="zh-CN" sz="1400" u="sng" dirty="0">
                <a:solidFill>
                  <a:srgbClr val="C00000"/>
                </a:solidFill>
                <a:latin typeface="Calibri" panose="020F0502020204030204" pitchFamily="34" charset="0"/>
                <a:ea typeface="DFKaiShu-GB5" panose="03000509000000000000" pitchFamily="65" charset="-128"/>
              </a:rPr>
              <a:t>Post-Listing Matters (Continued)</a:t>
            </a:r>
            <a:endParaRPr lang="zh-CN" altLang="en-US" sz="1400" i="0" u="sng" dirty="0">
              <a:solidFill>
                <a:srgbClr val="C00000"/>
              </a:solidFill>
              <a:latin typeface="Calibri" panose="020F0502020204030204" pitchFamily="34" charset="0"/>
              <a:ea typeface="DFKaiShu-GB5" panose="03000509000000000000" pitchFamily="65" charset="-128"/>
            </a:endParaRPr>
          </a:p>
        </p:txBody>
      </p:sp>
    </p:spTree>
    <p:extLst>
      <p:ext uri="{BB962C8B-B14F-4D97-AF65-F5344CB8AC3E}">
        <p14:creationId xmlns:p14="http://schemas.microsoft.com/office/powerpoint/2010/main" val="288870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D526280-348D-4569-8A97-5381F559059F}"/>
              </a:ext>
            </a:extLst>
          </p:cNvPr>
          <p:cNvSpPr>
            <a:spLocks noGrp="1"/>
          </p:cNvSpPr>
          <p:nvPr>
            <p:ph type="title"/>
          </p:nvPr>
        </p:nvSpPr>
        <p:spPr>
          <a:xfrm>
            <a:off x="708102" y="506602"/>
            <a:ext cx="8049358" cy="400110"/>
          </a:xfrm>
        </p:spPr>
        <p:txBody>
          <a:bodyPr/>
          <a:lstStyle/>
          <a:p>
            <a:r>
              <a:rPr lang="en-US" dirty="0"/>
              <a:t>Comparison Between REIT and Company Listing (5/5)</a:t>
            </a:r>
            <a:endParaRPr lang="en-SG" dirty="0">
              <a:ea typeface="+mn-ea"/>
            </a:endParaRPr>
          </a:p>
        </p:txBody>
      </p:sp>
      <p:sp>
        <p:nvSpPr>
          <p:cNvPr id="12" name="Slide Number Placeholder 2">
            <a:extLst>
              <a:ext uri="{FF2B5EF4-FFF2-40B4-BE49-F238E27FC236}">
                <a16:creationId xmlns:a16="http://schemas.microsoft.com/office/drawing/2014/main" id="{66A83794-04F4-4312-9B88-6EA4924EBBF5}"/>
              </a:ext>
            </a:extLst>
          </p:cNvPr>
          <p:cNvSpPr txBox="1">
            <a:spLocks/>
          </p:cNvSpPr>
          <p:nvPr/>
        </p:nvSpPr>
        <p:spPr>
          <a:xfrm>
            <a:off x="7897813" y="6398780"/>
            <a:ext cx="1066800" cy="217937"/>
          </a:xfrm>
          <a:prstGeom prst="rect">
            <a:avLst/>
          </a:prstGeom>
        </p:spPr>
        <p:txBody>
          <a:bodyPr/>
          <a:lstStyle>
            <a:defPPr>
              <a:defRPr lang="en-US"/>
            </a:defPPr>
            <a:lvl1pPr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1pPr>
            <a:lvl2pPr marL="457152"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2pPr>
            <a:lvl3pPr marL="914303"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3pPr>
            <a:lvl4pPr marL="1371455"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4pPr>
            <a:lvl5pPr marL="1828606" algn="l" rtl="0" eaLnBrk="0" fontAlgn="base" hangingPunct="0">
              <a:spcBef>
                <a:spcPct val="0"/>
              </a:spcBef>
              <a:spcAft>
                <a:spcPct val="200000"/>
              </a:spcAft>
              <a:buClr>
                <a:srgbClr val="BE050A"/>
              </a:buClr>
              <a:buFont typeface="Wingdings" pitchFamily="2" charset="2"/>
              <a:defRPr sz="1200" i="1" kern="1200">
                <a:solidFill>
                  <a:schemeClr val="tx1"/>
                </a:solidFill>
                <a:latin typeface="Calibri" pitchFamily="34" charset="0"/>
                <a:ea typeface="DFKaiShu-GB5" pitchFamily="65" charset="-128"/>
                <a:cs typeface="DFKaiShu-GB5" pitchFamily="65" charset="-128"/>
              </a:defRPr>
            </a:lvl5pPr>
            <a:lvl6pPr marL="2285758"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6pPr>
            <a:lvl7pPr marL="2742909"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7pPr>
            <a:lvl8pPr marL="3200061"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8pPr>
            <a:lvl9pPr marL="3657212" algn="l" defTabSz="914303" rtl="0" eaLnBrk="1" latinLnBrk="0" hangingPunct="1">
              <a:defRPr sz="1200" i="1" kern="1200">
                <a:solidFill>
                  <a:schemeClr val="tx1"/>
                </a:solidFill>
                <a:latin typeface="Calibri" pitchFamily="34" charset="0"/>
                <a:ea typeface="DFKaiShu-GB5" pitchFamily="65" charset="-128"/>
                <a:cs typeface="DFKaiShu-GB5" pitchFamily="65" charset="-128"/>
              </a:defRPr>
            </a:lvl9pPr>
          </a:lstStyle>
          <a:p>
            <a:pPr algn="r">
              <a:defRPr/>
            </a:pPr>
            <a:fld id="{17AE90FD-2A67-4F1C-8A5E-6FE36A4F61F0}" type="slidenum">
              <a:rPr lang="en-US" altLang="en-US" sz="800" i="0" smtClean="0">
                <a:solidFill>
                  <a:srgbClr val="000000"/>
                </a:solidFill>
                <a:latin typeface="Calibri"/>
                <a:cs typeface="+mn-cs"/>
              </a:rPr>
              <a:pPr algn="r">
                <a:defRPr/>
              </a:pPr>
              <a:t>5</a:t>
            </a:fld>
            <a:endParaRPr lang="en-US" altLang="en-US" sz="800" i="0" dirty="0">
              <a:solidFill>
                <a:srgbClr val="000000"/>
              </a:solidFill>
              <a:latin typeface="Calibri"/>
              <a:cs typeface="+mn-cs"/>
            </a:endParaRPr>
          </a:p>
        </p:txBody>
      </p:sp>
      <p:graphicFrame>
        <p:nvGraphicFramePr>
          <p:cNvPr id="4" name="Table 3">
            <a:extLst>
              <a:ext uri="{FF2B5EF4-FFF2-40B4-BE49-F238E27FC236}">
                <a16:creationId xmlns:a16="http://schemas.microsoft.com/office/drawing/2014/main" id="{D20C5C42-1449-4488-ABDD-016185509440}"/>
              </a:ext>
            </a:extLst>
          </p:cNvPr>
          <p:cNvGraphicFramePr>
            <a:graphicFrameLocks noGrp="1"/>
          </p:cNvGraphicFramePr>
          <p:nvPr>
            <p:extLst>
              <p:ext uri="{D42A27DB-BD31-4B8C-83A1-F6EECF244321}">
                <p14:modId xmlns:p14="http://schemas.microsoft.com/office/powerpoint/2010/main" val="876888813"/>
              </p:ext>
            </p:extLst>
          </p:nvPr>
        </p:nvGraphicFramePr>
        <p:xfrm>
          <a:off x="649224" y="1318727"/>
          <a:ext cx="7845552" cy="3865124"/>
        </p:xfrm>
        <a:graphic>
          <a:graphicData uri="http://schemas.openxmlformats.org/drawingml/2006/table">
            <a:tbl>
              <a:tblPr firstRow="1" bandRow="1"/>
              <a:tblGrid>
                <a:gridCol w="1093267">
                  <a:extLst>
                    <a:ext uri="{9D8B030D-6E8A-4147-A177-3AD203B41FA5}">
                      <a16:colId xmlns:a16="http://schemas.microsoft.com/office/drawing/2014/main" val="803488614"/>
                    </a:ext>
                  </a:extLst>
                </a:gridCol>
                <a:gridCol w="2666508">
                  <a:extLst>
                    <a:ext uri="{9D8B030D-6E8A-4147-A177-3AD203B41FA5}">
                      <a16:colId xmlns:a16="http://schemas.microsoft.com/office/drawing/2014/main" val="2149212134"/>
                    </a:ext>
                  </a:extLst>
                </a:gridCol>
                <a:gridCol w="4085777">
                  <a:extLst>
                    <a:ext uri="{9D8B030D-6E8A-4147-A177-3AD203B41FA5}">
                      <a16:colId xmlns:a16="http://schemas.microsoft.com/office/drawing/2014/main" val="1315670992"/>
                    </a:ext>
                  </a:extLst>
                </a:gridCol>
              </a:tblGrid>
              <a:tr h="347472">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BE050A"/>
                    </a:solidFill>
                  </a:tcPr>
                </a:tc>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pPr marL="0" algn="ctr" defTabSz="914303" rtl="0" eaLnBrk="1" latinLnBrk="0" hangingPunct="1"/>
                      <a:r>
                        <a:rPr lang="en-US" altLang="zh-CN" sz="1100" b="1" kern="1200" dirty="0">
                          <a:solidFill>
                            <a:schemeClr val="lt1"/>
                          </a:solidFill>
                          <a:latin typeface="Calibri" panose="020F0502020204030204" pitchFamily="34" charset="0"/>
                          <a:ea typeface="DFKaiShu-GB5" panose="03000509000000000000" pitchFamily="65" charset="-128"/>
                          <a:cs typeface="Calibri" panose="020F0502020204030204" pitchFamily="34" charset="0"/>
                        </a:rPr>
                        <a:t>Company</a:t>
                      </a:r>
                      <a:endParaRPr lang="en-US" sz="1100" b="1" kern="1200" dirty="0">
                        <a:solidFill>
                          <a:schemeClr val="lt1"/>
                        </a:solidFill>
                        <a:latin typeface="Calibri" panose="020F0502020204030204" pitchFamily="34" charset="0"/>
                        <a:ea typeface="DFKaiShu-GB5" panose="03000509000000000000" pitchFamily="65" charset="-128"/>
                        <a:cs typeface="Calibri" panose="020F050202020403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BE050A"/>
                    </a:solidFill>
                  </a:tcPr>
                </a:tc>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pPr marL="0" algn="ctr" defTabSz="914303" rtl="0" eaLnBrk="1" latinLnBrk="0" hangingPunct="1"/>
                      <a:r>
                        <a:rPr lang="en-US" sz="1100" dirty="0"/>
                        <a:t>REIT</a:t>
                      </a:r>
                      <a:endParaRPr lang="en-US" sz="1100" b="1" kern="1200" dirty="0">
                        <a:solidFill>
                          <a:schemeClr val="lt1"/>
                        </a:solidFill>
                        <a:latin typeface="Calibri" panose="020F0502020204030204" pitchFamily="34" charset="0"/>
                        <a:ea typeface="DFKaiShu-GB5" panose="03000509000000000000" pitchFamily="65" charset="-128"/>
                        <a:cs typeface="Calibri" panose="020F050202020403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BE050A"/>
                    </a:solidFill>
                  </a:tcPr>
                </a:tc>
                <a:extLst>
                  <a:ext uri="{0D108BD9-81ED-4DB2-BD59-A6C34878D82A}">
                    <a16:rowId xmlns:a16="http://schemas.microsoft.com/office/drawing/2014/main" val="2070801902"/>
                  </a:ext>
                </a:extLst>
              </a:tr>
              <a:tr h="1210186">
                <a:tc>
                  <a:txBody>
                    <a:bodyPr/>
                    <a:lstStyle/>
                    <a:p>
                      <a:r>
                        <a:rPr lang="en-US" altLang="zh-CN" sz="1100" b="1">
                          <a:latin typeface="Calibri" panose="020F0502020204030204" pitchFamily="34" charset="0"/>
                          <a:ea typeface="DFKaiShu-GB5" panose="03000509000000000000" pitchFamily="65" charset="-128"/>
                          <a:cs typeface="Calibri" panose="020F0502020204030204" pitchFamily="34" charset="0"/>
                        </a:rPr>
                        <a:t>Business expansion</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Development projects may be included at launch
Subsequently, mature and development projects can be acquired</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en-US" altLang="zh-CN" sz="1100" b="0" dirty="0">
                          <a:highlight>
                            <a:srgbClr val="FFFF00"/>
                          </a:highlight>
                          <a:latin typeface="Calibri" panose="020F0502020204030204" pitchFamily="34" charset="0"/>
                          <a:ea typeface="DFKaiShu-GB5" panose="03000509000000000000" pitchFamily="65" charset="-128"/>
                          <a:cs typeface="Calibri" panose="020F0502020204030204" pitchFamily="34" charset="0"/>
                        </a:rPr>
                        <a:t>Development is limited by scale
Subsequently, mature or near-mature projects may be acquired</a:t>
                      </a:r>
                      <a:endParaRPr lang="en-US" sz="1100" b="0" dirty="0">
                        <a:highlight>
                          <a:srgbClr val="FFFF00"/>
                        </a:highlight>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96462288"/>
                  </a:ext>
                </a:extLst>
              </a:tr>
              <a:tr h="1210186">
                <a:tc>
                  <a:txBody>
                    <a:body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Corporate governance</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Ownership and control are aligned</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lgn="l" defTabSz="914400" rtl="0" eaLnBrk="1" latinLnBrk="0" hangingPunct="1">
                        <a:buClr>
                          <a:srgbClr val="00B050"/>
                        </a:buClr>
                        <a:buFont typeface="Wingdings" panose="05000000000000000000" pitchFamily="2" charset="2"/>
                        <a:buChar char="ü"/>
                      </a:pPr>
                      <a:r>
                        <a:rPr lang="en-US" altLang="zh-CN"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rPr>
                        <a:t>In addition to ownership, management can be controlled through a REIT management company</a:t>
                      </a:r>
                    </a:p>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However, trust contracts and trustee supervision</a:t>
                      </a:r>
                      <a:endParaRPr lang="en-US" sz="1100" dirty="0">
                        <a:latin typeface="Calibri" panose="020F0502020204030204" pitchFamily="34" charset="0"/>
                        <a:ea typeface="DFKaiShu-GB5" panose="03000509000000000000" pitchFamily="65" charset="-128"/>
                        <a:cs typeface="Calibri" panose="020F050202020403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98874547"/>
                  </a:ext>
                </a:extLst>
              </a:tr>
              <a:tr h="334124">
                <a:tc>
                  <a:txBody>
                    <a:bodyPr/>
                    <a:lstStyle/>
                    <a:p>
                      <a:r>
                        <a:rPr lang="en-US" altLang="zh-CN" sz="1100" b="1" dirty="0">
                          <a:latin typeface="Calibri" panose="020F0502020204030204" pitchFamily="34" charset="0"/>
                          <a:ea typeface="DFKaiShu-GB5" panose="03000509000000000000" pitchFamily="65" charset="-128"/>
                          <a:cs typeface="Calibri" panose="020F0502020204030204" pitchFamily="34" charset="0"/>
                        </a:rPr>
                        <a:t>Financing options</a:t>
                      </a:r>
                      <a:endParaRPr lang="en-US" sz="1100" b="1" dirty="0">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lgn="l" defTabSz="914400" rtl="0" eaLnBrk="1" latinLnBrk="0" hangingPunct="1">
                        <a:buClr>
                          <a:srgbClr val="00B050"/>
                        </a:buClr>
                        <a:buFont typeface="Wingdings" panose="05000000000000000000" pitchFamily="2" charset="2"/>
                        <a:buChar char="ü"/>
                      </a:pPr>
                      <a:r>
                        <a:rPr lang="en-US" altLang="zh-CN"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rPr>
                        <a:t>Diversified financing channels, including equity, bonds, and convertible bonds, and can arrange various financing arrangements</a:t>
                      </a:r>
                    </a:p>
                    <a:p>
                      <a:pPr marL="171450" indent="-171450" algn="l" defTabSz="914303" rtl="0" eaLnBrk="1" latinLnBrk="0" hangingPunct="1">
                        <a:buClr>
                          <a:srgbClr val="FF0000"/>
                        </a:buClr>
                        <a:buFont typeface="Wingdings" panose="05000000000000000000" pitchFamily="2" charset="2"/>
                        <a:buChar char="û"/>
                      </a:pPr>
                      <a:r>
                        <a:rPr lang="en-US" altLang="zh-CN" sz="1100" kern="1200" dirty="0">
                          <a:solidFill>
                            <a:schemeClr val="dk1"/>
                          </a:solidFill>
                          <a:latin typeface="Calibri" panose="020F0502020204030204" pitchFamily="34" charset="0"/>
                          <a:ea typeface="DFKaiShu-GB5" panose="03000509000000000000" pitchFamily="65" charset="-128"/>
                          <a:cs typeface="Calibri" panose="020F0502020204030204" pitchFamily="34" charset="0"/>
                        </a:rPr>
                        <a:t>Financing costs are relatively high</a:t>
                      </a:r>
                    </a:p>
                    <a:p>
                      <a:pPr marL="171450" indent="-171450" algn="l" defTabSz="914400" rtl="0" eaLnBrk="1" latinLnBrk="0" hangingPunct="1">
                        <a:buClr>
                          <a:srgbClr val="00B050"/>
                        </a:buClr>
                        <a:buFont typeface="Wingdings" panose="05000000000000000000" pitchFamily="2" charset="2"/>
                        <a:buChar char="ü"/>
                      </a:pPr>
                      <a:r>
                        <a:rPr lang="en-US" altLang="zh-CN"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rPr>
                        <a:t>No debt ratio restrictions</a:t>
                      </a:r>
                      <a:endParaRPr lang="en-US"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en-US" altLang="zh-CN" sz="1100" dirty="0">
                          <a:latin typeface="Calibri" panose="020F0502020204030204" pitchFamily="34" charset="0"/>
                          <a:ea typeface="DFKaiShu-GB5" panose="03000509000000000000" pitchFamily="65" charset="-128"/>
                          <a:cs typeface="Calibri" panose="020F0502020204030204" pitchFamily="34" charset="0"/>
                        </a:rPr>
                        <a:t>The main financing channels are equity and bonds</a:t>
                      </a:r>
                    </a:p>
                    <a:p>
                      <a:pPr marL="171450" indent="-171450" algn="l" defTabSz="914303" rtl="0" eaLnBrk="1" latinLnBrk="0" hangingPunct="1">
                        <a:buClr>
                          <a:srgbClr val="FF0000"/>
                        </a:buClr>
                        <a:buFont typeface="Wingdings" panose="05000000000000000000" pitchFamily="2" charset="2"/>
                        <a:buChar char="û"/>
                      </a:pPr>
                      <a:r>
                        <a:rPr lang="en-US" altLang="zh-CN" sz="1100" kern="1200" dirty="0">
                          <a:solidFill>
                            <a:schemeClr val="dk1"/>
                          </a:solidFill>
                          <a:highlight>
                            <a:srgbClr val="FFFF00"/>
                          </a:highlight>
                          <a:latin typeface="Calibri" panose="020F0502020204030204" pitchFamily="34" charset="0"/>
                          <a:ea typeface="DFKaiShu-GB5" panose="03000509000000000000" pitchFamily="65" charset="-128"/>
                          <a:cs typeface="Calibri" panose="020F0502020204030204" pitchFamily="34" charset="0"/>
                        </a:rPr>
                        <a:t>The Hong Kong Securities and Futures Commission stipulates that the total borrowing/total assets of Hong Kong-listed REITs cannot exceed 50%</a:t>
                      </a:r>
                    </a:p>
                    <a:p>
                      <a:pPr marL="171450" indent="-171450" algn="l" defTabSz="914400" rtl="0" eaLnBrk="1" latinLnBrk="0" hangingPunct="1">
                        <a:buClr>
                          <a:srgbClr val="00B050"/>
                        </a:buClr>
                        <a:buFont typeface="Wingdings" panose="05000000000000000000" pitchFamily="2" charset="2"/>
                        <a:buChar char="ü"/>
                      </a:pPr>
                      <a:r>
                        <a:rPr lang="en-US" altLang="zh-CN"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rPr>
                        <a:t>Lowest financing costs</a:t>
                      </a:r>
                      <a:endParaRPr lang="en-US" sz="1100" kern="1200" dirty="0">
                        <a:solidFill>
                          <a:schemeClr val="tx1"/>
                        </a:solidFill>
                        <a:latin typeface="Calibri" panose="020F0502020204030204" pitchFamily="34" charset="0"/>
                        <a:ea typeface="DFKaiShu-GB5" panose="03000509000000000000" pitchFamily="65" charset="-128"/>
                        <a:cs typeface="Calibri" panose="020F0502020204030204" pitchFamily="34" charset="0"/>
                      </a:endParaRPr>
                    </a:p>
                  </a:txBody>
                  <a:tcPr>
                    <a:lnL w="12700" cmpd="sng">
                      <a:solidFill>
                        <a:srgbClr val="FFFFFF"/>
                      </a:solidFill>
                    </a:lnL>
                    <a:lnR w="12700" cmpd="sng">
                      <a:solidFill>
                        <a:srgbClr val="FFFFFF"/>
                      </a:solidFill>
                    </a:lnR>
                    <a:lnT w="12700" cap="flat" cmpd="sng" algn="ctr">
                      <a:solidFill>
                        <a:srgbClr val="B2B2B2"/>
                      </a:solidFill>
                      <a:prstDash val="solid"/>
                      <a:round/>
                      <a:headEnd type="none" w="med" len="med"/>
                      <a:tailEnd type="none" w="med" len="med"/>
                    </a:lnT>
                    <a:lnB w="12700"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96264481"/>
                  </a:ext>
                </a:extLst>
              </a:tr>
            </a:tbl>
          </a:graphicData>
        </a:graphic>
      </p:graphicFrame>
      <p:sp>
        <p:nvSpPr>
          <p:cNvPr id="5" name="Title 3">
            <a:extLst>
              <a:ext uri="{FF2B5EF4-FFF2-40B4-BE49-F238E27FC236}">
                <a16:creationId xmlns:a16="http://schemas.microsoft.com/office/drawing/2014/main" id="{1359A7CE-B88F-4598-AB9D-BE1E8EF4AC13}"/>
              </a:ext>
            </a:extLst>
          </p:cNvPr>
          <p:cNvSpPr txBox="1">
            <a:spLocks/>
          </p:cNvSpPr>
          <p:nvPr/>
        </p:nvSpPr>
        <p:spPr>
          <a:xfrm>
            <a:off x="649224" y="1007517"/>
            <a:ext cx="7845552" cy="400101"/>
          </a:xfrm>
          <a:prstGeom prst="rect">
            <a:avLst/>
          </a:prstGeom>
        </p:spPr>
        <p:txBody>
          <a:bodyPr/>
          <a:lstStyle>
            <a:lvl1pPr algn="l" rtl="0" eaLnBrk="1" fontAlgn="base" hangingPunct="1">
              <a:spcBef>
                <a:spcPct val="0"/>
              </a:spcBef>
              <a:spcAft>
                <a:spcPct val="0"/>
              </a:spcAft>
              <a:defRPr sz="2400" b="1" kern="1200">
                <a:solidFill>
                  <a:schemeClr val="tx1"/>
                </a:solidFill>
                <a:latin typeface="+mj-lt"/>
                <a:ea typeface="+mj-ea"/>
                <a:cs typeface="+mj-cs"/>
              </a:defRPr>
            </a:lvl1pPr>
            <a:lvl2pPr algn="l" rtl="0" eaLnBrk="1" fontAlgn="base" hangingPunct="1">
              <a:spcBef>
                <a:spcPct val="0"/>
              </a:spcBef>
              <a:spcAft>
                <a:spcPct val="0"/>
              </a:spcAft>
              <a:defRPr sz="2800" b="1">
                <a:solidFill>
                  <a:schemeClr val="tx1"/>
                </a:solidFill>
                <a:latin typeface="Arial" panose="020B0604020202020204" pitchFamily="34" charset="0"/>
              </a:defRPr>
            </a:lvl2pPr>
            <a:lvl3pPr algn="l" rtl="0" eaLnBrk="1" fontAlgn="base" hangingPunct="1">
              <a:spcBef>
                <a:spcPct val="0"/>
              </a:spcBef>
              <a:spcAft>
                <a:spcPct val="0"/>
              </a:spcAft>
              <a:defRPr sz="2800" b="1">
                <a:solidFill>
                  <a:schemeClr val="tx1"/>
                </a:solidFill>
                <a:latin typeface="Arial" panose="020B0604020202020204" pitchFamily="34" charset="0"/>
              </a:defRPr>
            </a:lvl3pPr>
            <a:lvl4pPr algn="l" rtl="0" eaLnBrk="1" fontAlgn="base" hangingPunct="1">
              <a:spcBef>
                <a:spcPct val="0"/>
              </a:spcBef>
              <a:spcAft>
                <a:spcPct val="0"/>
              </a:spcAft>
              <a:defRPr sz="2800" b="1">
                <a:solidFill>
                  <a:schemeClr val="tx1"/>
                </a:solidFill>
                <a:latin typeface="Arial" panose="020B0604020202020204" pitchFamily="34" charset="0"/>
              </a:defRPr>
            </a:lvl4pPr>
            <a:lvl5pPr algn="l" rtl="0" eaLnBrk="1" fontAlgn="base" hangingPunct="1">
              <a:spcBef>
                <a:spcPct val="0"/>
              </a:spcBef>
              <a:spcAft>
                <a:spcPct val="0"/>
              </a:spcAft>
              <a:defRPr sz="2800" b="1">
                <a:solidFill>
                  <a:schemeClr val="tx1"/>
                </a:solidFill>
                <a:latin typeface="Arial" panose="020B0604020202020204" pitchFamily="34" charset="0"/>
              </a:defRPr>
            </a:lvl5pPr>
            <a:lvl6pPr marL="457200" algn="l" rtl="0" eaLnBrk="1" fontAlgn="base" hangingPunct="1">
              <a:spcBef>
                <a:spcPct val="0"/>
              </a:spcBef>
              <a:spcAft>
                <a:spcPct val="0"/>
              </a:spcAft>
              <a:defRPr sz="2800" b="1">
                <a:solidFill>
                  <a:schemeClr val="tx1"/>
                </a:solidFill>
                <a:latin typeface="Arial" panose="020B0604020202020204" pitchFamily="34" charset="0"/>
              </a:defRPr>
            </a:lvl6pPr>
            <a:lvl7pPr marL="914400" algn="l" rtl="0" eaLnBrk="1" fontAlgn="base" hangingPunct="1">
              <a:spcBef>
                <a:spcPct val="0"/>
              </a:spcBef>
              <a:spcAft>
                <a:spcPct val="0"/>
              </a:spcAft>
              <a:defRPr sz="2800" b="1">
                <a:solidFill>
                  <a:schemeClr val="tx1"/>
                </a:solidFill>
                <a:latin typeface="Arial" panose="020B0604020202020204" pitchFamily="34" charset="0"/>
              </a:defRPr>
            </a:lvl7pPr>
            <a:lvl8pPr marL="1371600" algn="l" rtl="0" eaLnBrk="1" fontAlgn="base" hangingPunct="1">
              <a:spcBef>
                <a:spcPct val="0"/>
              </a:spcBef>
              <a:spcAft>
                <a:spcPct val="0"/>
              </a:spcAft>
              <a:defRPr sz="2800" b="1">
                <a:solidFill>
                  <a:schemeClr val="tx1"/>
                </a:solidFill>
                <a:latin typeface="Arial" panose="020B0604020202020204" pitchFamily="34" charset="0"/>
              </a:defRPr>
            </a:lvl8pPr>
            <a:lvl9pPr marL="1828800" algn="l" rtl="0" eaLnBrk="1" fontAlgn="base" hangingPunct="1">
              <a:spcBef>
                <a:spcPct val="0"/>
              </a:spcBef>
              <a:spcAft>
                <a:spcPct val="0"/>
              </a:spcAft>
              <a:defRPr sz="2800" b="1">
                <a:solidFill>
                  <a:schemeClr val="tx1"/>
                </a:solidFill>
                <a:latin typeface="Arial" panose="020B0604020202020204" pitchFamily="34" charset="0"/>
              </a:defRPr>
            </a:lvl9pPr>
          </a:lstStyle>
          <a:p>
            <a:r>
              <a:rPr lang="en-US" altLang="zh-CN" sz="1400" u="sng" dirty="0">
                <a:solidFill>
                  <a:srgbClr val="C00000"/>
                </a:solidFill>
                <a:latin typeface="Calibri" panose="020F0502020204030204" pitchFamily="34" charset="0"/>
                <a:ea typeface="DFKaiShu-GB5" panose="03000509000000000000" pitchFamily="65" charset="-128"/>
              </a:rPr>
              <a:t>Post-IPO development</a:t>
            </a:r>
            <a:endParaRPr lang="zh-CN" altLang="en-US" sz="1400" i="0" u="sng" dirty="0">
              <a:solidFill>
                <a:srgbClr val="C00000"/>
              </a:solidFill>
              <a:latin typeface="Calibri" panose="020F0502020204030204" pitchFamily="34" charset="0"/>
              <a:ea typeface="DFKaiShu-GB5" panose="03000509000000000000" pitchFamily="65" charset="-128"/>
            </a:endParaRPr>
          </a:p>
        </p:txBody>
      </p:sp>
    </p:spTree>
    <p:extLst>
      <p:ext uri="{BB962C8B-B14F-4D97-AF65-F5344CB8AC3E}">
        <p14:creationId xmlns:p14="http://schemas.microsoft.com/office/powerpoint/2010/main" val="3241648342"/>
      </p:ext>
    </p:extLst>
  </p:cSld>
  <p:clrMapOvr>
    <a:masterClrMapping/>
  </p:clrMapOvr>
</p:sld>
</file>

<file path=ppt/theme/theme1.xml><?xml version="1.0" encoding="utf-8"?>
<a:theme xmlns:a="http://schemas.openxmlformats.org/drawingml/2006/main" name="6_DBS PPT template 0207">
  <a:themeElements>
    <a:clrScheme name="2_DBS PPT template 0207 12">
      <a:dk1>
        <a:srgbClr val="000000"/>
      </a:dk1>
      <a:lt1>
        <a:srgbClr val="FFFFFF"/>
      </a:lt1>
      <a:dk2>
        <a:srgbClr val="FF0000"/>
      </a:dk2>
      <a:lt2>
        <a:srgbClr val="B2B2B2"/>
      </a:lt2>
      <a:accent1>
        <a:srgbClr val="BE050A"/>
      </a:accent1>
      <a:accent2>
        <a:srgbClr val="FAD0A9"/>
      </a:accent2>
      <a:accent3>
        <a:srgbClr val="FFFFFF"/>
      </a:accent3>
      <a:accent4>
        <a:srgbClr val="000000"/>
      </a:accent4>
      <a:accent5>
        <a:srgbClr val="DBAAAA"/>
      </a:accent5>
      <a:accent6>
        <a:srgbClr val="E3BC99"/>
      </a:accent6>
      <a:hlink>
        <a:srgbClr val="E59B9D"/>
      </a:hlink>
      <a:folHlink>
        <a:srgbClr val="99CCFF"/>
      </a:folHlink>
    </a:clrScheme>
    <a:fontScheme name="dbs">
      <a:majorFont>
        <a:latin typeface="Calibri"/>
        <a:ea typeface="DFKaiShu-GB5"/>
        <a:cs typeface=""/>
      </a:majorFont>
      <a:minorFont>
        <a:latin typeface="Calibri"/>
        <a:ea typeface="DFKaiShu-GB5"/>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BS PPT template 020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DBS PPT template 02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DBS PPT template 020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DBS PPT template 020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DBS PPT template 02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DBS PPT template 02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DBS PPT template 02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DBS PPT template 0207 8">
        <a:dk1>
          <a:srgbClr val="000000"/>
        </a:dk1>
        <a:lt1>
          <a:srgbClr val="FFFFFF"/>
        </a:lt1>
        <a:dk2>
          <a:srgbClr val="000000"/>
        </a:dk2>
        <a:lt2>
          <a:srgbClr val="969696"/>
        </a:lt2>
        <a:accent1>
          <a:srgbClr val="FAD0A9"/>
        </a:accent1>
        <a:accent2>
          <a:srgbClr val="E59B9D"/>
        </a:accent2>
        <a:accent3>
          <a:srgbClr val="FFFFFF"/>
        </a:accent3>
        <a:accent4>
          <a:srgbClr val="000000"/>
        </a:accent4>
        <a:accent5>
          <a:srgbClr val="FCE4D1"/>
        </a:accent5>
        <a:accent6>
          <a:srgbClr val="CF8C8E"/>
        </a:accent6>
        <a:hlink>
          <a:srgbClr val="99CCFF"/>
        </a:hlink>
        <a:folHlink>
          <a:srgbClr val="B2B2B2"/>
        </a:folHlink>
      </a:clrScheme>
      <a:clrMap bg1="lt1" tx1="dk1" bg2="lt2" tx2="dk2" accent1="accent1" accent2="accent2" accent3="accent3" accent4="accent4" accent5="accent5" accent6="accent6" hlink="hlink" folHlink="folHlink"/>
    </a:extraClrScheme>
    <a:extraClrScheme>
      <a:clrScheme name="2_DBS PPT template 0207 9">
        <a:dk1>
          <a:srgbClr val="000000"/>
        </a:dk1>
        <a:lt1>
          <a:srgbClr val="FFFFFF"/>
        </a:lt1>
        <a:dk2>
          <a:srgbClr val="339966"/>
        </a:dk2>
        <a:lt2>
          <a:srgbClr val="CC99FF"/>
        </a:lt2>
        <a:accent1>
          <a:srgbClr val="FAD0A9"/>
        </a:accent1>
        <a:accent2>
          <a:srgbClr val="E59B9D"/>
        </a:accent2>
        <a:accent3>
          <a:srgbClr val="FFFFFF"/>
        </a:accent3>
        <a:accent4>
          <a:srgbClr val="000000"/>
        </a:accent4>
        <a:accent5>
          <a:srgbClr val="FCE4D1"/>
        </a:accent5>
        <a:accent6>
          <a:srgbClr val="CF8C8E"/>
        </a:accent6>
        <a:hlink>
          <a:srgbClr val="99CCFF"/>
        </a:hlink>
        <a:folHlink>
          <a:srgbClr val="B2B2B2"/>
        </a:folHlink>
      </a:clrScheme>
      <a:clrMap bg1="lt1" tx1="dk1" bg2="lt2" tx2="dk2" accent1="accent1" accent2="accent2" accent3="accent3" accent4="accent4" accent5="accent5" accent6="accent6" hlink="hlink" folHlink="folHlink"/>
    </a:extraClrScheme>
    <a:extraClrScheme>
      <a:clrScheme name="2_DBS PPT template 0207 10">
        <a:dk1>
          <a:srgbClr val="000000"/>
        </a:dk1>
        <a:lt1>
          <a:srgbClr val="FFFFFF"/>
        </a:lt1>
        <a:dk2>
          <a:srgbClr val="339966"/>
        </a:dk2>
        <a:lt2>
          <a:srgbClr val="626262"/>
        </a:lt2>
        <a:accent1>
          <a:srgbClr val="FAD0A9"/>
        </a:accent1>
        <a:accent2>
          <a:srgbClr val="E59B9D"/>
        </a:accent2>
        <a:accent3>
          <a:srgbClr val="FFFFFF"/>
        </a:accent3>
        <a:accent4>
          <a:srgbClr val="000000"/>
        </a:accent4>
        <a:accent5>
          <a:srgbClr val="FCE4D1"/>
        </a:accent5>
        <a:accent6>
          <a:srgbClr val="CF8C8E"/>
        </a:accent6>
        <a:hlink>
          <a:srgbClr val="99CCFF"/>
        </a:hlink>
        <a:folHlink>
          <a:srgbClr val="008080"/>
        </a:folHlink>
      </a:clrScheme>
      <a:clrMap bg1="lt1" tx1="dk1" bg2="lt2" tx2="dk2" accent1="accent1" accent2="accent2" accent3="accent3" accent4="accent4" accent5="accent5" accent6="accent6" hlink="hlink" folHlink="folHlink"/>
    </a:extraClrScheme>
    <a:extraClrScheme>
      <a:clrScheme name="2_DBS PPT template 0207 11">
        <a:dk1>
          <a:srgbClr val="000000"/>
        </a:dk1>
        <a:lt1>
          <a:srgbClr val="FFFFFF"/>
        </a:lt1>
        <a:dk2>
          <a:srgbClr val="339966"/>
        </a:dk2>
        <a:lt2>
          <a:srgbClr val="B2B2B2"/>
        </a:lt2>
        <a:accent1>
          <a:srgbClr val="FAD0A9"/>
        </a:accent1>
        <a:accent2>
          <a:srgbClr val="E59B9D"/>
        </a:accent2>
        <a:accent3>
          <a:srgbClr val="FFFFFF"/>
        </a:accent3>
        <a:accent4>
          <a:srgbClr val="000000"/>
        </a:accent4>
        <a:accent5>
          <a:srgbClr val="FCE4D1"/>
        </a:accent5>
        <a:accent6>
          <a:srgbClr val="CF8C8E"/>
        </a:accent6>
        <a:hlink>
          <a:srgbClr val="99CCFF"/>
        </a:hlink>
        <a:folHlink>
          <a:srgbClr val="FFCC00"/>
        </a:folHlink>
      </a:clrScheme>
      <a:clrMap bg1="lt1" tx1="dk1" bg2="lt2" tx2="dk2" accent1="accent1" accent2="accent2" accent3="accent3" accent4="accent4" accent5="accent5" accent6="accent6" hlink="hlink" folHlink="folHlink"/>
    </a:extraClrScheme>
    <a:extraClrScheme>
      <a:clrScheme name="2_DBS PPT template 0207 12">
        <a:dk1>
          <a:srgbClr val="000000"/>
        </a:dk1>
        <a:lt1>
          <a:srgbClr val="FFFFFF"/>
        </a:lt1>
        <a:dk2>
          <a:srgbClr val="FF0000"/>
        </a:dk2>
        <a:lt2>
          <a:srgbClr val="B2B2B2"/>
        </a:lt2>
        <a:accent1>
          <a:srgbClr val="BE050A"/>
        </a:accent1>
        <a:accent2>
          <a:srgbClr val="FAD0A9"/>
        </a:accent2>
        <a:accent3>
          <a:srgbClr val="FFFFFF"/>
        </a:accent3>
        <a:accent4>
          <a:srgbClr val="000000"/>
        </a:accent4>
        <a:accent5>
          <a:srgbClr val="DBAAAA"/>
        </a:accent5>
        <a:accent6>
          <a:srgbClr val="E3BC99"/>
        </a:accent6>
        <a:hlink>
          <a:srgbClr val="E59B9D"/>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52697</TotalTime>
  <Words>1066</Words>
  <Application>Microsoft Office PowerPoint</Application>
  <PresentationFormat>On-screen Show (4:3)</PresentationFormat>
  <Paragraphs>101</Paragraphs>
  <Slides>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DFKaiShu-GB5</vt:lpstr>
      <vt:lpstr>華康簡楷</vt:lpstr>
      <vt:lpstr>Arial</vt:lpstr>
      <vt:lpstr>Calibri</vt:lpstr>
      <vt:lpstr>Times New Roman</vt:lpstr>
      <vt:lpstr>Verdana</vt:lpstr>
      <vt:lpstr>Wingdings</vt:lpstr>
      <vt:lpstr>6_DBS PPT template 0207</vt:lpstr>
      <vt:lpstr>Appendix 2  Comparison Between REIT and Company Listing</vt:lpstr>
      <vt:lpstr>Comparison Between REIT and Company Listing (1/5)</vt:lpstr>
      <vt:lpstr>Comparison Between REIT and Company Listing (2/5)</vt:lpstr>
      <vt:lpstr>Comparison Between REIT and Company Listing (3/5)</vt:lpstr>
      <vt:lpstr>Comparison Between REIT and Company Listing (4/5)</vt:lpstr>
      <vt:lpstr>Comparison Between REIT and Company Listing (5/5)</vt:lpstr>
    </vt:vector>
  </TitlesOfParts>
  <Company>DBS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Jennifer Lynn</dc:creator>
  <cp:lastModifiedBy>Jayson Xicheng LU</cp:lastModifiedBy>
  <cp:revision>5070</cp:revision>
  <cp:lastPrinted>2022-03-01T04:41:03Z</cp:lastPrinted>
  <dcterms:created xsi:type="dcterms:W3CDTF">2002-10-22T04:08:39Z</dcterms:created>
  <dcterms:modified xsi:type="dcterms:W3CDTF">2026-05-28T10:40:30Z</dcterms:modified>
</cp:coreProperties>
</file>